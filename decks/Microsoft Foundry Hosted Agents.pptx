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FB11BEC-AAC0-4A3E-BF99-17C378199144}"/>
    <pc:docChg chg="modSld">
      <pc:chgData name="" userId="" providerId="" clId="Web-{1FB11BEC-AAC0-4A3E-BF99-17C378199144}" dt="2026-10-14T13:45:17.386" v="0" actId="34807"/>
      <pc:docMkLst>
        <pc:docMk/>
      </pc:docMkLst>
      <pc:sldChg chg="modNotesTx">
        <pc:chgData name="" userId="" providerId="" clId="Web-{1FB11BEC-AAC0-4A3E-BF99-17C378199144}" dt="2026-10-14T13:45:17.386" v="0" actId="34807"/>
        <pc:sldMkLst>
          <pc:docMk/>
          <pc:sldMk cId="0" sldId="256"/>
        </pc:sldMkLst>
      </pc:sldChg>
      <pc:sldChg chg="modNotesTx">
        <pc:chgData name="" userId="" providerId="" clId="Web-{1FB11BEC-AAC0-4A3E-BF99-17C378199144}" dt="2026-10-14T13:45:17.386" v="0" actId="34807"/>
        <pc:sldMkLst>
          <pc:docMk/>
          <pc:sldMk cId="0" sldId="257"/>
        </pc:sldMkLst>
      </pc:sldChg>
      <pc:sldChg chg="modNotesTx">
        <pc:chgData name="" userId="" providerId="" clId="Web-{1FB11BEC-AAC0-4A3E-BF99-17C378199144}" dt="2026-10-14T13:45:17.386" v="0" actId="34807"/>
        <pc:sldMkLst>
          <pc:docMk/>
          <pc:sldMk cId="0" sldId="258"/>
        </pc:sldMkLst>
      </pc:sldChg>
      <pc:sldChg chg="modNotesTx">
        <pc:chgData name="" userId="" providerId="" clId="Web-{1FB11BEC-AAC0-4A3E-BF99-17C378199144}" dt="2026-10-14T13:45:17.386" v="0" actId="34807"/>
        <pc:sldMkLst>
          <pc:docMk/>
          <pc:sldMk cId="0" sldId="259"/>
        </pc:sldMkLst>
      </pc:sldChg>
      <pc:sldChg chg="modNotesTx">
        <pc:chgData name="" userId="" providerId="" clId="Web-{1FB11BEC-AAC0-4A3E-BF99-17C378199144}" dt="2026-10-14T13:45:17.386" v="0" actId="34807"/>
        <pc:sldMkLst>
          <pc:docMk/>
          <pc:sldMk cId="0" sldId="260"/>
        </pc:sldMkLst>
      </pc:sldChg>
      <pc:sldChg chg="modNotesTx">
        <pc:chgData name="" userId="" providerId="" clId="Web-{1FB11BEC-AAC0-4A3E-BF99-17C378199144}" dt="2026-10-14T13:45:17.386" v="0" actId="34807"/>
        <pc:sldMkLst>
          <pc:docMk/>
          <pc:sldMk cId="0" sldId="261"/>
        </pc:sldMkLst>
      </pc:sldChg>
      <pc:sldChg chg="modNotesTx">
        <pc:chgData name="" userId="" providerId="" clId="Web-{1FB11BEC-AAC0-4A3E-BF99-17C378199144}" dt="2026-10-14T13:45:17.386" v="0" actId="34807"/>
        <pc:sldMkLst>
          <pc:docMk/>
          <pc:sldMk cId="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5370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hosted agents in Foundry Agent Service: the agent type for teams that want to run their own agent code, built with their own framework, without operating the infrastructure underneath it.
Hosted agents have been generally available since 9 July 2026, after a public preview announced in April. A few capabilities around them are still in preview and are marked with an asterisk on the slides: network egress controls, the agent optimizer and the older A2A protocol version 0.3.
The session follows a simple path in six content slides.
We begin with the problem hosted agents solve and the division of responsibility between the platform and the development team.
We then look at the architecture: how a deployed version serves requests, and how each session runs in its own sandbox.
Next, we examine the layer between agent code and the runtime. Some sources call it the harness; the official documentation calls it the protocol libraries. This part also covers how a hosted agent reaches Foundry tools.
The fourth part covers deployment, sizing and cost.
We then compare prompt agents and hosted agents, which is usually the first question in an architecture discussion, and close with hosted agents in private networks, which is usually the second.
All facts were checked against the official Microsoft documentation and public GitHub samples on 9 October 2026.
The overall narrative is simple: a hosted agent keeps the flexibility of custom code, while the platform takes over the operational concerns that teams would otherwise build themselves. It is an agent runtime rather than a general container platform: it adds per-session sandboxes, an agent identity and Foundry endpoints, which a general service such as Azure Container Apps does not provide.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what a hosted agent is and why the managed runtime matters.
The core idea is that a hosted agent is the team's own agent code, packaged as a container, and Foundry Agent Service runs it on Microsoft-managed infrastructure.
The slide is organised in three parts.
First, the concerns without a managed runtime.
On the left are the cross-cutting concerns the official documentation lists for agents built on open-source frameworks: containerisation, web server setup, security, memory persistence, scaling, instrumentation and version rollbacks. A team that self-hosts an agent builds and operates each of these itself, and the effort grows across heterogeneous cloud environments.
Second, what a hosted agent is.
It is a containerised agent application that runs on Foundry Agent Service. The code can use any framework, in Python or C#, while reasoning comes from Foundry models. The platform provides the endpoint, identity, scaling, session state and observability. The capability has been generally available since 9 July 2026.
Third, the division of responsibility.
The platform owns everything around the code: a dedicated endpoint per agent, a Microsoft Entra agent identity created at deployment time, per-session scaling, session state and conversation history, tracing to Application Insights, and immutable versions with their lifecycle.
The development team owns what runs inside the session sandbox: the orchestration logic, the container image or a .zip of source that Foundry builds into an image, the CPU and memory per session, and the role assignments that give the agent identity access to tools and data.
A container registry remains part of the design. Azure Container Registry holds the image, unless Foundry builds it from a .zip of source.
The key takeaway is that a hosted agent changes who operates the agent, not who writes it: the development team keeps full control of the logic, and the platform takes over the infrastructure concerns listed on the left.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architecture of a hosted agent. Read it as two paths: the deployment path from developer tooling to an agent version, and the request path from a caller to a session sandbox.
First, the image is built and stored.
The Azure Developer CLI or the Foundry Toolkit for Visual Studio Code builds the container and pushes it to Azure Container Registry. Foundry can also build the image from a .zip of source.
Second, a version is created.
Creating a version records an immutable snapshot: the image, CPU and memory, environment variables and the protocols the agent supports. An endpoint serves one version at a time, with all of the traffic. Traffic splitting is not supported, so a canary release needs a separate agent.
Third, callers reach the agent endpoint.
Each agent has a dedicated endpoint, and callers use the protocols the version declares: OpenAI-compatible SDKs over Responses, webhooks and custom clients over Invocations, Teams and Microsoft 365 through the Activity protocol, and other agents through A2A.
Fourth, the platform routes the request to a session sandbox.
Each session runs in its own VM-isolated sandbox. The protocol library inside the container runs the server, answers health checks and emits OpenTelemetry. $HOME and uploaded files persist across turns and idle periods.
Fifth, the agent code reaches models, tools and Azure resources.
It calls Foundry models through the project endpoint, tools through the Toolbox MCP endpoint, and Azure resources through role assignments, always as its own Microsoft Entra agent identity.
Sixth, the platform manages state and telemetry.
Conversation history, session state and an optional key-value state store are kept by the platform, and traces flow to Application Insights automatically.
One point remains open in the documentation: the pages differ on whether the project managed identity or the agent identity pulls the image from the registry, so this should be confirmed before presenting.
The architectural principle is a clear split of roles: the version defines what runs, the endpoint defines how it is reached, and the session sandbox isolates every conversation.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covers the layer between the agent code and the Foundry runtime, and the way a hosted agent reaches Foundry tools.
The core idea is that the protocol decides how much the platform manages, while the protocol libraries remove the server code that teams would otherwise write.
First, the protocols the endpoint exposes.
Responses is the default. It is an OpenAI-compatible contract with platform-managed conversation history, streaming and background mode, and it is the protocol the platform bridges to the Activity protocol for Teams and Microsoft 365. Invocations accepts any JSON payload, with the schema defined by the agent, which suits webhooks, extraction, AG-UI and protocol bridges; in this case the agent manages its own state. The WebSocket variant of Invocations provides a two-way stream on one connection for real-time voice with Pipecat, LiveKit or Voice Live; connections last about thirty minutes and frames are capped at one megabyte. A2A supports delegation from other agents: version 1.0 is generally available, and version 0.3 remains in preview. One agent can expose several protocols at once.
Second, the protocol libraries.
Some sources call this layer the harness. The official documentation calls it the protocol libraries: lightweight packages that run the HTTP or WebSocket server, answer health checks and emit OpenTelemetry, so the agent code only implements handlers. There is one package per protocol family, in Python and .NET.
Third, the agent frameworks.
Any framework in Python or C# can run inside the container, including Agent Framework, LangGraph, the OpenAI Agents SDK, the Anthropic Agent SDK, the GitHub Copilot SDK or custom code. The example shows the Agent Framework hosting package, which is still prerelease in Python. Node.js is not supported today.
Fourth, tools.
Tools are not attached to the hosted agent definition. The agent connects to a Toolbox MCP endpoint in the project, which consolidates authentication for Code Interpreter, Web Search, Azure AI Search, OpenAPI, MCP, A2A and skills. The status of skills for hosted agents should be confirmed before presenting.
The key takeaway is that the development team writes handlers and orchestration logic, while the protocol libraries and the Toolbox take care of serving, telemetry and tool authentication.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groups three sets of decisions: how a version is deployed, how one session is sized, and what drives the bill.
First, deployment.
The Azure Developer CLI is the main route: azd ai agent init scaffolds the project, azd provision creates the resources, and azd deploy builds the image in the registry and creates a version. The Foundry Toolkit for Visual Studio Code does the same from the editor, while the SDK, REST and Terraform cover automation. The image is a linux/amd64 container image, or a .zip of source that Foundry builds. Versions are immutable, up to 1,000 per agent, and one version serves all traffic.
Second, sizing and sessions.
Each version uses one of three sizes: 0.5 vCPU with 1 GiB, 1 vCPU with 2 GiB, or 2 vCPU with 4 GiB. The size applies to each session, not to the agent as a whole. There are no replicas or warm pools to size: the platform creates a sandbox per session and releases compute after an idle timeout between 2 and 60 minutes, 15 by default, while the session state is persisted. A session is deleted after 30 days without activity. Concurrent sessions are a quota per subscription and region, 2,000 in seven regions and 1,000 elsewhere, and can be raised through support. Hosted agents are available in 31 regions, including Switzerland North and Switzerland West.
Third, cost drivers.
Compute is billed on the vCPU-hours and memory GiB-hours of active sessions, plus model tokens at the deployment's rate, plus tools such as Code Interpreter per session. Because the size applies per session, oversizing multiplies with concurrency. Right-sizing is done from Application Insights: raise the size above about seventy per cent sustained use, and lower it when use stays well below. Once idle sessions have been released, there is no compute charge.
Current per-hour rates were not published for the default region on 9 October, so the Foundry Agent Service pricing page should be checked before quoting numbers.
The key takeaway is that cost follows concurrency: the session size is the main lever, and it should be set from measured usage rather than estimated up front.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two agent types in Foundry Agent Service by asking the same questions of both.
The core idea is that both types share the platform: a managed endpoint, a Microsoft Entra agent identity, and access to Foundry models and tools. The difference is who writes the logic.
First, the prompt agent.
A prompt agent is a definition: instructions, a model and tools, authored in the Foundry portal, the SDK or REST. There is no code to maintain and no compute to manage. It speaks the Responses protocol, keeps conversation history and attaches tools directly to the agent definition. Cost consists of inference and tools. The official documentation positions it for fast starts, internal tools and production agents that need no custom orchestration.
Second, the hosted agent.
A hosted agent is code. The development team maintains the agent logic in any framework, in Python or C#, and chooses a sandbox size per version. In return it gains more protocols, including Invocations, WebSocket, Activity and A2A, session files and a state store, tools through the Toolbox MCP endpoint, and control over compute. Cost adds container compute to inference and tools.
Third, the selection criteria.
The lower part of the slide lists the five documented reasons to choose a hosted agent: own code, custom protocols, compute control, stateful work and long-lived work. If none of these applies, a prompt agent is the shorter path: faster to build, with nothing to run.
Two further points complete the picture. Voice-based prompt agents are a third agent type, currently in preview. And the official documentation does not compare hosted agents with self-hosting on Azure Container Apps or AKS; the fair comparison is the list of concerns on slide 2 that the development team would otherwise own.
The two types also work together: a prompt agent can call a hosted agent through A2A or as a tool, for example to wrap custom code.
The key takeaway is to start with a prompt agent and move to a hosted agent only when one of the five criteria applies.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how hosted agents run inside a private network. Read it from the customer virtual network outwards: the delegated subnet, the private endpoints, and the single scoped exception for Microsoft 365.
The core idea is that each session sandbox connects to a subnet in the customer's virtual network for outbound traffic, while Foundry and its data stores are reached through private endpoints.
The design decision comes first. Network injection must be configured when the Foundry account is created and cannot be added later. The customer provides a subnet delegated to Microsoft.App/environments, with a /24 recommended, one agent subnet per Foundry resource, in the same region as Foundry.
First, deployment from inside the network.
Builds and deployments run from a self-hosted GitHub or Azure DevOps runner inside the network and push to a private container registry. Projects created before 25 June 2026 still need the registry to be reachable publicly.
Second, private access to Foundry and data.
Sandboxes reach the Foundry account, the container registry and the standard-setup data stores, Cosmos DB, Storage and Azure AI Search, through private endpoints, so conversation data stays in the customer's own resources.
Third, publishing to Teams and Microsoft 365.
To publish without opening the account, enable_m365_public_endpoint creates a scoped, IP-filtered exception for the Activity protocol route only, through Azure Bot Service. The account itself stays private.
The security layers then add up: the Entra agent identity with role-based access, network injection, egress controls, a private registry, data in customer-owned resources, and guardrails through the Responsible AI policy. Egress controls, in preview, add allow and deny rules per host inside the sandbox, up to 480 rules, and fail closed; they should start in Audit mode before moving to Enforce.
Three limits apply: one agent subnet per Foundry resource, Code Interpreter without file upload or download, and no streaming or citations in Teams. The documentation also differs on whether the agent endpoint is private when deployed with azd, so this should be confirmed before presenting.
The key takeaway is that the agent's outbound traffic runs inside the customer network, and the only inbound exception is the scoped route that Microsoft 365 requires.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789920" cy="658368"/>
          </a:xfrm>
          <a:prstGeom prst="rect">
            <a:avLst/>
          </a:prstGeom>
          <a:noFill/>
        </p:spPr>
        <p:txBody>
          <a:bodyPr wrap="none" lIns="0" tIns="0" rIns="0" bIns="0" anchor="t">
            <a:spAutoFit/>
          </a:bodyPr>
          <a:lstStyle/>
          <a:p>
            <a:pPr algn="l">
              <a:lnSpc>
                <a:spcPct val="100000"/>
              </a:lnSpc>
            </a:pPr>
            <a:r>
              <a:rPr sz="3600" b="1" i="0" dirty="0">
                <a:solidFill>
                  <a:srgbClr val="FFFFFF"/>
                </a:solidFill>
                <a:latin typeface="Segoe UI"/>
                <a:cs typeface="Segoe UI"/>
              </a:rPr>
              <a:t>Hosted agents in Microsoft Foundry</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Running agent code built with any framework on a managed runtime — how it works, what it costs,</a:t>
            </a:r>
          </a:p>
          <a:p>
            <a:pPr algn="l">
              <a:lnSpc>
                <a:spcPct val="132000"/>
              </a:lnSpc>
            </a:pPr>
            <a:r>
              <a:rPr sz="1450" b="0" i="0" dirty="0">
                <a:solidFill>
                  <a:srgbClr val="B9C2D6"/>
                </a:solidFill>
                <a:latin typeface="Segoe UI"/>
                <a:cs typeface="Segoe UI"/>
              </a:rPr>
              <a:t>how it compares with prompt agents, and how it runs inside a private network</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platform teams,</a:t>
            </a:r>
          </a:p>
          <a:p>
            <a:pPr algn="l">
              <a:lnSpc>
                <a:spcPct val="128000"/>
              </a:lnSpc>
            </a:pPr>
            <a:r>
              <a:rPr sz="950" b="0" i="0" dirty="0">
                <a:solidFill>
                  <a:srgbClr val="B9C2D6"/>
                </a:solidFill>
                <a:latin typeface="Segoe UI"/>
                <a:cs typeface="Segoe UI"/>
              </a:rPr>
              <a:t>developers, 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Hosted agents in Foundry Agent Service</a:t>
            </a:r>
          </a:p>
          <a:p>
            <a:pPr algn="l">
              <a:lnSpc>
                <a:spcPct val="128000"/>
              </a:lnSpc>
            </a:pPr>
            <a:r>
              <a:rPr sz="950" b="0" i="0" dirty="0">
                <a:solidFill>
                  <a:srgbClr val="B9C2D6"/>
                </a:solidFill>
                <a:latin typeface="Segoe UI"/>
                <a:cs typeface="Segoe UI"/>
              </a:rPr>
              <a:t>(generally available since 9 July 2026)</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9 October 2026 — official Microsoft</a:t>
            </a:r>
          </a:p>
          <a:p>
            <a:pPr algn="l">
              <a:lnSpc>
                <a:spcPct val="128000"/>
              </a:lnSpc>
            </a:pPr>
            <a:r>
              <a:rPr sz="950" b="0" i="0" dirty="0">
                <a:solidFill>
                  <a:srgbClr val="B9C2D6"/>
                </a:solidFill>
                <a:latin typeface="Segoe UI"/>
                <a:cs typeface="Segoe UI"/>
              </a:rPr>
              <a:t>documentation,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agents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Agent code packaged as a container and run by Foundry Agent Service on Microsoft-managed infrastructure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2</a:t>
            </a:r>
          </a:p>
        </p:txBody>
      </p:sp>
      <p:sp>
        <p:nvSpPr>
          <p:cNvPr id="7" name="TextBox 6"/>
          <p:cNvSpPr txBox="1"/>
          <p:nvPr/>
        </p:nvSpPr>
        <p:spPr>
          <a:xfrm>
            <a:off x="457200" y="1371600"/>
            <a:ext cx="50749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CONCERNS WITHOUT A MANAGED RUNTIME</a:t>
            </a:r>
          </a:p>
        </p:txBody>
      </p:sp>
      <p:sp>
        <p:nvSpPr>
          <p:cNvPr id="8" name="Rectangle 7"/>
          <p:cNvSpPr/>
          <p:nvPr/>
        </p:nvSpPr>
        <p:spPr>
          <a:xfrm>
            <a:off x="457200" y="166420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Containerization</a:t>
            </a:r>
          </a:p>
        </p:txBody>
      </p:sp>
      <p:sp>
        <p:nvSpPr>
          <p:cNvPr id="9" name="Rectangle 8"/>
          <p:cNvSpPr/>
          <p:nvPr/>
        </p:nvSpPr>
        <p:spPr>
          <a:xfrm>
            <a:off x="3049524" y="166420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Web server setup</a:t>
            </a:r>
          </a:p>
        </p:txBody>
      </p:sp>
      <p:sp>
        <p:nvSpPr>
          <p:cNvPr id="10" name="Rectangle 9"/>
          <p:cNvSpPr/>
          <p:nvPr/>
        </p:nvSpPr>
        <p:spPr>
          <a:xfrm>
            <a:off x="457200" y="202996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Security</a:t>
            </a:r>
          </a:p>
        </p:txBody>
      </p:sp>
      <p:sp>
        <p:nvSpPr>
          <p:cNvPr id="11" name="Rectangle 10"/>
          <p:cNvSpPr/>
          <p:nvPr/>
        </p:nvSpPr>
        <p:spPr>
          <a:xfrm>
            <a:off x="3049524" y="202996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Memory persistence</a:t>
            </a:r>
          </a:p>
        </p:txBody>
      </p:sp>
      <p:sp>
        <p:nvSpPr>
          <p:cNvPr id="12" name="Rectangle 11"/>
          <p:cNvSpPr/>
          <p:nvPr/>
        </p:nvSpPr>
        <p:spPr>
          <a:xfrm>
            <a:off x="457200" y="239572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Scaling</a:t>
            </a:r>
          </a:p>
        </p:txBody>
      </p:sp>
      <p:sp>
        <p:nvSpPr>
          <p:cNvPr id="13" name="Rectangle 12"/>
          <p:cNvSpPr/>
          <p:nvPr/>
        </p:nvSpPr>
        <p:spPr>
          <a:xfrm>
            <a:off x="3049524" y="239572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Instrumentation</a:t>
            </a:r>
          </a:p>
        </p:txBody>
      </p:sp>
      <p:sp>
        <p:nvSpPr>
          <p:cNvPr id="14" name="Rectangle 13"/>
          <p:cNvSpPr/>
          <p:nvPr/>
        </p:nvSpPr>
        <p:spPr>
          <a:xfrm>
            <a:off x="457200" y="2761488"/>
            <a:ext cx="2482596" cy="29260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Version rollbacks</a:t>
            </a:r>
          </a:p>
        </p:txBody>
      </p:sp>
      <p:sp>
        <p:nvSpPr>
          <p:cNvPr id="15" name="TextBox 14"/>
          <p:cNvSpPr txBox="1"/>
          <p:nvPr/>
        </p:nvSpPr>
        <p:spPr>
          <a:xfrm>
            <a:off x="457200" y="3182112"/>
            <a:ext cx="5074920" cy="365760"/>
          </a:xfrm>
          <a:prstGeom prst="rect">
            <a:avLst/>
          </a:prstGeom>
          <a:noFill/>
        </p:spPr>
        <p:txBody>
          <a:bodyPr wrap="square" lIns="0" tIns="0" rIns="0" bIns="0" anchor="t">
            <a:spAutoFit/>
          </a:bodyPr>
          <a:lstStyle/>
          <a:p>
            <a:pPr algn="l">
              <a:lnSpc>
                <a:spcPct val="115000"/>
              </a:lnSpc>
            </a:pPr>
            <a:r>
              <a:rPr sz="800" b="0" i="1" dirty="0">
                <a:solidFill>
                  <a:srgbClr val="44495B"/>
                </a:solidFill>
                <a:latin typeface="Segoe UI"/>
                <a:cs typeface="Segoe UI"/>
              </a:rPr>
              <a:t>Built and run by the development team for agents on open-source frameworks, and harder across heterogeneous cloud environments.</a:t>
            </a:r>
          </a:p>
        </p:txBody>
      </p:sp>
      <p:sp>
        <p:nvSpPr>
          <p:cNvPr id="16" name="TextBox 15"/>
          <p:cNvSpPr txBox="1"/>
          <p:nvPr/>
        </p:nvSpPr>
        <p:spPr>
          <a:xfrm>
            <a:off x="457200" y="3730752"/>
            <a:ext cx="50749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A HOSTED AGENT IS</a:t>
            </a:r>
          </a:p>
        </p:txBody>
      </p:sp>
      <p:sp>
        <p:nvSpPr>
          <p:cNvPr id="17" name="TextBox 16"/>
          <p:cNvSpPr txBox="1"/>
          <p:nvPr/>
        </p:nvSpPr>
        <p:spPr>
          <a:xfrm>
            <a:off x="457200" y="3986784"/>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Definition</a:t>
            </a:r>
          </a:p>
        </p:txBody>
      </p:sp>
      <p:sp>
        <p:nvSpPr>
          <p:cNvPr id="18" name="TextBox 17"/>
          <p:cNvSpPr txBox="1"/>
          <p:nvPr/>
        </p:nvSpPr>
        <p:spPr>
          <a:xfrm>
            <a:off x="1675180" y="3986784"/>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 containerized agent application that runs on Foundry Agent Service</a:t>
            </a:r>
          </a:p>
        </p:txBody>
      </p:sp>
      <p:cxnSp>
        <p:nvCxnSpPr>
          <p:cNvPr id="19" name="Connector 18"/>
          <p:cNvCxnSpPr/>
          <p:nvPr/>
        </p:nvCxnSpPr>
        <p:spPr>
          <a:xfrm>
            <a:off x="457200" y="4297680"/>
            <a:ext cx="5074920" cy="0"/>
          </a:xfrm>
          <a:prstGeom prst="line">
            <a:avLst/>
          </a:prstGeom>
          <a:ln w="9525">
            <a:solidFill>
              <a:srgbClr val="E1E7F4"/>
            </a:solidFill>
          </a:ln>
        </p:spPr>
      </p:cxnSp>
      <p:sp>
        <p:nvSpPr>
          <p:cNvPr id="20" name="TextBox 19"/>
          <p:cNvSpPr txBox="1"/>
          <p:nvPr/>
        </p:nvSpPr>
        <p:spPr>
          <a:xfrm>
            <a:off x="457200" y="4315968"/>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Code</a:t>
            </a:r>
          </a:p>
        </p:txBody>
      </p:sp>
      <p:sp>
        <p:nvSpPr>
          <p:cNvPr id="21" name="TextBox 20"/>
          <p:cNvSpPr txBox="1"/>
          <p:nvPr/>
        </p:nvSpPr>
        <p:spPr>
          <a:xfrm>
            <a:off x="1675180" y="4315968"/>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Any framework, Python or C#; reasoning by Foundry models</a:t>
            </a:r>
          </a:p>
        </p:txBody>
      </p:sp>
      <p:cxnSp>
        <p:nvCxnSpPr>
          <p:cNvPr id="22" name="Connector 21"/>
          <p:cNvCxnSpPr/>
          <p:nvPr/>
        </p:nvCxnSpPr>
        <p:spPr>
          <a:xfrm>
            <a:off x="457200" y="4626864"/>
            <a:ext cx="5074920" cy="0"/>
          </a:xfrm>
          <a:prstGeom prst="line">
            <a:avLst/>
          </a:prstGeom>
          <a:ln w="9525">
            <a:solidFill>
              <a:srgbClr val="E1E7F4"/>
            </a:solidFill>
          </a:ln>
        </p:spPr>
      </p:cxnSp>
      <p:sp>
        <p:nvSpPr>
          <p:cNvPr id="23" name="TextBox 22"/>
          <p:cNvSpPr txBox="1"/>
          <p:nvPr/>
        </p:nvSpPr>
        <p:spPr>
          <a:xfrm>
            <a:off x="457200" y="4645152"/>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Platform</a:t>
            </a:r>
          </a:p>
        </p:txBody>
      </p:sp>
      <p:sp>
        <p:nvSpPr>
          <p:cNvPr id="24" name="TextBox 23"/>
          <p:cNvSpPr txBox="1"/>
          <p:nvPr/>
        </p:nvSpPr>
        <p:spPr>
          <a:xfrm>
            <a:off x="1675180" y="4645152"/>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Endpoint, identity, scaling, session state and observability</a:t>
            </a:r>
          </a:p>
        </p:txBody>
      </p:sp>
      <p:cxnSp>
        <p:nvCxnSpPr>
          <p:cNvPr id="25" name="Connector 24"/>
          <p:cNvCxnSpPr/>
          <p:nvPr/>
        </p:nvCxnSpPr>
        <p:spPr>
          <a:xfrm>
            <a:off x="457200" y="4956048"/>
            <a:ext cx="5074920" cy="0"/>
          </a:xfrm>
          <a:prstGeom prst="line">
            <a:avLst/>
          </a:prstGeom>
          <a:ln w="9525">
            <a:solidFill>
              <a:srgbClr val="E1E7F4"/>
            </a:solidFill>
          </a:ln>
        </p:spPr>
      </p:cxnSp>
      <p:sp>
        <p:nvSpPr>
          <p:cNvPr id="26" name="TextBox 25"/>
          <p:cNvSpPr txBox="1"/>
          <p:nvPr/>
        </p:nvSpPr>
        <p:spPr>
          <a:xfrm>
            <a:off x="457200" y="4974336"/>
            <a:ext cx="1126540" cy="329184"/>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Status</a:t>
            </a:r>
          </a:p>
        </p:txBody>
      </p:sp>
      <p:sp>
        <p:nvSpPr>
          <p:cNvPr id="27" name="TextBox 26"/>
          <p:cNvSpPr txBox="1"/>
          <p:nvPr/>
        </p:nvSpPr>
        <p:spPr>
          <a:xfrm>
            <a:off x="1675180" y="4974336"/>
            <a:ext cx="3856939" cy="329184"/>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9 July 2026</a:t>
            </a:r>
          </a:p>
        </p:txBody>
      </p:sp>
      <p:cxnSp>
        <p:nvCxnSpPr>
          <p:cNvPr id="28" name="Connector 27"/>
          <p:cNvCxnSpPr/>
          <p:nvPr/>
        </p:nvCxnSpPr>
        <p:spPr>
          <a:xfrm>
            <a:off x="457200" y="5285232"/>
            <a:ext cx="5074920" cy="0"/>
          </a:xfrm>
          <a:prstGeom prst="line">
            <a:avLst/>
          </a:prstGeom>
          <a:ln w="9525">
            <a:solidFill>
              <a:srgbClr val="E1E7F4"/>
            </a:solidFill>
          </a:ln>
        </p:spPr>
      </p:cxnSp>
      <p:sp>
        <p:nvSpPr>
          <p:cNvPr id="29" name="TextBox 28"/>
          <p:cNvSpPr txBox="1"/>
          <p:nvPr/>
        </p:nvSpPr>
        <p:spPr>
          <a:xfrm>
            <a:off x="5897880" y="1371600"/>
            <a:ext cx="58366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DIVISION OF RESPONSIBILITY</a:t>
            </a:r>
          </a:p>
        </p:txBody>
      </p:sp>
      <p:sp>
        <p:nvSpPr>
          <p:cNvPr id="30" name="Rectangle 29"/>
          <p:cNvSpPr/>
          <p:nvPr/>
        </p:nvSpPr>
        <p:spPr>
          <a:xfrm>
            <a:off x="5897880" y="1664208"/>
            <a:ext cx="5836615" cy="3547872"/>
          </a:xfrm>
          <a:prstGeom prst="rect">
            <a:avLst/>
          </a:prstGeom>
          <a:solidFill>
            <a:srgbClr val="101A3C"/>
          </a:solidFill>
          <a:ln>
            <a:noFill/>
          </a:ln>
          <a:effectLst/>
        </p:spPr>
        <p:txBody>
          <a:bodyPr wrap="square" rtlCol="0" anchor="ctr"/>
          <a:lstStyle/>
          <a:p>
            <a:endParaRPr/>
          </a:p>
        </p:txBody>
      </p:sp>
      <p:sp>
        <p:nvSpPr>
          <p:cNvPr id="31" name="TextBox 30"/>
          <p:cNvSpPr txBox="1"/>
          <p:nvPr/>
        </p:nvSpPr>
        <p:spPr>
          <a:xfrm>
            <a:off x="6080760" y="1755648"/>
            <a:ext cx="5470855"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Owned by the platform — Foundry Agent Service</a:t>
            </a:r>
          </a:p>
        </p:txBody>
      </p:sp>
      <p:sp>
        <p:nvSpPr>
          <p:cNvPr id="32" name="Rectangle 31"/>
          <p:cNvSpPr/>
          <p:nvPr/>
        </p:nvSpPr>
        <p:spPr>
          <a:xfrm>
            <a:off x="6080760" y="206654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Dedicated endpoint per agent</a:t>
            </a:r>
          </a:p>
        </p:txBody>
      </p:sp>
      <p:sp>
        <p:nvSpPr>
          <p:cNvPr id="33" name="Rectangle 32"/>
          <p:cNvSpPr/>
          <p:nvPr/>
        </p:nvSpPr>
        <p:spPr>
          <a:xfrm>
            <a:off x="8871051" y="206654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Microsoft Entra agent identity</a:t>
            </a:r>
          </a:p>
        </p:txBody>
      </p:sp>
      <p:sp>
        <p:nvSpPr>
          <p:cNvPr id="34" name="Rectangle 33"/>
          <p:cNvSpPr/>
          <p:nvPr/>
        </p:nvSpPr>
        <p:spPr>
          <a:xfrm>
            <a:off x="6080760" y="243230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Per-session scaling</a:t>
            </a:r>
          </a:p>
        </p:txBody>
      </p:sp>
      <p:sp>
        <p:nvSpPr>
          <p:cNvPr id="35" name="Rectangle 34"/>
          <p:cNvSpPr/>
          <p:nvPr/>
        </p:nvSpPr>
        <p:spPr>
          <a:xfrm>
            <a:off x="8871051" y="243230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Session state and conversations</a:t>
            </a:r>
          </a:p>
        </p:txBody>
      </p:sp>
      <p:sp>
        <p:nvSpPr>
          <p:cNvPr id="36" name="Rectangle 35"/>
          <p:cNvSpPr/>
          <p:nvPr/>
        </p:nvSpPr>
        <p:spPr>
          <a:xfrm>
            <a:off x="6080760" y="279806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Tracing to Application Insights</a:t>
            </a:r>
          </a:p>
        </p:txBody>
      </p:sp>
      <p:sp>
        <p:nvSpPr>
          <p:cNvPr id="37" name="Rectangle 36"/>
          <p:cNvSpPr/>
          <p:nvPr/>
        </p:nvSpPr>
        <p:spPr>
          <a:xfrm>
            <a:off x="8871051" y="2798063"/>
            <a:ext cx="2680563" cy="292608"/>
          </a:xfrm>
          <a:prstGeom prst="rect">
            <a:avLst/>
          </a:prstGeom>
          <a:solidFill>
            <a:srgbClr val="0B1229"/>
          </a:solidFill>
          <a:ln>
            <a:noFill/>
          </a:ln>
          <a:effectLst/>
        </p:spPr>
        <p:txBody>
          <a:bodyPr wrap="square" lIns="54864" tIns="18288" rIns="54864" bIns="18288" rtlCol="0" anchor="ctr"/>
          <a:lstStyle/>
          <a:p>
            <a:pPr algn="ctr">
              <a:lnSpc>
                <a:spcPct val="100000"/>
              </a:lnSpc>
            </a:pPr>
            <a:r>
              <a:rPr sz="800" b="0" i="0" dirty="0">
                <a:solidFill>
                  <a:srgbClr val="B9C2D6"/>
                </a:solidFill>
                <a:latin typeface="Segoe UI"/>
                <a:cs typeface="Segoe UI"/>
              </a:rPr>
              <a:t>Versions and lifecycle</a:t>
            </a:r>
          </a:p>
        </p:txBody>
      </p:sp>
      <p:sp>
        <p:nvSpPr>
          <p:cNvPr id="38" name="Rectangle 37"/>
          <p:cNvSpPr/>
          <p:nvPr/>
        </p:nvSpPr>
        <p:spPr>
          <a:xfrm>
            <a:off x="6080760" y="3310128"/>
            <a:ext cx="5470855" cy="1719072"/>
          </a:xfrm>
          <a:prstGeom prst="rect">
            <a:avLst/>
          </a:prstGeom>
          <a:solidFill>
            <a:srgbClr val="F6F8FD"/>
          </a:solidFill>
          <a:ln w="9525">
            <a:solidFill>
              <a:srgbClr val="E1E7F4"/>
            </a:solidFill>
          </a:ln>
          <a:effectLst/>
        </p:spPr>
        <p:txBody>
          <a:bodyPr wrap="square" rtlCol="0" anchor="ctr"/>
          <a:lstStyle/>
          <a:p>
            <a:endParaRPr/>
          </a:p>
        </p:txBody>
      </p:sp>
      <p:sp>
        <p:nvSpPr>
          <p:cNvPr id="39" name="TextBox 38"/>
          <p:cNvSpPr txBox="1"/>
          <p:nvPr/>
        </p:nvSpPr>
        <p:spPr>
          <a:xfrm>
            <a:off x="6245352" y="3401568"/>
            <a:ext cx="5196535"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Owned by the development team — inside the session sandbox</a:t>
            </a:r>
          </a:p>
        </p:txBody>
      </p:sp>
      <p:sp>
        <p:nvSpPr>
          <p:cNvPr id="40" name="Rectangle 39"/>
          <p:cNvSpPr/>
          <p:nvPr/>
        </p:nvSpPr>
        <p:spPr>
          <a:xfrm>
            <a:off x="6245352" y="369417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code</a:t>
            </a:r>
          </a:p>
          <a:p>
            <a:pPr algn="ctr">
              <a:lnSpc>
                <a:spcPct val="110000"/>
              </a:lnSpc>
            </a:pPr>
            <a:r>
              <a:rPr sz="750" b="0" i="0" dirty="0">
                <a:solidFill>
                  <a:srgbClr val="44495B"/>
                </a:solidFill>
                <a:latin typeface="Segoe UI"/>
                <a:cs typeface="Segoe UI"/>
              </a:rPr>
              <a:t>orchestration logic in any framework</a:t>
            </a:r>
          </a:p>
        </p:txBody>
      </p:sp>
      <p:sp>
        <p:nvSpPr>
          <p:cNvPr id="41" name="Rectangle 40"/>
          <p:cNvSpPr/>
          <p:nvPr/>
        </p:nvSpPr>
        <p:spPr>
          <a:xfrm>
            <a:off x="8871051" y="369417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Container image</a:t>
            </a:r>
          </a:p>
          <a:p>
            <a:pPr algn="ctr">
              <a:lnSpc>
                <a:spcPct val="110000"/>
              </a:lnSpc>
            </a:pPr>
            <a:r>
              <a:rPr sz="750" b="0" i="0" dirty="0">
                <a:solidFill>
                  <a:srgbClr val="44495B"/>
                </a:solidFill>
                <a:latin typeface="Segoe UI"/>
                <a:cs typeface="Segoe UI"/>
              </a:rPr>
              <a:t>or a .zip of source that Foundry builds</a:t>
            </a:r>
          </a:p>
        </p:txBody>
      </p:sp>
      <p:sp>
        <p:nvSpPr>
          <p:cNvPr id="42" name="Rectangle 41"/>
          <p:cNvSpPr/>
          <p:nvPr/>
        </p:nvSpPr>
        <p:spPr>
          <a:xfrm>
            <a:off x="6245352" y="433425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Compute size</a:t>
            </a:r>
          </a:p>
          <a:p>
            <a:pPr algn="ctr">
              <a:lnSpc>
                <a:spcPct val="110000"/>
              </a:lnSpc>
            </a:pPr>
            <a:r>
              <a:rPr sz="750" b="0" i="0" dirty="0">
                <a:solidFill>
                  <a:srgbClr val="44495B"/>
                </a:solidFill>
                <a:latin typeface="Segoe UI"/>
                <a:cs typeface="Segoe UI"/>
              </a:rPr>
              <a:t>CPU and memory per session</a:t>
            </a:r>
          </a:p>
        </p:txBody>
      </p:sp>
      <p:sp>
        <p:nvSpPr>
          <p:cNvPr id="43" name="Rectangle 42"/>
          <p:cNvSpPr/>
          <p:nvPr/>
        </p:nvSpPr>
        <p:spPr>
          <a:xfrm>
            <a:off x="8871051" y="4334256"/>
            <a:ext cx="2515971" cy="54864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Tool and data access</a:t>
            </a:r>
          </a:p>
          <a:p>
            <a:pPr algn="ctr">
              <a:lnSpc>
                <a:spcPct val="110000"/>
              </a:lnSpc>
            </a:pPr>
            <a:r>
              <a:rPr sz="750" b="0" i="0" dirty="0">
                <a:solidFill>
                  <a:srgbClr val="44495B"/>
                </a:solidFill>
                <a:latin typeface="Segoe UI"/>
                <a:cs typeface="Segoe UI"/>
              </a:rPr>
              <a:t>role assignments for the agent identity</a:t>
            </a:r>
          </a:p>
        </p:txBody>
      </p:sp>
      <p:sp>
        <p:nvSpPr>
          <p:cNvPr id="44" name="Rectangle 43"/>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45" name="TextBox 44"/>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Platform-owned</a:t>
            </a:r>
          </a:p>
        </p:txBody>
      </p:sp>
      <p:sp>
        <p:nvSpPr>
          <p:cNvPr id="46" name="Rectangle 45"/>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7" name="TextBox 46"/>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Development team</a:t>
            </a:r>
          </a:p>
        </p:txBody>
      </p:sp>
      <p:sp>
        <p:nvSpPr>
          <p:cNvPr id="48" name="Rectangle 47"/>
          <p:cNvSpPr/>
          <p:nvPr/>
        </p:nvSpPr>
        <p:spPr>
          <a:xfrm>
            <a:off x="2798064" y="5545836"/>
            <a:ext cx="146304" cy="91440"/>
          </a:xfrm>
          <a:prstGeom prst="rect">
            <a:avLst/>
          </a:prstGeom>
          <a:solidFill>
            <a:srgbClr val="EBEFF7"/>
          </a:solidFill>
          <a:ln>
            <a:noFill/>
          </a:ln>
          <a:effectLst/>
        </p:spPr>
        <p:txBody>
          <a:bodyPr wrap="square" rtlCol="0" anchor="ctr"/>
          <a:lstStyle/>
          <a:p>
            <a:endParaRPr/>
          </a:p>
        </p:txBody>
      </p:sp>
      <p:sp>
        <p:nvSpPr>
          <p:cNvPr id="49" name="TextBox 48"/>
          <p:cNvSpPr txBox="1"/>
          <p:nvPr/>
        </p:nvSpPr>
        <p:spPr>
          <a:xfrm>
            <a:off x="30175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Concern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 architecture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deployed version serves requests through a dedicated endpoint; each session runs in its own isolated sandbox</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3</a:t>
            </a:r>
          </a:p>
        </p:txBody>
      </p:sp>
      <p:sp>
        <p:nvSpPr>
          <p:cNvPr id="7" name="Rectangle 6"/>
          <p:cNvSpPr/>
          <p:nvPr/>
        </p:nvSpPr>
        <p:spPr>
          <a:xfrm>
            <a:off x="457200" y="1353312"/>
            <a:ext cx="1874519"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Developer tooling</a:t>
            </a:r>
          </a:p>
          <a:p>
            <a:pPr algn="ctr">
              <a:lnSpc>
                <a:spcPct val="112000"/>
              </a:lnSpc>
            </a:pPr>
            <a:r>
              <a:rPr sz="800" b="1" i="0" dirty="0">
                <a:solidFill>
                  <a:srgbClr val="101A3C"/>
                </a:solidFill>
                <a:latin typeface="Segoe UI"/>
                <a:cs typeface="Segoe UI"/>
              </a:rPr>
              <a:t>azd · VS Code · SDK</a:t>
            </a:r>
          </a:p>
        </p:txBody>
      </p:sp>
      <p:sp>
        <p:nvSpPr>
          <p:cNvPr id="8" name="Rectangle 7"/>
          <p:cNvSpPr/>
          <p:nvPr/>
        </p:nvSpPr>
        <p:spPr>
          <a:xfrm>
            <a:off x="2880360" y="1353312"/>
            <a:ext cx="210312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Container Registry</a:t>
            </a:r>
          </a:p>
          <a:p>
            <a:pPr algn="ctr">
              <a:lnSpc>
                <a:spcPct val="110000"/>
              </a:lnSpc>
            </a:pPr>
            <a:r>
              <a:rPr sz="750" b="0" i="0" dirty="0">
                <a:solidFill>
                  <a:srgbClr val="44495B"/>
                </a:solidFill>
                <a:latin typeface="Segoe UI"/>
                <a:cs typeface="Segoe UI"/>
              </a:rPr>
              <a:t>container image</a:t>
            </a:r>
          </a:p>
        </p:txBody>
      </p:sp>
      <p:sp>
        <p:nvSpPr>
          <p:cNvPr id="9" name="Rectangle 8"/>
          <p:cNvSpPr/>
          <p:nvPr/>
        </p:nvSpPr>
        <p:spPr>
          <a:xfrm>
            <a:off x="5532120" y="1353312"/>
            <a:ext cx="274320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version (immutable)</a:t>
            </a:r>
          </a:p>
          <a:p>
            <a:pPr algn="ctr">
              <a:lnSpc>
                <a:spcPct val="110000"/>
              </a:lnSpc>
            </a:pPr>
            <a:r>
              <a:rPr sz="750" b="0" i="0" dirty="0">
                <a:solidFill>
                  <a:srgbClr val="44495B"/>
                </a:solidFill>
                <a:latin typeface="Segoe UI"/>
                <a:cs typeface="Segoe UI"/>
              </a:rPr>
              <a:t>image · CPU and memory · settings · protocols</a:t>
            </a:r>
          </a:p>
        </p:txBody>
      </p:sp>
      <p:cxnSp>
        <p:nvCxnSpPr>
          <p:cNvPr id="10" name="Connector 9"/>
          <p:cNvCxnSpPr/>
          <p:nvPr/>
        </p:nvCxnSpPr>
        <p:spPr>
          <a:xfrm>
            <a:off x="2331720" y="1609344"/>
            <a:ext cx="548640" cy="0"/>
          </a:xfrm>
          <a:prstGeom prst="line">
            <a:avLst/>
          </a:prstGeom>
          <a:ln w="13970">
            <a:solidFill>
              <a:srgbClr val="44495B"/>
            </a:solidFill>
            <a:tailEnd type="triangle" w="med" len="med"/>
          </a:ln>
        </p:spPr>
      </p:cxnSp>
      <p:sp>
        <p:nvSpPr>
          <p:cNvPr id="11" name="Oval 10"/>
          <p:cNvSpPr/>
          <p:nvPr/>
        </p:nvSpPr>
        <p:spPr>
          <a:xfrm>
            <a:off x="2500883" y="150418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2" name="Connector 11"/>
          <p:cNvCxnSpPr/>
          <p:nvPr/>
        </p:nvCxnSpPr>
        <p:spPr>
          <a:xfrm>
            <a:off x="4983480" y="1609344"/>
            <a:ext cx="548640" cy="0"/>
          </a:xfrm>
          <a:prstGeom prst="line">
            <a:avLst/>
          </a:prstGeom>
          <a:ln w="13970">
            <a:solidFill>
              <a:srgbClr val="44495B"/>
            </a:solidFill>
            <a:tailEnd type="triangle" w="med" len="med"/>
          </a:ln>
        </p:spPr>
      </p:cxnSp>
      <p:sp>
        <p:nvSpPr>
          <p:cNvPr id="13" name="Oval 12"/>
          <p:cNvSpPr/>
          <p:nvPr/>
        </p:nvSpPr>
        <p:spPr>
          <a:xfrm>
            <a:off x="5152644" y="150418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14" name="Rectangle 13"/>
          <p:cNvSpPr/>
          <p:nvPr/>
        </p:nvSpPr>
        <p:spPr>
          <a:xfrm>
            <a:off x="8732520" y="1353312"/>
            <a:ext cx="3001975"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Microsoft Entra ID</a:t>
            </a:r>
          </a:p>
          <a:p>
            <a:pPr algn="ctr">
              <a:lnSpc>
                <a:spcPct val="110000"/>
              </a:lnSpc>
            </a:pPr>
            <a:r>
              <a:rPr sz="750" b="0" i="0" dirty="0">
                <a:solidFill>
                  <a:srgbClr val="44495B"/>
                </a:solidFill>
                <a:latin typeface="Segoe UI"/>
                <a:cs typeface="Segoe UI"/>
              </a:rPr>
              <a:t>agent identity, one per agent</a:t>
            </a:r>
          </a:p>
        </p:txBody>
      </p:sp>
      <p:sp>
        <p:nvSpPr>
          <p:cNvPr id="15" name="Rectangle 14"/>
          <p:cNvSpPr/>
          <p:nvPr/>
        </p:nvSpPr>
        <p:spPr>
          <a:xfrm>
            <a:off x="457200" y="2331720"/>
            <a:ext cx="1874519" cy="1874519"/>
          </a:xfrm>
          <a:prstGeom prst="rect">
            <a:avLst/>
          </a:prstGeom>
          <a:solidFill>
            <a:srgbClr val="EBEFF7"/>
          </a:solidFill>
          <a:ln>
            <a:noFill/>
          </a:ln>
          <a:effectLst/>
        </p:spPr>
        <p:txBody>
          <a:bodyPr wrap="square" lIns="54864" tIns="18288" rIns="54864" bIns="18288" rtlCol="0" anchor="ctr"/>
          <a:lstStyle/>
          <a:p>
            <a:pPr algn="ctr">
              <a:lnSpc>
                <a:spcPct val="130000"/>
              </a:lnSpc>
            </a:pPr>
            <a:r>
              <a:rPr sz="900" b="1" i="0" dirty="0">
                <a:solidFill>
                  <a:srgbClr val="101A3C"/>
                </a:solidFill>
                <a:latin typeface="Segoe UI"/>
                <a:cs typeface="Segoe UI"/>
              </a:rPr>
              <a:t>Callers</a:t>
            </a:r>
          </a:p>
          <a:p>
            <a:pPr algn="ctr">
              <a:lnSpc>
                <a:spcPct val="130000"/>
              </a:lnSpc>
            </a:pPr>
            <a:r>
              <a:rPr sz="750" b="0" i="0" dirty="0">
                <a:solidFill>
                  <a:srgbClr val="44495B"/>
                </a:solidFill>
                <a:latin typeface="Segoe UI"/>
                <a:cs typeface="Segoe UI"/>
              </a:rPr>
              <a:t>OpenAI-compatible SDKs</a:t>
            </a:r>
          </a:p>
          <a:p>
            <a:pPr algn="ctr">
              <a:lnSpc>
                <a:spcPct val="130000"/>
              </a:lnSpc>
            </a:pPr>
            <a:r>
              <a:rPr sz="750" b="0" i="0" dirty="0">
                <a:solidFill>
                  <a:srgbClr val="44495B"/>
                </a:solidFill>
                <a:latin typeface="Segoe UI"/>
                <a:cs typeface="Segoe UI"/>
              </a:rPr>
              <a:t>webhooks and custom clients</a:t>
            </a:r>
          </a:p>
          <a:p>
            <a:pPr algn="ctr">
              <a:lnSpc>
                <a:spcPct val="130000"/>
              </a:lnSpc>
            </a:pPr>
            <a:r>
              <a:rPr sz="750" b="0" i="0" dirty="0">
                <a:solidFill>
                  <a:srgbClr val="44495B"/>
                </a:solidFill>
                <a:latin typeface="Segoe UI"/>
                <a:cs typeface="Segoe UI"/>
              </a:rPr>
              <a:t>Teams and Microsoft 365</a:t>
            </a:r>
          </a:p>
          <a:p>
            <a:pPr algn="ctr">
              <a:lnSpc>
                <a:spcPct val="130000"/>
              </a:lnSpc>
            </a:pPr>
            <a:r>
              <a:rPr sz="750" b="0" i="0" dirty="0">
                <a:solidFill>
                  <a:srgbClr val="44495B"/>
                </a:solidFill>
                <a:latin typeface="Segoe UI"/>
                <a:cs typeface="Segoe UI"/>
              </a:rPr>
              <a:t>other agents (A2A)</a:t>
            </a:r>
          </a:p>
        </p:txBody>
      </p:sp>
      <p:sp>
        <p:nvSpPr>
          <p:cNvPr id="16" name="Rectangle 15"/>
          <p:cNvSpPr/>
          <p:nvPr/>
        </p:nvSpPr>
        <p:spPr>
          <a:xfrm>
            <a:off x="2880360" y="2331720"/>
            <a:ext cx="2103120" cy="1874519"/>
          </a:xfrm>
          <a:prstGeom prst="rect">
            <a:avLst/>
          </a:prstGeom>
          <a:solidFill>
            <a:srgbClr val="101A3C"/>
          </a:solidFill>
          <a:ln>
            <a:noFill/>
          </a:ln>
          <a:effectLst/>
        </p:spPr>
        <p:txBody>
          <a:bodyPr wrap="square" rtlCol="0" anchor="ctr"/>
          <a:lstStyle/>
          <a:p>
            <a:endParaRPr/>
          </a:p>
        </p:txBody>
      </p:sp>
      <p:sp>
        <p:nvSpPr>
          <p:cNvPr id="17" name="TextBox 16"/>
          <p:cNvSpPr txBox="1"/>
          <p:nvPr/>
        </p:nvSpPr>
        <p:spPr>
          <a:xfrm>
            <a:off x="2990088" y="2404872"/>
            <a:ext cx="1883664" cy="182880"/>
          </a:xfrm>
          <a:prstGeom prst="rect">
            <a:avLst/>
          </a:prstGeom>
          <a:noFill/>
        </p:spPr>
        <p:txBody>
          <a:bodyPr wrap="square" lIns="0" tIns="0" rIns="0" bIns="0" anchor="t">
            <a:spAutoFit/>
          </a:bodyPr>
          <a:lstStyle/>
          <a:p>
            <a:pPr algn="ctr">
              <a:lnSpc>
                <a:spcPct val="100000"/>
              </a:lnSpc>
            </a:pPr>
            <a:r>
              <a:rPr sz="950" b="1" i="0" dirty="0">
                <a:solidFill>
                  <a:srgbClr val="FFFFFF"/>
                </a:solidFill>
                <a:latin typeface="Segoe UI"/>
                <a:cs typeface="Segoe UI"/>
              </a:rPr>
              <a:t>Agent endpoint</a:t>
            </a:r>
          </a:p>
        </p:txBody>
      </p:sp>
      <p:sp>
        <p:nvSpPr>
          <p:cNvPr id="18" name="Rectangle 17"/>
          <p:cNvSpPr/>
          <p:nvPr/>
        </p:nvSpPr>
        <p:spPr>
          <a:xfrm>
            <a:off x="3017520" y="269748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Responses</a:t>
            </a:r>
          </a:p>
        </p:txBody>
      </p:sp>
      <p:sp>
        <p:nvSpPr>
          <p:cNvPr id="19" name="Rectangle 18"/>
          <p:cNvSpPr/>
          <p:nvPr/>
        </p:nvSpPr>
        <p:spPr>
          <a:xfrm>
            <a:off x="3017520" y="306324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Invocations</a:t>
            </a:r>
          </a:p>
        </p:txBody>
      </p:sp>
      <p:sp>
        <p:nvSpPr>
          <p:cNvPr id="20" name="Rectangle 19"/>
          <p:cNvSpPr/>
          <p:nvPr/>
        </p:nvSpPr>
        <p:spPr>
          <a:xfrm>
            <a:off x="3017520" y="342900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Invocations (WebSocket)</a:t>
            </a:r>
          </a:p>
        </p:txBody>
      </p:sp>
      <p:sp>
        <p:nvSpPr>
          <p:cNvPr id="21" name="Rectangle 20"/>
          <p:cNvSpPr/>
          <p:nvPr/>
        </p:nvSpPr>
        <p:spPr>
          <a:xfrm>
            <a:off x="3017520" y="3794760"/>
            <a:ext cx="1828800" cy="292608"/>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Activity · A2A</a:t>
            </a:r>
          </a:p>
        </p:txBody>
      </p:sp>
      <p:cxnSp>
        <p:nvCxnSpPr>
          <p:cNvPr id="22" name="Connector 21"/>
          <p:cNvCxnSpPr/>
          <p:nvPr/>
        </p:nvCxnSpPr>
        <p:spPr>
          <a:xfrm>
            <a:off x="2331720" y="3273552"/>
            <a:ext cx="548640" cy="0"/>
          </a:xfrm>
          <a:prstGeom prst="line">
            <a:avLst/>
          </a:prstGeom>
          <a:ln w="13970">
            <a:solidFill>
              <a:srgbClr val="44495B"/>
            </a:solidFill>
            <a:tailEnd type="triangle" w="med" len="med"/>
          </a:ln>
        </p:spPr>
      </p:cxnSp>
      <p:sp>
        <p:nvSpPr>
          <p:cNvPr id="23" name="Oval 22"/>
          <p:cNvSpPr/>
          <p:nvPr/>
        </p:nvSpPr>
        <p:spPr>
          <a:xfrm>
            <a:off x="2500883"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4" name="Rectangle 23"/>
          <p:cNvSpPr/>
          <p:nvPr/>
        </p:nvSpPr>
        <p:spPr>
          <a:xfrm>
            <a:off x="5532120" y="2331720"/>
            <a:ext cx="2743200" cy="1874519"/>
          </a:xfrm>
          <a:prstGeom prst="rect">
            <a:avLst/>
          </a:prstGeom>
          <a:noFill/>
          <a:ln w="9525">
            <a:solidFill>
              <a:srgbClr val="44495B"/>
            </a:solidFill>
            <a:prstDash val="dash"/>
          </a:ln>
          <a:effectLst/>
        </p:spPr>
        <p:txBody>
          <a:bodyPr wrap="square" rtlCol="0" anchor="ctr"/>
          <a:lstStyle/>
          <a:p>
            <a:endParaRPr/>
          </a:p>
        </p:txBody>
      </p:sp>
      <p:sp>
        <p:nvSpPr>
          <p:cNvPr id="25" name="TextBox 24"/>
          <p:cNvSpPr txBox="1"/>
          <p:nvPr/>
        </p:nvSpPr>
        <p:spPr>
          <a:xfrm>
            <a:off x="5641848" y="2377440"/>
            <a:ext cx="2560320" cy="182880"/>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Session sandbox — one per session</a:t>
            </a:r>
          </a:p>
        </p:txBody>
      </p:sp>
      <p:sp>
        <p:nvSpPr>
          <p:cNvPr id="26" name="Rectangle 25"/>
          <p:cNvSpPr/>
          <p:nvPr/>
        </p:nvSpPr>
        <p:spPr>
          <a:xfrm>
            <a:off x="5669280" y="2633472"/>
            <a:ext cx="2468880"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Agent code and framework</a:t>
            </a:r>
          </a:p>
          <a:p>
            <a:pPr algn="ctr">
              <a:lnSpc>
                <a:spcPct val="110000"/>
              </a:lnSpc>
            </a:pPr>
            <a:r>
              <a:rPr sz="750" b="0" i="0" dirty="0">
                <a:solidFill>
                  <a:srgbClr val="44495B"/>
                </a:solidFill>
                <a:latin typeface="Segoe UI"/>
                <a:cs typeface="Segoe UI"/>
              </a:rPr>
              <a:t>the team's container</a:t>
            </a:r>
          </a:p>
        </p:txBody>
      </p:sp>
      <p:sp>
        <p:nvSpPr>
          <p:cNvPr id="27" name="Rectangle 26"/>
          <p:cNvSpPr/>
          <p:nvPr/>
        </p:nvSpPr>
        <p:spPr>
          <a:xfrm>
            <a:off x="5669280" y="3182112"/>
            <a:ext cx="2468880" cy="42062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Protocol library</a:t>
            </a:r>
          </a:p>
          <a:p>
            <a:pPr algn="ctr">
              <a:lnSpc>
                <a:spcPct val="110000"/>
              </a:lnSpc>
            </a:pPr>
            <a:r>
              <a:rPr sz="750" b="0" i="0" dirty="0">
                <a:solidFill>
                  <a:srgbClr val="44495B"/>
                </a:solidFill>
                <a:latin typeface="Segoe UI"/>
                <a:cs typeface="Segoe UI"/>
              </a:rPr>
              <a:t>server, health checks, OpenTelemetry</a:t>
            </a:r>
          </a:p>
        </p:txBody>
      </p:sp>
      <p:sp>
        <p:nvSpPr>
          <p:cNvPr id="28" name="Rectangle 27"/>
          <p:cNvSpPr/>
          <p:nvPr/>
        </p:nvSpPr>
        <p:spPr>
          <a:xfrm>
            <a:off x="5669280" y="3675887"/>
            <a:ext cx="2468880" cy="42062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$HOME and /files</a:t>
            </a:r>
          </a:p>
          <a:p>
            <a:pPr algn="ctr">
              <a:lnSpc>
                <a:spcPct val="110000"/>
              </a:lnSpc>
            </a:pPr>
            <a:r>
              <a:rPr sz="750" b="0" i="0" dirty="0">
                <a:solidFill>
                  <a:srgbClr val="44495B"/>
                </a:solidFill>
                <a:latin typeface="Segoe UI"/>
                <a:cs typeface="Segoe UI"/>
              </a:rPr>
              <a:t>persisted across turns and idle periods</a:t>
            </a:r>
          </a:p>
        </p:txBody>
      </p:sp>
      <p:cxnSp>
        <p:nvCxnSpPr>
          <p:cNvPr id="29" name="Connector 28"/>
          <p:cNvCxnSpPr/>
          <p:nvPr/>
        </p:nvCxnSpPr>
        <p:spPr>
          <a:xfrm>
            <a:off x="4983480" y="3273552"/>
            <a:ext cx="548640" cy="0"/>
          </a:xfrm>
          <a:prstGeom prst="line">
            <a:avLst/>
          </a:prstGeom>
          <a:ln w="13970">
            <a:solidFill>
              <a:srgbClr val="44495B"/>
            </a:solidFill>
            <a:tailEnd type="triangle" w="med" len="med"/>
          </a:ln>
        </p:spPr>
      </p:cxnSp>
      <p:sp>
        <p:nvSpPr>
          <p:cNvPr id="30" name="Oval 29"/>
          <p:cNvSpPr/>
          <p:nvPr/>
        </p:nvSpPr>
        <p:spPr>
          <a:xfrm>
            <a:off x="5152644"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31" name="Connector 30"/>
          <p:cNvCxnSpPr/>
          <p:nvPr/>
        </p:nvCxnSpPr>
        <p:spPr>
          <a:xfrm>
            <a:off x="6903720" y="1865376"/>
            <a:ext cx="0" cy="466344"/>
          </a:xfrm>
          <a:prstGeom prst="line">
            <a:avLst/>
          </a:prstGeom>
          <a:ln w="13970">
            <a:solidFill>
              <a:srgbClr val="44495B"/>
            </a:solidFill>
            <a:tailEnd type="triangle" w="med" len="med"/>
          </a:ln>
        </p:spPr>
      </p:cxnSp>
      <p:sp>
        <p:nvSpPr>
          <p:cNvPr id="32" name="Rectangle 31"/>
          <p:cNvSpPr/>
          <p:nvPr/>
        </p:nvSpPr>
        <p:spPr>
          <a:xfrm>
            <a:off x="8732520" y="23317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models</a:t>
            </a:r>
          </a:p>
          <a:p>
            <a:pPr algn="ctr">
              <a:lnSpc>
                <a:spcPct val="110000"/>
              </a:lnSpc>
            </a:pPr>
            <a:r>
              <a:rPr sz="750" b="0" i="0" dirty="0">
                <a:solidFill>
                  <a:srgbClr val="44495B"/>
                </a:solidFill>
                <a:latin typeface="Segoe UI"/>
                <a:cs typeface="Segoe UI"/>
              </a:rPr>
              <a:t>through the project endpoint</a:t>
            </a:r>
          </a:p>
        </p:txBody>
      </p:sp>
      <p:sp>
        <p:nvSpPr>
          <p:cNvPr id="33" name="Rectangle 32"/>
          <p:cNvSpPr/>
          <p:nvPr/>
        </p:nvSpPr>
        <p:spPr>
          <a:xfrm>
            <a:off x="8732520" y="30175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Toolbox MCP endpoint</a:t>
            </a:r>
          </a:p>
          <a:p>
            <a:pPr algn="ctr">
              <a:lnSpc>
                <a:spcPct val="110000"/>
              </a:lnSpc>
            </a:pPr>
            <a:r>
              <a:rPr sz="750" b="0" i="0" dirty="0">
                <a:solidFill>
                  <a:srgbClr val="44495B"/>
                </a:solidFill>
                <a:latin typeface="Segoe UI"/>
                <a:cs typeface="Segoe UI"/>
              </a:rPr>
              <a:t>Foundry tools, MCP, A2A, skills</a:t>
            </a:r>
          </a:p>
        </p:txBody>
      </p:sp>
      <p:sp>
        <p:nvSpPr>
          <p:cNvPr id="34" name="Rectangle 33"/>
          <p:cNvSpPr/>
          <p:nvPr/>
        </p:nvSpPr>
        <p:spPr>
          <a:xfrm>
            <a:off x="8732520" y="3703320"/>
            <a:ext cx="3001975" cy="5029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resources</a:t>
            </a:r>
          </a:p>
          <a:p>
            <a:pPr algn="ctr">
              <a:lnSpc>
                <a:spcPct val="110000"/>
              </a:lnSpc>
            </a:pPr>
            <a:r>
              <a:rPr sz="750" b="0" i="0" dirty="0">
                <a:solidFill>
                  <a:srgbClr val="44495B"/>
                </a:solidFill>
                <a:latin typeface="Segoe UI"/>
                <a:cs typeface="Segoe UI"/>
              </a:rPr>
              <a:t>access granted by role assignment</a:t>
            </a:r>
          </a:p>
        </p:txBody>
      </p:sp>
      <p:cxnSp>
        <p:nvCxnSpPr>
          <p:cNvPr id="35" name="Connector 34"/>
          <p:cNvCxnSpPr/>
          <p:nvPr/>
        </p:nvCxnSpPr>
        <p:spPr>
          <a:xfrm>
            <a:off x="8275320" y="3273552"/>
            <a:ext cx="228600" cy="0"/>
          </a:xfrm>
          <a:prstGeom prst="line">
            <a:avLst/>
          </a:prstGeom>
          <a:ln w="13970">
            <a:solidFill>
              <a:srgbClr val="44495B"/>
            </a:solidFill>
          </a:ln>
        </p:spPr>
      </p:cxnSp>
      <p:cxnSp>
        <p:nvCxnSpPr>
          <p:cNvPr id="36" name="Connector 35"/>
          <p:cNvCxnSpPr/>
          <p:nvPr/>
        </p:nvCxnSpPr>
        <p:spPr>
          <a:xfrm>
            <a:off x="8503920" y="2578608"/>
            <a:ext cx="0" cy="1380744"/>
          </a:xfrm>
          <a:prstGeom prst="line">
            <a:avLst/>
          </a:prstGeom>
          <a:ln w="13970">
            <a:solidFill>
              <a:srgbClr val="44495B"/>
            </a:solidFill>
          </a:ln>
        </p:spPr>
      </p:cxnSp>
      <p:cxnSp>
        <p:nvCxnSpPr>
          <p:cNvPr id="37" name="Connector 36"/>
          <p:cNvCxnSpPr/>
          <p:nvPr/>
        </p:nvCxnSpPr>
        <p:spPr>
          <a:xfrm>
            <a:off x="8503920" y="2578608"/>
            <a:ext cx="228600" cy="0"/>
          </a:xfrm>
          <a:prstGeom prst="line">
            <a:avLst/>
          </a:prstGeom>
          <a:ln w="13970">
            <a:solidFill>
              <a:srgbClr val="44495B"/>
            </a:solidFill>
            <a:tailEnd type="triangle" w="med" len="med"/>
          </a:ln>
        </p:spPr>
      </p:cxnSp>
      <p:cxnSp>
        <p:nvCxnSpPr>
          <p:cNvPr id="38" name="Connector 37"/>
          <p:cNvCxnSpPr/>
          <p:nvPr/>
        </p:nvCxnSpPr>
        <p:spPr>
          <a:xfrm>
            <a:off x="8503920" y="3273552"/>
            <a:ext cx="228600" cy="0"/>
          </a:xfrm>
          <a:prstGeom prst="line">
            <a:avLst/>
          </a:prstGeom>
          <a:ln w="13970">
            <a:solidFill>
              <a:srgbClr val="44495B"/>
            </a:solidFill>
            <a:tailEnd type="triangle" w="med" len="med"/>
          </a:ln>
        </p:spPr>
      </p:cxnSp>
      <p:cxnSp>
        <p:nvCxnSpPr>
          <p:cNvPr id="39" name="Connector 38"/>
          <p:cNvCxnSpPr/>
          <p:nvPr/>
        </p:nvCxnSpPr>
        <p:spPr>
          <a:xfrm>
            <a:off x="8503920" y="3959352"/>
            <a:ext cx="228600" cy="0"/>
          </a:xfrm>
          <a:prstGeom prst="line">
            <a:avLst/>
          </a:prstGeom>
          <a:ln w="13970">
            <a:solidFill>
              <a:srgbClr val="44495B"/>
            </a:solidFill>
            <a:tailEnd type="triangle" w="med" len="med"/>
          </a:ln>
        </p:spPr>
      </p:cxnSp>
      <p:sp>
        <p:nvSpPr>
          <p:cNvPr id="40" name="Oval 39"/>
          <p:cNvSpPr/>
          <p:nvPr/>
        </p:nvSpPr>
        <p:spPr>
          <a:xfrm>
            <a:off x="8284464" y="31683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cxnSp>
        <p:nvCxnSpPr>
          <p:cNvPr id="41" name="Connector 40"/>
          <p:cNvCxnSpPr/>
          <p:nvPr/>
        </p:nvCxnSpPr>
        <p:spPr>
          <a:xfrm>
            <a:off x="10233507" y="1865376"/>
            <a:ext cx="0" cy="466344"/>
          </a:xfrm>
          <a:prstGeom prst="line">
            <a:avLst/>
          </a:prstGeom>
          <a:ln w="13970">
            <a:solidFill>
              <a:srgbClr val="44495B"/>
            </a:solidFill>
            <a:prstDash val="dash"/>
          </a:ln>
        </p:spPr>
      </p:cxnSp>
      <p:sp>
        <p:nvSpPr>
          <p:cNvPr id="42" name="Rectangle 41"/>
          <p:cNvSpPr/>
          <p:nvPr/>
        </p:nvSpPr>
        <p:spPr>
          <a:xfrm>
            <a:off x="457200" y="4526280"/>
            <a:ext cx="11277295" cy="566928"/>
          </a:xfrm>
          <a:prstGeom prst="rect">
            <a:avLst/>
          </a:prstGeom>
          <a:solidFill>
            <a:srgbClr val="0B1229"/>
          </a:solidFill>
          <a:ln>
            <a:noFill/>
          </a:ln>
          <a:effectLst/>
        </p:spPr>
        <p:txBody>
          <a:bodyPr wrap="square" rtlCol="0" anchor="ctr"/>
          <a:lstStyle/>
          <a:p>
            <a:endParaRPr/>
          </a:p>
        </p:txBody>
      </p:sp>
      <p:sp>
        <p:nvSpPr>
          <p:cNvPr id="43" name="TextBox 42"/>
          <p:cNvSpPr txBox="1"/>
          <p:nvPr/>
        </p:nvSpPr>
        <p:spPr>
          <a:xfrm>
            <a:off x="640080" y="4599432"/>
            <a:ext cx="2194560" cy="182880"/>
          </a:xfrm>
          <a:prstGeom prst="rect">
            <a:avLst/>
          </a:prstGeom>
          <a:noFill/>
        </p:spPr>
        <p:txBody>
          <a:bodyPr wrap="square" lIns="0" tIns="0" rIns="0" bIns="0" anchor="t">
            <a:spAutoFit/>
          </a:bodyPr>
          <a:lstStyle/>
          <a:p>
            <a:pPr algn="l">
              <a:lnSpc>
                <a:spcPct val="100000"/>
              </a:lnSpc>
            </a:pPr>
            <a:r>
              <a:rPr sz="900" b="1" i="0" dirty="0">
                <a:solidFill>
                  <a:srgbClr val="FFFFFF"/>
                </a:solidFill>
                <a:latin typeface="Segoe UI"/>
                <a:cs typeface="Segoe UI"/>
              </a:rPr>
              <a:t>Managed by the platform</a:t>
            </a:r>
          </a:p>
        </p:txBody>
      </p:sp>
      <p:sp>
        <p:nvSpPr>
          <p:cNvPr id="44" name="Rectangle 43"/>
          <p:cNvSpPr/>
          <p:nvPr/>
        </p:nvSpPr>
        <p:spPr>
          <a:xfrm>
            <a:off x="2880360"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Conversation history</a:t>
            </a:r>
          </a:p>
        </p:txBody>
      </p:sp>
      <p:sp>
        <p:nvSpPr>
          <p:cNvPr id="45" name="Rectangle 44"/>
          <p:cNvSpPr/>
          <p:nvPr/>
        </p:nvSpPr>
        <p:spPr>
          <a:xfrm>
            <a:off x="5001768"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Session state</a:t>
            </a:r>
          </a:p>
        </p:txBody>
      </p:sp>
      <p:sp>
        <p:nvSpPr>
          <p:cNvPr id="46" name="Rectangle 45"/>
          <p:cNvSpPr/>
          <p:nvPr/>
        </p:nvSpPr>
        <p:spPr>
          <a:xfrm>
            <a:off x="7123175"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State store</a:t>
            </a:r>
          </a:p>
        </p:txBody>
      </p:sp>
      <p:sp>
        <p:nvSpPr>
          <p:cNvPr id="47" name="Rectangle 46"/>
          <p:cNvSpPr/>
          <p:nvPr/>
        </p:nvSpPr>
        <p:spPr>
          <a:xfrm>
            <a:off x="9244584" y="4645152"/>
            <a:ext cx="1975104" cy="329184"/>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Application Insights traces</a:t>
            </a:r>
          </a:p>
        </p:txBody>
      </p:sp>
      <p:cxnSp>
        <p:nvCxnSpPr>
          <p:cNvPr id="48" name="Connector 47"/>
          <p:cNvCxnSpPr/>
          <p:nvPr/>
        </p:nvCxnSpPr>
        <p:spPr>
          <a:xfrm>
            <a:off x="6903720" y="4206240"/>
            <a:ext cx="0" cy="320040"/>
          </a:xfrm>
          <a:prstGeom prst="line">
            <a:avLst/>
          </a:prstGeom>
          <a:ln w="13970">
            <a:solidFill>
              <a:srgbClr val="44495B"/>
            </a:solidFill>
            <a:prstDash val="dash"/>
          </a:ln>
        </p:spPr>
      </p:cxnSp>
      <p:sp>
        <p:nvSpPr>
          <p:cNvPr id="49" name="Oval 48"/>
          <p:cNvSpPr/>
          <p:nvPr/>
        </p:nvSpPr>
        <p:spPr>
          <a:xfrm>
            <a:off x="6798564" y="426567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6</a:t>
            </a:r>
          </a:p>
        </p:txBody>
      </p:sp>
      <p:sp>
        <p:nvSpPr>
          <p:cNvPr id="50" name="Rectangle 49"/>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1" name="TextBox 50"/>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Agent endpoint</a:t>
            </a:r>
          </a:p>
        </p:txBody>
      </p:sp>
      <p:sp>
        <p:nvSpPr>
          <p:cNvPr id="52" name="Rectangle 51"/>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3" name="TextBox 52"/>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Component or service</a:t>
            </a:r>
          </a:p>
        </p:txBody>
      </p:sp>
      <p:sp>
        <p:nvSpPr>
          <p:cNvPr id="54" name="Rectangle 53"/>
          <p:cNvSpPr/>
          <p:nvPr/>
        </p:nvSpPr>
        <p:spPr>
          <a:xfrm>
            <a:off x="3017520" y="5545836"/>
            <a:ext cx="146304" cy="91440"/>
          </a:xfrm>
          <a:prstGeom prst="rect">
            <a:avLst/>
          </a:prstGeom>
          <a:solidFill>
            <a:srgbClr val="EBEFF7"/>
          </a:solidFill>
          <a:ln>
            <a:noFill/>
          </a:ln>
          <a:effectLst/>
        </p:spPr>
        <p:txBody>
          <a:bodyPr wrap="square" rtlCol="0" anchor="ctr"/>
          <a:lstStyle/>
          <a:p>
            <a:endParaRPr/>
          </a:p>
        </p:txBody>
      </p:sp>
      <p:sp>
        <p:nvSpPr>
          <p:cNvPr id="55" name="TextBox 54"/>
          <p:cNvSpPr txBox="1"/>
          <p:nvPr/>
        </p:nvSpPr>
        <p:spPr>
          <a:xfrm>
            <a:off x="323697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tooling</a:t>
            </a:r>
          </a:p>
        </p:txBody>
      </p:sp>
      <p:sp>
        <p:nvSpPr>
          <p:cNvPr id="56" name="Rectangle 55"/>
          <p:cNvSpPr/>
          <p:nvPr/>
        </p:nvSpPr>
        <p:spPr>
          <a:xfrm>
            <a:off x="4297680" y="5545836"/>
            <a:ext cx="146304" cy="91440"/>
          </a:xfrm>
          <a:prstGeom prst="rect">
            <a:avLst/>
          </a:prstGeom>
          <a:solidFill>
            <a:srgbClr val="0B1229"/>
          </a:solidFill>
          <a:ln>
            <a:noFill/>
          </a:ln>
          <a:effectLst/>
        </p:spPr>
        <p:txBody>
          <a:bodyPr wrap="square" rtlCol="0" anchor="ctr"/>
          <a:lstStyle/>
          <a:p>
            <a:endParaRPr/>
          </a:p>
        </p:txBody>
      </p:sp>
      <p:sp>
        <p:nvSpPr>
          <p:cNvPr id="57" name="TextBox 56"/>
          <p:cNvSpPr txBox="1"/>
          <p:nvPr/>
        </p:nvSpPr>
        <p:spPr>
          <a:xfrm>
            <a:off x="45171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Platform layer</a:t>
            </a:r>
          </a:p>
        </p:txBody>
      </p:sp>
      <p:sp>
        <p:nvSpPr>
          <p:cNvPr id="58" name="Rectangle 57"/>
          <p:cNvSpPr/>
          <p:nvPr/>
        </p:nvSpPr>
        <p:spPr>
          <a:xfrm>
            <a:off x="5413248" y="5532120"/>
            <a:ext cx="146304" cy="118872"/>
          </a:xfrm>
          <a:prstGeom prst="rect">
            <a:avLst/>
          </a:prstGeom>
          <a:noFill/>
          <a:ln w="9525">
            <a:solidFill>
              <a:srgbClr val="44495B"/>
            </a:solidFill>
            <a:prstDash val="dash"/>
          </a:ln>
          <a:effectLst/>
        </p:spPr>
        <p:txBody>
          <a:bodyPr wrap="square" rtlCol="0" anchor="ctr"/>
          <a:lstStyle/>
          <a:p>
            <a:endParaRPr/>
          </a:p>
        </p:txBody>
      </p:sp>
      <p:sp>
        <p:nvSpPr>
          <p:cNvPr id="59" name="TextBox 58"/>
          <p:cNvSpPr txBox="1"/>
          <p:nvPr/>
        </p:nvSpPr>
        <p:spPr>
          <a:xfrm>
            <a:off x="563270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Sandbox</a:t>
            </a:r>
          </a:p>
        </p:txBody>
      </p:sp>
      <p:cxnSp>
        <p:nvCxnSpPr>
          <p:cNvPr id="60" name="Connector 59"/>
          <p:cNvCxnSpPr/>
          <p:nvPr/>
        </p:nvCxnSpPr>
        <p:spPr>
          <a:xfrm>
            <a:off x="6144768" y="5591556"/>
            <a:ext cx="164592" cy="0"/>
          </a:xfrm>
          <a:prstGeom prst="line">
            <a:avLst/>
          </a:prstGeom>
          <a:ln w="13970">
            <a:solidFill>
              <a:srgbClr val="44495B"/>
            </a:solidFill>
          </a:ln>
        </p:spPr>
      </p:cxnSp>
      <p:sp>
        <p:nvSpPr>
          <p:cNvPr id="61" name="TextBox 60"/>
          <p:cNvSpPr txBox="1"/>
          <p:nvPr/>
        </p:nvSpPr>
        <p:spPr>
          <a:xfrm>
            <a:off x="6364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 or deploy</a:t>
            </a:r>
          </a:p>
        </p:txBody>
      </p:sp>
      <p:cxnSp>
        <p:nvCxnSpPr>
          <p:cNvPr id="62" name="Connector 61"/>
          <p:cNvCxnSpPr/>
          <p:nvPr/>
        </p:nvCxnSpPr>
        <p:spPr>
          <a:xfrm>
            <a:off x="7424928" y="5591556"/>
            <a:ext cx="164592" cy="0"/>
          </a:xfrm>
          <a:prstGeom prst="line">
            <a:avLst/>
          </a:prstGeom>
          <a:ln w="13970">
            <a:solidFill>
              <a:srgbClr val="44495B"/>
            </a:solidFill>
            <a:prstDash val="dash"/>
          </a:ln>
        </p:spPr>
      </p:cxnSp>
      <p:sp>
        <p:nvSpPr>
          <p:cNvPr id="63" name="TextBox 62"/>
          <p:cNvSpPr txBox="1"/>
          <p:nvPr/>
        </p:nvSpPr>
        <p:spPr>
          <a:xfrm>
            <a:off x="764438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telemetry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Protocols, protocol libraries and tools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layer between agent code and the Foundry runtime, and the way a hosted agent reaches Foundry tools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 · how-to/deploy-hosted-agent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4</a:t>
            </a:r>
          </a:p>
        </p:txBody>
      </p:sp>
      <p:sp>
        <p:nvSpPr>
          <p:cNvPr id="7" name="TextBox 6"/>
          <p:cNvSpPr txBox="1"/>
          <p:nvPr/>
        </p:nvSpPr>
        <p:spPr>
          <a:xfrm>
            <a:off x="457200" y="1353312"/>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PROTOCOLS THE ENDPOINT EXPOSES</a:t>
            </a:r>
          </a:p>
        </p:txBody>
      </p:sp>
      <p:sp>
        <p:nvSpPr>
          <p:cNvPr id="8" name="Rectangle 7"/>
          <p:cNvSpPr/>
          <p:nvPr/>
        </p:nvSpPr>
        <p:spPr>
          <a:xfrm>
            <a:off x="457200" y="1609344"/>
            <a:ext cx="6446520"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687068"/>
            <a:ext cx="142875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Protocol</a:t>
            </a:r>
          </a:p>
        </p:txBody>
      </p:sp>
      <p:sp>
        <p:nvSpPr>
          <p:cNvPr id="10" name="TextBox 9"/>
          <p:cNvSpPr txBox="1"/>
          <p:nvPr/>
        </p:nvSpPr>
        <p:spPr>
          <a:xfrm>
            <a:off x="2196846" y="1687068"/>
            <a:ext cx="220233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Payload</a:t>
            </a:r>
          </a:p>
        </p:txBody>
      </p:sp>
      <p:sp>
        <p:nvSpPr>
          <p:cNvPr id="11" name="TextBox 10"/>
          <p:cNvSpPr txBox="1"/>
          <p:nvPr/>
        </p:nvSpPr>
        <p:spPr>
          <a:xfrm>
            <a:off x="4582058" y="1687068"/>
            <a:ext cx="226679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Used for</a:t>
            </a:r>
          </a:p>
        </p:txBody>
      </p:sp>
      <p:sp>
        <p:nvSpPr>
          <p:cNvPr id="12" name="Rectangle 11"/>
          <p:cNvSpPr/>
          <p:nvPr/>
        </p:nvSpPr>
        <p:spPr>
          <a:xfrm>
            <a:off x="457200" y="1920240"/>
            <a:ext cx="6446520" cy="347472"/>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267712"/>
            <a:ext cx="6446520" cy="0"/>
          </a:xfrm>
          <a:prstGeom prst="line">
            <a:avLst/>
          </a:prstGeom>
          <a:ln w="9525">
            <a:solidFill>
              <a:srgbClr val="E1E7F4"/>
            </a:solidFill>
          </a:ln>
        </p:spPr>
      </p:cxnSp>
      <p:sp>
        <p:nvSpPr>
          <p:cNvPr id="14" name="TextBox 13"/>
          <p:cNvSpPr txBox="1"/>
          <p:nvPr/>
        </p:nvSpPr>
        <p:spPr>
          <a:xfrm>
            <a:off x="585216" y="1970532"/>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Responses</a:t>
            </a:r>
          </a:p>
        </p:txBody>
      </p:sp>
      <p:sp>
        <p:nvSpPr>
          <p:cNvPr id="15" name="TextBox 14"/>
          <p:cNvSpPr txBox="1"/>
          <p:nvPr/>
        </p:nvSpPr>
        <p:spPr>
          <a:xfrm>
            <a:off x="2196846" y="1970532"/>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OpenAI-compatible; platform keeps history</a:t>
            </a:r>
          </a:p>
        </p:txBody>
      </p:sp>
      <p:sp>
        <p:nvSpPr>
          <p:cNvPr id="16" name="TextBox 15"/>
          <p:cNvSpPr txBox="1"/>
          <p:nvPr/>
        </p:nvSpPr>
        <p:spPr>
          <a:xfrm>
            <a:off x="4582058" y="1970532"/>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Chat, RAG, tools, background work</a:t>
            </a:r>
          </a:p>
        </p:txBody>
      </p:sp>
      <p:cxnSp>
        <p:nvCxnSpPr>
          <p:cNvPr id="17" name="Connector 16"/>
          <p:cNvCxnSpPr/>
          <p:nvPr/>
        </p:nvCxnSpPr>
        <p:spPr>
          <a:xfrm>
            <a:off x="457200" y="2615184"/>
            <a:ext cx="6446520" cy="0"/>
          </a:xfrm>
          <a:prstGeom prst="line">
            <a:avLst/>
          </a:prstGeom>
          <a:ln w="9525">
            <a:solidFill>
              <a:srgbClr val="E1E7F4"/>
            </a:solidFill>
          </a:ln>
        </p:spPr>
      </p:cxnSp>
      <p:sp>
        <p:nvSpPr>
          <p:cNvPr id="18" name="TextBox 17"/>
          <p:cNvSpPr txBox="1"/>
          <p:nvPr/>
        </p:nvSpPr>
        <p:spPr>
          <a:xfrm>
            <a:off x="585216" y="2318004"/>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Invocations</a:t>
            </a:r>
          </a:p>
        </p:txBody>
      </p:sp>
      <p:sp>
        <p:nvSpPr>
          <p:cNvPr id="19" name="TextBox 18"/>
          <p:cNvSpPr txBox="1"/>
          <p:nvPr/>
        </p:nvSpPr>
        <p:spPr>
          <a:xfrm>
            <a:off x="2196846" y="2318004"/>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JSON; the agent defines the schema</a:t>
            </a:r>
          </a:p>
        </p:txBody>
      </p:sp>
      <p:sp>
        <p:nvSpPr>
          <p:cNvPr id="20" name="TextBox 19"/>
          <p:cNvSpPr txBox="1"/>
          <p:nvPr/>
        </p:nvSpPr>
        <p:spPr>
          <a:xfrm>
            <a:off x="4582058" y="2318004"/>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Webhooks, extraction, AG-UI, protocol bridges</a:t>
            </a:r>
          </a:p>
        </p:txBody>
      </p:sp>
      <p:sp>
        <p:nvSpPr>
          <p:cNvPr id="21" name="Rectangle 20"/>
          <p:cNvSpPr/>
          <p:nvPr/>
        </p:nvSpPr>
        <p:spPr>
          <a:xfrm>
            <a:off x="457200" y="2615184"/>
            <a:ext cx="6446520" cy="347472"/>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2962656"/>
            <a:ext cx="6446520" cy="0"/>
          </a:xfrm>
          <a:prstGeom prst="line">
            <a:avLst/>
          </a:prstGeom>
          <a:ln w="9525">
            <a:solidFill>
              <a:srgbClr val="E1E7F4"/>
            </a:solidFill>
          </a:ln>
        </p:spPr>
      </p:cxnSp>
      <p:sp>
        <p:nvSpPr>
          <p:cNvPr id="23" name="TextBox 22"/>
          <p:cNvSpPr txBox="1"/>
          <p:nvPr/>
        </p:nvSpPr>
        <p:spPr>
          <a:xfrm>
            <a:off x="585216" y="2665476"/>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Invocations (WebSocket)</a:t>
            </a:r>
          </a:p>
        </p:txBody>
      </p:sp>
      <p:sp>
        <p:nvSpPr>
          <p:cNvPr id="24" name="TextBox 23"/>
          <p:cNvSpPr txBox="1"/>
          <p:nvPr/>
        </p:nvSpPr>
        <p:spPr>
          <a:xfrm>
            <a:off x="2196846" y="2665476"/>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Two-way stream on one connection</a:t>
            </a:r>
          </a:p>
        </p:txBody>
      </p:sp>
      <p:sp>
        <p:nvSpPr>
          <p:cNvPr id="25" name="TextBox 24"/>
          <p:cNvSpPr txBox="1"/>
          <p:nvPr/>
        </p:nvSpPr>
        <p:spPr>
          <a:xfrm>
            <a:off x="4582058" y="2665476"/>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voice with Pipecat, LiveKit or Voice Live</a:t>
            </a:r>
          </a:p>
        </p:txBody>
      </p:sp>
      <p:cxnSp>
        <p:nvCxnSpPr>
          <p:cNvPr id="26" name="Connector 25"/>
          <p:cNvCxnSpPr/>
          <p:nvPr/>
        </p:nvCxnSpPr>
        <p:spPr>
          <a:xfrm>
            <a:off x="457200" y="3310127"/>
            <a:ext cx="6446520" cy="0"/>
          </a:xfrm>
          <a:prstGeom prst="line">
            <a:avLst/>
          </a:prstGeom>
          <a:ln w="9525">
            <a:solidFill>
              <a:srgbClr val="E1E7F4"/>
            </a:solidFill>
          </a:ln>
        </p:spPr>
      </p:cxnSp>
      <p:sp>
        <p:nvSpPr>
          <p:cNvPr id="27" name="TextBox 26"/>
          <p:cNvSpPr txBox="1"/>
          <p:nvPr/>
        </p:nvSpPr>
        <p:spPr>
          <a:xfrm>
            <a:off x="585216" y="3012948"/>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Activity</a:t>
            </a:r>
          </a:p>
        </p:txBody>
      </p:sp>
      <p:sp>
        <p:nvSpPr>
          <p:cNvPr id="28" name="TextBox 27"/>
          <p:cNvSpPr txBox="1"/>
          <p:nvPr/>
        </p:nvSpPr>
        <p:spPr>
          <a:xfrm>
            <a:off x="2196846" y="3012948"/>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Bridged from Responses by the platform</a:t>
            </a:r>
          </a:p>
        </p:txBody>
      </p:sp>
      <p:sp>
        <p:nvSpPr>
          <p:cNvPr id="29" name="TextBox 28"/>
          <p:cNvSpPr txBox="1"/>
          <p:nvPr/>
        </p:nvSpPr>
        <p:spPr>
          <a:xfrm>
            <a:off x="4582058" y="3012948"/>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Teams and Microsoft 365 channels</a:t>
            </a:r>
          </a:p>
        </p:txBody>
      </p:sp>
      <p:sp>
        <p:nvSpPr>
          <p:cNvPr id="30" name="Rectangle 29"/>
          <p:cNvSpPr/>
          <p:nvPr/>
        </p:nvSpPr>
        <p:spPr>
          <a:xfrm>
            <a:off x="457200" y="3310127"/>
            <a:ext cx="6446520" cy="347472"/>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3657599"/>
            <a:ext cx="6446520" cy="0"/>
          </a:xfrm>
          <a:prstGeom prst="line">
            <a:avLst/>
          </a:prstGeom>
          <a:ln w="9525">
            <a:solidFill>
              <a:srgbClr val="E1E7F4"/>
            </a:solidFill>
          </a:ln>
        </p:spPr>
      </p:cxnSp>
      <p:sp>
        <p:nvSpPr>
          <p:cNvPr id="32" name="TextBox 31"/>
          <p:cNvSpPr txBox="1"/>
          <p:nvPr/>
        </p:nvSpPr>
        <p:spPr>
          <a:xfrm>
            <a:off x="585216" y="3360420"/>
            <a:ext cx="1392174" cy="26517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A2A</a:t>
            </a:r>
          </a:p>
        </p:txBody>
      </p:sp>
      <p:sp>
        <p:nvSpPr>
          <p:cNvPr id="33" name="TextBox 32"/>
          <p:cNvSpPr txBox="1"/>
          <p:nvPr/>
        </p:nvSpPr>
        <p:spPr>
          <a:xfrm>
            <a:off x="2196846" y="3360420"/>
            <a:ext cx="2165756"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Agent-to-agent messages</a:t>
            </a:r>
          </a:p>
        </p:txBody>
      </p:sp>
      <p:sp>
        <p:nvSpPr>
          <p:cNvPr id="34" name="TextBox 33"/>
          <p:cNvSpPr txBox="1"/>
          <p:nvPr/>
        </p:nvSpPr>
        <p:spPr>
          <a:xfrm>
            <a:off x="4582058" y="3360420"/>
            <a:ext cx="2230221" cy="26517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Delegation from other agents; version 0.3*</a:t>
            </a:r>
          </a:p>
        </p:txBody>
      </p:sp>
      <p:cxnSp>
        <p:nvCxnSpPr>
          <p:cNvPr id="35" name="Connector 34"/>
          <p:cNvCxnSpPr/>
          <p:nvPr/>
        </p:nvCxnSpPr>
        <p:spPr>
          <a:xfrm>
            <a:off x="2068830" y="1920240"/>
            <a:ext cx="0" cy="1737359"/>
          </a:xfrm>
          <a:prstGeom prst="line">
            <a:avLst/>
          </a:prstGeom>
          <a:ln w="9525">
            <a:solidFill>
              <a:srgbClr val="E1E7F4"/>
            </a:solidFill>
          </a:ln>
        </p:spPr>
      </p:cxnSp>
      <p:cxnSp>
        <p:nvCxnSpPr>
          <p:cNvPr id="36" name="Connector 35"/>
          <p:cNvCxnSpPr/>
          <p:nvPr/>
        </p:nvCxnSpPr>
        <p:spPr>
          <a:xfrm>
            <a:off x="4454042" y="1920240"/>
            <a:ext cx="0" cy="1737359"/>
          </a:xfrm>
          <a:prstGeom prst="line">
            <a:avLst/>
          </a:prstGeom>
          <a:ln w="9525">
            <a:solidFill>
              <a:srgbClr val="E1E7F4"/>
            </a:solidFill>
          </a:ln>
        </p:spPr>
      </p:cxnSp>
      <p:sp>
        <p:nvSpPr>
          <p:cNvPr id="37" name="TextBox 36"/>
          <p:cNvSpPr txBox="1"/>
          <p:nvPr/>
        </p:nvSpPr>
        <p:spPr>
          <a:xfrm>
            <a:off x="457200" y="3803903"/>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PROTOCOL LIBRARIES — SERVER, HEALTH CHECKS, TELEMETRY</a:t>
            </a:r>
          </a:p>
        </p:txBody>
      </p:sp>
      <p:sp>
        <p:nvSpPr>
          <p:cNvPr id="38" name="Rectangle 37"/>
          <p:cNvSpPr/>
          <p:nvPr/>
        </p:nvSpPr>
        <p:spPr>
          <a:xfrm>
            <a:off x="457200" y="4041648"/>
            <a:ext cx="6446520" cy="310896"/>
          </a:xfrm>
          <a:prstGeom prst="rect">
            <a:avLst/>
          </a:prstGeom>
          <a:solidFill>
            <a:srgbClr val="101A3C"/>
          </a:solidFill>
          <a:ln>
            <a:noFill/>
          </a:ln>
          <a:effectLst/>
        </p:spPr>
        <p:txBody>
          <a:bodyPr wrap="square" rtlCol="0" anchor="ctr"/>
          <a:lstStyle/>
          <a:p>
            <a:endParaRPr/>
          </a:p>
        </p:txBody>
      </p:sp>
      <p:sp>
        <p:nvSpPr>
          <p:cNvPr id="39" name="TextBox 38"/>
          <p:cNvSpPr txBox="1"/>
          <p:nvPr/>
        </p:nvSpPr>
        <p:spPr>
          <a:xfrm>
            <a:off x="585216" y="4119372"/>
            <a:ext cx="84856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Language</a:t>
            </a:r>
          </a:p>
        </p:txBody>
      </p:sp>
      <p:sp>
        <p:nvSpPr>
          <p:cNvPr id="40" name="TextBox 39"/>
          <p:cNvSpPr txBox="1"/>
          <p:nvPr/>
        </p:nvSpPr>
        <p:spPr>
          <a:xfrm>
            <a:off x="1616659" y="4119372"/>
            <a:ext cx="252465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Responses protocol</a:t>
            </a:r>
          </a:p>
        </p:txBody>
      </p:sp>
      <p:sp>
        <p:nvSpPr>
          <p:cNvPr id="41" name="TextBox 40"/>
          <p:cNvSpPr txBox="1"/>
          <p:nvPr/>
        </p:nvSpPr>
        <p:spPr>
          <a:xfrm>
            <a:off x="4324197" y="4119372"/>
            <a:ext cx="252465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Invocations protocols</a:t>
            </a:r>
          </a:p>
        </p:txBody>
      </p:sp>
      <p:sp>
        <p:nvSpPr>
          <p:cNvPr id="42" name="Rectangle 41"/>
          <p:cNvSpPr/>
          <p:nvPr/>
        </p:nvSpPr>
        <p:spPr>
          <a:xfrm>
            <a:off x="457200" y="4352544"/>
            <a:ext cx="6446520" cy="292608"/>
          </a:xfrm>
          <a:prstGeom prst="rect">
            <a:avLst/>
          </a:prstGeom>
          <a:solidFill>
            <a:srgbClr val="F6F8FD"/>
          </a:solidFill>
          <a:ln>
            <a:noFill/>
          </a:ln>
          <a:effectLst/>
        </p:spPr>
        <p:txBody>
          <a:bodyPr wrap="square" rtlCol="0" anchor="ctr"/>
          <a:lstStyle/>
          <a:p>
            <a:endParaRPr/>
          </a:p>
        </p:txBody>
      </p:sp>
      <p:cxnSp>
        <p:nvCxnSpPr>
          <p:cNvPr id="43" name="Connector 42"/>
          <p:cNvCxnSpPr/>
          <p:nvPr/>
        </p:nvCxnSpPr>
        <p:spPr>
          <a:xfrm>
            <a:off x="457200" y="4645152"/>
            <a:ext cx="6446520" cy="0"/>
          </a:xfrm>
          <a:prstGeom prst="line">
            <a:avLst/>
          </a:prstGeom>
          <a:ln w="9525">
            <a:solidFill>
              <a:srgbClr val="E1E7F4"/>
            </a:solidFill>
          </a:ln>
        </p:spPr>
      </p:cxnSp>
      <p:sp>
        <p:nvSpPr>
          <p:cNvPr id="44" name="TextBox 43"/>
          <p:cNvSpPr txBox="1"/>
          <p:nvPr/>
        </p:nvSpPr>
        <p:spPr>
          <a:xfrm>
            <a:off x="585216" y="4402836"/>
            <a:ext cx="811987" cy="210312"/>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Python</a:t>
            </a:r>
          </a:p>
        </p:txBody>
      </p:sp>
      <p:sp>
        <p:nvSpPr>
          <p:cNvPr id="45" name="TextBox 44"/>
          <p:cNvSpPr txBox="1"/>
          <p:nvPr/>
        </p:nvSpPr>
        <p:spPr>
          <a:xfrm>
            <a:off x="1616659" y="4402836"/>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azure-ai-agentserver-responses</a:t>
            </a:r>
          </a:p>
        </p:txBody>
      </p:sp>
      <p:sp>
        <p:nvSpPr>
          <p:cNvPr id="46" name="TextBox 45"/>
          <p:cNvSpPr txBox="1"/>
          <p:nvPr/>
        </p:nvSpPr>
        <p:spPr>
          <a:xfrm>
            <a:off x="4324197" y="4402836"/>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azure-ai-agentserver-invocations</a:t>
            </a:r>
          </a:p>
        </p:txBody>
      </p:sp>
      <p:cxnSp>
        <p:nvCxnSpPr>
          <p:cNvPr id="47" name="Connector 46"/>
          <p:cNvCxnSpPr/>
          <p:nvPr/>
        </p:nvCxnSpPr>
        <p:spPr>
          <a:xfrm>
            <a:off x="457200" y="4937760"/>
            <a:ext cx="6446520" cy="0"/>
          </a:xfrm>
          <a:prstGeom prst="line">
            <a:avLst/>
          </a:prstGeom>
          <a:ln w="9525">
            <a:solidFill>
              <a:srgbClr val="E1E7F4"/>
            </a:solidFill>
          </a:ln>
        </p:spPr>
      </p:cxnSp>
      <p:sp>
        <p:nvSpPr>
          <p:cNvPr id="48" name="TextBox 47"/>
          <p:cNvSpPr txBox="1"/>
          <p:nvPr/>
        </p:nvSpPr>
        <p:spPr>
          <a:xfrm>
            <a:off x="585216" y="4695444"/>
            <a:ext cx="811987" cy="210312"/>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.NET</a:t>
            </a:r>
          </a:p>
        </p:txBody>
      </p:sp>
      <p:sp>
        <p:nvSpPr>
          <p:cNvPr id="49" name="TextBox 48"/>
          <p:cNvSpPr txBox="1"/>
          <p:nvPr/>
        </p:nvSpPr>
        <p:spPr>
          <a:xfrm>
            <a:off x="1616659" y="4695444"/>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Azure.AI.AgentServer.Responses</a:t>
            </a:r>
          </a:p>
        </p:txBody>
      </p:sp>
      <p:sp>
        <p:nvSpPr>
          <p:cNvPr id="50" name="TextBox 49"/>
          <p:cNvSpPr txBox="1"/>
          <p:nvPr/>
        </p:nvSpPr>
        <p:spPr>
          <a:xfrm>
            <a:off x="4324197" y="4695444"/>
            <a:ext cx="2488082" cy="210312"/>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Azure.AI.AgentServer.Invocations</a:t>
            </a:r>
          </a:p>
        </p:txBody>
      </p:sp>
      <p:cxnSp>
        <p:nvCxnSpPr>
          <p:cNvPr id="51" name="Connector 50"/>
          <p:cNvCxnSpPr/>
          <p:nvPr/>
        </p:nvCxnSpPr>
        <p:spPr>
          <a:xfrm>
            <a:off x="1488643" y="4352544"/>
            <a:ext cx="0" cy="585216"/>
          </a:xfrm>
          <a:prstGeom prst="line">
            <a:avLst/>
          </a:prstGeom>
          <a:ln w="9525">
            <a:solidFill>
              <a:srgbClr val="E1E7F4"/>
            </a:solidFill>
          </a:ln>
        </p:spPr>
      </p:cxnSp>
      <p:cxnSp>
        <p:nvCxnSpPr>
          <p:cNvPr id="52" name="Connector 51"/>
          <p:cNvCxnSpPr/>
          <p:nvPr/>
        </p:nvCxnSpPr>
        <p:spPr>
          <a:xfrm>
            <a:off x="4196181" y="4352544"/>
            <a:ext cx="0" cy="585216"/>
          </a:xfrm>
          <a:prstGeom prst="line">
            <a:avLst/>
          </a:prstGeom>
          <a:ln w="9525">
            <a:solidFill>
              <a:srgbClr val="E1E7F4"/>
            </a:solidFill>
          </a:ln>
        </p:spPr>
      </p:cxnSp>
      <p:sp>
        <p:nvSpPr>
          <p:cNvPr id="53" name="TextBox 52"/>
          <p:cNvSpPr txBox="1"/>
          <p:nvPr/>
        </p:nvSpPr>
        <p:spPr>
          <a:xfrm>
            <a:off x="457200" y="5084064"/>
            <a:ext cx="644652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AGENT FRAMEWORKS — PYTHON OR C#</a:t>
            </a:r>
          </a:p>
        </p:txBody>
      </p:sp>
      <p:sp>
        <p:nvSpPr>
          <p:cNvPr id="54" name="Rectangle 53"/>
          <p:cNvSpPr/>
          <p:nvPr/>
        </p:nvSpPr>
        <p:spPr>
          <a:xfrm>
            <a:off x="457200"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Agent Framework</a:t>
            </a:r>
          </a:p>
        </p:txBody>
      </p:sp>
      <p:sp>
        <p:nvSpPr>
          <p:cNvPr id="55" name="Rectangle 54"/>
          <p:cNvSpPr/>
          <p:nvPr/>
        </p:nvSpPr>
        <p:spPr>
          <a:xfrm>
            <a:off x="1543812"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LangGraph</a:t>
            </a:r>
          </a:p>
        </p:txBody>
      </p:sp>
      <p:sp>
        <p:nvSpPr>
          <p:cNvPr id="56" name="Rectangle 55"/>
          <p:cNvSpPr/>
          <p:nvPr/>
        </p:nvSpPr>
        <p:spPr>
          <a:xfrm>
            <a:off x="2630424"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OpenAI Agents SDK</a:t>
            </a:r>
          </a:p>
        </p:txBody>
      </p:sp>
      <p:sp>
        <p:nvSpPr>
          <p:cNvPr id="57" name="Rectangle 56"/>
          <p:cNvSpPr/>
          <p:nvPr/>
        </p:nvSpPr>
        <p:spPr>
          <a:xfrm>
            <a:off x="3717035"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Anthropic Agent SDK</a:t>
            </a:r>
          </a:p>
        </p:txBody>
      </p:sp>
      <p:sp>
        <p:nvSpPr>
          <p:cNvPr id="58" name="Rectangle 57"/>
          <p:cNvSpPr/>
          <p:nvPr/>
        </p:nvSpPr>
        <p:spPr>
          <a:xfrm>
            <a:off x="4803648"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GitHub Copilot SDK</a:t>
            </a:r>
          </a:p>
        </p:txBody>
      </p:sp>
      <p:sp>
        <p:nvSpPr>
          <p:cNvPr id="59" name="Rectangle 58"/>
          <p:cNvSpPr/>
          <p:nvPr/>
        </p:nvSpPr>
        <p:spPr>
          <a:xfrm>
            <a:off x="5890260" y="5321808"/>
            <a:ext cx="1013459" cy="27432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Custom code</a:t>
            </a:r>
          </a:p>
        </p:txBody>
      </p:sp>
      <p:sp>
        <p:nvSpPr>
          <p:cNvPr id="60" name="Rectangle 59"/>
          <p:cNvSpPr/>
          <p:nvPr/>
        </p:nvSpPr>
        <p:spPr>
          <a:xfrm>
            <a:off x="7178040" y="1353312"/>
            <a:ext cx="4556455" cy="1325880"/>
          </a:xfrm>
          <a:prstGeom prst="rect">
            <a:avLst/>
          </a:prstGeom>
          <a:solidFill>
            <a:srgbClr val="0B1229"/>
          </a:solidFill>
          <a:ln>
            <a:noFill/>
          </a:ln>
          <a:effectLst/>
        </p:spPr>
        <p:txBody>
          <a:bodyPr wrap="square" rtlCol="0" anchor="ctr"/>
          <a:lstStyle/>
          <a:p>
            <a:endParaRPr/>
          </a:p>
        </p:txBody>
      </p:sp>
      <p:sp>
        <p:nvSpPr>
          <p:cNvPr id="61" name="TextBox 60"/>
          <p:cNvSpPr txBox="1"/>
          <p:nvPr/>
        </p:nvSpPr>
        <p:spPr>
          <a:xfrm>
            <a:off x="7397496" y="1499616"/>
            <a:ext cx="4117543"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 AGENT FRAMEWORK ENTRY POINT (ILLUSTRATIVE)</a:t>
            </a:r>
          </a:p>
        </p:txBody>
      </p:sp>
      <p:sp>
        <p:nvSpPr>
          <p:cNvPr id="62" name="TextBox 61"/>
          <p:cNvSpPr txBox="1"/>
          <p:nvPr/>
        </p:nvSpPr>
        <p:spPr>
          <a:xfrm>
            <a:off x="7397496" y="1737360"/>
            <a:ext cx="4117543" cy="813816"/>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from agent_framework_foundry_hosting import ResponsesHostServer</a:t>
            </a:r>
          </a:p>
          <a:p>
            <a:pPr algn="l">
              <a:lnSpc>
                <a:spcPct val="128000"/>
              </a:lnSpc>
            </a:pPr>
            <a:endParaRPr sz="750" b="0" i="0" dirty="0">
              <a:solidFill>
                <a:srgbClr val="D6DEEE"/>
              </a:solidFill>
              <a:latin typeface="Consolas"/>
              <a:cs typeface="Consolas"/>
            </a:endParaRPr>
          </a:p>
          <a:p>
            <a:pPr algn="l">
              <a:lnSpc>
                <a:spcPct val="128000"/>
              </a:lnSpc>
            </a:pPr>
            <a:r>
              <a:rPr sz="750" b="0" i="0" dirty="0">
                <a:solidFill>
                  <a:srgbClr val="D6DEEE"/>
                </a:solidFill>
                <a:latin typeface="Consolas"/>
                <a:cs typeface="Consolas"/>
              </a:rPr>
              <a:t>agent = ...          # built with Agent Framework</a:t>
            </a:r>
          </a:p>
          <a:p>
            <a:pPr algn="l">
              <a:lnSpc>
                <a:spcPct val="128000"/>
              </a:lnSpc>
            </a:pPr>
            <a:r>
              <a:rPr sz="750" b="0" i="0" dirty="0">
                <a:solidFill>
                  <a:srgbClr val="D6DEEE"/>
                </a:solidFill>
                <a:latin typeface="Consolas"/>
                <a:cs typeface="Consolas"/>
              </a:rPr>
              <a:t>server = ResponsesHostServer(agent)</a:t>
            </a:r>
          </a:p>
          <a:p>
            <a:pPr algn="l">
              <a:lnSpc>
                <a:spcPct val="128000"/>
              </a:lnSpc>
            </a:pPr>
            <a:r>
              <a:rPr sz="750" b="0" i="0" dirty="0">
                <a:solidFill>
                  <a:srgbClr val="D6DEEE"/>
                </a:solidFill>
                <a:latin typeface="Consolas"/>
                <a:cs typeface="Consolas"/>
              </a:rPr>
              <a:t>server.run()         # serves the Responses protocol</a:t>
            </a:r>
          </a:p>
        </p:txBody>
      </p:sp>
      <p:sp>
        <p:nvSpPr>
          <p:cNvPr id="63" name="Rectangle 62"/>
          <p:cNvSpPr/>
          <p:nvPr/>
        </p:nvSpPr>
        <p:spPr>
          <a:xfrm>
            <a:off x="7178040" y="2816352"/>
            <a:ext cx="4556455" cy="2487168"/>
          </a:xfrm>
          <a:prstGeom prst="rect">
            <a:avLst/>
          </a:prstGeom>
          <a:solidFill>
            <a:srgbClr val="F6F8FD"/>
          </a:solidFill>
          <a:ln w="9525">
            <a:solidFill>
              <a:srgbClr val="E1E7F4"/>
            </a:solidFill>
          </a:ln>
          <a:effectLst/>
        </p:spPr>
        <p:txBody>
          <a:bodyPr wrap="square" rtlCol="0" anchor="ctr"/>
          <a:lstStyle/>
          <a:p>
            <a:endParaRPr/>
          </a:p>
        </p:txBody>
      </p:sp>
      <p:sp>
        <p:nvSpPr>
          <p:cNvPr id="64" name="Rectangle 63"/>
          <p:cNvSpPr/>
          <p:nvPr/>
        </p:nvSpPr>
        <p:spPr>
          <a:xfrm>
            <a:off x="7178040" y="2816352"/>
            <a:ext cx="4556455" cy="41148"/>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7324344" y="2926080"/>
            <a:ext cx="4282135"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Tools through the Toolbox MCP endpoint</a:t>
            </a:r>
          </a:p>
        </p:txBody>
      </p:sp>
      <p:sp>
        <p:nvSpPr>
          <p:cNvPr id="66" name="Rectangle 65"/>
          <p:cNvSpPr/>
          <p:nvPr/>
        </p:nvSpPr>
        <p:spPr>
          <a:xfrm>
            <a:off x="7324344"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Code Interpreter</a:t>
            </a:r>
          </a:p>
        </p:txBody>
      </p:sp>
      <p:sp>
        <p:nvSpPr>
          <p:cNvPr id="67" name="Rectangle 66"/>
          <p:cNvSpPr/>
          <p:nvPr/>
        </p:nvSpPr>
        <p:spPr>
          <a:xfrm>
            <a:off x="840859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Web Search</a:t>
            </a:r>
          </a:p>
        </p:txBody>
      </p:sp>
      <p:sp>
        <p:nvSpPr>
          <p:cNvPr id="68" name="Rectangle 67"/>
          <p:cNvSpPr/>
          <p:nvPr/>
        </p:nvSpPr>
        <p:spPr>
          <a:xfrm>
            <a:off x="949284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Azure AI Search</a:t>
            </a:r>
          </a:p>
        </p:txBody>
      </p:sp>
      <p:sp>
        <p:nvSpPr>
          <p:cNvPr id="69" name="Rectangle 68"/>
          <p:cNvSpPr/>
          <p:nvPr/>
        </p:nvSpPr>
        <p:spPr>
          <a:xfrm>
            <a:off x="10577093" y="3218688"/>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OpenAPI</a:t>
            </a:r>
          </a:p>
        </p:txBody>
      </p:sp>
      <p:sp>
        <p:nvSpPr>
          <p:cNvPr id="70" name="Rectangle 69"/>
          <p:cNvSpPr/>
          <p:nvPr/>
        </p:nvSpPr>
        <p:spPr>
          <a:xfrm>
            <a:off x="7324344"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MCP</a:t>
            </a:r>
          </a:p>
        </p:txBody>
      </p:sp>
      <p:sp>
        <p:nvSpPr>
          <p:cNvPr id="71" name="Rectangle 70"/>
          <p:cNvSpPr/>
          <p:nvPr/>
        </p:nvSpPr>
        <p:spPr>
          <a:xfrm>
            <a:off x="8408593"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A2A</a:t>
            </a:r>
          </a:p>
        </p:txBody>
      </p:sp>
      <p:sp>
        <p:nvSpPr>
          <p:cNvPr id="72" name="Rectangle 71"/>
          <p:cNvSpPr/>
          <p:nvPr/>
        </p:nvSpPr>
        <p:spPr>
          <a:xfrm>
            <a:off x="9492843" y="3529584"/>
            <a:ext cx="1011097" cy="2468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Skills</a:t>
            </a:r>
          </a:p>
        </p:txBody>
      </p:sp>
      <p:sp>
        <p:nvSpPr>
          <p:cNvPr id="73" name="Rectangle 72"/>
          <p:cNvSpPr/>
          <p:nvPr/>
        </p:nvSpPr>
        <p:spPr>
          <a:xfrm>
            <a:off x="7324344" y="3913632"/>
            <a:ext cx="4263847" cy="310896"/>
          </a:xfrm>
          <a:prstGeom prst="rect">
            <a:avLst/>
          </a:prstGeom>
          <a:solidFill>
            <a:srgbClr val="101A3C"/>
          </a:solidFill>
          <a:ln>
            <a:noFill/>
          </a:ln>
          <a:effectLst/>
        </p:spPr>
        <p:txBody>
          <a:bodyPr wrap="square" rtlCol="0" anchor="ctr"/>
          <a:lstStyle/>
          <a:p>
            <a:endParaRPr/>
          </a:p>
        </p:txBody>
      </p:sp>
      <p:sp>
        <p:nvSpPr>
          <p:cNvPr id="74" name="TextBox 73"/>
          <p:cNvSpPr txBox="1"/>
          <p:nvPr/>
        </p:nvSpPr>
        <p:spPr>
          <a:xfrm>
            <a:off x="7452360" y="3991356"/>
            <a:ext cx="194904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Framework</a:t>
            </a:r>
          </a:p>
        </p:txBody>
      </p:sp>
      <p:sp>
        <p:nvSpPr>
          <p:cNvPr id="75" name="TextBox 74"/>
          <p:cNvSpPr txBox="1"/>
          <p:nvPr/>
        </p:nvSpPr>
        <p:spPr>
          <a:xfrm>
            <a:off x="9584283" y="3991356"/>
            <a:ext cx="1949043" cy="182880"/>
          </a:xfrm>
          <a:prstGeom prst="rect">
            <a:avLst/>
          </a:prstGeom>
          <a:noFill/>
        </p:spPr>
        <p:txBody>
          <a:bodyPr wrap="none" lIns="0" tIns="0" rIns="0" bIns="0" anchor="t">
            <a:spAutoFit/>
          </a:bodyPr>
          <a:lstStyle/>
          <a:p>
            <a:pPr algn="l">
              <a:lnSpc>
                <a:spcPct val="100000"/>
              </a:lnSpc>
            </a:pPr>
            <a:r>
              <a:rPr sz="800" b="1" i="0" dirty="0">
                <a:solidFill>
                  <a:srgbClr val="FFFFFF"/>
                </a:solidFill>
                <a:latin typeface="Segoe UI"/>
                <a:cs typeface="Segoe UI"/>
              </a:rPr>
              <a:t>Connects with</a:t>
            </a:r>
          </a:p>
        </p:txBody>
      </p:sp>
      <p:sp>
        <p:nvSpPr>
          <p:cNvPr id="76" name="Rectangle 75"/>
          <p:cNvSpPr/>
          <p:nvPr/>
        </p:nvSpPr>
        <p:spPr>
          <a:xfrm>
            <a:off x="7324344" y="4224528"/>
            <a:ext cx="4263847" cy="256032"/>
          </a:xfrm>
          <a:prstGeom prst="rect">
            <a:avLst/>
          </a:prstGeom>
          <a:solidFill>
            <a:srgbClr val="F6F8FD"/>
          </a:solidFill>
          <a:ln>
            <a:noFill/>
          </a:ln>
          <a:effectLst/>
        </p:spPr>
        <p:txBody>
          <a:bodyPr wrap="square" rtlCol="0" anchor="ctr"/>
          <a:lstStyle/>
          <a:p>
            <a:endParaRPr/>
          </a:p>
        </p:txBody>
      </p:sp>
      <p:cxnSp>
        <p:nvCxnSpPr>
          <p:cNvPr id="77" name="Connector 76"/>
          <p:cNvCxnSpPr/>
          <p:nvPr/>
        </p:nvCxnSpPr>
        <p:spPr>
          <a:xfrm>
            <a:off x="7324344" y="4480560"/>
            <a:ext cx="4263847" cy="0"/>
          </a:xfrm>
          <a:prstGeom prst="line">
            <a:avLst/>
          </a:prstGeom>
          <a:ln w="9525">
            <a:solidFill>
              <a:srgbClr val="E1E7F4"/>
            </a:solidFill>
          </a:ln>
        </p:spPr>
      </p:cxnSp>
      <p:sp>
        <p:nvSpPr>
          <p:cNvPr id="78" name="TextBox 77"/>
          <p:cNvSpPr txBox="1"/>
          <p:nvPr/>
        </p:nvSpPr>
        <p:spPr>
          <a:xfrm>
            <a:off x="7452360" y="4274820"/>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Agent Framework, Python</a:t>
            </a:r>
          </a:p>
        </p:txBody>
      </p:sp>
      <p:sp>
        <p:nvSpPr>
          <p:cNvPr id="79" name="TextBox 78"/>
          <p:cNvSpPr txBox="1"/>
          <p:nvPr/>
        </p:nvSpPr>
        <p:spPr>
          <a:xfrm>
            <a:off x="9584283" y="4274820"/>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FoundryToolbox</a:t>
            </a:r>
          </a:p>
        </p:txBody>
      </p:sp>
      <p:cxnSp>
        <p:nvCxnSpPr>
          <p:cNvPr id="80" name="Connector 79"/>
          <p:cNvCxnSpPr/>
          <p:nvPr/>
        </p:nvCxnSpPr>
        <p:spPr>
          <a:xfrm>
            <a:off x="7324344" y="4736592"/>
            <a:ext cx="4263847" cy="0"/>
          </a:xfrm>
          <a:prstGeom prst="line">
            <a:avLst/>
          </a:prstGeom>
          <a:ln w="9525">
            <a:solidFill>
              <a:srgbClr val="E1E7F4"/>
            </a:solidFill>
          </a:ln>
        </p:spPr>
      </p:cxnSp>
      <p:sp>
        <p:nvSpPr>
          <p:cNvPr id="81" name="TextBox 80"/>
          <p:cNvSpPr txBox="1"/>
          <p:nvPr/>
        </p:nvSpPr>
        <p:spPr>
          <a:xfrm>
            <a:off x="7452360" y="4530852"/>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Agent Framework, .NET</a:t>
            </a:r>
          </a:p>
        </p:txBody>
      </p:sp>
      <p:sp>
        <p:nvSpPr>
          <p:cNvPr id="82" name="TextBox 81"/>
          <p:cNvSpPr txBox="1"/>
          <p:nvPr/>
        </p:nvSpPr>
        <p:spPr>
          <a:xfrm>
            <a:off x="9584283" y="4530852"/>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AddFoundryToolboxes</a:t>
            </a:r>
          </a:p>
        </p:txBody>
      </p:sp>
      <p:sp>
        <p:nvSpPr>
          <p:cNvPr id="83" name="Rectangle 82"/>
          <p:cNvSpPr/>
          <p:nvPr/>
        </p:nvSpPr>
        <p:spPr>
          <a:xfrm>
            <a:off x="7324344" y="4736592"/>
            <a:ext cx="4263847" cy="256032"/>
          </a:xfrm>
          <a:prstGeom prst="rect">
            <a:avLst/>
          </a:prstGeom>
          <a:solidFill>
            <a:srgbClr val="F6F8FD"/>
          </a:solidFill>
          <a:ln>
            <a:noFill/>
          </a:ln>
          <a:effectLst/>
        </p:spPr>
        <p:txBody>
          <a:bodyPr wrap="square" rtlCol="0" anchor="ctr"/>
          <a:lstStyle/>
          <a:p>
            <a:endParaRPr/>
          </a:p>
        </p:txBody>
      </p:sp>
      <p:cxnSp>
        <p:nvCxnSpPr>
          <p:cNvPr id="84" name="Connector 83"/>
          <p:cNvCxnSpPr/>
          <p:nvPr/>
        </p:nvCxnSpPr>
        <p:spPr>
          <a:xfrm>
            <a:off x="7324344" y="4992624"/>
            <a:ext cx="4263847" cy="0"/>
          </a:xfrm>
          <a:prstGeom prst="line">
            <a:avLst/>
          </a:prstGeom>
          <a:ln w="9525">
            <a:solidFill>
              <a:srgbClr val="E1E7F4"/>
            </a:solidFill>
          </a:ln>
        </p:spPr>
      </p:cxnSp>
      <p:sp>
        <p:nvSpPr>
          <p:cNvPr id="85" name="TextBox 84"/>
          <p:cNvSpPr txBox="1"/>
          <p:nvPr/>
        </p:nvSpPr>
        <p:spPr>
          <a:xfrm>
            <a:off x="7452360" y="4786884"/>
            <a:ext cx="1912467" cy="173736"/>
          </a:xfrm>
          <a:prstGeom prst="rect">
            <a:avLst/>
          </a:prstGeom>
          <a:noFill/>
        </p:spPr>
        <p:txBody>
          <a:bodyPr wrap="square" lIns="0" tIns="0" rIns="0" bIns="0" anchor="ctr">
            <a:spAutoFit/>
          </a:bodyPr>
          <a:lstStyle/>
          <a:p>
            <a:pPr algn="l">
              <a:lnSpc>
                <a:spcPct val="112000"/>
              </a:lnSpc>
            </a:pPr>
            <a:r>
              <a:rPr sz="750" b="1" i="0" dirty="0">
                <a:solidFill>
                  <a:srgbClr val="101A3C"/>
                </a:solidFill>
                <a:latin typeface="Segoe UI"/>
                <a:cs typeface="Segoe UI"/>
              </a:rPr>
              <a:t>Other frameworks</a:t>
            </a:r>
          </a:p>
        </p:txBody>
      </p:sp>
      <p:sp>
        <p:nvSpPr>
          <p:cNvPr id="86" name="TextBox 85"/>
          <p:cNvSpPr txBox="1"/>
          <p:nvPr/>
        </p:nvSpPr>
        <p:spPr>
          <a:xfrm>
            <a:off x="9584283" y="4786884"/>
            <a:ext cx="1912467" cy="173736"/>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Any standard MCP client</a:t>
            </a:r>
          </a:p>
        </p:txBody>
      </p:sp>
      <p:cxnSp>
        <p:nvCxnSpPr>
          <p:cNvPr id="87" name="Connector 86"/>
          <p:cNvCxnSpPr/>
          <p:nvPr/>
        </p:nvCxnSpPr>
        <p:spPr>
          <a:xfrm>
            <a:off x="9456267" y="4224528"/>
            <a:ext cx="0" cy="768096"/>
          </a:xfrm>
          <a:prstGeom prst="line">
            <a:avLst/>
          </a:prstGeom>
          <a:ln w="9525">
            <a:solidFill>
              <a:srgbClr val="E1E7F4"/>
            </a:solidFill>
          </a:ln>
        </p:spPr>
      </p:cxnSp>
      <p:sp>
        <p:nvSpPr>
          <p:cNvPr id="88" name="TextBox 87"/>
          <p:cNvSpPr txBox="1"/>
          <p:nvPr/>
        </p:nvSpPr>
        <p:spPr>
          <a:xfrm>
            <a:off x="7324344" y="5047488"/>
            <a:ext cx="4263847"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Authentication is set once in the toolbox: identity passthrough, agent identity or keys.</a:t>
            </a:r>
          </a:p>
        </p:txBody>
      </p:sp>
      <p:sp>
        <p:nvSpPr>
          <p:cNvPr id="89" name="TextBox 88"/>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RUNNING AT SCALE</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Deployment, sizing and cost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How a version is deployed, how one session is sized, and what drives the bill</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learn.microsoft.com/azure/foundry/agents/concepts/hosted-agents · concepts/limits-quotas-regions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5</a:t>
            </a:r>
          </a:p>
        </p:txBody>
      </p:sp>
      <p:sp>
        <p:nvSpPr>
          <p:cNvPr id="7" name="Rectangle 6"/>
          <p:cNvSpPr/>
          <p:nvPr/>
        </p:nvSpPr>
        <p:spPr>
          <a:xfrm>
            <a:off x="457200"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53312"/>
            <a:ext cx="3624986"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03504"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1</a:t>
            </a:r>
          </a:p>
        </p:txBody>
      </p:sp>
      <p:sp>
        <p:nvSpPr>
          <p:cNvPr id="10" name="TextBox 9"/>
          <p:cNvSpPr txBox="1"/>
          <p:nvPr/>
        </p:nvSpPr>
        <p:spPr>
          <a:xfrm>
            <a:off x="969264"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Deployment routes</a:t>
            </a:r>
          </a:p>
        </p:txBody>
      </p:sp>
      <p:sp>
        <p:nvSpPr>
          <p:cNvPr id="11" name="TextBox 10"/>
          <p:cNvSpPr txBox="1"/>
          <p:nvPr/>
        </p:nvSpPr>
        <p:spPr>
          <a:xfrm>
            <a:off x="603504"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azd</a:t>
            </a:r>
          </a:p>
        </p:txBody>
      </p:sp>
      <p:sp>
        <p:nvSpPr>
          <p:cNvPr id="12" name="TextBox 11"/>
          <p:cNvSpPr txBox="1"/>
          <p:nvPr/>
        </p:nvSpPr>
        <p:spPr>
          <a:xfrm>
            <a:off x="1503246"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azd ai agent init, then azd provision and azd deploy</a:t>
            </a:r>
          </a:p>
        </p:txBody>
      </p:sp>
      <p:cxnSp>
        <p:nvCxnSpPr>
          <p:cNvPr id="13" name="Connector 12"/>
          <p:cNvCxnSpPr/>
          <p:nvPr/>
        </p:nvCxnSpPr>
        <p:spPr>
          <a:xfrm>
            <a:off x="603504" y="2395728"/>
            <a:ext cx="3332378" cy="0"/>
          </a:xfrm>
          <a:prstGeom prst="line">
            <a:avLst/>
          </a:prstGeom>
          <a:ln w="9525">
            <a:solidFill>
              <a:srgbClr val="E1E7F4"/>
            </a:solidFill>
          </a:ln>
        </p:spPr>
      </p:cxnSp>
      <p:sp>
        <p:nvSpPr>
          <p:cNvPr id="14" name="TextBox 13"/>
          <p:cNvSpPr txBox="1"/>
          <p:nvPr/>
        </p:nvSpPr>
        <p:spPr>
          <a:xfrm>
            <a:off x="603504"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VS Code</a:t>
            </a:r>
          </a:p>
        </p:txBody>
      </p:sp>
      <p:sp>
        <p:nvSpPr>
          <p:cNvPr id="15" name="TextBox 14"/>
          <p:cNvSpPr txBox="1"/>
          <p:nvPr/>
        </p:nvSpPr>
        <p:spPr>
          <a:xfrm>
            <a:off x="1503246"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Foundry Toolkit builds, pushes and deploys</a:t>
            </a:r>
          </a:p>
        </p:txBody>
      </p:sp>
      <p:cxnSp>
        <p:nvCxnSpPr>
          <p:cNvPr id="16" name="Connector 15"/>
          <p:cNvCxnSpPr/>
          <p:nvPr/>
        </p:nvCxnSpPr>
        <p:spPr>
          <a:xfrm>
            <a:off x="603504" y="2926080"/>
            <a:ext cx="3332378" cy="0"/>
          </a:xfrm>
          <a:prstGeom prst="line">
            <a:avLst/>
          </a:prstGeom>
          <a:ln w="9525">
            <a:solidFill>
              <a:srgbClr val="E1E7F4"/>
            </a:solidFill>
          </a:ln>
        </p:spPr>
      </p:cxnSp>
      <p:sp>
        <p:nvSpPr>
          <p:cNvPr id="17" name="TextBox 16"/>
          <p:cNvSpPr txBox="1"/>
          <p:nvPr/>
        </p:nvSpPr>
        <p:spPr>
          <a:xfrm>
            <a:off x="603504"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SDK and REST</a:t>
            </a:r>
          </a:p>
        </p:txBody>
      </p:sp>
      <p:sp>
        <p:nvSpPr>
          <p:cNvPr id="18" name="TextBox 17"/>
          <p:cNvSpPr txBox="1"/>
          <p:nvPr/>
        </p:nvSpPr>
        <p:spPr>
          <a:xfrm>
            <a:off x="1503246"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create_version with a hosted agent definition</a:t>
            </a:r>
          </a:p>
        </p:txBody>
      </p:sp>
      <p:cxnSp>
        <p:nvCxnSpPr>
          <p:cNvPr id="19" name="Connector 18"/>
          <p:cNvCxnSpPr/>
          <p:nvPr/>
        </p:nvCxnSpPr>
        <p:spPr>
          <a:xfrm>
            <a:off x="603504" y="3456432"/>
            <a:ext cx="3332378" cy="0"/>
          </a:xfrm>
          <a:prstGeom prst="line">
            <a:avLst/>
          </a:prstGeom>
          <a:ln w="9525">
            <a:solidFill>
              <a:srgbClr val="E1E7F4"/>
            </a:solidFill>
          </a:ln>
        </p:spPr>
      </p:cxnSp>
      <p:sp>
        <p:nvSpPr>
          <p:cNvPr id="20" name="TextBox 19"/>
          <p:cNvSpPr txBox="1"/>
          <p:nvPr/>
        </p:nvSpPr>
        <p:spPr>
          <a:xfrm>
            <a:off x="603504"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Also</a:t>
            </a:r>
          </a:p>
        </p:txBody>
      </p:sp>
      <p:sp>
        <p:nvSpPr>
          <p:cNvPr id="21" name="TextBox 20"/>
          <p:cNvSpPr txBox="1"/>
          <p:nvPr/>
        </p:nvSpPr>
        <p:spPr>
          <a:xfrm>
            <a:off x="1503246"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Terraform; CI runners inside the network</a:t>
            </a:r>
          </a:p>
        </p:txBody>
      </p:sp>
      <p:cxnSp>
        <p:nvCxnSpPr>
          <p:cNvPr id="22" name="Connector 21"/>
          <p:cNvCxnSpPr/>
          <p:nvPr/>
        </p:nvCxnSpPr>
        <p:spPr>
          <a:xfrm>
            <a:off x="603504" y="3986784"/>
            <a:ext cx="3332378" cy="0"/>
          </a:xfrm>
          <a:prstGeom prst="line">
            <a:avLst/>
          </a:prstGeom>
          <a:ln w="9525">
            <a:solidFill>
              <a:srgbClr val="E1E7F4"/>
            </a:solidFill>
          </a:ln>
        </p:spPr>
      </p:cxnSp>
      <p:sp>
        <p:nvSpPr>
          <p:cNvPr id="23" name="TextBox 22"/>
          <p:cNvSpPr txBox="1"/>
          <p:nvPr/>
        </p:nvSpPr>
        <p:spPr>
          <a:xfrm>
            <a:off x="603504"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Image</a:t>
            </a:r>
          </a:p>
        </p:txBody>
      </p:sp>
      <p:sp>
        <p:nvSpPr>
          <p:cNvPr id="24" name="TextBox 23"/>
          <p:cNvSpPr txBox="1"/>
          <p:nvPr/>
        </p:nvSpPr>
        <p:spPr>
          <a:xfrm>
            <a:off x="1503246"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linux/amd64 container image, or a .zip that Foundry builds</a:t>
            </a:r>
          </a:p>
        </p:txBody>
      </p:sp>
      <p:cxnSp>
        <p:nvCxnSpPr>
          <p:cNvPr id="25" name="Connector 24"/>
          <p:cNvCxnSpPr/>
          <p:nvPr/>
        </p:nvCxnSpPr>
        <p:spPr>
          <a:xfrm>
            <a:off x="603504" y="4517136"/>
            <a:ext cx="3332378" cy="0"/>
          </a:xfrm>
          <a:prstGeom prst="line">
            <a:avLst/>
          </a:prstGeom>
          <a:ln w="9525">
            <a:solidFill>
              <a:srgbClr val="E1E7F4"/>
            </a:solidFill>
          </a:ln>
        </p:spPr>
      </p:cxnSp>
      <p:sp>
        <p:nvSpPr>
          <p:cNvPr id="26" name="TextBox 25"/>
          <p:cNvSpPr txBox="1"/>
          <p:nvPr/>
        </p:nvSpPr>
        <p:spPr>
          <a:xfrm>
            <a:off x="603504"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Versions</a:t>
            </a:r>
          </a:p>
        </p:txBody>
      </p:sp>
      <p:sp>
        <p:nvSpPr>
          <p:cNvPr id="27" name="TextBox 26"/>
          <p:cNvSpPr txBox="1"/>
          <p:nvPr/>
        </p:nvSpPr>
        <p:spPr>
          <a:xfrm>
            <a:off x="1503246"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Immutable; up to 1,000 per agent; one version serves all traffic</a:t>
            </a:r>
          </a:p>
        </p:txBody>
      </p:sp>
      <p:cxnSp>
        <p:nvCxnSpPr>
          <p:cNvPr id="28" name="Connector 27"/>
          <p:cNvCxnSpPr/>
          <p:nvPr/>
        </p:nvCxnSpPr>
        <p:spPr>
          <a:xfrm>
            <a:off x="603504" y="5047488"/>
            <a:ext cx="3332378" cy="0"/>
          </a:xfrm>
          <a:prstGeom prst="line">
            <a:avLst/>
          </a:prstGeom>
          <a:ln w="9525">
            <a:solidFill>
              <a:srgbClr val="E1E7F4"/>
            </a:solidFill>
          </a:ln>
        </p:spPr>
      </p:cxnSp>
      <p:sp>
        <p:nvSpPr>
          <p:cNvPr id="29" name="Rectangle 28"/>
          <p:cNvSpPr/>
          <p:nvPr/>
        </p:nvSpPr>
        <p:spPr>
          <a:xfrm>
            <a:off x="4283354"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30" name="Rectangle 29"/>
          <p:cNvSpPr/>
          <p:nvPr/>
        </p:nvSpPr>
        <p:spPr>
          <a:xfrm>
            <a:off x="4283354" y="1353312"/>
            <a:ext cx="3624986" cy="41148"/>
          </a:xfrm>
          <a:prstGeom prst="rect">
            <a:avLst/>
          </a:prstGeom>
          <a:solidFill>
            <a:srgbClr val="00B39F"/>
          </a:solidFill>
          <a:ln>
            <a:noFill/>
          </a:ln>
          <a:effectLst/>
        </p:spPr>
        <p:txBody>
          <a:bodyPr wrap="square" rtlCol="0" anchor="ctr"/>
          <a:lstStyle/>
          <a:p>
            <a:endParaRPr/>
          </a:p>
        </p:txBody>
      </p:sp>
      <p:sp>
        <p:nvSpPr>
          <p:cNvPr id="31" name="TextBox 30"/>
          <p:cNvSpPr txBox="1"/>
          <p:nvPr/>
        </p:nvSpPr>
        <p:spPr>
          <a:xfrm>
            <a:off x="4429658"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2</a:t>
            </a:r>
          </a:p>
        </p:txBody>
      </p:sp>
      <p:sp>
        <p:nvSpPr>
          <p:cNvPr id="32" name="TextBox 31"/>
          <p:cNvSpPr txBox="1"/>
          <p:nvPr/>
        </p:nvSpPr>
        <p:spPr>
          <a:xfrm>
            <a:off x="4795418"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Sizing and sessions</a:t>
            </a:r>
          </a:p>
        </p:txBody>
      </p:sp>
      <p:sp>
        <p:nvSpPr>
          <p:cNvPr id="33" name="TextBox 32"/>
          <p:cNvSpPr txBox="1"/>
          <p:nvPr/>
        </p:nvSpPr>
        <p:spPr>
          <a:xfrm>
            <a:off x="4429658"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Sizes</a:t>
            </a:r>
          </a:p>
        </p:txBody>
      </p:sp>
      <p:sp>
        <p:nvSpPr>
          <p:cNvPr id="34" name="TextBox 33"/>
          <p:cNvSpPr txBox="1"/>
          <p:nvPr/>
        </p:nvSpPr>
        <p:spPr>
          <a:xfrm>
            <a:off x="5329400"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0.5 vCPU / 1 GiB · 1 vCPU / 2 GiB · 2 vCPU / 4 GiB</a:t>
            </a:r>
          </a:p>
        </p:txBody>
      </p:sp>
      <p:cxnSp>
        <p:nvCxnSpPr>
          <p:cNvPr id="35" name="Connector 34"/>
          <p:cNvCxnSpPr/>
          <p:nvPr/>
        </p:nvCxnSpPr>
        <p:spPr>
          <a:xfrm>
            <a:off x="4429658" y="2395728"/>
            <a:ext cx="3332378" cy="0"/>
          </a:xfrm>
          <a:prstGeom prst="line">
            <a:avLst/>
          </a:prstGeom>
          <a:ln w="9525">
            <a:solidFill>
              <a:srgbClr val="E1E7F4"/>
            </a:solidFill>
          </a:ln>
        </p:spPr>
      </p:cxnSp>
      <p:sp>
        <p:nvSpPr>
          <p:cNvPr id="36" name="TextBox 35"/>
          <p:cNvSpPr txBox="1"/>
          <p:nvPr/>
        </p:nvSpPr>
        <p:spPr>
          <a:xfrm>
            <a:off x="4429658"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Disk</a:t>
            </a:r>
          </a:p>
        </p:txBody>
      </p:sp>
      <p:sp>
        <p:nvSpPr>
          <p:cNvPr id="37" name="TextBox 36"/>
          <p:cNvSpPr txBox="1"/>
          <p:nvPr/>
        </p:nvSpPr>
        <p:spPr>
          <a:xfrm>
            <a:off x="5329400"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20 GiB per session at 1 vCPU or more</a:t>
            </a:r>
          </a:p>
        </p:txBody>
      </p:sp>
      <p:cxnSp>
        <p:nvCxnSpPr>
          <p:cNvPr id="38" name="Connector 37"/>
          <p:cNvCxnSpPr/>
          <p:nvPr/>
        </p:nvCxnSpPr>
        <p:spPr>
          <a:xfrm>
            <a:off x="4429658" y="2926080"/>
            <a:ext cx="3332378" cy="0"/>
          </a:xfrm>
          <a:prstGeom prst="line">
            <a:avLst/>
          </a:prstGeom>
          <a:ln w="9525">
            <a:solidFill>
              <a:srgbClr val="E1E7F4"/>
            </a:solidFill>
          </a:ln>
        </p:spPr>
      </p:cxnSp>
      <p:sp>
        <p:nvSpPr>
          <p:cNvPr id="39" name="TextBox 38"/>
          <p:cNvSpPr txBox="1"/>
          <p:nvPr/>
        </p:nvSpPr>
        <p:spPr>
          <a:xfrm>
            <a:off x="4429658"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Idle timeout</a:t>
            </a:r>
          </a:p>
        </p:txBody>
      </p:sp>
      <p:sp>
        <p:nvSpPr>
          <p:cNvPr id="40" name="TextBox 39"/>
          <p:cNvSpPr txBox="1"/>
          <p:nvPr/>
        </p:nvSpPr>
        <p:spPr>
          <a:xfrm>
            <a:off x="5329400"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2 to 60 minutes, 15 by default; state persisted</a:t>
            </a:r>
          </a:p>
        </p:txBody>
      </p:sp>
      <p:cxnSp>
        <p:nvCxnSpPr>
          <p:cNvPr id="41" name="Connector 40"/>
          <p:cNvCxnSpPr/>
          <p:nvPr/>
        </p:nvCxnSpPr>
        <p:spPr>
          <a:xfrm>
            <a:off x="4429658" y="3456432"/>
            <a:ext cx="3332378" cy="0"/>
          </a:xfrm>
          <a:prstGeom prst="line">
            <a:avLst/>
          </a:prstGeom>
          <a:ln w="9525">
            <a:solidFill>
              <a:srgbClr val="E1E7F4"/>
            </a:solidFill>
          </a:ln>
        </p:spPr>
      </p:cxnSp>
      <p:sp>
        <p:nvSpPr>
          <p:cNvPr id="42" name="TextBox 41"/>
          <p:cNvSpPr txBox="1"/>
          <p:nvPr/>
        </p:nvSpPr>
        <p:spPr>
          <a:xfrm>
            <a:off x="4429658"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Retention</a:t>
            </a:r>
          </a:p>
        </p:txBody>
      </p:sp>
      <p:sp>
        <p:nvSpPr>
          <p:cNvPr id="43" name="TextBox 42"/>
          <p:cNvSpPr txBox="1"/>
          <p:nvPr/>
        </p:nvSpPr>
        <p:spPr>
          <a:xfrm>
            <a:off x="5329400"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 deleted after 30 days without activity</a:t>
            </a:r>
          </a:p>
        </p:txBody>
      </p:sp>
      <p:cxnSp>
        <p:nvCxnSpPr>
          <p:cNvPr id="44" name="Connector 43"/>
          <p:cNvCxnSpPr/>
          <p:nvPr/>
        </p:nvCxnSpPr>
        <p:spPr>
          <a:xfrm>
            <a:off x="4429658" y="3986784"/>
            <a:ext cx="3332378" cy="0"/>
          </a:xfrm>
          <a:prstGeom prst="line">
            <a:avLst/>
          </a:prstGeom>
          <a:ln w="9525">
            <a:solidFill>
              <a:srgbClr val="E1E7F4"/>
            </a:solidFill>
          </a:ln>
        </p:spPr>
      </p:cxnSp>
      <p:sp>
        <p:nvSpPr>
          <p:cNvPr id="45" name="TextBox 44"/>
          <p:cNvSpPr txBox="1"/>
          <p:nvPr/>
        </p:nvSpPr>
        <p:spPr>
          <a:xfrm>
            <a:off x="4429658"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Scaling</a:t>
            </a:r>
          </a:p>
        </p:txBody>
      </p:sp>
      <p:sp>
        <p:nvSpPr>
          <p:cNvPr id="46" name="TextBox 45"/>
          <p:cNvSpPr txBox="1"/>
          <p:nvPr/>
        </p:nvSpPr>
        <p:spPr>
          <a:xfrm>
            <a:off x="5329400"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session; no replicas or warm pool to size</a:t>
            </a:r>
          </a:p>
        </p:txBody>
      </p:sp>
      <p:cxnSp>
        <p:nvCxnSpPr>
          <p:cNvPr id="47" name="Connector 46"/>
          <p:cNvCxnSpPr/>
          <p:nvPr/>
        </p:nvCxnSpPr>
        <p:spPr>
          <a:xfrm>
            <a:off x="4429658" y="4517136"/>
            <a:ext cx="3332378" cy="0"/>
          </a:xfrm>
          <a:prstGeom prst="line">
            <a:avLst/>
          </a:prstGeom>
          <a:ln w="9525">
            <a:solidFill>
              <a:srgbClr val="E1E7F4"/>
            </a:solidFill>
          </a:ln>
        </p:spPr>
      </p:cxnSp>
      <p:sp>
        <p:nvSpPr>
          <p:cNvPr id="48" name="TextBox 47"/>
          <p:cNvSpPr txBox="1"/>
          <p:nvPr/>
        </p:nvSpPr>
        <p:spPr>
          <a:xfrm>
            <a:off x="4429658"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Quota</a:t>
            </a:r>
          </a:p>
        </p:txBody>
      </p:sp>
      <p:sp>
        <p:nvSpPr>
          <p:cNvPr id="49" name="TextBox 48"/>
          <p:cNvSpPr txBox="1"/>
          <p:nvPr/>
        </p:nvSpPr>
        <p:spPr>
          <a:xfrm>
            <a:off x="5329400"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Concurrent sessions per subscription and region: 2,000 in 7 regions, 1,000 elsewhere</a:t>
            </a:r>
          </a:p>
        </p:txBody>
      </p:sp>
      <p:cxnSp>
        <p:nvCxnSpPr>
          <p:cNvPr id="50" name="Connector 49"/>
          <p:cNvCxnSpPr/>
          <p:nvPr/>
        </p:nvCxnSpPr>
        <p:spPr>
          <a:xfrm>
            <a:off x="4429658" y="5047488"/>
            <a:ext cx="3332378" cy="0"/>
          </a:xfrm>
          <a:prstGeom prst="line">
            <a:avLst/>
          </a:prstGeom>
          <a:ln w="9525">
            <a:solidFill>
              <a:srgbClr val="E1E7F4"/>
            </a:solidFill>
          </a:ln>
        </p:spPr>
      </p:cxnSp>
      <p:sp>
        <p:nvSpPr>
          <p:cNvPr id="51" name="Rectangle 50"/>
          <p:cNvSpPr/>
          <p:nvPr/>
        </p:nvSpPr>
        <p:spPr>
          <a:xfrm>
            <a:off x="8109508" y="1353312"/>
            <a:ext cx="3624986" cy="3950208"/>
          </a:xfrm>
          <a:prstGeom prst="rect">
            <a:avLst/>
          </a:prstGeom>
          <a:solidFill>
            <a:srgbClr val="F6F8FD"/>
          </a:solidFill>
          <a:ln w="9525">
            <a:solidFill>
              <a:srgbClr val="E1E7F4"/>
            </a:solidFill>
          </a:ln>
          <a:effectLst/>
        </p:spPr>
        <p:txBody>
          <a:bodyPr wrap="square" rtlCol="0" anchor="ctr"/>
          <a:lstStyle/>
          <a:p>
            <a:endParaRPr/>
          </a:p>
        </p:txBody>
      </p:sp>
      <p:sp>
        <p:nvSpPr>
          <p:cNvPr id="52" name="Rectangle 51"/>
          <p:cNvSpPr/>
          <p:nvPr/>
        </p:nvSpPr>
        <p:spPr>
          <a:xfrm>
            <a:off x="8109508" y="1353312"/>
            <a:ext cx="3624986" cy="41148"/>
          </a:xfrm>
          <a:prstGeom prst="rect">
            <a:avLst/>
          </a:prstGeom>
          <a:solidFill>
            <a:srgbClr val="00B39F"/>
          </a:solidFill>
          <a:ln>
            <a:noFill/>
          </a:ln>
          <a:effectLst/>
        </p:spPr>
        <p:txBody>
          <a:bodyPr wrap="square" rtlCol="0" anchor="ctr"/>
          <a:lstStyle/>
          <a:p>
            <a:endParaRPr/>
          </a:p>
        </p:txBody>
      </p:sp>
      <p:sp>
        <p:nvSpPr>
          <p:cNvPr id="53" name="TextBox 52"/>
          <p:cNvSpPr txBox="1"/>
          <p:nvPr/>
        </p:nvSpPr>
        <p:spPr>
          <a:xfrm>
            <a:off x="8255812" y="1463040"/>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3</a:t>
            </a:r>
          </a:p>
        </p:txBody>
      </p:sp>
      <p:sp>
        <p:nvSpPr>
          <p:cNvPr id="54" name="TextBox 53"/>
          <p:cNvSpPr txBox="1"/>
          <p:nvPr/>
        </p:nvSpPr>
        <p:spPr>
          <a:xfrm>
            <a:off x="8621572" y="1499616"/>
            <a:ext cx="2984906"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Cost drivers</a:t>
            </a:r>
          </a:p>
        </p:txBody>
      </p:sp>
      <p:sp>
        <p:nvSpPr>
          <p:cNvPr id="55" name="TextBox 54"/>
          <p:cNvSpPr txBox="1"/>
          <p:nvPr/>
        </p:nvSpPr>
        <p:spPr>
          <a:xfrm>
            <a:off x="8255812" y="188366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Compute</a:t>
            </a:r>
          </a:p>
        </p:txBody>
      </p:sp>
      <p:sp>
        <p:nvSpPr>
          <p:cNvPr id="56" name="TextBox 55"/>
          <p:cNvSpPr txBox="1"/>
          <p:nvPr/>
        </p:nvSpPr>
        <p:spPr>
          <a:xfrm>
            <a:off x="9155554" y="188366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vCPU-hours and memory GiB-hours of active sessions</a:t>
            </a:r>
          </a:p>
        </p:txBody>
      </p:sp>
      <p:cxnSp>
        <p:nvCxnSpPr>
          <p:cNvPr id="57" name="Connector 56"/>
          <p:cNvCxnSpPr/>
          <p:nvPr/>
        </p:nvCxnSpPr>
        <p:spPr>
          <a:xfrm>
            <a:off x="8255812" y="2395728"/>
            <a:ext cx="3332379" cy="0"/>
          </a:xfrm>
          <a:prstGeom prst="line">
            <a:avLst/>
          </a:prstGeom>
          <a:ln w="9525">
            <a:solidFill>
              <a:srgbClr val="E1E7F4"/>
            </a:solidFill>
          </a:ln>
        </p:spPr>
      </p:cxnSp>
      <p:sp>
        <p:nvSpPr>
          <p:cNvPr id="58" name="TextBox 57"/>
          <p:cNvSpPr txBox="1"/>
          <p:nvPr/>
        </p:nvSpPr>
        <p:spPr>
          <a:xfrm>
            <a:off x="8255812" y="2414016"/>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Models</a:t>
            </a:r>
          </a:p>
        </p:txBody>
      </p:sp>
      <p:sp>
        <p:nvSpPr>
          <p:cNvPr id="59" name="TextBox 58"/>
          <p:cNvSpPr txBox="1"/>
          <p:nvPr/>
        </p:nvSpPr>
        <p:spPr>
          <a:xfrm>
            <a:off x="9155554" y="2414016"/>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Tokens consumed, at the deployment’s rate</a:t>
            </a:r>
          </a:p>
        </p:txBody>
      </p:sp>
      <p:cxnSp>
        <p:nvCxnSpPr>
          <p:cNvPr id="60" name="Connector 59"/>
          <p:cNvCxnSpPr/>
          <p:nvPr/>
        </p:nvCxnSpPr>
        <p:spPr>
          <a:xfrm>
            <a:off x="8255812" y="2926080"/>
            <a:ext cx="3332379" cy="0"/>
          </a:xfrm>
          <a:prstGeom prst="line">
            <a:avLst/>
          </a:prstGeom>
          <a:ln w="9525">
            <a:solidFill>
              <a:srgbClr val="E1E7F4"/>
            </a:solidFill>
          </a:ln>
        </p:spPr>
      </p:cxnSp>
      <p:sp>
        <p:nvSpPr>
          <p:cNvPr id="61" name="TextBox 60"/>
          <p:cNvSpPr txBox="1"/>
          <p:nvPr/>
        </p:nvSpPr>
        <p:spPr>
          <a:xfrm>
            <a:off x="8255812" y="2944368"/>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Tools</a:t>
            </a:r>
          </a:p>
        </p:txBody>
      </p:sp>
      <p:sp>
        <p:nvSpPr>
          <p:cNvPr id="62" name="TextBox 61"/>
          <p:cNvSpPr txBox="1"/>
          <p:nvPr/>
        </p:nvSpPr>
        <p:spPr>
          <a:xfrm>
            <a:off x="9155554" y="2944368"/>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use, for example Code Interpreter per session</a:t>
            </a:r>
          </a:p>
        </p:txBody>
      </p:sp>
      <p:cxnSp>
        <p:nvCxnSpPr>
          <p:cNvPr id="63" name="Connector 62"/>
          <p:cNvCxnSpPr/>
          <p:nvPr/>
        </p:nvCxnSpPr>
        <p:spPr>
          <a:xfrm>
            <a:off x="8255812" y="3456432"/>
            <a:ext cx="3332379" cy="0"/>
          </a:xfrm>
          <a:prstGeom prst="line">
            <a:avLst/>
          </a:prstGeom>
          <a:ln w="9525">
            <a:solidFill>
              <a:srgbClr val="E1E7F4"/>
            </a:solidFill>
          </a:ln>
        </p:spPr>
      </p:cxnSp>
      <p:sp>
        <p:nvSpPr>
          <p:cNvPr id="64" name="TextBox 63"/>
          <p:cNvSpPr txBox="1"/>
          <p:nvPr/>
        </p:nvSpPr>
        <p:spPr>
          <a:xfrm>
            <a:off x="8255812" y="3474720"/>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Multiplier</a:t>
            </a:r>
          </a:p>
        </p:txBody>
      </p:sp>
      <p:sp>
        <p:nvSpPr>
          <p:cNvPr id="65" name="TextBox 64"/>
          <p:cNvSpPr txBox="1"/>
          <p:nvPr/>
        </p:nvSpPr>
        <p:spPr>
          <a:xfrm>
            <a:off x="9155554" y="3474720"/>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Size is per session, so oversizing scales with concurrency</a:t>
            </a:r>
          </a:p>
        </p:txBody>
      </p:sp>
      <p:cxnSp>
        <p:nvCxnSpPr>
          <p:cNvPr id="66" name="Connector 65"/>
          <p:cNvCxnSpPr/>
          <p:nvPr/>
        </p:nvCxnSpPr>
        <p:spPr>
          <a:xfrm>
            <a:off x="8255812" y="3986784"/>
            <a:ext cx="3332379" cy="0"/>
          </a:xfrm>
          <a:prstGeom prst="line">
            <a:avLst/>
          </a:prstGeom>
          <a:ln w="9525">
            <a:solidFill>
              <a:srgbClr val="E1E7F4"/>
            </a:solidFill>
          </a:ln>
        </p:spPr>
      </p:cxnSp>
      <p:sp>
        <p:nvSpPr>
          <p:cNvPr id="67" name="TextBox 66"/>
          <p:cNvSpPr txBox="1"/>
          <p:nvPr/>
        </p:nvSpPr>
        <p:spPr>
          <a:xfrm>
            <a:off x="8255812" y="4005072"/>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Right-size</a:t>
            </a:r>
          </a:p>
        </p:txBody>
      </p:sp>
      <p:sp>
        <p:nvSpPr>
          <p:cNvPr id="68" name="TextBox 67"/>
          <p:cNvSpPr txBox="1"/>
          <p:nvPr/>
        </p:nvSpPr>
        <p:spPr>
          <a:xfrm>
            <a:off x="9155554" y="4005072"/>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Raise above ~70% sustained use; lower if well below</a:t>
            </a:r>
          </a:p>
        </p:txBody>
      </p:sp>
      <p:cxnSp>
        <p:nvCxnSpPr>
          <p:cNvPr id="69" name="Connector 68"/>
          <p:cNvCxnSpPr/>
          <p:nvPr/>
        </p:nvCxnSpPr>
        <p:spPr>
          <a:xfrm>
            <a:off x="8255812" y="4517136"/>
            <a:ext cx="3332379" cy="0"/>
          </a:xfrm>
          <a:prstGeom prst="line">
            <a:avLst/>
          </a:prstGeom>
          <a:ln w="9525">
            <a:solidFill>
              <a:srgbClr val="E1E7F4"/>
            </a:solidFill>
          </a:ln>
        </p:spPr>
      </p:cxnSp>
      <p:sp>
        <p:nvSpPr>
          <p:cNvPr id="70" name="TextBox 69"/>
          <p:cNvSpPr txBox="1"/>
          <p:nvPr/>
        </p:nvSpPr>
        <p:spPr>
          <a:xfrm>
            <a:off x="8255812" y="4535424"/>
            <a:ext cx="808302" cy="530352"/>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Regions</a:t>
            </a:r>
          </a:p>
        </p:txBody>
      </p:sp>
      <p:sp>
        <p:nvSpPr>
          <p:cNvPr id="71" name="TextBox 70"/>
          <p:cNvSpPr txBox="1"/>
          <p:nvPr/>
        </p:nvSpPr>
        <p:spPr>
          <a:xfrm>
            <a:off x="9155554" y="4535424"/>
            <a:ext cx="2432636" cy="530352"/>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31, including Switzerland North and West</a:t>
            </a:r>
          </a:p>
        </p:txBody>
      </p:sp>
      <p:cxnSp>
        <p:nvCxnSpPr>
          <p:cNvPr id="72" name="Connector 71"/>
          <p:cNvCxnSpPr/>
          <p:nvPr/>
        </p:nvCxnSpPr>
        <p:spPr>
          <a:xfrm>
            <a:off x="8255812" y="5047488"/>
            <a:ext cx="3332379" cy="0"/>
          </a:xfrm>
          <a:prstGeom prst="line">
            <a:avLst/>
          </a:prstGeom>
          <a:ln w="9525">
            <a:solidFill>
              <a:srgbClr val="E1E7F4"/>
            </a:solidFill>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AND SECURING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prompt agents and hosted agents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questions asked of both agent types in Foundry Agent Service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learn.microsoft.com/azure/foundry/agents/overview · concepts/hosted-agents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6</a:t>
            </a:r>
          </a:p>
        </p:txBody>
      </p:sp>
      <p:sp>
        <p:nvSpPr>
          <p:cNvPr id="7" name="Rectangle 6"/>
          <p:cNvSpPr/>
          <p:nvPr/>
        </p:nvSpPr>
        <p:spPr>
          <a:xfrm>
            <a:off x="457200" y="1353312"/>
            <a:ext cx="7635240"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344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112264" y="1431036"/>
            <a:ext cx="25658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Prompt agent</a:t>
            </a:r>
          </a:p>
        </p:txBody>
      </p:sp>
      <p:sp>
        <p:nvSpPr>
          <p:cNvPr id="10" name="TextBox 9"/>
          <p:cNvSpPr txBox="1"/>
          <p:nvPr/>
        </p:nvSpPr>
        <p:spPr>
          <a:xfrm>
            <a:off x="4860950" y="1431036"/>
            <a:ext cx="317662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Hosted agent</a:t>
            </a:r>
          </a:p>
        </p:txBody>
      </p:sp>
      <p:sp>
        <p:nvSpPr>
          <p:cNvPr id="11" name="Rectangle 10"/>
          <p:cNvSpPr/>
          <p:nvPr/>
        </p:nvSpPr>
        <p:spPr>
          <a:xfrm>
            <a:off x="457200" y="1664208"/>
            <a:ext cx="7635240" cy="42062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7635240" cy="0"/>
          </a:xfrm>
          <a:prstGeom prst="line">
            <a:avLst/>
          </a:prstGeom>
          <a:ln w="9525">
            <a:solidFill>
              <a:srgbClr val="E1E7F4"/>
            </a:solidFill>
          </a:ln>
        </p:spPr>
      </p:cxnSp>
      <p:sp>
        <p:nvSpPr>
          <p:cNvPr id="13" name="TextBox 12"/>
          <p:cNvSpPr txBox="1"/>
          <p:nvPr/>
        </p:nvSpPr>
        <p:spPr>
          <a:xfrm>
            <a:off x="585216" y="1714500"/>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Defined by</a:t>
            </a:r>
          </a:p>
        </p:txBody>
      </p:sp>
      <p:sp>
        <p:nvSpPr>
          <p:cNvPr id="14" name="TextBox 13"/>
          <p:cNvSpPr txBox="1"/>
          <p:nvPr/>
        </p:nvSpPr>
        <p:spPr>
          <a:xfrm>
            <a:off x="2112264" y="1714500"/>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Instructions, a model and tools</a:t>
            </a:r>
          </a:p>
        </p:txBody>
      </p:sp>
      <p:sp>
        <p:nvSpPr>
          <p:cNvPr id="15" name="TextBox 14"/>
          <p:cNvSpPr txBox="1"/>
          <p:nvPr/>
        </p:nvSpPr>
        <p:spPr>
          <a:xfrm>
            <a:off x="4860950" y="1714500"/>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 code packaged as a container</a:t>
            </a:r>
          </a:p>
        </p:txBody>
      </p:sp>
      <p:cxnSp>
        <p:nvCxnSpPr>
          <p:cNvPr id="16" name="Connector 15"/>
          <p:cNvCxnSpPr/>
          <p:nvPr/>
        </p:nvCxnSpPr>
        <p:spPr>
          <a:xfrm>
            <a:off x="457200" y="2505456"/>
            <a:ext cx="7635240" cy="0"/>
          </a:xfrm>
          <a:prstGeom prst="line">
            <a:avLst/>
          </a:prstGeom>
          <a:ln w="9525">
            <a:solidFill>
              <a:srgbClr val="E1E7F4"/>
            </a:solidFill>
          </a:ln>
        </p:spPr>
      </p:cxnSp>
      <p:sp>
        <p:nvSpPr>
          <p:cNvPr id="17" name="TextBox 16"/>
          <p:cNvSpPr txBox="1"/>
          <p:nvPr/>
        </p:nvSpPr>
        <p:spPr>
          <a:xfrm>
            <a:off x="585216" y="2135124"/>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Authoring</a:t>
            </a:r>
          </a:p>
        </p:txBody>
      </p:sp>
      <p:sp>
        <p:nvSpPr>
          <p:cNvPr id="18" name="TextBox 17"/>
          <p:cNvSpPr txBox="1"/>
          <p:nvPr/>
        </p:nvSpPr>
        <p:spPr>
          <a:xfrm>
            <a:off x="2112264" y="2135124"/>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SDK or REST</a:t>
            </a:r>
          </a:p>
        </p:txBody>
      </p:sp>
      <p:sp>
        <p:nvSpPr>
          <p:cNvPr id="19" name="TextBox 18"/>
          <p:cNvSpPr txBox="1"/>
          <p:nvPr/>
        </p:nvSpPr>
        <p:spPr>
          <a:xfrm>
            <a:off x="4860950" y="2135124"/>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framework, in Python or C#</a:t>
            </a:r>
          </a:p>
        </p:txBody>
      </p:sp>
      <p:sp>
        <p:nvSpPr>
          <p:cNvPr id="20" name="Rectangle 19"/>
          <p:cNvSpPr/>
          <p:nvPr/>
        </p:nvSpPr>
        <p:spPr>
          <a:xfrm>
            <a:off x="457200" y="2505456"/>
            <a:ext cx="7635240" cy="42062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926080"/>
            <a:ext cx="7635240" cy="0"/>
          </a:xfrm>
          <a:prstGeom prst="line">
            <a:avLst/>
          </a:prstGeom>
          <a:ln w="9525">
            <a:solidFill>
              <a:srgbClr val="E1E7F4"/>
            </a:solidFill>
          </a:ln>
        </p:spPr>
      </p:cxnSp>
      <p:sp>
        <p:nvSpPr>
          <p:cNvPr id="22" name="TextBox 21"/>
          <p:cNvSpPr txBox="1"/>
          <p:nvPr/>
        </p:nvSpPr>
        <p:spPr>
          <a:xfrm>
            <a:off x="585216" y="2555748"/>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Code to maintain</a:t>
            </a:r>
          </a:p>
        </p:txBody>
      </p:sp>
      <p:sp>
        <p:nvSpPr>
          <p:cNvPr id="23" name="TextBox 22"/>
          <p:cNvSpPr txBox="1"/>
          <p:nvPr/>
        </p:nvSpPr>
        <p:spPr>
          <a:xfrm>
            <a:off x="2112264" y="2555748"/>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None</a:t>
            </a:r>
          </a:p>
        </p:txBody>
      </p:sp>
      <p:sp>
        <p:nvSpPr>
          <p:cNvPr id="24" name="TextBox 23"/>
          <p:cNvSpPr txBox="1"/>
          <p:nvPr/>
        </p:nvSpPr>
        <p:spPr>
          <a:xfrm>
            <a:off x="4860950" y="2555748"/>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agent logic</a:t>
            </a:r>
          </a:p>
        </p:txBody>
      </p:sp>
      <p:cxnSp>
        <p:nvCxnSpPr>
          <p:cNvPr id="25" name="Connector 24"/>
          <p:cNvCxnSpPr/>
          <p:nvPr/>
        </p:nvCxnSpPr>
        <p:spPr>
          <a:xfrm>
            <a:off x="457200" y="3346704"/>
            <a:ext cx="7635240" cy="0"/>
          </a:xfrm>
          <a:prstGeom prst="line">
            <a:avLst/>
          </a:prstGeom>
          <a:ln w="9525">
            <a:solidFill>
              <a:srgbClr val="E1E7F4"/>
            </a:solidFill>
          </a:ln>
        </p:spPr>
      </p:cxnSp>
      <p:sp>
        <p:nvSpPr>
          <p:cNvPr id="26" name="TextBox 25"/>
          <p:cNvSpPr txBox="1"/>
          <p:nvPr/>
        </p:nvSpPr>
        <p:spPr>
          <a:xfrm>
            <a:off x="585216" y="2976372"/>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Compute</a:t>
            </a:r>
          </a:p>
        </p:txBody>
      </p:sp>
      <p:sp>
        <p:nvSpPr>
          <p:cNvPr id="27" name="TextBox 26"/>
          <p:cNvSpPr txBox="1"/>
          <p:nvPr/>
        </p:nvSpPr>
        <p:spPr>
          <a:xfrm>
            <a:off x="2112264" y="2976372"/>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None to manage</a:t>
            </a:r>
          </a:p>
        </p:txBody>
      </p:sp>
      <p:sp>
        <p:nvSpPr>
          <p:cNvPr id="28" name="TextBox 27"/>
          <p:cNvSpPr txBox="1"/>
          <p:nvPr/>
        </p:nvSpPr>
        <p:spPr>
          <a:xfrm>
            <a:off x="4860950" y="2976372"/>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Per-session sandbox, size chosen per version</a:t>
            </a:r>
          </a:p>
        </p:txBody>
      </p:sp>
      <p:sp>
        <p:nvSpPr>
          <p:cNvPr id="29" name="Rectangle 28"/>
          <p:cNvSpPr/>
          <p:nvPr/>
        </p:nvSpPr>
        <p:spPr>
          <a:xfrm>
            <a:off x="457200" y="3346704"/>
            <a:ext cx="7635240" cy="42062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67328"/>
            <a:ext cx="7635240" cy="0"/>
          </a:xfrm>
          <a:prstGeom prst="line">
            <a:avLst/>
          </a:prstGeom>
          <a:ln w="9525">
            <a:solidFill>
              <a:srgbClr val="E1E7F4"/>
            </a:solidFill>
          </a:ln>
        </p:spPr>
      </p:cxnSp>
      <p:sp>
        <p:nvSpPr>
          <p:cNvPr id="31" name="TextBox 30"/>
          <p:cNvSpPr txBox="1"/>
          <p:nvPr/>
        </p:nvSpPr>
        <p:spPr>
          <a:xfrm>
            <a:off x="585216" y="3396996"/>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Protocols</a:t>
            </a:r>
          </a:p>
        </p:txBody>
      </p:sp>
      <p:sp>
        <p:nvSpPr>
          <p:cNvPr id="32" name="TextBox 31"/>
          <p:cNvSpPr txBox="1"/>
          <p:nvPr/>
        </p:nvSpPr>
        <p:spPr>
          <a:xfrm>
            <a:off x="2112264" y="3396996"/>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Responses</a:t>
            </a:r>
          </a:p>
        </p:txBody>
      </p:sp>
      <p:sp>
        <p:nvSpPr>
          <p:cNvPr id="33" name="TextBox 32"/>
          <p:cNvSpPr txBox="1"/>
          <p:nvPr/>
        </p:nvSpPr>
        <p:spPr>
          <a:xfrm>
            <a:off x="4860950" y="3396996"/>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Responses, Invocations, WebSocket, Activity, A2A</a:t>
            </a:r>
          </a:p>
        </p:txBody>
      </p:sp>
      <p:cxnSp>
        <p:nvCxnSpPr>
          <p:cNvPr id="34" name="Connector 33"/>
          <p:cNvCxnSpPr/>
          <p:nvPr/>
        </p:nvCxnSpPr>
        <p:spPr>
          <a:xfrm>
            <a:off x="457200" y="4187952"/>
            <a:ext cx="7635240" cy="0"/>
          </a:xfrm>
          <a:prstGeom prst="line">
            <a:avLst/>
          </a:prstGeom>
          <a:ln w="9525">
            <a:solidFill>
              <a:srgbClr val="E1E7F4"/>
            </a:solidFill>
          </a:ln>
        </p:spPr>
      </p:cxnSp>
      <p:sp>
        <p:nvSpPr>
          <p:cNvPr id="35" name="TextBox 34"/>
          <p:cNvSpPr txBox="1"/>
          <p:nvPr/>
        </p:nvSpPr>
        <p:spPr>
          <a:xfrm>
            <a:off x="585216" y="3817620"/>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State</a:t>
            </a:r>
          </a:p>
        </p:txBody>
      </p:sp>
      <p:sp>
        <p:nvSpPr>
          <p:cNvPr id="36" name="TextBox 35"/>
          <p:cNvSpPr txBox="1"/>
          <p:nvPr/>
        </p:nvSpPr>
        <p:spPr>
          <a:xfrm>
            <a:off x="2112264" y="3817620"/>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Conversation history</a:t>
            </a:r>
          </a:p>
        </p:txBody>
      </p:sp>
      <p:sp>
        <p:nvSpPr>
          <p:cNvPr id="37" name="TextBox 36"/>
          <p:cNvSpPr txBox="1"/>
          <p:nvPr/>
        </p:nvSpPr>
        <p:spPr>
          <a:xfrm>
            <a:off x="4860950" y="3817620"/>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History, session files and a state store</a:t>
            </a:r>
          </a:p>
        </p:txBody>
      </p:sp>
      <p:sp>
        <p:nvSpPr>
          <p:cNvPr id="38" name="Rectangle 37"/>
          <p:cNvSpPr/>
          <p:nvPr/>
        </p:nvSpPr>
        <p:spPr>
          <a:xfrm>
            <a:off x="457200" y="4187952"/>
            <a:ext cx="7635240" cy="42062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608576"/>
            <a:ext cx="7635240" cy="0"/>
          </a:xfrm>
          <a:prstGeom prst="line">
            <a:avLst/>
          </a:prstGeom>
          <a:ln w="9525">
            <a:solidFill>
              <a:srgbClr val="E1E7F4"/>
            </a:solidFill>
          </a:ln>
        </p:spPr>
      </p:cxnSp>
      <p:sp>
        <p:nvSpPr>
          <p:cNvPr id="40" name="TextBox 39"/>
          <p:cNvSpPr txBox="1"/>
          <p:nvPr/>
        </p:nvSpPr>
        <p:spPr>
          <a:xfrm>
            <a:off x="585216" y="4238244"/>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Tools</a:t>
            </a:r>
          </a:p>
        </p:txBody>
      </p:sp>
      <p:sp>
        <p:nvSpPr>
          <p:cNvPr id="41" name="TextBox 40"/>
          <p:cNvSpPr txBox="1"/>
          <p:nvPr/>
        </p:nvSpPr>
        <p:spPr>
          <a:xfrm>
            <a:off x="2112264" y="4238244"/>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Attached to the agent definition</a:t>
            </a:r>
          </a:p>
        </p:txBody>
      </p:sp>
      <p:sp>
        <p:nvSpPr>
          <p:cNvPr id="42" name="TextBox 41"/>
          <p:cNvSpPr txBox="1"/>
          <p:nvPr/>
        </p:nvSpPr>
        <p:spPr>
          <a:xfrm>
            <a:off x="4860950" y="4238244"/>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Through the Toolbox MCP endpoint</a:t>
            </a:r>
          </a:p>
        </p:txBody>
      </p:sp>
      <p:cxnSp>
        <p:nvCxnSpPr>
          <p:cNvPr id="43" name="Connector 42"/>
          <p:cNvCxnSpPr/>
          <p:nvPr/>
        </p:nvCxnSpPr>
        <p:spPr>
          <a:xfrm>
            <a:off x="457200" y="5029200"/>
            <a:ext cx="7635240" cy="0"/>
          </a:xfrm>
          <a:prstGeom prst="line">
            <a:avLst/>
          </a:prstGeom>
          <a:ln w="9525">
            <a:solidFill>
              <a:srgbClr val="E1E7F4"/>
            </a:solidFill>
          </a:ln>
        </p:spPr>
      </p:cxnSp>
      <p:sp>
        <p:nvSpPr>
          <p:cNvPr id="44" name="TextBox 43"/>
          <p:cNvSpPr txBox="1"/>
          <p:nvPr/>
        </p:nvSpPr>
        <p:spPr>
          <a:xfrm>
            <a:off x="585216" y="4658868"/>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Identity</a:t>
            </a:r>
          </a:p>
        </p:txBody>
      </p:sp>
      <p:sp>
        <p:nvSpPr>
          <p:cNvPr id="45" name="TextBox 44"/>
          <p:cNvSpPr txBox="1"/>
          <p:nvPr/>
        </p:nvSpPr>
        <p:spPr>
          <a:xfrm>
            <a:off x="2112264" y="4658868"/>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agent identity</a:t>
            </a:r>
          </a:p>
        </p:txBody>
      </p:sp>
      <p:sp>
        <p:nvSpPr>
          <p:cNvPr id="46" name="TextBox 45"/>
          <p:cNvSpPr txBox="1"/>
          <p:nvPr/>
        </p:nvSpPr>
        <p:spPr>
          <a:xfrm>
            <a:off x="4860950" y="4658868"/>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Dedicated agent identity, created at deploy time</a:t>
            </a:r>
          </a:p>
        </p:txBody>
      </p:sp>
      <p:sp>
        <p:nvSpPr>
          <p:cNvPr id="47" name="Rectangle 46"/>
          <p:cNvSpPr/>
          <p:nvPr/>
        </p:nvSpPr>
        <p:spPr>
          <a:xfrm>
            <a:off x="457200" y="5029200"/>
            <a:ext cx="7635240" cy="42062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5449824"/>
            <a:ext cx="7635240" cy="0"/>
          </a:xfrm>
          <a:prstGeom prst="line">
            <a:avLst/>
          </a:prstGeom>
          <a:ln w="9525">
            <a:solidFill>
              <a:srgbClr val="E1E7F4"/>
            </a:solidFill>
          </a:ln>
        </p:spPr>
      </p:cxnSp>
      <p:sp>
        <p:nvSpPr>
          <p:cNvPr id="49" name="TextBox 48"/>
          <p:cNvSpPr txBox="1"/>
          <p:nvPr/>
        </p:nvSpPr>
        <p:spPr>
          <a:xfrm>
            <a:off x="585216" y="5079492"/>
            <a:ext cx="1307592" cy="33832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Cost</a:t>
            </a:r>
          </a:p>
        </p:txBody>
      </p:sp>
      <p:sp>
        <p:nvSpPr>
          <p:cNvPr id="50" name="TextBox 49"/>
          <p:cNvSpPr txBox="1"/>
          <p:nvPr/>
        </p:nvSpPr>
        <p:spPr>
          <a:xfrm>
            <a:off x="2112264" y="5079492"/>
            <a:ext cx="2529230"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Inference and tools</a:t>
            </a:r>
          </a:p>
        </p:txBody>
      </p:sp>
      <p:sp>
        <p:nvSpPr>
          <p:cNvPr id="51" name="TextBox 50"/>
          <p:cNvSpPr txBox="1"/>
          <p:nvPr/>
        </p:nvSpPr>
        <p:spPr>
          <a:xfrm>
            <a:off x="4860950" y="5079492"/>
            <a:ext cx="3140049" cy="33832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Inference, tools and container compute</a:t>
            </a:r>
          </a:p>
        </p:txBody>
      </p:sp>
      <p:cxnSp>
        <p:nvCxnSpPr>
          <p:cNvPr id="52" name="Connector 51"/>
          <p:cNvCxnSpPr/>
          <p:nvPr/>
        </p:nvCxnSpPr>
        <p:spPr>
          <a:xfrm>
            <a:off x="1984248" y="1664208"/>
            <a:ext cx="0" cy="3785616"/>
          </a:xfrm>
          <a:prstGeom prst="line">
            <a:avLst/>
          </a:prstGeom>
          <a:ln w="9525">
            <a:solidFill>
              <a:srgbClr val="E1E7F4"/>
            </a:solidFill>
          </a:ln>
        </p:spPr>
      </p:cxnSp>
      <p:cxnSp>
        <p:nvCxnSpPr>
          <p:cNvPr id="53" name="Connector 52"/>
          <p:cNvCxnSpPr/>
          <p:nvPr/>
        </p:nvCxnSpPr>
        <p:spPr>
          <a:xfrm>
            <a:off x="4732934" y="1664208"/>
            <a:ext cx="0" cy="3785616"/>
          </a:xfrm>
          <a:prstGeom prst="line">
            <a:avLst/>
          </a:prstGeom>
          <a:ln w="9525">
            <a:solidFill>
              <a:srgbClr val="E1E7F4"/>
            </a:solidFill>
          </a:ln>
        </p:spPr>
      </p:cxnSp>
      <p:sp>
        <p:nvSpPr>
          <p:cNvPr id="54" name="TextBox 53"/>
          <p:cNvSpPr txBox="1"/>
          <p:nvPr/>
        </p:nvSpPr>
        <p:spPr>
          <a:xfrm>
            <a:off x="8321040" y="1353312"/>
            <a:ext cx="341345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HOSTED AGENT WHEN THE WORKLOAD NEEDS</a:t>
            </a:r>
          </a:p>
        </p:txBody>
      </p:sp>
      <p:sp>
        <p:nvSpPr>
          <p:cNvPr id="55" name="Rectangle 54"/>
          <p:cNvSpPr/>
          <p:nvPr/>
        </p:nvSpPr>
        <p:spPr>
          <a:xfrm>
            <a:off x="8321040" y="1627632"/>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56" name="Rectangle 55"/>
          <p:cNvSpPr/>
          <p:nvPr/>
        </p:nvSpPr>
        <p:spPr>
          <a:xfrm>
            <a:off x="8321040" y="1627632"/>
            <a:ext cx="41148" cy="530352"/>
          </a:xfrm>
          <a:prstGeom prst="rect">
            <a:avLst/>
          </a:prstGeom>
          <a:solidFill>
            <a:srgbClr val="00B39F"/>
          </a:solidFill>
          <a:ln>
            <a:noFill/>
          </a:ln>
          <a:effectLst/>
        </p:spPr>
        <p:txBody>
          <a:bodyPr wrap="square" rtlCol="0" anchor="ctr"/>
          <a:lstStyle/>
          <a:p>
            <a:endParaRPr/>
          </a:p>
        </p:txBody>
      </p:sp>
      <p:sp>
        <p:nvSpPr>
          <p:cNvPr id="57" name="TextBox 56"/>
          <p:cNvSpPr txBox="1"/>
          <p:nvPr/>
        </p:nvSpPr>
        <p:spPr>
          <a:xfrm>
            <a:off x="8467344" y="1728216"/>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Own code</a:t>
            </a:r>
          </a:p>
        </p:txBody>
      </p:sp>
      <p:sp>
        <p:nvSpPr>
          <p:cNvPr id="58" name="TextBox 57"/>
          <p:cNvSpPr txBox="1"/>
          <p:nvPr/>
        </p:nvSpPr>
        <p:spPr>
          <a:xfrm>
            <a:off x="8467344" y="1970532"/>
            <a:ext cx="3120847" cy="137159"/>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a framework or orchestration logic</a:t>
            </a:r>
          </a:p>
        </p:txBody>
      </p:sp>
      <p:sp>
        <p:nvSpPr>
          <p:cNvPr id="59" name="Rectangle 58"/>
          <p:cNvSpPr/>
          <p:nvPr/>
        </p:nvSpPr>
        <p:spPr>
          <a:xfrm>
            <a:off x="8321040" y="2231136"/>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0" name="Rectangle 59"/>
          <p:cNvSpPr/>
          <p:nvPr/>
        </p:nvSpPr>
        <p:spPr>
          <a:xfrm>
            <a:off x="8321040" y="2231136"/>
            <a:ext cx="41148" cy="530352"/>
          </a:xfrm>
          <a:prstGeom prst="rect">
            <a:avLst/>
          </a:prstGeom>
          <a:solidFill>
            <a:srgbClr val="00B39F"/>
          </a:solidFill>
          <a:ln>
            <a:noFill/>
          </a:ln>
          <a:effectLst/>
        </p:spPr>
        <p:txBody>
          <a:bodyPr wrap="square" rtlCol="0" anchor="ctr"/>
          <a:lstStyle/>
          <a:p>
            <a:endParaRPr/>
          </a:p>
        </p:txBody>
      </p:sp>
      <p:sp>
        <p:nvSpPr>
          <p:cNvPr id="61" name="TextBox 60"/>
          <p:cNvSpPr txBox="1"/>
          <p:nvPr/>
        </p:nvSpPr>
        <p:spPr>
          <a:xfrm>
            <a:off x="8467344" y="2331720"/>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Custom protocols</a:t>
            </a:r>
          </a:p>
        </p:txBody>
      </p:sp>
      <p:sp>
        <p:nvSpPr>
          <p:cNvPr id="62" name="TextBox 61"/>
          <p:cNvSpPr txBox="1"/>
          <p:nvPr/>
        </p:nvSpPr>
        <p:spPr>
          <a:xfrm>
            <a:off x="8467344" y="2574036"/>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webhooks, voice, non-OpenAI payloads</a:t>
            </a:r>
          </a:p>
        </p:txBody>
      </p:sp>
      <p:sp>
        <p:nvSpPr>
          <p:cNvPr id="63" name="Rectangle 62"/>
          <p:cNvSpPr/>
          <p:nvPr/>
        </p:nvSpPr>
        <p:spPr>
          <a:xfrm>
            <a:off x="8321040" y="2834640"/>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4" name="Rectangle 63"/>
          <p:cNvSpPr/>
          <p:nvPr/>
        </p:nvSpPr>
        <p:spPr>
          <a:xfrm>
            <a:off x="8321040" y="2834640"/>
            <a:ext cx="41148" cy="530352"/>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8467344" y="2935224"/>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Compute control</a:t>
            </a:r>
          </a:p>
        </p:txBody>
      </p:sp>
      <p:sp>
        <p:nvSpPr>
          <p:cNvPr id="66" name="TextBox 65"/>
          <p:cNvSpPr txBox="1"/>
          <p:nvPr/>
        </p:nvSpPr>
        <p:spPr>
          <a:xfrm>
            <a:off x="8467344" y="3177540"/>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CPU and memory per session</a:t>
            </a:r>
          </a:p>
        </p:txBody>
      </p:sp>
      <p:sp>
        <p:nvSpPr>
          <p:cNvPr id="67" name="Rectangle 66"/>
          <p:cNvSpPr/>
          <p:nvPr/>
        </p:nvSpPr>
        <p:spPr>
          <a:xfrm>
            <a:off x="8321040" y="3438144"/>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68" name="Rectangle 67"/>
          <p:cNvSpPr/>
          <p:nvPr/>
        </p:nvSpPr>
        <p:spPr>
          <a:xfrm>
            <a:off x="8321040" y="3438144"/>
            <a:ext cx="41148" cy="530352"/>
          </a:xfrm>
          <a:prstGeom prst="rect">
            <a:avLst/>
          </a:prstGeom>
          <a:solidFill>
            <a:srgbClr val="00B39F"/>
          </a:solidFill>
          <a:ln>
            <a:noFill/>
          </a:ln>
          <a:effectLst/>
        </p:spPr>
        <p:txBody>
          <a:bodyPr wrap="square" rtlCol="0" anchor="ctr"/>
          <a:lstStyle/>
          <a:p>
            <a:endParaRPr/>
          </a:p>
        </p:txBody>
      </p:sp>
      <p:sp>
        <p:nvSpPr>
          <p:cNvPr id="69" name="TextBox 68"/>
          <p:cNvSpPr txBox="1"/>
          <p:nvPr/>
        </p:nvSpPr>
        <p:spPr>
          <a:xfrm>
            <a:off x="8467344" y="3538727"/>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Stateful work</a:t>
            </a:r>
          </a:p>
        </p:txBody>
      </p:sp>
      <p:sp>
        <p:nvSpPr>
          <p:cNvPr id="70" name="TextBox 69"/>
          <p:cNvSpPr txBox="1"/>
          <p:nvPr/>
        </p:nvSpPr>
        <p:spPr>
          <a:xfrm>
            <a:off x="8467344" y="3781044"/>
            <a:ext cx="3120847" cy="137160"/>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files and state across turns</a:t>
            </a:r>
          </a:p>
        </p:txBody>
      </p:sp>
      <p:sp>
        <p:nvSpPr>
          <p:cNvPr id="71" name="Rectangle 70"/>
          <p:cNvSpPr/>
          <p:nvPr/>
        </p:nvSpPr>
        <p:spPr>
          <a:xfrm>
            <a:off x="8321040" y="4041648"/>
            <a:ext cx="3413455" cy="530352"/>
          </a:xfrm>
          <a:prstGeom prst="rect">
            <a:avLst/>
          </a:prstGeom>
          <a:solidFill>
            <a:srgbClr val="F6F8FD"/>
          </a:solidFill>
          <a:ln w="9525">
            <a:solidFill>
              <a:srgbClr val="E1E7F4"/>
            </a:solidFill>
          </a:ln>
          <a:effectLst/>
        </p:spPr>
        <p:txBody>
          <a:bodyPr wrap="square" rtlCol="0" anchor="ctr"/>
          <a:lstStyle/>
          <a:p>
            <a:endParaRPr/>
          </a:p>
        </p:txBody>
      </p:sp>
      <p:sp>
        <p:nvSpPr>
          <p:cNvPr id="72" name="Rectangle 71"/>
          <p:cNvSpPr/>
          <p:nvPr/>
        </p:nvSpPr>
        <p:spPr>
          <a:xfrm>
            <a:off x="8321040" y="4041648"/>
            <a:ext cx="41148" cy="530352"/>
          </a:xfrm>
          <a:prstGeom prst="rect">
            <a:avLst/>
          </a:prstGeom>
          <a:solidFill>
            <a:srgbClr val="00B39F"/>
          </a:solidFill>
          <a:ln>
            <a:noFill/>
          </a:ln>
          <a:effectLst/>
        </p:spPr>
        <p:txBody>
          <a:bodyPr wrap="square" rtlCol="0" anchor="ctr"/>
          <a:lstStyle/>
          <a:p>
            <a:endParaRPr/>
          </a:p>
        </p:txBody>
      </p:sp>
      <p:sp>
        <p:nvSpPr>
          <p:cNvPr id="73" name="TextBox 72"/>
          <p:cNvSpPr txBox="1"/>
          <p:nvPr/>
        </p:nvSpPr>
        <p:spPr>
          <a:xfrm>
            <a:off x="8467344" y="4142232"/>
            <a:ext cx="3120847"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Long-lived work</a:t>
            </a:r>
          </a:p>
        </p:txBody>
      </p:sp>
      <p:sp>
        <p:nvSpPr>
          <p:cNvPr id="74" name="TextBox 73"/>
          <p:cNvSpPr txBox="1"/>
          <p:nvPr/>
        </p:nvSpPr>
        <p:spPr>
          <a:xfrm>
            <a:off x="8467344" y="4384548"/>
            <a:ext cx="3120847" cy="137159"/>
          </a:xfrm>
          <a:prstGeom prst="rect">
            <a:avLst/>
          </a:prstGeom>
          <a:noFill/>
        </p:spPr>
        <p:txBody>
          <a:bodyPr wrap="square" lIns="0" tIns="0" rIns="0" bIns="0" anchor="t">
            <a:spAutoFit/>
          </a:bodyPr>
          <a:lstStyle/>
          <a:p>
            <a:pPr algn="l">
              <a:lnSpc>
                <a:spcPct val="112000"/>
              </a:lnSpc>
              <a:spcAft>
                <a:spcPts val="250"/>
              </a:spcAft>
            </a:pPr>
            <a:r>
              <a:rPr sz="750" b="0" i="0" dirty="0">
                <a:solidFill>
                  <a:srgbClr val="44495B"/>
                </a:solidFill>
                <a:latin typeface="Segoe UI"/>
                <a:cs typeface="Segoe UI"/>
              </a:rPr>
              <a:t>work that survives interruptions</a:t>
            </a:r>
          </a:p>
        </p:txBody>
      </p:sp>
      <p:sp>
        <p:nvSpPr>
          <p:cNvPr id="75" name="Rectangle 74"/>
          <p:cNvSpPr/>
          <p:nvPr/>
        </p:nvSpPr>
        <p:spPr>
          <a:xfrm>
            <a:off x="8321040" y="4736592"/>
            <a:ext cx="3413455" cy="566928"/>
          </a:xfrm>
          <a:prstGeom prst="rect">
            <a:avLst/>
          </a:prstGeom>
          <a:solidFill>
            <a:srgbClr val="EBEFF7"/>
          </a:solidFill>
          <a:ln>
            <a:noFill/>
          </a:ln>
          <a:effectLst/>
        </p:spPr>
        <p:txBody>
          <a:bodyPr wrap="square" rtlCol="0" anchor="ctr"/>
          <a:lstStyle/>
          <a:p>
            <a:endParaRPr/>
          </a:p>
        </p:txBody>
      </p:sp>
      <p:sp>
        <p:nvSpPr>
          <p:cNvPr id="76" name="Rectangle 75"/>
          <p:cNvSpPr/>
          <p:nvPr/>
        </p:nvSpPr>
        <p:spPr>
          <a:xfrm>
            <a:off x="8321040" y="4736592"/>
            <a:ext cx="41148" cy="566928"/>
          </a:xfrm>
          <a:prstGeom prst="rect">
            <a:avLst/>
          </a:prstGeom>
          <a:solidFill>
            <a:srgbClr val="00B39F"/>
          </a:solidFill>
          <a:ln>
            <a:noFill/>
          </a:ln>
          <a:effectLst/>
        </p:spPr>
        <p:txBody>
          <a:bodyPr wrap="square" rtlCol="0" anchor="ctr"/>
          <a:lstStyle/>
          <a:p>
            <a:endParaRPr/>
          </a:p>
        </p:txBody>
      </p:sp>
      <p:sp>
        <p:nvSpPr>
          <p:cNvPr id="77" name="TextBox 76"/>
          <p:cNvSpPr txBox="1"/>
          <p:nvPr/>
        </p:nvSpPr>
        <p:spPr>
          <a:xfrm>
            <a:off x="8558784" y="4837176"/>
            <a:ext cx="299283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Otherwise start with a prompt agent: faster to build, nothing to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AND SECURING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Hosted agents in private networks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Sessions connect to a delegated subnet in a customer virtual network; Foundry and its data stores are reached privately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learn.microsoft.com/azure/foundry/agents/how-to/virtual-networks · add-hosted-agent-guardrails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Hosted agents in Microsoft Foundry · October 2026 · 7</a:t>
            </a:r>
          </a:p>
        </p:txBody>
      </p:sp>
      <p:sp>
        <p:nvSpPr>
          <p:cNvPr id="7" name="Rectangle 6"/>
          <p:cNvSpPr/>
          <p:nvPr/>
        </p:nvSpPr>
        <p:spPr>
          <a:xfrm>
            <a:off x="457200" y="1371600"/>
            <a:ext cx="6903720" cy="3611880"/>
          </a:xfrm>
          <a:prstGeom prst="rect">
            <a:avLst/>
          </a:prstGeom>
          <a:noFill/>
          <a:ln w="9525">
            <a:solidFill>
              <a:srgbClr val="44495B"/>
            </a:solidFill>
            <a:prstDash val="dash"/>
          </a:ln>
          <a:effectLst/>
        </p:spPr>
        <p:txBody>
          <a:bodyPr wrap="square" rtlCol="0" anchor="ctr"/>
          <a:lstStyle/>
          <a:p>
            <a:endParaRPr/>
          </a:p>
        </p:txBody>
      </p:sp>
      <p:sp>
        <p:nvSpPr>
          <p:cNvPr id="8" name="TextBox 7"/>
          <p:cNvSpPr txBox="1"/>
          <p:nvPr/>
        </p:nvSpPr>
        <p:spPr>
          <a:xfrm>
            <a:off x="566928" y="1426464"/>
            <a:ext cx="3657600" cy="182880"/>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Customer virtual network — same region as Foundry</a:t>
            </a:r>
          </a:p>
        </p:txBody>
      </p:sp>
      <p:sp>
        <p:nvSpPr>
          <p:cNvPr id="9" name="Rectangle 8"/>
          <p:cNvSpPr/>
          <p:nvPr/>
        </p:nvSpPr>
        <p:spPr>
          <a:xfrm>
            <a:off x="640080" y="1737360"/>
            <a:ext cx="3017520" cy="2286000"/>
          </a:xfrm>
          <a:prstGeom prst="rect">
            <a:avLst/>
          </a:prstGeom>
          <a:noFill/>
          <a:ln w="9525">
            <a:solidFill>
              <a:srgbClr val="44495B"/>
            </a:solidFill>
            <a:prstDash val="dash"/>
          </a:ln>
          <a:effectLst/>
        </p:spPr>
        <p:txBody>
          <a:bodyPr wrap="square" rtlCol="0" anchor="ctr"/>
          <a:lstStyle/>
          <a:p>
            <a:endParaRPr/>
          </a:p>
        </p:txBody>
      </p:sp>
      <p:sp>
        <p:nvSpPr>
          <p:cNvPr id="10" name="TextBox 9"/>
          <p:cNvSpPr txBox="1"/>
          <p:nvPr/>
        </p:nvSpPr>
        <p:spPr>
          <a:xfrm>
            <a:off x="731519" y="1792224"/>
            <a:ext cx="2834639" cy="292608"/>
          </a:xfrm>
          <a:prstGeom prst="rect">
            <a:avLst/>
          </a:prstGeom>
          <a:noFill/>
        </p:spPr>
        <p:txBody>
          <a:bodyPr wrap="square" lIns="0" tIns="0" rIns="0" bIns="0" anchor="t">
            <a:spAutoFit/>
          </a:bodyPr>
          <a:lstStyle/>
          <a:p>
            <a:pPr algn="l">
              <a:lnSpc>
                <a:spcPct val="110000"/>
              </a:lnSpc>
            </a:pPr>
            <a:r>
              <a:rPr sz="750" b="0" i="0" dirty="0">
                <a:solidFill>
                  <a:srgbClr val="101A3C"/>
                </a:solidFill>
                <a:latin typeface="Segoe UI"/>
                <a:cs typeface="Segoe UI"/>
              </a:rPr>
              <a:t>Agent subnet</a:t>
            </a:r>
          </a:p>
          <a:p>
            <a:pPr algn="l">
              <a:lnSpc>
                <a:spcPct val="110000"/>
              </a:lnSpc>
            </a:pPr>
            <a:r>
              <a:rPr sz="750" b="0" i="0" dirty="0">
                <a:solidFill>
                  <a:srgbClr val="101A3C"/>
                </a:solidFill>
                <a:latin typeface="Segoe UI"/>
                <a:cs typeface="Segoe UI"/>
              </a:rPr>
              <a:t>delegated to Microsoft.App/environments</a:t>
            </a:r>
          </a:p>
        </p:txBody>
      </p:sp>
      <p:sp>
        <p:nvSpPr>
          <p:cNvPr id="11" name="Rectangle 10"/>
          <p:cNvSpPr/>
          <p:nvPr/>
        </p:nvSpPr>
        <p:spPr>
          <a:xfrm>
            <a:off x="804671" y="2240280"/>
            <a:ext cx="1280160" cy="658368"/>
          </a:xfrm>
          <a:prstGeom prst="rect">
            <a:avLst/>
          </a:prstGeom>
          <a:solidFill>
            <a:srgbClr val="101A3C"/>
          </a:solidFill>
          <a:ln>
            <a:noFill/>
          </a:ln>
          <a:effectLst/>
        </p:spPr>
        <p:txBody>
          <a:bodyPr wrap="square" lIns="54864" tIns="18288" rIns="54864" bIns="18288" rtlCol="0" anchor="ctr"/>
          <a:lstStyle/>
          <a:p>
            <a:pPr algn="ctr">
              <a:lnSpc>
                <a:spcPct val="110000"/>
              </a:lnSpc>
            </a:pPr>
            <a:r>
              <a:rPr sz="800" b="1" i="0" dirty="0">
                <a:solidFill>
                  <a:srgbClr val="FFFFFF"/>
                </a:solidFill>
                <a:latin typeface="Segoe UI"/>
                <a:cs typeface="Segoe UI"/>
              </a:rPr>
              <a:t>Session sandbox</a:t>
            </a:r>
          </a:p>
          <a:p>
            <a:pPr algn="ctr">
              <a:lnSpc>
                <a:spcPct val="110000"/>
              </a:lnSpc>
            </a:pPr>
            <a:r>
              <a:rPr sz="750" b="0" i="0" dirty="0">
                <a:solidFill>
                  <a:srgbClr val="B9C2D6"/>
                </a:solidFill>
                <a:latin typeface="Segoe UI"/>
                <a:cs typeface="Segoe UI"/>
              </a:rPr>
              <a:t>agent container</a:t>
            </a:r>
          </a:p>
        </p:txBody>
      </p:sp>
      <p:sp>
        <p:nvSpPr>
          <p:cNvPr id="12" name="Rectangle 11"/>
          <p:cNvSpPr/>
          <p:nvPr/>
        </p:nvSpPr>
        <p:spPr>
          <a:xfrm>
            <a:off x="2194560" y="2240280"/>
            <a:ext cx="1280160" cy="658368"/>
          </a:xfrm>
          <a:prstGeom prst="rect">
            <a:avLst/>
          </a:prstGeom>
          <a:solidFill>
            <a:srgbClr val="101A3C"/>
          </a:solidFill>
          <a:ln>
            <a:noFill/>
          </a:ln>
          <a:effectLst/>
        </p:spPr>
        <p:txBody>
          <a:bodyPr wrap="square" lIns="54864" tIns="18288" rIns="54864" bIns="18288" rtlCol="0" anchor="ctr"/>
          <a:lstStyle/>
          <a:p>
            <a:pPr algn="ctr">
              <a:lnSpc>
                <a:spcPct val="110000"/>
              </a:lnSpc>
            </a:pPr>
            <a:r>
              <a:rPr sz="800" b="1" i="0" dirty="0">
                <a:solidFill>
                  <a:srgbClr val="FFFFFF"/>
                </a:solidFill>
                <a:latin typeface="Segoe UI"/>
                <a:cs typeface="Segoe UI"/>
              </a:rPr>
              <a:t>Session sandbox</a:t>
            </a:r>
          </a:p>
          <a:p>
            <a:pPr algn="ctr">
              <a:lnSpc>
                <a:spcPct val="110000"/>
              </a:lnSpc>
            </a:pPr>
            <a:r>
              <a:rPr sz="750" b="0" i="0" dirty="0">
                <a:solidFill>
                  <a:srgbClr val="B9C2D6"/>
                </a:solidFill>
                <a:latin typeface="Segoe UI"/>
                <a:cs typeface="Segoe UI"/>
              </a:rPr>
              <a:t>agent container</a:t>
            </a:r>
          </a:p>
        </p:txBody>
      </p:sp>
      <p:sp>
        <p:nvSpPr>
          <p:cNvPr id="13" name="Rectangle 12"/>
          <p:cNvSpPr/>
          <p:nvPr/>
        </p:nvSpPr>
        <p:spPr>
          <a:xfrm>
            <a:off x="804671" y="3063239"/>
            <a:ext cx="2688336"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Egress controls*</a:t>
            </a:r>
          </a:p>
          <a:p>
            <a:pPr algn="ctr">
              <a:lnSpc>
                <a:spcPct val="110000"/>
              </a:lnSpc>
            </a:pPr>
            <a:r>
              <a:rPr sz="750" b="0" i="0" dirty="0">
                <a:solidFill>
                  <a:srgbClr val="44495B"/>
                </a:solidFill>
                <a:latin typeface="Segoe UI"/>
                <a:cs typeface="Segoe UI"/>
              </a:rPr>
              <a:t>allow and deny rules per host; Audit, then Enforce</a:t>
            </a:r>
          </a:p>
        </p:txBody>
      </p:sp>
      <p:sp>
        <p:nvSpPr>
          <p:cNvPr id="14" name="Rectangle 13"/>
          <p:cNvSpPr/>
          <p:nvPr/>
        </p:nvSpPr>
        <p:spPr>
          <a:xfrm>
            <a:off x="3886200" y="1737360"/>
            <a:ext cx="3291840" cy="2286000"/>
          </a:xfrm>
          <a:prstGeom prst="rect">
            <a:avLst/>
          </a:prstGeom>
          <a:noFill/>
          <a:ln w="9525">
            <a:solidFill>
              <a:srgbClr val="44495B"/>
            </a:solidFill>
            <a:prstDash val="dash"/>
          </a:ln>
          <a:effectLst/>
        </p:spPr>
        <p:txBody>
          <a:bodyPr wrap="square" rtlCol="0" anchor="ctr"/>
          <a:lstStyle/>
          <a:p>
            <a:endParaRPr/>
          </a:p>
        </p:txBody>
      </p:sp>
      <p:sp>
        <p:nvSpPr>
          <p:cNvPr id="15" name="TextBox 14"/>
          <p:cNvSpPr txBox="1"/>
          <p:nvPr/>
        </p:nvSpPr>
        <p:spPr>
          <a:xfrm>
            <a:off x="3977639" y="1792224"/>
            <a:ext cx="3108960" cy="182880"/>
          </a:xfrm>
          <a:prstGeom prst="rect">
            <a:avLst/>
          </a:prstGeom>
          <a:noFill/>
        </p:spPr>
        <p:txBody>
          <a:bodyPr wrap="square" lIns="0" tIns="0" rIns="0" bIns="0" anchor="t">
            <a:spAutoFit/>
          </a:bodyPr>
          <a:lstStyle/>
          <a:p>
            <a:pPr algn="l">
              <a:lnSpc>
                <a:spcPct val="100000"/>
              </a:lnSpc>
            </a:pPr>
            <a:r>
              <a:rPr sz="750" b="0" i="0" dirty="0">
                <a:solidFill>
                  <a:srgbClr val="101A3C"/>
                </a:solidFill>
                <a:latin typeface="Segoe UI"/>
                <a:cs typeface="Segoe UI"/>
              </a:rPr>
              <a:t>Private endpoint subnet</a:t>
            </a:r>
          </a:p>
        </p:txBody>
      </p:sp>
      <p:sp>
        <p:nvSpPr>
          <p:cNvPr id="16" name="Rectangle 15"/>
          <p:cNvSpPr/>
          <p:nvPr/>
        </p:nvSpPr>
        <p:spPr>
          <a:xfrm>
            <a:off x="4023360" y="2066543"/>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Foundry account</a:t>
            </a:r>
          </a:p>
          <a:p>
            <a:pPr algn="ctr">
              <a:lnSpc>
                <a:spcPct val="105000"/>
              </a:lnSpc>
            </a:pPr>
            <a:r>
              <a:rPr sz="750" b="0" i="0" dirty="0">
                <a:solidFill>
                  <a:srgbClr val="44495B"/>
                </a:solidFill>
                <a:latin typeface="Segoe UI"/>
                <a:cs typeface="Segoe UI"/>
              </a:rPr>
              <a:t>private endpoint</a:t>
            </a:r>
          </a:p>
        </p:txBody>
      </p:sp>
      <p:sp>
        <p:nvSpPr>
          <p:cNvPr id="17" name="Rectangle 16"/>
          <p:cNvSpPr/>
          <p:nvPr/>
        </p:nvSpPr>
        <p:spPr>
          <a:xfrm>
            <a:off x="4023360" y="2670048"/>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Container registry</a:t>
            </a:r>
          </a:p>
          <a:p>
            <a:pPr algn="ctr">
              <a:lnSpc>
                <a:spcPct val="105000"/>
              </a:lnSpc>
            </a:pPr>
            <a:r>
              <a:rPr sz="750" b="0" i="0" dirty="0">
                <a:solidFill>
                  <a:srgbClr val="44495B"/>
                </a:solidFill>
                <a:latin typeface="Segoe UI"/>
                <a:cs typeface="Segoe UI"/>
              </a:rPr>
              <a:t>private endpoint</a:t>
            </a:r>
          </a:p>
        </p:txBody>
      </p:sp>
      <p:sp>
        <p:nvSpPr>
          <p:cNvPr id="18" name="Rectangle 17"/>
          <p:cNvSpPr/>
          <p:nvPr/>
        </p:nvSpPr>
        <p:spPr>
          <a:xfrm>
            <a:off x="4023360" y="3273552"/>
            <a:ext cx="3017520" cy="493776"/>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5000"/>
              </a:lnSpc>
            </a:pPr>
            <a:r>
              <a:rPr sz="800" b="1" i="0" dirty="0">
                <a:solidFill>
                  <a:srgbClr val="101A3C"/>
                </a:solidFill>
                <a:latin typeface="Segoe UI"/>
                <a:cs typeface="Segoe UI"/>
              </a:rPr>
              <a:t>Cosmos DB · Storage · AI Search</a:t>
            </a:r>
          </a:p>
          <a:p>
            <a:pPr algn="ctr">
              <a:lnSpc>
                <a:spcPct val="105000"/>
              </a:lnSpc>
            </a:pPr>
            <a:r>
              <a:rPr sz="750" b="0" i="0" dirty="0">
                <a:solidFill>
                  <a:srgbClr val="44495B"/>
                </a:solidFill>
                <a:latin typeface="Segoe UI"/>
                <a:cs typeface="Segoe UI"/>
              </a:rPr>
              <a:t>private endpoint</a:t>
            </a:r>
          </a:p>
        </p:txBody>
      </p:sp>
      <p:cxnSp>
        <p:nvCxnSpPr>
          <p:cNvPr id="19" name="Connector 18"/>
          <p:cNvCxnSpPr/>
          <p:nvPr/>
        </p:nvCxnSpPr>
        <p:spPr>
          <a:xfrm>
            <a:off x="3657600" y="2569464"/>
            <a:ext cx="228600" cy="0"/>
          </a:xfrm>
          <a:prstGeom prst="line">
            <a:avLst/>
          </a:prstGeom>
          <a:ln w="13970">
            <a:solidFill>
              <a:srgbClr val="44495B"/>
            </a:solidFill>
            <a:tailEnd type="triangle" w="med" len="med"/>
          </a:ln>
        </p:spPr>
      </p:cxnSp>
      <p:sp>
        <p:nvSpPr>
          <p:cNvPr id="20" name="Oval 19"/>
          <p:cNvSpPr/>
          <p:nvPr/>
        </p:nvSpPr>
        <p:spPr>
          <a:xfrm>
            <a:off x="3666744" y="24643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1" name="Rectangle 20"/>
          <p:cNvSpPr/>
          <p:nvPr/>
        </p:nvSpPr>
        <p:spPr>
          <a:xfrm>
            <a:off x="640080" y="4160520"/>
            <a:ext cx="3017520" cy="640080"/>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Self-hosted CI runner</a:t>
            </a:r>
          </a:p>
          <a:p>
            <a:pPr algn="ctr">
              <a:lnSpc>
                <a:spcPct val="110000"/>
              </a:lnSpc>
            </a:pPr>
            <a:r>
              <a:rPr sz="750" b="0" i="0" dirty="0">
                <a:solidFill>
                  <a:srgbClr val="44495B"/>
                </a:solidFill>
                <a:latin typeface="Segoe UI"/>
                <a:cs typeface="Segoe UI"/>
              </a:rPr>
              <a:t>builds and deploys from inside the network</a:t>
            </a:r>
          </a:p>
        </p:txBody>
      </p:sp>
      <p:cxnSp>
        <p:nvCxnSpPr>
          <p:cNvPr id="22" name="Connector 21"/>
          <p:cNvCxnSpPr/>
          <p:nvPr/>
        </p:nvCxnSpPr>
        <p:spPr>
          <a:xfrm>
            <a:off x="3657600" y="4480560"/>
            <a:ext cx="777240" cy="0"/>
          </a:xfrm>
          <a:prstGeom prst="line">
            <a:avLst/>
          </a:prstGeom>
          <a:ln w="13970">
            <a:solidFill>
              <a:srgbClr val="44495B"/>
            </a:solidFill>
          </a:ln>
        </p:spPr>
      </p:cxnSp>
      <p:cxnSp>
        <p:nvCxnSpPr>
          <p:cNvPr id="23" name="Connector 22"/>
          <p:cNvCxnSpPr/>
          <p:nvPr/>
        </p:nvCxnSpPr>
        <p:spPr>
          <a:xfrm flipV="1">
            <a:off x="4434840" y="4023360"/>
            <a:ext cx="0" cy="457200"/>
          </a:xfrm>
          <a:prstGeom prst="line">
            <a:avLst/>
          </a:prstGeom>
          <a:ln w="13970">
            <a:solidFill>
              <a:srgbClr val="44495B"/>
            </a:solidFill>
            <a:tailEnd type="triangle" w="med" len="med"/>
          </a:ln>
        </p:spPr>
      </p:cxnSp>
      <p:sp>
        <p:nvSpPr>
          <p:cNvPr id="24" name="Oval 23"/>
          <p:cNvSpPr/>
          <p:nvPr/>
        </p:nvSpPr>
        <p:spPr>
          <a:xfrm>
            <a:off x="4101083" y="437540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5" name="Rectangle 24"/>
          <p:cNvSpPr/>
          <p:nvPr/>
        </p:nvSpPr>
        <p:spPr>
          <a:xfrm>
            <a:off x="7680960" y="1371600"/>
            <a:ext cx="1783080" cy="640080"/>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Teams and Microsoft 365</a:t>
            </a:r>
          </a:p>
          <a:p>
            <a:pPr algn="ctr">
              <a:lnSpc>
                <a:spcPct val="110000"/>
              </a:lnSpc>
            </a:pPr>
            <a:r>
              <a:rPr sz="750" b="0" i="0" dirty="0">
                <a:solidFill>
                  <a:srgbClr val="44495B"/>
                </a:solidFill>
                <a:latin typeface="Segoe UI"/>
                <a:cs typeface="Segoe UI"/>
              </a:rPr>
              <a:t>users</a:t>
            </a:r>
          </a:p>
        </p:txBody>
      </p:sp>
      <p:sp>
        <p:nvSpPr>
          <p:cNvPr id="26" name="Rectangle 25"/>
          <p:cNvSpPr/>
          <p:nvPr/>
        </p:nvSpPr>
        <p:spPr>
          <a:xfrm>
            <a:off x="7680960" y="2331720"/>
            <a:ext cx="178308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Bot Service</a:t>
            </a:r>
          </a:p>
          <a:p>
            <a:pPr algn="ctr">
              <a:lnSpc>
                <a:spcPct val="110000"/>
              </a:lnSpc>
            </a:pPr>
            <a:r>
              <a:rPr sz="750" b="0" i="0" dirty="0">
                <a:solidFill>
                  <a:srgbClr val="44495B"/>
                </a:solidFill>
                <a:latin typeface="Segoe UI"/>
                <a:cs typeface="Segoe UI"/>
              </a:rPr>
              <a:t>Activity protocol only</a:t>
            </a:r>
          </a:p>
        </p:txBody>
      </p:sp>
      <p:cxnSp>
        <p:nvCxnSpPr>
          <p:cNvPr id="27" name="Connector 26"/>
          <p:cNvCxnSpPr/>
          <p:nvPr/>
        </p:nvCxnSpPr>
        <p:spPr>
          <a:xfrm>
            <a:off x="8572500" y="2011680"/>
            <a:ext cx="0" cy="320040"/>
          </a:xfrm>
          <a:prstGeom prst="line">
            <a:avLst/>
          </a:prstGeom>
          <a:ln w="13970">
            <a:solidFill>
              <a:srgbClr val="44495B"/>
            </a:solidFill>
            <a:tailEnd type="triangle" w="med" len="med"/>
          </a:ln>
        </p:spPr>
      </p:cxnSp>
      <p:cxnSp>
        <p:nvCxnSpPr>
          <p:cNvPr id="28" name="Connector 27"/>
          <p:cNvCxnSpPr/>
          <p:nvPr/>
        </p:nvCxnSpPr>
        <p:spPr>
          <a:xfrm flipH="1">
            <a:off x="7040879" y="2395728"/>
            <a:ext cx="640081" cy="0"/>
          </a:xfrm>
          <a:prstGeom prst="line">
            <a:avLst/>
          </a:prstGeom>
          <a:ln w="13970">
            <a:solidFill>
              <a:srgbClr val="44495B"/>
            </a:solidFill>
            <a:tailEnd type="triangle" w="med" len="med"/>
          </a:ln>
        </p:spPr>
      </p:cxnSp>
      <p:sp>
        <p:nvSpPr>
          <p:cNvPr id="29" name="Oval 28"/>
          <p:cNvSpPr/>
          <p:nvPr/>
        </p:nvSpPr>
        <p:spPr>
          <a:xfrm>
            <a:off x="7420356" y="22905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30" name="TextBox 29"/>
          <p:cNvSpPr txBox="1"/>
          <p:nvPr/>
        </p:nvSpPr>
        <p:spPr>
          <a:xfrm>
            <a:off x="7680960" y="3429000"/>
            <a:ext cx="1783080" cy="685800"/>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enable_m365_public_endpoint: an IP-filtered exception for this route; the account stays private</a:t>
            </a:r>
          </a:p>
        </p:txBody>
      </p:sp>
      <p:sp>
        <p:nvSpPr>
          <p:cNvPr id="31" name="TextBox 30"/>
          <p:cNvSpPr txBox="1"/>
          <p:nvPr/>
        </p:nvSpPr>
        <p:spPr>
          <a:xfrm>
            <a:off x="9555480" y="1371600"/>
            <a:ext cx="21790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SECURITY LAYERS</a:t>
            </a:r>
          </a:p>
        </p:txBody>
      </p:sp>
      <p:sp>
        <p:nvSpPr>
          <p:cNvPr id="32" name="TextBox 31"/>
          <p:cNvSpPr txBox="1"/>
          <p:nvPr/>
        </p:nvSpPr>
        <p:spPr>
          <a:xfrm>
            <a:off x="9555480" y="162763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Identity</a:t>
            </a:r>
          </a:p>
        </p:txBody>
      </p:sp>
      <p:sp>
        <p:nvSpPr>
          <p:cNvPr id="33" name="TextBox 32"/>
          <p:cNvSpPr txBox="1"/>
          <p:nvPr/>
        </p:nvSpPr>
        <p:spPr>
          <a:xfrm>
            <a:off x="10339925" y="162763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Entra agent identity; role-based access</a:t>
            </a:r>
          </a:p>
        </p:txBody>
      </p:sp>
      <p:cxnSp>
        <p:nvCxnSpPr>
          <p:cNvPr id="34" name="Connector 33"/>
          <p:cNvCxnSpPr/>
          <p:nvPr/>
        </p:nvCxnSpPr>
        <p:spPr>
          <a:xfrm>
            <a:off x="9555480" y="2112264"/>
            <a:ext cx="2179015" cy="0"/>
          </a:xfrm>
          <a:prstGeom prst="line">
            <a:avLst/>
          </a:prstGeom>
          <a:ln w="9525">
            <a:solidFill>
              <a:srgbClr val="E1E7F4"/>
            </a:solidFill>
          </a:ln>
        </p:spPr>
      </p:cxnSp>
      <p:sp>
        <p:nvSpPr>
          <p:cNvPr id="35" name="TextBox 34"/>
          <p:cNvSpPr txBox="1"/>
          <p:nvPr/>
        </p:nvSpPr>
        <p:spPr>
          <a:xfrm>
            <a:off x="9555480" y="213055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Network</a:t>
            </a:r>
          </a:p>
        </p:txBody>
      </p:sp>
      <p:sp>
        <p:nvSpPr>
          <p:cNvPr id="36" name="TextBox 35"/>
          <p:cNvSpPr txBox="1"/>
          <p:nvPr/>
        </p:nvSpPr>
        <p:spPr>
          <a:xfrm>
            <a:off x="10339925" y="213055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Injection set when the account is created</a:t>
            </a:r>
          </a:p>
        </p:txBody>
      </p:sp>
      <p:cxnSp>
        <p:nvCxnSpPr>
          <p:cNvPr id="37" name="Connector 36"/>
          <p:cNvCxnSpPr/>
          <p:nvPr/>
        </p:nvCxnSpPr>
        <p:spPr>
          <a:xfrm>
            <a:off x="9555480" y="2615184"/>
            <a:ext cx="2179015" cy="0"/>
          </a:xfrm>
          <a:prstGeom prst="line">
            <a:avLst/>
          </a:prstGeom>
          <a:ln w="9525">
            <a:solidFill>
              <a:srgbClr val="E1E7F4"/>
            </a:solidFill>
          </a:ln>
        </p:spPr>
      </p:cxnSp>
      <p:sp>
        <p:nvSpPr>
          <p:cNvPr id="38" name="TextBox 37"/>
          <p:cNvSpPr txBox="1"/>
          <p:nvPr/>
        </p:nvSpPr>
        <p:spPr>
          <a:xfrm>
            <a:off x="9555480" y="2633472"/>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Egress</a:t>
            </a:r>
          </a:p>
        </p:txBody>
      </p:sp>
      <p:sp>
        <p:nvSpPr>
          <p:cNvPr id="39" name="TextBox 38"/>
          <p:cNvSpPr txBox="1"/>
          <p:nvPr/>
        </p:nvSpPr>
        <p:spPr>
          <a:xfrm>
            <a:off x="10339925" y="2633472"/>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Up to 480 rules; fails closed*</a:t>
            </a:r>
          </a:p>
        </p:txBody>
      </p:sp>
      <p:cxnSp>
        <p:nvCxnSpPr>
          <p:cNvPr id="40" name="Connector 39"/>
          <p:cNvCxnSpPr/>
          <p:nvPr/>
        </p:nvCxnSpPr>
        <p:spPr>
          <a:xfrm>
            <a:off x="9555480" y="3118103"/>
            <a:ext cx="2179015" cy="0"/>
          </a:xfrm>
          <a:prstGeom prst="line">
            <a:avLst/>
          </a:prstGeom>
          <a:ln w="9525">
            <a:solidFill>
              <a:srgbClr val="E1E7F4"/>
            </a:solidFill>
          </a:ln>
        </p:spPr>
      </p:cxnSp>
      <p:sp>
        <p:nvSpPr>
          <p:cNvPr id="41" name="TextBox 40"/>
          <p:cNvSpPr txBox="1"/>
          <p:nvPr/>
        </p:nvSpPr>
        <p:spPr>
          <a:xfrm>
            <a:off x="9555480" y="313639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Registry</a:t>
            </a:r>
          </a:p>
        </p:txBody>
      </p:sp>
      <p:sp>
        <p:nvSpPr>
          <p:cNvPr id="42" name="TextBox 41"/>
          <p:cNvSpPr txBox="1"/>
          <p:nvPr/>
        </p:nvSpPr>
        <p:spPr>
          <a:xfrm>
            <a:off x="10339925" y="313639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Private for projects after 25 Jun 2026</a:t>
            </a:r>
          </a:p>
        </p:txBody>
      </p:sp>
      <p:cxnSp>
        <p:nvCxnSpPr>
          <p:cNvPr id="43" name="Connector 42"/>
          <p:cNvCxnSpPr/>
          <p:nvPr/>
        </p:nvCxnSpPr>
        <p:spPr>
          <a:xfrm>
            <a:off x="9555480" y="3621023"/>
            <a:ext cx="2179015" cy="0"/>
          </a:xfrm>
          <a:prstGeom prst="line">
            <a:avLst/>
          </a:prstGeom>
          <a:ln w="9525">
            <a:solidFill>
              <a:srgbClr val="E1E7F4"/>
            </a:solidFill>
          </a:ln>
        </p:spPr>
      </p:cxnSp>
      <p:sp>
        <p:nvSpPr>
          <p:cNvPr id="44" name="TextBox 43"/>
          <p:cNvSpPr txBox="1"/>
          <p:nvPr/>
        </p:nvSpPr>
        <p:spPr>
          <a:xfrm>
            <a:off x="9555480" y="363931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Data</a:t>
            </a:r>
          </a:p>
        </p:txBody>
      </p:sp>
      <p:sp>
        <p:nvSpPr>
          <p:cNvPr id="45" name="TextBox 44"/>
          <p:cNvSpPr txBox="1"/>
          <p:nvPr/>
        </p:nvSpPr>
        <p:spPr>
          <a:xfrm>
            <a:off x="10339925" y="363931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Standard setup keeps data in own resources</a:t>
            </a:r>
          </a:p>
        </p:txBody>
      </p:sp>
      <p:cxnSp>
        <p:nvCxnSpPr>
          <p:cNvPr id="46" name="Connector 45"/>
          <p:cNvCxnSpPr/>
          <p:nvPr/>
        </p:nvCxnSpPr>
        <p:spPr>
          <a:xfrm>
            <a:off x="9555480" y="4123944"/>
            <a:ext cx="2179015" cy="0"/>
          </a:xfrm>
          <a:prstGeom prst="line">
            <a:avLst/>
          </a:prstGeom>
          <a:ln w="9525">
            <a:solidFill>
              <a:srgbClr val="E1E7F4"/>
            </a:solidFill>
          </a:ln>
        </p:spPr>
      </p:cxnSp>
      <p:sp>
        <p:nvSpPr>
          <p:cNvPr id="47" name="TextBox 46"/>
          <p:cNvSpPr txBox="1"/>
          <p:nvPr/>
        </p:nvSpPr>
        <p:spPr>
          <a:xfrm>
            <a:off x="9555480" y="4142231"/>
            <a:ext cx="693005" cy="502920"/>
          </a:xfrm>
          <a:prstGeom prst="rect">
            <a:avLst/>
          </a:prstGeom>
          <a:noFill/>
        </p:spPr>
        <p:txBody>
          <a:bodyPr wrap="square" lIns="0" tIns="0" rIns="0" bIns="0" anchor="ctr">
            <a:spAutoFit/>
          </a:bodyPr>
          <a:lstStyle/>
          <a:p>
            <a:pPr algn="l">
              <a:lnSpc>
                <a:spcPct val="105000"/>
              </a:lnSpc>
            </a:pPr>
            <a:r>
              <a:rPr sz="750" b="1" i="0" dirty="0">
                <a:solidFill>
                  <a:srgbClr val="101A3C"/>
                </a:solidFill>
                <a:latin typeface="Segoe UI"/>
                <a:cs typeface="Segoe UI"/>
              </a:rPr>
              <a:t>Content</a:t>
            </a:r>
          </a:p>
        </p:txBody>
      </p:sp>
      <p:sp>
        <p:nvSpPr>
          <p:cNvPr id="48" name="TextBox 47"/>
          <p:cNvSpPr txBox="1"/>
          <p:nvPr/>
        </p:nvSpPr>
        <p:spPr>
          <a:xfrm>
            <a:off x="10339925" y="4142231"/>
            <a:ext cx="1394569" cy="502920"/>
          </a:xfrm>
          <a:prstGeom prst="rect">
            <a:avLst/>
          </a:prstGeom>
          <a:noFill/>
        </p:spPr>
        <p:txBody>
          <a:bodyPr wrap="square" lIns="0" tIns="0" rIns="0" bIns="0" anchor="ctr">
            <a:spAutoFit/>
          </a:bodyPr>
          <a:lstStyle/>
          <a:p>
            <a:pPr algn="l">
              <a:lnSpc>
                <a:spcPct val="105000"/>
              </a:lnSpc>
            </a:pPr>
            <a:r>
              <a:rPr sz="750" b="0" i="0" dirty="0">
                <a:solidFill>
                  <a:srgbClr val="44495B"/>
                </a:solidFill>
                <a:latin typeface="Segoe UI"/>
                <a:cs typeface="Segoe UI"/>
              </a:rPr>
              <a:t>Guardrails via the RAI policy</a:t>
            </a:r>
          </a:p>
        </p:txBody>
      </p:sp>
      <p:cxnSp>
        <p:nvCxnSpPr>
          <p:cNvPr id="49" name="Connector 48"/>
          <p:cNvCxnSpPr/>
          <p:nvPr/>
        </p:nvCxnSpPr>
        <p:spPr>
          <a:xfrm>
            <a:off x="9555480" y="4626864"/>
            <a:ext cx="2179015" cy="0"/>
          </a:xfrm>
          <a:prstGeom prst="line">
            <a:avLst/>
          </a:prstGeom>
          <a:ln w="9525">
            <a:solidFill>
              <a:srgbClr val="E1E7F4"/>
            </a:solidFill>
          </a:ln>
        </p:spPr>
      </p:cxnSp>
      <p:sp>
        <p:nvSpPr>
          <p:cNvPr id="50" name="Rectangle 49"/>
          <p:cNvSpPr/>
          <p:nvPr/>
        </p:nvSpPr>
        <p:spPr>
          <a:xfrm>
            <a:off x="457200" y="5102352"/>
            <a:ext cx="9006840" cy="329184"/>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5102352"/>
            <a:ext cx="41148" cy="329184"/>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5202936"/>
            <a:ext cx="8586216" cy="146303"/>
          </a:xfrm>
          <a:prstGeom prst="rect">
            <a:avLst/>
          </a:prstGeom>
          <a:noFill/>
        </p:spPr>
        <p:txBody>
          <a:bodyPr wrap="square" lIns="0" tIns="0" rIns="0" bIns="0" anchor="t">
            <a:spAutoFit/>
          </a:bodyPr>
          <a:lstStyle/>
          <a:p>
            <a:pPr algn="l">
              <a:lnSpc>
                <a:spcPct val="120000"/>
              </a:lnSpc>
            </a:pPr>
            <a:r>
              <a:rPr sz="750" b="0" i="0" dirty="0">
                <a:solidFill>
                  <a:srgbClr val="101A3C"/>
                </a:solidFill>
                <a:latin typeface="Segoe UI"/>
                <a:cs typeface="Segoe UI"/>
              </a:rPr>
              <a:t>Limits: one agent subnet per Foundry resource · Code Interpreter without file upload or download · no streaming or citations in Teams</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Hosted agent</a:t>
            </a:r>
          </a:p>
        </p:txBody>
      </p:sp>
      <p:sp>
        <p:nvSpPr>
          <p:cNvPr id="55" name="Rectangle 54"/>
          <p:cNvSpPr/>
          <p:nvPr/>
        </p:nvSpPr>
        <p:spPr>
          <a:xfrm>
            <a:off x="1463040"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168249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Resource</a:t>
            </a:r>
          </a:p>
        </p:txBody>
      </p:sp>
      <p:sp>
        <p:nvSpPr>
          <p:cNvPr id="57" name="Rectangle 56"/>
          <p:cNvSpPr/>
          <p:nvPr/>
        </p:nvSpPr>
        <p:spPr>
          <a:xfrm>
            <a:off x="2249424"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246888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tooling</a:t>
            </a:r>
          </a:p>
        </p:txBody>
      </p:sp>
      <p:sp>
        <p:nvSpPr>
          <p:cNvPr id="59" name="Rectangle 58"/>
          <p:cNvSpPr/>
          <p:nvPr/>
        </p:nvSpPr>
        <p:spPr>
          <a:xfrm>
            <a:off x="3529584" y="5532120"/>
            <a:ext cx="146304" cy="118872"/>
          </a:xfrm>
          <a:prstGeom prst="rect">
            <a:avLst/>
          </a:prstGeom>
          <a:noFill/>
          <a:ln w="9525">
            <a:solidFill>
              <a:srgbClr val="44495B"/>
            </a:solidFill>
            <a:prstDash val="dash"/>
          </a:ln>
          <a:effectLst/>
        </p:spPr>
        <p:txBody>
          <a:bodyPr wrap="square" rtlCol="0" anchor="ctr"/>
          <a:lstStyle/>
          <a:p>
            <a:endParaRPr/>
          </a:p>
        </p:txBody>
      </p:sp>
      <p:sp>
        <p:nvSpPr>
          <p:cNvPr id="60" name="TextBox 59"/>
          <p:cNvSpPr txBox="1"/>
          <p:nvPr/>
        </p:nvSpPr>
        <p:spPr>
          <a:xfrm>
            <a:off x="374904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Network boundary</a:t>
            </a:r>
          </a:p>
        </p:txBody>
      </p:sp>
      <p:cxnSp>
        <p:nvCxnSpPr>
          <p:cNvPr id="61" name="Connector 60"/>
          <p:cNvCxnSpPr/>
          <p:nvPr/>
        </p:nvCxnSpPr>
        <p:spPr>
          <a:xfrm>
            <a:off x="4754880" y="5591556"/>
            <a:ext cx="164592" cy="0"/>
          </a:xfrm>
          <a:prstGeom prst="line">
            <a:avLst/>
          </a:prstGeom>
          <a:ln w="13970">
            <a:solidFill>
              <a:srgbClr val="44495B"/>
            </a:solidFill>
          </a:ln>
        </p:spPr>
      </p:cxnSp>
      <p:sp>
        <p:nvSpPr>
          <p:cNvPr id="62" name="TextBox 61"/>
          <p:cNvSpPr txBox="1"/>
          <p:nvPr/>
        </p:nvSpPr>
        <p:spPr>
          <a:xfrm>
            <a:off x="49743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Traffic</a:t>
            </a:r>
          </a:p>
        </p:txBody>
      </p:sp>
      <p:sp>
        <p:nvSpPr>
          <p:cNvPr id="63" name="TextBox 62"/>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3166</Words>
  <Application>Microsoft Office PowerPoint</Application>
  <PresentationFormat>Widescreen</PresentationFormat>
  <Paragraphs>365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3</cp:revision>
  <dcterms:created xsi:type="dcterms:W3CDTF">2013-01-27T09:14:16Z</dcterms:created>
  <dcterms:modified xsi:type="dcterms:W3CDTF">2026-10-14T13:45:19Z</dcterms:modified>
  <cp:category/>
</cp:coreProperties>
</file>