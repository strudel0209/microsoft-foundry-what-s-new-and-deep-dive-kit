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3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7BB7A7A1-4F33-4E43-A809-438E362E12DF}"/>
    <pc:docChg chg="modSld">
      <pc:chgData name="" userId="" providerId="" clId="Web-{7BB7A7A1-4F33-4E43-A809-438E362E12DF}" dt="2026-10-14T14:09:33.741" v="0" actId="34807"/>
      <pc:docMkLst>
        <pc:docMk/>
      </pc:docMkLst>
      <pc:sldChg chg="modNotesTx">
        <pc:chgData name="" userId="" providerId="" clId="Web-{7BB7A7A1-4F33-4E43-A809-438E362E12DF}" dt="2026-10-14T14:09:33.741" v="0" actId="34807"/>
        <pc:sldMkLst>
          <pc:docMk/>
          <pc:sldMk cId="0" sldId="256"/>
        </pc:sldMkLst>
      </pc:sldChg>
      <pc:sldChg chg="modNotesTx">
        <pc:chgData name="" userId="" providerId="" clId="Web-{7BB7A7A1-4F33-4E43-A809-438E362E12DF}" dt="2026-10-14T14:09:33.741" v="0" actId="34807"/>
        <pc:sldMkLst>
          <pc:docMk/>
          <pc:sldMk cId="0" sldId="257"/>
        </pc:sldMkLst>
      </pc:sldChg>
      <pc:sldChg chg="modNotesTx">
        <pc:chgData name="" userId="" providerId="" clId="Web-{7BB7A7A1-4F33-4E43-A809-438E362E12DF}" dt="2026-10-14T14:09:33.741" v="0" actId="34807"/>
        <pc:sldMkLst>
          <pc:docMk/>
          <pc:sldMk cId="0" sldId="258"/>
        </pc:sldMkLst>
      </pc:sldChg>
      <pc:sldChg chg="modNotesTx">
        <pc:chgData name="" userId="" providerId="" clId="Web-{7BB7A7A1-4F33-4E43-A809-438E362E12DF}" dt="2026-10-14T14:09:33.741" v="0" actId="34807"/>
        <pc:sldMkLst>
          <pc:docMk/>
          <pc:sldMk cId="0" sldId="259"/>
        </pc:sldMkLst>
      </pc:sldChg>
      <pc:sldChg chg="modNotesTx">
        <pc:chgData name="" userId="" providerId="" clId="Web-{7BB7A7A1-4F33-4E43-A809-438E362E12DF}" dt="2026-10-14T14:09:33.741" v="0" actId="34807"/>
        <pc:sldMkLst>
          <pc:docMk/>
          <pc:sldMk cId="0" sldId="260"/>
        </pc:sldMkLst>
      </pc:sldChg>
      <pc:sldChg chg="modNotesTx">
        <pc:chgData name="" userId="" providerId="" clId="Web-{7BB7A7A1-4F33-4E43-A809-438E362E12DF}" dt="2026-10-14T14:09:33.741" v="0" actId="34807"/>
        <pc:sldMkLst>
          <pc:docMk/>
          <pc:sldMk cId="0" sldId="261"/>
        </pc:sldMkLst>
      </pc:sldChg>
      <pc:sldChg chg="modNotesTx">
        <pc:chgData name="" userId="" providerId="" clId="Web-{7BB7A7A1-4F33-4E43-A809-438E362E12DF}" dt="2026-10-14T14:09:33.741" v="0" actId="34807"/>
        <pc:sldMkLst>
          <pc:docMk/>
          <pc:sldMk cId="0" sldId="262"/>
        </pc:sldMkLst>
      </pc:sldChg>
      <pc:sldChg chg="modNotesTx">
        <pc:chgData name="" userId="" providerId="" clId="Web-{7BB7A7A1-4F33-4E43-A809-438E362E12DF}" dt="2026-10-14T14:09:33.741" v="0" actId="34807"/>
        <pc:sldMkLst>
          <pc:docMk/>
          <pc:sldMk cId="0" sldId="263"/>
        </pc:sldMkLst>
      </pc:sldChg>
      <pc:sldChg chg="modNotesTx">
        <pc:chgData name="" userId="" providerId="" clId="Web-{7BB7A7A1-4F33-4E43-A809-438E362E12DF}" dt="2026-10-14T14:09:33.741" v="0" actId="34807"/>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930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session covers the AI gateway in Microsoft Foundry, and one question that comes up as soon as more than one team builds on Foundry: how to govern who uses which models, tools and agents, and how much.
The answer Microsoft documents is an AI gateway, built on Azure API Management. Three things carry that name, and slide 3 separates them. The AI Gateway feature in the Foundry portal is in preview. The AI policies inside API Management, such as token limits and content safety, are generally available. And there is a new, separate AI Gateway tier of API Management, also in preview.
We begin with the problem the gateway solves, and then the three meanings of the term.
We then examine the architecture of AI Gateway in Foundry.
The third section covers governance for models, tools and agents in turn.
The fourth section compares the gateway with the other controls it is often confused with, and we close with how this scales across many teams.
Every fact was checked against the official Microsoft documentation on 3 October 2026. Anything marked with an asterisk is in preview, with no service level agreement.
A common question is whether the Foundry feature requires API Management skills. For token limits it does not: the Foundry portal creates and configures the API Management instance. For tool and MCP policies it does, because those policies are edited in the Azure portal.
The overall narrative is simple: once several teams share Foundry, a single governed entry point decides who uses which models, tools and agents, and how much, and the session moves from the problem to the architecture, the governance of each building block, the comparison with other controls and the pattern at scale.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direct access with access through an AI gateway. Read it as two halves: direct access on the left, and one governed entry point on the right.
The core idea is that once several teams share models, tools and agents, direct access stops scaling, and a gateway puts one control point in the request path.
First, direct access.
Every application or agent calls every backend itself. Four problems follow. Capacity is shared, so one project can use all of it; the official documentation calls the fix multi-team token containment. Token cost cannot be attributed to a team. Credentials are spread across clients. And tools and agents appear without any register.
Second, the AI gateway.
An AI gateway built on Azure API Management sits in the request path. The official documentation describes it as sitting between clients and Foundry building blocks, including models and tools. Policies run on every request: token limits, usage metrics, content safety, and managed identity from the gateway to the backends, so clients do not hold model keys.
Third, the cost of the gateway.
The cost is real. It adds an extra network hop, one more component to make highly available, and a component that sees every prompt. The Architecture Center guide on gateways advises against adding one if it puts latency or reliability targets at risk.
A common question is whether the gateway replaces Foundry quota. It does not: quota sets capacity, and the gateway divides it among consumers. Slide 8 compares the two in detail.
The key takeaway is that a gateway is worth its extra hop once several teams share capacity, credentials and tools, because it turns four unmanaged problems into policies enforced at one point.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the three offerings that share the name AI gateway in Azure. Read it from left to right, one offering per column, with the rows asking the same questions of each.
The core idea is that customers use the term for three different things, so the terms have to be fixed first.
First, AI Gateway in Foundry.
In the Foundry portal, under Manage, AI Gateway, an administrator connects an API Management instance to a Foundry resource. This is either a new Basic v2 instance or an existing v2 instance in the same tenant and subscription. All projects in that resource share the gateway, and each project gets its own token limits. It is marked as preview in the Foundry feature-readiness table. However, the configuration page carries no preview label, so the status of AI Gateway in Foundry should be confirmed before presenting.
Second, the AI gateway capabilities of API Management itself.
As per official documentation, these are not a separate offering. They are policies such as llm-token-limit and llm-content-safety, plus MCP and A2A support, configured in the Azure portal. They are generally available.
Third, the AI Gateway tier.
This is a new, separate tier of API Management with its own portal. It is in preview, in two regions only, East US 2 and Sweden Central. The deck mentions it for completeness only.
For the rest of the deck, "AI Gateway in Foundry" refers to the Foundry portal feature, and "API Management policies" refers to policies configured directly in API Management.
A common question is whether several Foundry resources can share one gateway. They cannot through the Foundry feature; that needs standalone API Management, as slide 9 shows.
The key takeaway is that the three offerings differ in where policies are configured and in what they govern, so it is worth naming which one is meant before any design discussion.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architecture of AI Gateway in Foundry, column one on slide 3. Read it as four numbered steps, from the caller through the gateway to the backend and on to the governance services.
The core idea is that underneath the feature is a standard API Management instance, so the gateway box shows two groups of settings.
The upper group is set in the Foundry portal: token limits and quotas per project, routing of new MCP tools, and registration of custom agents. All three are in preview.
The lower group is configured directly in API Management, in the Azure portal. The official documentation describes this for MCP tools routed through the gateway. It does not describe adding policies such as semantic caching or content safety to model traffic managed by the Foundry gateway, so whether that is supported should be confirmed before presenting.
First, callers sign in.
Applications, agents and developer tools authenticate with Microsoft Entra ID.
Second, requests go to the gateway URL.
Requests are sent to the gateway URL, not to the backend. The official documentation lists bypassed requests as a troubleshooting case.
Third, policies run and the gateway forwards.
The gateway forwards each request to the project's model deployments, the MCP server or the registered agent.
Fourth, telemetry reaches the governance services.
Metrics and logs go to Azure Monitor, and inventory appears in the Foundry Control Plane.
It is also not yet clear whether the model calls made by Foundry agents themselves route through the gateway, so this should be confirmed before presenting.
A common question is whether this design covers several Foundry resources. It does not; that needs standalone API Management, as slide 9 shows.
The architectural principle is one API Management instance per Foundry resource: the Foundry portal sets the per-project limits and registrations, API Management carries the remaining policies, and every request passes through the gateway URL.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controls the gateway applies to model traffic. Read the table from top to bottom, then the example policy and the Foundry card beside it.
The core idea is that most organisations start with models, because shared capacity and cost hurt first.
First, token limits and quotas.
The table lists the documented API Management policies. llm-token-limit enforces a limit in tokens per minute, returning 429 when it is exceeded, and a token quota over a period from hourly to yearly, returning 403. The counter key can be any expression, such as the subscription, the IP address or a header. The policy can also estimate prompt tokens before calling the backend, so an oversized prompt is rejected early.
Second, token metrics.
llm-emit-token-metric sends token counts to Azure Monitor with up to five custom dimensions. This is how cost is attributed to teams.
Two caveats apply. Token counts are tracked per gateway, not aggregated across regional gateways. And v2 tiers use a token-bucket algorithm, which differs from the sliding window in classic tiers.
Third, the example policy.
The code sample shows these policies together. The values are illustrative, and the sample should be confirmed against the llm-token-limit reference before presenting it.
Fourth, the Foundry route.
The card on the right sets the same limits per project and deployment in the Foundry portal, with no XML. The official documentation warns that concurrent requests can briefly exceed the limits.
A common question is whether semantic caching works for all prompts. It does not: only semantically similar prompts are served from the cache, and it requires Azure Managed Redis or another RediSearch-compatible cache.
The key takeaway is that token limits contain consumption and token metrics attribute it, and both can be set either as API Management policies or, for per-project limits, directly in the Foundry portal.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how MCP servers and tools are governed. Read it from left to right as three columns that follow the order Microsoft's guidance suggests: register, govern, consume.
The core idea is that every MCP server an agent can call is a new path to data and actions.
First, the registry in Azure API Center.
This is the inventory. It provides an MCP registry endpoint for Visual Studio Code and GitHub Copilot, synchronisation from API Management, and a feed into Foundry tool catalogs. No first-party statement of general availability was found for the API Center MCP registry, so its status should be confirmed before presenting.
Second, the gateway in API Management.
This is where enforcement happens. API Management can turn existing REST API operations into MCP tools, or pass traffic through to an existing MCP server. Policies apply to all tools of a server. Since June 2026, the content safety policy also inspects MCP tool arguments and responses.
Third, Foundry tools through AI Gateway.
This is the Foundry route, in preview. Only new MCP tools created in the Foundry portal without managed OAuth are routed, and Foundry rewrites the tool endpoint to the gateway URL. However, coverage is narrow. Built-in tools such as SharePoint, code-first MCP and OpenAPI tools are not covered, existing tools are not migrated, and the gateway does not log tool traces.
A common question is whether policies can differ per tool. Currently they cannot: policies apply to all operations exposed as tools in one MCP server.
The key takeaway is to register MCP servers first, then govern access at the gateway, and only then let agents consume them from the catalog, bearing in mind that the Foundry route covers new MCP tools only.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four mechanisms that bring agents and their traffic under central control. Read it from left to right: each column has a different traffic path.
The core idea is that agents need two kinds of governance: inventory, and control of their traffic.
First, custom agents registered in the Foundry Control Plane.
Foundry uses API Management as a proxy and issues a new URL that clients must use. HTTP and A2A are supported. Foundry cannot start or stop an agent it does not host, but it can block incoming requests, which is the off switch for a misbehaving agent.
Second, external agents.
This mechanism is lighter. Foundry stores registration metadata and receives OpenTelemetry traces, but traffic does not pass through the gateway.
Third, A2A agent APIs in API Management.
These are imported directly into API Management and have been generally available since June 2026. They support JSON-RPC only, and the agent card is rewritten to point at the gateway.
Fourth, the model calls that agents make.
With a connection that brings the customer's own model, prompt agents use deployments named connection slash model, routed through API Management. It requires the OpenAI-compatible chat completions API. The release notes describe this own-model connection as generally available, while one page of the official documentation labels it preview, so its status should be confirmed before presenting.
The band at the bottom carries the important caveat: Foundry guardrails cover only agents built in Foundry Agent Service. For registered custom agents, content safety at the gateway is the documented runtime control.
A common question is whether hosted agents can use the model gateway. The documented model-gateway route supports prompt agents only.
The key takeaway is that registration alone gives inventory, not control: only the mechanisms that put the gateway in the traffic path can block, filter or meter what an agent does.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AI Gateway token limits with the other governance controls they are often confused with. Read across the rows: each column is one control, asked the same questions.
The core idea is that it answers the common question: "we have quota and guardrails, so why a gateway?"
First, Foundry quota.
It is the capacity a deployment receives from Azure, in tokens per minute, per subscription and region.
Second, AI Gateway token limits.
They divide that capacity among projects on a shared gateway, returning 429 over the per-minute limit and 403 over the period quota. This is the multi-team containment that quota cannot provide.
Third, API Management policies.
They are broader: any counter key, content safety, caching and routing, and they reach MCP and A2A traffic.
Fourth, Foundry guardrails.
They filter content: harmful categories, prompt attacks, PII and task adherence. They are generally available for models and in preview for agents, and they do not cover agents registered from outside Foundry Agent Service. The guardrail status for agents should be confirmed on the guardrails overview page before presenting.
Fifth, Azure Policy and RBAC.
They decide who may create, configure and call resources. However, they do not inspect individual requests.
A common question is whether content safety should run in both the guardrails and the gateway. For Foundry agents, guardrails are the primary control; the gateway policy adds coverage for traffic that guardrails do not see.
The key takeaway is that the controls stack rather than replace each other: quota sets capacity, gateway limits divide it among consumers, guardrails and content safety filter content, and Azure Policy and RBAC govern who can create and configure resources.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closes on governance at scale. Read the diagram as three numbered steps, then the design constraints and the cases where a gateway is not needed.
The core idea is that each business unit builds in its own spoke, while a central hub applies common policies to all AI traffic. The Foundry Citadel platform on GitHub, an Azure-Samples reference, describes this hub-and-spoke pattern.
First, the spokes.
Each business unit works in its own spoke, a Foundry resource with its projects, and sends AI traffic to the central hub.
Second, the governance hub.
The hub is API Management, with API Center as the registry. It applies common policies and forwards requests to shared models, tools and agents.
Third, the governance layer.
Telemetry and inventory flow up to the Foundry Control Plane, Microsoft Entra for agent identity, and Defender and Purview. It is an opinionated sample, not a product, and its market statistics are deliberately left out of this deck. The Citadel repository and aka.ms/ai-hub-gateway should be confirmed as current before the links are shared.
The design constraints are on the right. AI Gateway in Foundry serves one Foundry resource, so a hub spanning many spokes is standalone API Management. A private Foundry deployment needs Standard v2 or Premium v2. Token counts are kept per gateway.
For one application and one model, or for throttling alone, a gateway adds a hop without benefit.
A common question is where to start. The answer is to enable AI Gateway in Foundry on one resource with token limits, and then move to a standalone hub when a second resource arrives.
The key takeaway is to start small with AI Gateway in Foundry on a single resource, and to move to a standalone API Management hub only when governance has to span several Foundry resources.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241280" cy="658368"/>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Segoe UI"/>
                <a:cs typeface="Segoe UI"/>
              </a:rPr>
              <a:t>AI gateway in Microsoft Foundry</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Governing models, tools, MCP servers and agents at scale with Azure API Management —</a:t>
            </a:r>
          </a:p>
          <a:p>
            <a:pPr algn="l">
              <a:lnSpc>
                <a:spcPct val="132000"/>
              </a:lnSpc>
            </a:pPr>
            <a:r>
              <a:rPr sz="1450" b="0" i="0" dirty="0">
                <a:solidFill>
                  <a:srgbClr val="B9C2D6"/>
                </a:solidFill>
                <a:latin typeface="Segoe UI"/>
                <a:cs typeface="Segoe UI"/>
              </a:rPr>
              <a:t>what the gateway does, how it is built, and how it differs from other controls</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platform teams,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AI Gateway in Foundry (preview)</a:t>
            </a:r>
          </a:p>
          <a:p>
            <a:pPr algn="l">
              <a:lnSpc>
                <a:spcPct val="128000"/>
              </a:lnSpc>
            </a:pPr>
            <a:r>
              <a:rPr sz="950" b="0" i="0" dirty="0">
                <a:solidFill>
                  <a:srgbClr val="B9C2D6"/>
                </a:solidFill>
                <a:latin typeface="Segoe UI"/>
                <a:cs typeface="Segoe UI"/>
              </a:rPr>
              <a:t>API Management AI policies (generally available)</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3 October 2026 — Microsoft Learn,</a:t>
            </a:r>
          </a:p>
          <a:p>
            <a:pPr algn="l">
              <a:lnSpc>
                <a:spcPct val="128000"/>
              </a:lnSpc>
            </a:pPr>
            <a:r>
              <a:rPr sz="950" b="0" i="0" dirty="0">
                <a:solidFill>
                  <a:srgbClr val="B9C2D6"/>
                </a:solidFill>
                <a:latin typeface="Segoe UI"/>
                <a:cs typeface="Segoe UI"/>
              </a:rPr>
              <a:t>Architecture Center, public GitHub samples</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October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AI gateway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single managed entry point between AI consumers and the models, tools and agents they call</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learn.microsoft.com/azure/foundry/configuration/enable-ai-api-management-gateway-portal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2</a:t>
            </a:r>
          </a:p>
        </p:txBody>
      </p:sp>
      <p:sp>
        <p:nvSpPr>
          <p:cNvPr id="7" name="TextBox 6"/>
          <p:cNvSpPr txBox="1"/>
          <p:nvPr/>
        </p:nvSpPr>
        <p:spPr>
          <a:xfrm>
            <a:off x="457200" y="1371600"/>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DIRECT ACCESS — EACH CONSUMER CONNECTS ON ITS OWN</a:t>
            </a:r>
          </a:p>
        </p:txBody>
      </p:sp>
      <p:sp>
        <p:nvSpPr>
          <p:cNvPr id="8" name="Rectangle 7"/>
          <p:cNvSpPr/>
          <p:nvPr/>
        </p:nvSpPr>
        <p:spPr>
          <a:xfrm>
            <a:off x="457200" y="1691640"/>
            <a:ext cx="137160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A</a:t>
            </a:r>
          </a:p>
        </p:txBody>
      </p:sp>
      <p:sp>
        <p:nvSpPr>
          <p:cNvPr id="9" name="Rectangle 8"/>
          <p:cNvSpPr/>
          <p:nvPr/>
        </p:nvSpPr>
        <p:spPr>
          <a:xfrm>
            <a:off x="457200" y="2240280"/>
            <a:ext cx="137160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B</a:t>
            </a:r>
          </a:p>
        </p:txBody>
      </p:sp>
      <p:sp>
        <p:nvSpPr>
          <p:cNvPr id="10" name="Rectangle 9"/>
          <p:cNvSpPr/>
          <p:nvPr/>
        </p:nvSpPr>
        <p:spPr>
          <a:xfrm>
            <a:off x="457200" y="2788920"/>
            <a:ext cx="137160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Agent C</a:t>
            </a:r>
          </a:p>
        </p:txBody>
      </p:sp>
      <p:sp>
        <p:nvSpPr>
          <p:cNvPr id="11" name="Rectangle 10"/>
          <p:cNvSpPr/>
          <p:nvPr/>
        </p:nvSpPr>
        <p:spPr>
          <a:xfrm>
            <a:off x="4206240" y="1691640"/>
            <a:ext cx="1463040"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deployments</a:t>
            </a:r>
          </a:p>
        </p:txBody>
      </p:sp>
      <p:sp>
        <p:nvSpPr>
          <p:cNvPr id="12" name="Rectangle 11"/>
          <p:cNvSpPr/>
          <p:nvPr/>
        </p:nvSpPr>
        <p:spPr>
          <a:xfrm>
            <a:off x="4206240" y="2240280"/>
            <a:ext cx="1463040"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MCP servers</a:t>
            </a:r>
          </a:p>
        </p:txBody>
      </p:sp>
      <p:sp>
        <p:nvSpPr>
          <p:cNvPr id="13" name="Rectangle 12"/>
          <p:cNvSpPr/>
          <p:nvPr/>
        </p:nvSpPr>
        <p:spPr>
          <a:xfrm>
            <a:off x="4206240" y="2788920"/>
            <a:ext cx="1463040"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Agents</a:t>
            </a:r>
          </a:p>
        </p:txBody>
      </p:sp>
      <p:cxnSp>
        <p:nvCxnSpPr>
          <p:cNvPr id="14" name="Connector 13"/>
          <p:cNvCxnSpPr/>
          <p:nvPr/>
        </p:nvCxnSpPr>
        <p:spPr>
          <a:xfrm>
            <a:off x="1828800" y="1897380"/>
            <a:ext cx="2377440" cy="0"/>
          </a:xfrm>
          <a:prstGeom prst="line">
            <a:avLst/>
          </a:prstGeom>
          <a:ln w="11430">
            <a:solidFill>
              <a:srgbClr val="B9C2D6"/>
            </a:solidFill>
          </a:ln>
        </p:spPr>
      </p:cxnSp>
      <p:cxnSp>
        <p:nvCxnSpPr>
          <p:cNvPr id="15" name="Connector 14"/>
          <p:cNvCxnSpPr/>
          <p:nvPr/>
        </p:nvCxnSpPr>
        <p:spPr>
          <a:xfrm>
            <a:off x="1828800" y="1897380"/>
            <a:ext cx="2377440" cy="548640"/>
          </a:xfrm>
          <a:prstGeom prst="line">
            <a:avLst/>
          </a:prstGeom>
          <a:ln w="11430">
            <a:solidFill>
              <a:srgbClr val="B9C2D6"/>
            </a:solidFill>
          </a:ln>
        </p:spPr>
      </p:cxnSp>
      <p:cxnSp>
        <p:nvCxnSpPr>
          <p:cNvPr id="16" name="Connector 15"/>
          <p:cNvCxnSpPr/>
          <p:nvPr/>
        </p:nvCxnSpPr>
        <p:spPr>
          <a:xfrm>
            <a:off x="1828800" y="1897380"/>
            <a:ext cx="2377440" cy="1097280"/>
          </a:xfrm>
          <a:prstGeom prst="line">
            <a:avLst/>
          </a:prstGeom>
          <a:ln w="11430">
            <a:solidFill>
              <a:srgbClr val="B9C2D6"/>
            </a:solidFill>
          </a:ln>
        </p:spPr>
      </p:cxnSp>
      <p:cxnSp>
        <p:nvCxnSpPr>
          <p:cNvPr id="17" name="Connector 16"/>
          <p:cNvCxnSpPr/>
          <p:nvPr/>
        </p:nvCxnSpPr>
        <p:spPr>
          <a:xfrm flipV="1">
            <a:off x="1828800" y="1897380"/>
            <a:ext cx="2377440" cy="548640"/>
          </a:xfrm>
          <a:prstGeom prst="line">
            <a:avLst/>
          </a:prstGeom>
          <a:ln w="11430">
            <a:solidFill>
              <a:srgbClr val="B9C2D6"/>
            </a:solidFill>
          </a:ln>
        </p:spPr>
      </p:cxnSp>
      <p:cxnSp>
        <p:nvCxnSpPr>
          <p:cNvPr id="18" name="Connector 17"/>
          <p:cNvCxnSpPr/>
          <p:nvPr/>
        </p:nvCxnSpPr>
        <p:spPr>
          <a:xfrm>
            <a:off x="1828800" y="2446020"/>
            <a:ext cx="2377440" cy="0"/>
          </a:xfrm>
          <a:prstGeom prst="line">
            <a:avLst/>
          </a:prstGeom>
          <a:ln w="11430">
            <a:solidFill>
              <a:srgbClr val="B9C2D6"/>
            </a:solidFill>
          </a:ln>
        </p:spPr>
      </p:cxnSp>
      <p:cxnSp>
        <p:nvCxnSpPr>
          <p:cNvPr id="19" name="Connector 18"/>
          <p:cNvCxnSpPr/>
          <p:nvPr/>
        </p:nvCxnSpPr>
        <p:spPr>
          <a:xfrm>
            <a:off x="1828800" y="2446020"/>
            <a:ext cx="2377440" cy="548640"/>
          </a:xfrm>
          <a:prstGeom prst="line">
            <a:avLst/>
          </a:prstGeom>
          <a:ln w="11430">
            <a:solidFill>
              <a:srgbClr val="B9C2D6"/>
            </a:solidFill>
          </a:ln>
        </p:spPr>
      </p:cxnSp>
      <p:cxnSp>
        <p:nvCxnSpPr>
          <p:cNvPr id="20" name="Connector 19"/>
          <p:cNvCxnSpPr/>
          <p:nvPr/>
        </p:nvCxnSpPr>
        <p:spPr>
          <a:xfrm flipV="1">
            <a:off x="1828800" y="1897380"/>
            <a:ext cx="2377440" cy="1097280"/>
          </a:xfrm>
          <a:prstGeom prst="line">
            <a:avLst/>
          </a:prstGeom>
          <a:ln w="11430">
            <a:solidFill>
              <a:srgbClr val="B9C2D6"/>
            </a:solidFill>
          </a:ln>
        </p:spPr>
      </p:cxnSp>
      <p:cxnSp>
        <p:nvCxnSpPr>
          <p:cNvPr id="21" name="Connector 20"/>
          <p:cNvCxnSpPr/>
          <p:nvPr/>
        </p:nvCxnSpPr>
        <p:spPr>
          <a:xfrm flipV="1">
            <a:off x="1828800" y="2446020"/>
            <a:ext cx="2377440" cy="548640"/>
          </a:xfrm>
          <a:prstGeom prst="line">
            <a:avLst/>
          </a:prstGeom>
          <a:ln w="11430">
            <a:solidFill>
              <a:srgbClr val="B9C2D6"/>
            </a:solidFill>
          </a:ln>
        </p:spPr>
      </p:cxnSp>
      <p:cxnSp>
        <p:nvCxnSpPr>
          <p:cNvPr id="22" name="Connector 21"/>
          <p:cNvCxnSpPr/>
          <p:nvPr/>
        </p:nvCxnSpPr>
        <p:spPr>
          <a:xfrm>
            <a:off x="1828800" y="2994660"/>
            <a:ext cx="2377440" cy="0"/>
          </a:xfrm>
          <a:prstGeom prst="line">
            <a:avLst/>
          </a:prstGeom>
          <a:ln w="11430">
            <a:solidFill>
              <a:srgbClr val="B9C2D6"/>
            </a:solidFill>
          </a:ln>
        </p:spPr>
      </p:cxnSp>
      <p:sp>
        <p:nvSpPr>
          <p:cNvPr id="23" name="Rectangle 22"/>
          <p:cNvSpPr/>
          <p:nvPr/>
        </p:nvSpPr>
        <p:spPr>
          <a:xfrm>
            <a:off x="457200" y="3429000"/>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24" name="Rectangle 23"/>
          <p:cNvSpPr/>
          <p:nvPr/>
        </p:nvSpPr>
        <p:spPr>
          <a:xfrm>
            <a:off x="457200" y="3429000"/>
            <a:ext cx="2542032" cy="41148"/>
          </a:xfrm>
          <a:prstGeom prst="rect">
            <a:avLst/>
          </a:prstGeom>
          <a:solidFill>
            <a:srgbClr val="44495B"/>
          </a:solidFill>
          <a:ln>
            <a:noFill/>
          </a:ln>
          <a:effectLst/>
        </p:spPr>
        <p:txBody>
          <a:bodyPr wrap="square" rtlCol="0" anchor="ctr"/>
          <a:lstStyle/>
          <a:p>
            <a:endParaRPr/>
          </a:p>
        </p:txBody>
      </p:sp>
      <p:sp>
        <p:nvSpPr>
          <p:cNvPr id="25" name="TextBox 24"/>
          <p:cNvSpPr txBox="1"/>
          <p:nvPr/>
        </p:nvSpPr>
        <p:spPr>
          <a:xfrm>
            <a:off x="603504" y="3547872"/>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per-consumer limits</a:t>
            </a:r>
          </a:p>
        </p:txBody>
      </p:sp>
      <p:sp>
        <p:nvSpPr>
          <p:cNvPr id="26" name="TextBox 25"/>
          <p:cNvSpPr txBox="1"/>
          <p:nvPr/>
        </p:nvSpPr>
        <p:spPr>
          <a:xfrm>
            <a:off x="603504" y="3790187"/>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One team can use up shared model capacity</a:t>
            </a:r>
          </a:p>
        </p:txBody>
      </p:sp>
      <p:sp>
        <p:nvSpPr>
          <p:cNvPr id="27" name="Rectangle 26"/>
          <p:cNvSpPr/>
          <p:nvPr/>
        </p:nvSpPr>
        <p:spPr>
          <a:xfrm>
            <a:off x="3127248" y="3429000"/>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3127248" y="3429000"/>
            <a:ext cx="2542032" cy="41148"/>
          </a:xfrm>
          <a:prstGeom prst="rect">
            <a:avLst/>
          </a:prstGeom>
          <a:solidFill>
            <a:srgbClr val="44495B"/>
          </a:solidFill>
          <a:ln>
            <a:noFill/>
          </a:ln>
          <a:effectLst/>
        </p:spPr>
        <p:txBody>
          <a:bodyPr wrap="square" rtlCol="0" anchor="ctr"/>
          <a:lstStyle/>
          <a:p>
            <a:endParaRPr/>
          </a:p>
        </p:txBody>
      </p:sp>
      <p:sp>
        <p:nvSpPr>
          <p:cNvPr id="29" name="TextBox 28"/>
          <p:cNvSpPr txBox="1"/>
          <p:nvPr/>
        </p:nvSpPr>
        <p:spPr>
          <a:xfrm>
            <a:off x="3273552" y="3547872"/>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usage attribution</a:t>
            </a:r>
          </a:p>
        </p:txBody>
      </p:sp>
      <p:sp>
        <p:nvSpPr>
          <p:cNvPr id="30" name="TextBox 29"/>
          <p:cNvSpPr txBox="1"/>
          <p:nvPr/>
        </p:nvSpPr>
        <p:spPr>
          <a:xfrm>
            <a:off x="3273552" y="3790187"/>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Token cost isn’t traceable to an app or team</a:t>
            </a:r>
          </a:p>
        </p:txBody>
      </p:sp>
      <p:sp>
        <p:nvSpPr>
          <p:cNvPr id="31" name="Rectangle 30"/>
          <p:cNvSpPr/>
          <p:nvPr/>
        </p:nvSpPr>
        <p:spPr>
          <a:xfrm>
            <a:off x="457200" y="4270248"/>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457200" y="4270248"/>
            <a:ext cx="2542032" cy="41148"/>
          </a:xfrm>
          <a:prstGeom prst="rect">
            <a:avLst/>
          </a:prstGeom>
          <a:solidFill>
            <a:srgbClr val="44495B"/>
          </a:solidFill>
          <a:ln>
            <a:noFill/>
          </a:ln>
          <a:effectLst/>
        </p:spPr>
        <p:txBody>
          <a:bodyPr wrap="square" rtlCol="0" anchor="ctr"/>
          <a:lstStyle/>
          <a:p>
            <a:endParaRPr/>
          </a:p>
        </p:txBody>
      </p:sp>
      <p:sp>
        <p:nvSpPr>
          <p:cNvPr id="33" name="TextBox 32"/>
          <p:cNvSpPr txBox="1"/>
          <p:nvPr/>
        </p:nvSpPr>
        <p:spPr>
          <a:xfrm>
            <a:off x="603504" y="4389120"/>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Keys in every client</a:t>
            </a:r>
          </a:p>
        </p:txBody>
      </p:sp>
      <p:sp>
        <p:nvSpPr>
          <p:cNvPr id="34" name="TextBox 33"/>
          <p:cNvSpPr txBox="1"/>
          <p:nvPr/>
        </p:nvSpPr>
        <p:spPr>
          <a:xfrm>
            <a:off x="603504" y="4631436"/>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Each client holds credentials for each backend</a:t>
            </a:r>
          </a:p>
        </p:txBody>
      </p:sp>
      <p:sp>
        <p:nvSpPr>
          <p:cNvPr id="35" name="Rectangle 34"/>
          <p:cNvSpPr/>
          <p:nvPr/>
        </p:nvSpPr>
        <p:spPr>
          <a:xfrm>
            <a:off x="3127248" y="4270248"/>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3127248" y="4270248"/>
            <a:ext cx="2542032" cy="41148"/>
          </a:xfrm>
          <a:prstGeom prst="rect">
            <a:avLst/>
          </a:prstGeom>
          <a:solidFill>
            <a:srgbClr val="44495B"/>
          </a:solidFill>
          <a:ln>
            <a:noFill/>
          </a:ln>
          <a:effectLst/>
        </p:spPr>
        <p:txBody>
          <a:bodyPr wrap="square" rtlCol="0" anchor="ctr"/>
          <a:lstStyle/>
          <a:p>
            <a:endParaRPr/>
          </a:p>
        </p:txBody>
      </p:sp>
      <p:sp>
        <p:nvSpPr>
          <p:cNvPr id="37" name="TextBox 36"/>
          <p:cNvSpPr txBox="1"/>
          <p:nvPr/>
        </p:nvSpPr>
        <p:spPr>
          <a:xfrm>
            <a:off x="3273552" y="4389120"/>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single inventory</a:t>
            </a:r>
          </a:p>
        </p:txBody>
      </p:sp>
      <p:sp>
        <p:nvSpPr>
          <p:cNvPr id="38" name="TextBox 37"/>
          <p:cNvSpPr txBox="1"/>
          <p:nvPr/>
        </p:nvSpPr>
        <p:spPr>
          <a:xfrm>
            <a:off x="3273552" y="4631436"/>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Tools and agents spread without a register</a:t>
            </a:r>
          </a:p>
        </p:txBody>
      </p:sp>
      <p:cxnSp>
        <p:nvCxnSpPr>
          <p:cNvPr id="39" name="Connector 38"/>
          <p:cNvCxnSpPr/>
          <p:nvPr/>
        </p:nvCxnSpPr>
        <p:spPr>
          <a:xfrm>
            <a:off x="6053328" y="1417320"/>
            <a:ext cx="0" cy="3566160"/>
          </a:xfrm>
          <a:prstGeom prst="line">
            <a:avLst/>
          </a:prstGeom>
          <a:ln w="9525">
            <a:solidFill>
              <a:srgbClr val="E1E7F4"/>
            </a:solidFill>
          </a:ln>
        </p:spPr>
      </p:cxnSp>
      <p:sp>
        <p:nvSpPr>
          <p:cNvPr id="40" name="TextBox 39"/>
          <p:cNvSpPr txBox="1"/>
          <p:nvPr/>
        </p:nvSpPr>
        <p:spPr>
          <a:xfrm>
            <a:off x="6355080" y="1371600"/>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WITH AN AI GATEWAY — ONE GOVERNED ENTRY POINT</a:t>
            </a:r>
          </a:p>
        </p:txBody>
      </p:sp>
      <p:sp>
        <p:nvSpPr>
          <p:cNvPr id="41" name="Rectangle 40"/>
          <p:cNvSpPr/>
          <p:nvPr/>
        </p:nvSpPr>
        <p:spPr>
          <a:xfrm>
            <a:off x="6355080" y="1691640"/>
            <a:ext cx="132588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A</a:t>
            </a:r>
          </a:p>
        </p:txBody>
      </p:sp>
      <p:cxnSp>
        <p:nvCxnSpPr>
          <p:cNvPr id="42" name="Connector 41"/>
          <p:cNvCxnSpPr/>
          <p:nvPr/>
        </p:nvCxnSpPr>
        <p:spPr>
          <a:xfrm>
            <a:off x="7680960" y="1897380"/>
            <a:ext cx="365760" cy="0"/>
          </a:xfrm>
          <a:prstGeom prst="line">
            <a:avLst/>
          </a:prstGeom>
          <a:ln w="13970">
            <a:solidFill>
              <a:srgbClr val="44495B"/>
            </a:solidFill>
            <a:tailEnd type="triangle" w="med" len="med"/>
          </a:ln>
        </p:spPr>
      </p:cxnSp>
      <p:sp>
        <p:nvSpPr>
          <p:cNvPr id="43" name="Rectangle 42"/>
          <p:cNvSpPr/>
          <p:nvPr/>
        </p:nvSpPr>
        <p:spPr>
          <a:xfrm>
            <a:off x="6355080" y="2240280"/>
            <a:ext cx="132588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B</a:t>
            </a:r>
          </a:p>
        </p:txBody>
      </p:sp>
      <p:cxnSp>
        <p:nvCxnSpPr>
          <p:cNvPr id="44" name="Connector 43"/>
          <p:cNvCxnSpPr/>
          <p:nvPr/>
        </p:nvCxnSpPr>
        <p:spPr>
          <a:xfrm>
            <a:off x="7680960" y="2446020"/>
            <a:ext cx="365760" cy="0"/>
          </a:xfrm>
          <a:prstGeom prst="line">
            <a:avLst/>
          </a:prstGeom>
          <a:ln w="13970">
            <a:solidFill>
              <a:srgbClr val="44495B"/>
            </a:solidFill>
            <a:tailEnd type="triangle" w="med" len="med"/>
          </a:ln>
        </p:spPr>
      </p:cxnSp>
      <p:sp>
        <p:nvSpPr>
          <p:cNvPr id="45" name="Rectangle 44"/>
          <p:cNvSpPr/>
          <p:nvPr/>
        </p:nvSpPr>
        <p:spPr>
          <a:xfrm>
            <a:off x="6355080" y="2788920"/>
            <a:ext cx="132588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Agent C</a:t>
            </a:r>
          </a:p>
        </p:txBody>
      </p:sp>
      <p:cxnSp>
        <p:nvCxnSpPr>
          <p:cNvPr id="46" name="Connector 45"/>
          <p:cNvCxnSpPr/>
          <p:nvPr/>
        </p:nvCxnSpPr>
        <p:spPr>
          <a:xfrm>
            <a:off x="7680960" y="2994660"/>
            <a:ext cx="365760" cy="0"/>
          </a:xfrm>
          <a:prstGeom prst="line">
            <a:avLst/>
          </a:prstGeom>
          <a:ln w="13970">
            <a:solidFill>
              <a:srgbClr val="44495B"/>
            </a:solidFill>
            <a:tailEnd type="triangle" w="med" len="med"/>
          </a:ln>
        </p:spPr>
      </p:cxnSp>
      <p:sp>
        <p:nvSpPr>
          <p:cNvPr id="47" name="Rectangle 46"/>
          <p:cNvSpPr/>
          <p:nvPr/>
        </p:nvSpPr>
        <p:spPr>
          <a:xfrm>
            <a:off x="8046720" y="1691640"/>
            <a:ext cx="1371600" cy="1508760"/>
          </a:xfrm>
          <a:prstGeom prst="rect">
            <a:avLst/>
          </a:prstGeom>
          <a:solidFill>
            <a:srgbClr val="101A3C"/>
          </a:solidFill>
          <a:ln>
            <a:noFill/>
          </a:ln>
          <a:effectLst/>
        </p:spPr>
        <p:txBody>
          <a:bodyPr wrap="square" lIns="54864" tIns="18288" rIns="54864" bIns="18288" rtlCol="0" anchor="ctr"/>
          <a:lstStyle/>
          <a:p>
            <a:pPr algn="ctr">
              <a:lnSpc>
                <a:spcPct val="115000"/>
              </a:lnSpc>
            </a:pPr>
            <a:r>
              <a:rPr sz="950" b="1" i="0" dirty="0">
                <a:solidFill>
                  <a:srgbClr val="FFFFFF"/>
                </a:solidFill>
                <a:latin typeface="Segoe UI"/>
                <a:cs typeface="Segoe UI"/>
              </a:rPr>
              <a:t>AI gateway</a:t>
            </a:r>
          </a:p>
          <a:p>
            <a:pPr algn="ctr">
              <a:lnSpc>
                <a:spcPct val="115000"/>
              </a:lnSpc>
            </a:pPr>
            <a:r>
              <a:rPr sz="750" b="0" i="0" dirty="0">
                <a:solidFill>
                  <a:srgbClr val="B9C2D6"/>
                </a:solidFill>
                <a:latin typeface="Segoe UI"/>
                <a:cs typeface="Segoe UI"/>
              </a:rPr>
              <a:t>Azure API</a:t>
            </a:r>
          </a:p>
          <a:p>
            <a:pPr algn="ctr">
              <a:lnSpc>
                <a:spcPct val="115000"/>
              </a:lnSpc>
            </a:pPr>
            <a:r>
              <a:rPr sz="750" b="0" i="0" dirty="0">
                <a:solidFill>
                  <a:srgbClr val="B9C2D6"/>
                </a:solidFill>
                <a:latin typeface="Segoe UI"/>
                <a:cs typeface="Segoe UI"/>
              </a:rPr>
              <a:t>Management</a:t>
            </a:r>
          </a:p>
        </p:txBody>
      </p:sp>
      <p:cxnSp>
        <p:nvCxnSpPr>
          <p:cNvPr id="48" name="Connector 47"/>
          <p:cNvCxnSpPr/>
          <p:nvPr/>
        </p:nvCxnSpPr>
        <p:spPr>
          <a:xfrm>
            <a:off x="9418320" y="1897380"/>
            <a:ext cx="365760" cy="0"/>
          </a:xfrm>
          <a:prstGeom prst="line">
            <a:avLst/>
          </a:prstGeom>
          <a:ln w="13970">
            <a:solidFill>
              <a:srgbClr val="44495B"/>
            </a:solidFill>
            <a:tailEnd type="triangle" w="med" len="med"/>
          </a:ln>
        </p:spPr>
      </p:cxnSp>
      <p:sp>
        <p:nvSpPr>
          <p:cNvPr id="49" name="Rectangle 48"/>
          <p:cNvSpPr/>
          <p:nvPr/>
        </p:nvSpPr>
        <p:spPr>
          <a:xfrm>
            <a:off x="9784080" y="1691640"/>
            <a:ext cx="1947672"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deployments</a:t>
            </a:r>
          </a:p>
        </p:txBody>
      </p:sp>
      <p:cxnSp>
        <p:nvCxnSpPr>
          <p:cNvPr id="50" name="Connector 49"/>
          <p:cNvCxnSpPr/>
          <p:nvPr/>
        </p:nvCxnSpPr>
        <p:spPr>
          <a:xfrm>
            <a:off x="9418320" y="2446020"/>
            <a:ext cx="365760" cy="0"/>
          </a:xfrm>
          <a:prstGeom prst="line">
            <a:avLst/>
          </a:prstGeom>
          <a:ln w="13970">
            <a:solidFill>
              <a:srgbClr val="44495B"/>
            </a:solidFill>
            <a:tailEnd type="triangle" w="med" len="med"/>
          </a:ln>
        </p:spPr>
      </p:cxnSp>
      <p:sp>
        <p:nvSpPr>
          <p:cNvPr id="51" name="Rectangle 50"/>
          <p:cNvSpPr/>
          <p:nvPr/>
        </p:nvSpPr>
        <p:spPr>
          <a:xfrm>
            <a:off x="9784080" y="2240280"/>
            <a:ext cx="1947672"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MCP servers</a:t>
            </a:r>
          </a:p>
        </p:txBody>
      </p:sp>
      <p:cxnSp>
        <p:nvCxnSpPr>
          <p:cNvPr id="52" name="Connector 51"/>
          <p:cNvCxnSpPr/>
          <p:nvPr/>
        </p:nvCxnSpPr>
        <p:spPr>
          <a:xfrm>
            <a:off x="9418320" y="2994660"/>
            <a:ext cx="365760" cy="0"/>
          </a:xfrm>
          <a:prstGeom prst="line">
            <a:avLst/>
          </a:prstGeom>
          <a:ln w="13970">
            <a:solidFill>
              <a:srgbClr val="44495B"/>
            </a:solidFill>
            <a:tailEnd type="triangle" w="med" len="med"/>
          </a:ln>
        </p:spPr>
      </p:cxnSp>
      <p:sp>
        <p:nvSpPr>
          <p:cNvPr id="53" name="Rectangle 52"/>
          <p:cNvSpPr/>
          <p:nvPr/>
        </p:nvSpPr>
        <p:spPr>
          <a:xfrm>
            <a:off x="9784080" y="2788920"/>
            <a:ext cx="1947672"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Agents</a:t>
            </a:r>
          </a:p>
        </p:txBody>
      </p:sp>
      <p:sp>
        <p:nvSpPr>
          <p:cNvPr id="54" name="Rectangle 53"/>
          <p:cNvSpPr/>
          <p:nvPr/>
        </p:nvSpPr>
        <p:spPr>
          <a:xfrm>
            <a:off x="6355080" y="3429000"/>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55" name="Rectangle 54"/>
          <p:cNvSpPr/>
          <p:nvPr/>
        </p:nvSpPr>
        <p:spPr>
          <a:xfrm>
            <a:off x="6355080" y="3429000"/>
            <a:ext cx="2625699" cy="41148"/>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6501384" y="3547872"/>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Token limits per consumer</a:t>
            </a:r>
          </a:p>
        </p:txBody>
      </p:sp>
      <p:sp>
        <p:nvSpPr>
          <p:cNvPr id="57" name="TextBox 56"/>
          <p:cNvSpPr txBox="1"/>
          <p:nvPr/>
        </p:nvSpPr>
        <p:spPr>
          <a:xfrm>
            <a:off x="6501384" y="3790187"/>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TPM limits and quotas per project or key</a:t>
            </a:r>
          </a:p>
        </p:txBody>
      </p:sp>
      <p:sp>
        <p:nvSpPr>
          <p:cNvPr id="58" name="Rectangle 57"/>
          <p:cNvSpPr/>
          <p:nvPr/>
        </p:nvSpPr>
        <p:spPr>
          <a:xfrm>
            <a:off x="9108795" y="3429000"/>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59" name="Rectangle 58"/>
          <p:cNvSpPr/>
          <p:nvPr/>
        </p:nvSpPr>
        <p:spPr>
          <a:xfrm>
            <a:off x="9108795" y="3429000"/>
            <a:ext cx="2625699" cy="41148"/>
          </a:xfrm>
          <a:prstGeom prst="rect">
            <a:avLst/>
          </a:prstGeom>
          <a:solidFill>
            <a:srgbClr val="00B39F"/>
          </a:solidFill>
          <a:ln>
            <a:noFill/>
          </a:ln>
          <a:effectLst/>
        </p:spPr>
        <p:txBody>
          <a:bodyPr wrap="square" rtlCol="0" anchor="ctr"/>
          <a:lstStyle/>
          <a:p>
            <a:endParaRPr/>
          </a:p>
        </p:txBody>
      </p:sp>
      <p:sp>
        <p:nvSpPr>
          <p:cNvPr id="60" name="TextBox 59"/>
          <p:cNvSpPr txBox="1"/>
          <p:nvPr/>
        </p:nvSpPr>
        <p:spPr>
          <a:xfrm>
            <a:off x="9255099" y="3547872"/>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Usage metrics</a:t>
            </a:r>
          </a:p>
        </p:txBody>
      </p:sp>
      <p:sp>
        <p:nvSpPr>
          <p:cNvPr id="61" name="TextBox 60"/>
          <p:cNvSpPr txBox="1"/>
          <p:nvPr/>
        </p:nvSpPr>
        <p:spPr>
          <a:xfrm>
            <a:off x="9255099" y="3790187"/>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Token counts with custom dimensions</a:t>
            </a:r>
          </a:p>
        </p:txBody>
      </p:sp>
      <p:sp>
        <p:nvSpPr>
          <p:cNvPr id="62" name="Rectangle 61"/>
          <p:cNvSpPr/>
          <p:nvPr/>
        </p:nvSpPr>
        <p:spPr>
          <a:xfrm>
            <a:off x="6355080" y="4270248"/>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63" name="Rectangle 62"/>
          <p:cNvSpPr/>
          <p:nvPr/>
        </p:nvSpPr>
        <p:spPr>
          <a:xfrm>
            <a:off x="6355080" y="4270248"/>
            <a:ext cx="2625699" cy="41148"/>
          </a:xfrm>
          <a:prstGeom prst="rect">
            <a:avLst/>
          </a:prstGeom>
          <a:solidFill>
            <a:srgbClr val="00B39F"/>
          </a:solidFill>
          <a:ln>
            <a:noFill/>
          </a:ln>
          <a:effectLst/>
        </p:spPr>
        <p:txBody>
          <a:bodyPr wrap="square" rtlCol="0" anchor="ctr"/>
          <a:lstStyle/>
          <a:p>
            <a:endParaRPr/>
          </a:p>
        </p:txBody>
      </p:sp>
      <p:sp>
        <p:nvSpPr>
          <p:cNvPr id="64" name="TextBox 63"/>
          <p:cNvSpPr txBox="1"/>
          <p:nvPr/>
        </p:nvSpPr>
        <p:spPr>
          <a:xfrm>
            <a:off x="6501384" y="4389120"/>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Managed identity</a:t>
            </a:r>
          </a:p>
        </p:txBody>
      </p:sp>
      <p:sp>
        <p:nvSpPr>
          <p:cNvPr id="65" name="TextBox 64"/>
          <p:cNvSpPr txBox="1"/>
          <p:nvPr/>
        </p:nvSpPr>
        <p:spPr>
          <a:xfrm>
            <a:off x="6501384" y="4631436"/>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Gateway signs in to backends; no keys in clients</a:t>
            </a:r>
          </a:p>
        </p:txBody>
      </p:sp>
      <p:sp>
        <p:nvSpPr>
          <p:cNvPr id="66" name="Rectangle 65"/>
          <p:cNvSpPr/>
          <p:nvPr/>
        </p:nvSpPr>
        <p:spPr>
          <a:xfrm>
            <a:off x="9108795" y="4270248"/>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67" name="Rectangle 66"/>
          <p:cNvSpPr/>
          <p:nvPr/>
        </p:nvSpPr>
        <p:spPr>
          <a:xfrm>
            <a:off x="9108795" y="4270248"/>
            <a:ext cx="2625699" cy="41148"/>
          </a:xfrm>
          <a:prstGeom prst="rect">
            <a:avLst/>
          </a:prstGeom>
          <a:solidFill>
            <a:srgbClr val="00B39F"/>
          </a:solidFill>
          <a:ln>
            <a:noFill/>
          </a:ln>
          <a:effectLst/>
        </p:spPr>
        <p:txBody>
          <a:bodyPr wrap="square" rtlCol="0" anchor="ctr"/>
          <a:lstStyle/>
          <a:p>
            <a:endParaRPr/>
          </a:p>
        </p:txBody>
      </p:sp>
      <p:sp>
        <p:nvSpPr>
          <p:cNvPr id="68" name="TextBox 67"/>
          <p:cNvSpPr txBox="1"/>
          <p:nvPr/>
        </p:nvSpPr>
        <p:spPr>
          <a:xfrm>
            <a:off x="9255099" y="4389120"/>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Registry and policies</a:t>
            </a:r>
          </a:p>
        </p:txBody>
      </p:sp>
      <p:sp>
        <p:nvSpPr>
          <p:cNvPr id="69" name="TextBox 68"/>
          <p:cNvSpPr txBox="1"/>
          <p:nvPr/>
        </p:nvSpPr>
        <p:spPr>
          <a:xfrm>
            <a:off x="9255099" y="4631436"/>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MCP servers and agents registered and governed</a:t>
            </a:r>
          </a:p>
        </p:txBody>
      </p:sp>
      <p:sp>
        <p:nvSpPr>
          <p:cNvPr id="70" name="Rectangle 69"/>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71" name="TextBox 70"/>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AI gateway</a:t>
            </a:r>
          </a:p>
        </p:txBody>
      </p:sp>
      <p:sp>
        <p:nvSpPr>
          <p:cNvPr id="72" name="Rectangle 71"/>
          <p:cNvSpPr/>
          <p:nvPr/>
        </p:nvSpPr>
        <p:spPr>
          <a:xfrm>
            <a:off x="1353312"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73" name="TextBox 72"/>
          <p:cNvSpPr txBox="1"/>
          <p:nvPr/>
        </p:nvSpPr>
        <p:spPr>
          <a:xfrm>
            <a:off x="157276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Backend</a:t>
            </a:r>
          </a:p>
        </p:txBody>
      </p:sp>
      <p:sp>
        <p:nvSpPr>
          <p:cNvPr id="74" name="Rectangle 73"/>
          <p:cNvSpPr/>
          <p:nvPr/>
        </p:nvSpPr>
        <p:spPr>
          <a:xfrm>
            <a:off x="2084832" y="5545836"/>
            <a:ext cx="146304" cy="91440"/>
          </a:xfrm>
          <a:prstGeom prst="rect">
            <a:avLst/>
          </a:prstGeom>
          <a:solidFill>
            <a:srgbClr val="EBEFF7"/>
          </a:solidFill>
          <a:ln>
            <a:noFill/>
          </a:ln>
          <a:effectLst/>
        </p:spPr>
        <p:txBody>
          <a:bodyPr wrap="square" rtlCol="0" anchor="ctr"/>
          <a:lstStyle/>
          <a:p>
            <a:endParaRPr/>
          </a:p>
        </p:txBody>
      </p:sp>
      <p:sp>
        <p:nvSpPr>
          <p:cNvPr id="75" name="TextBox 74"/>
          <p:cNvSpPr txBox="1"/>
          <p:nvPr/>
        </p:nvSpPr>
        <p:spPr>
          <a:xfrm>
            <a:off x="230428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Consumer</a:t>
            </a:r>
          </a:p>
        </p:txBody>
      </p:sp>
      <p:cxnSp>
        <p:nvCxnSpPr>
          <p:cNvPr id="76" name="Connector 75"/>
          <p:cNvCxnSpPr/>
          <p:nvPr/>
        </p:nvCxnSpPr>
        <p:spPr>
          <a:xfrm>
            <a:off x="2871216" y="5591556"/>
            <a:ext cx="164592" cy="0"/>
          </a:xfrm>
          <a:prstGeom prst="line">
            <a:avLst/>
          </a:prstGeom>
          <a:ln w="13970">
            <a:solidFill>
              <a:srgbClr val="44495B"/>
            </a:solidFill>
          </a:ln>
        </p:spPr>
      </p:cxnSp>
      <p:sp>
        <p:nvSpPr>
          <p:cNvPr id="77" name="TextBox 76"/>
          <p:cNvSpPr txBox="1"/>
          <p:nvPr/>
        </p:nvSpPr>
        <p:spPr>
          <a:xfrm>
            <a:off x="309067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 path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AI gateway options in Azure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offerings share the name; they differ in where policies are configured and in what they govern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learn.microsoft.com/azure/api-management/genai-gateway-capabilities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3</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395941"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164037" y="1431036"/>
            <a:ext cx="286198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in Foundry*</a:t>
            </a:r>
          </a:p>
        </p:txBody>
      </p:sp>
      <p:sp>
        <p:nvSpPr>
          <p:cNvPr id="10" name="TextBox 9"/>
          <p:cNvSpPr txBox="1"/>
          <p:nvPr/>
        </p:nvSpPr>
        <p:spPr>
          <a:xfrm>
            <a:off x="5208907" y="1431036"/>
            <a:ext cx="342585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capabilities in API Management</a:t>
            </a:r>
          </a:p>
        </p:txBody>
      </p:sp>
      <p:sp>
        <p:nvSpPr>
          <p:cNvPr id="11" name="TextBox 10"/>
          <p:cNvSpPr txBox="1"/>
          <p:nvPr/>
        </p:nvSpPr>
        <p:spPr>
          <a:xfrm>
            <a:off x="8817641" y="1431036"/>
            <a:ext cx="286198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tier in API Management*</a:t>
            </a:r>
          </a:p>
        </p:txBody>
      </p:sp>
      <p:sp>
        <p:nvSpPr>
          <p:cNvPr id="12" name="Rectangle 11"/>
          <p:cNvSpPr/>
          <p:nvPr/>
        </p:nvSpPr>
        <p:spPr>
          <a:xfrm>
            <a:off x="457200" y="1664208"/>
            <a:ext cx="11277295" cy="448056"/>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112264"/>
            <a:ext cx="11277295" cy="0"/>
          </a:xfrm>
          <a:prstGeom prst="line">
            <a:avLst/>
          </a:prstGeom>
          <a:ln w="9525">
            <a:solidFill>
              <a:srgbClr val="E1E7F4"/>
            </a:solidFill>
          </a:ln>
        </p:spPr>
      </p:cxnSp>
      <p:sp>
        <p:nvSpPr>
          <p:cNvPr id="14" name="TextBox 13"/>
          <p:cNvSpPr txBox="1"/>
          <p:nvPr/>
        </p:nvSpPr>
        <p:spPr>
          <a:xfrm>
            <a:off x="585216" y="1714500"/>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What it is</a:t>
            </a:r>
          </a:p>
        </p:txBody>
      </p:sp>
      <p:sp>
        <p:nvSpPr>
          <p:cNvPr id="15" name="TextBox 14"/>
          <p:cNvSpPr txBox="1"/>
          <p:nvPr/>
        </p:nvSpPr>
        <p:spPr>
          <a:xfrm>
            <a:off x="2164037" y="171450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connected to one Foundry resource, managed from the Foundry portal</a:t>
            </a:r>
          </a:p>
        </p:txBody>
      </p:sp>
      <p:sp>
        <p:nvSpPr>
          <p:cNvPr id="16" name="TextBox 15"/>
          <p:cNvSpPr txBox="1"/>
          <p:nvPr/>
        </p:nvSpPr>
        <p:spPr>
          <a:xfrm>
            <a:off x="5208907" y="1714500"/>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Built-in AI policies available in API Management instances</a:t>
            </a:r>
          </a:p>
        </p:txBody>
      </p:sp>
      <p:sp>
        <p:nvSpPr>
          <p:cNvPr id="17" name="TextBox 16"/>
          <p:cNvSpPr txBox="1"/>
          <p:nvPr/>
        </p:nvSpPr>
        <p:spPr>
          <a:xfrm>
            <a:off x="8817641" y="171450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separate API Management tier dedicated to AI traffic</a:t>
            </a:r>
          </a:p>
        </p:txBody>
      </p:sp>
      <p:cxnSp>
        <p:nvCxnSpPr>
          <p:cNvPr id="18" name="Connector 17"/>
          <p:cNvCxnSpPr/>
          <p:nvPr/>
        </p:nvCxnSpPr>
        <p:spPr>
          <a:xfrm>
            <a:off x="457200" y="2560320"/>
            <a:ext cx="11277295" cy="0"/>
          </a:xfrm>
          <a:prstGeom prst="line">
            <a:avLst/>
          </a:prstGeom>
          <a:ln w="9525">
            <a:solidFill>
              <a:srgbClr val="E1E7F4"/>
            </a:solidFill>
          </a:ln>
        </p:spPr>
      </p:cxnSp>
      <p:sp>
        <p:nvSpPr>
          <p:cNvPr id="19" name="TextBox 18"/>
          <p:cNvSpPr txBox="1"/>
          <p:nvPr/>
        </p:nvSpPr>
        <p:spPr>
          <a:xfrm>
            <a:off x="585216" y="2162556"/>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Configured in</a:t>
            </a:r>
          </a:p>
        </p:txBody>
      </p:sp>
      <p:sp>
        <p:nvSpPr>
          <p:cNvPr id="20" name="TextBox 19"/>
          <p:cNvSpPr txBox="1"/>
          <p:nvPr/>
        </p:nvSpPr>
        <p:spPr>
          <a:xfrm>
            <a:off x="2164037" y="216255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Manage &gt; AI Gateway</a:t>
            </a:r>
          </a:p>
        </p:txBody>
      </p:sp>
      <p:sp>
        <p:nvSpPr>
          <p:cNvPr id="21" name="TextBox 20"/>
          <p:cNvSpPr txBox="1"/>
          <p:nvPr/>
        </p:nvSpPr>
        <p:spPr>
          <a:xfrm>
            <a:off x="5208907" y="2162556"/>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portal; policies written in XML</a:t>
            </a:r>
          </a:p>
        </p:txBody>
      </p:sp>
      <p:sp>
        <p:nvSpPr>
          <p:cNvPr id="22" name="TextBox 21"/>
          <p:cNvSpPr txBox="1"/>
          <p:nvPr/>
        </p:nvSpPr>
        <p:spPr>
          <a:xfrm>
            <a:off x="8817641" y="216255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Its own portal; policies set as cards, no XML</a:t>
            </a:r>
          </a:p>
        </p:txBody>
      </p:sp>
      <p:sp>
        <p:nvSpPr>
          <p:cNvPr id="23" name="Rectangle 22"/>
          <p:cNvSpPr/>
          <p:nvPr/>
        </p:nvSpPr>
        <p:spPr>
          <a:xfrm>
            <a:off x="457200" y="2560320"/>
            <a:ext cx="11277295" cy="448056"/>
          </a:xfrm>
          <a:prstGeom prst="rect">
            <a:avLst/>
          </a:prstGeom>
          <a:solidFill>
            <a:srgbClr val="F6F8FD"/>
          </a:solidFill>
          <a:ln>
            <a:noFill/>
          </a:ln>
          <a:effectLst/>
        </p:spPr>
        <p:txBody>
          <a:bodyPr wrap="square" rtlCol="0" anchor="ctr"/>
          <a:lstStyle/>
          <a:p>
            <a:endParaRPr/>
          </a:p>
        </p:txBody>
      </p:sp>
      <p:cxnSp>
        <p:nvCxnSpPr>
          <p:cNvPr id="24" name="Connector 23"/>
          <p:cNvCxnSpPr/>
          <p:nvPr/>
        </p:nvCxnSpPr>
        <p:spPr>
          <a:xfrm>
            <a:off x="457200" y="3008376"/>
            <a:ext cx="11277295" cy="0"/>
          </a:xfrm>
          <a:prstGeom prst="line">
            <a:avLst/>
          </a:prstGeom>
          <a:ln w="9525">
            <a:solidFill>
              <a:srgbClr val="E1E7F4"/>
            </a:solidFill>
          </a:ln>
        </p:spPr>
      </p:cxnSp>
      <p:sp>
        <p:nvSpPr>
          <p:cNvPr id="25" name="TextBox 24"/>
          <p:cNvSpPr txBox="1"/>
          <p:nvPr/>
        </p:nvSpPr>
        <p:spPr>
          <a:xfrm>
            <a:off x="585216" y="2610612"/>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Scope</a:t>
            </a:r>
          </a:p>
        </p:txBody>
      </p:sp>
      <p:sp>
        <p:nvSpPr>
          <p:cNvPr id="26" name="TextBox 25"/>
          <p:cNvSpPr txBox="1"/>
          <p:nvPr/>
        </p:nvSpPr>
        <p:spPr>
          <a:xfrm>
            <a:off x="2164037" y="2610612"/>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One Foundry resource; all its projects share one gateway</a:t>
            </a:r>
          </a:p>
        </p:txBody>
      </p:sp>
      <p:sp>
        <p:nvSpPr>
          <p:cNvPr id="27" name="TextBox 26"/>
          <p:cNvSpPr txBox="1"/>
          <p:nvPr/>
        </p:nvSpPr>
        <p:spPr>
          <a:xfrm>
            <a:off x="5208907" y="2610612"/>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API and any backend, across resources and clouds</a:t>
            </a:r>
          </a:p>
        </p:txBody>
      </p:sp>
      <p:sp>
        <p:nvSpPr>
          <p:cNvPr id="28" name="TextBox 27"/>
          <p:cNvSpPr txBox="1"/>
          <p:nvPr/>
        </p:nvSpPr>
        <p:spPr>
          <a:xfrm>
            <a:off x="8817641" y="2610612"/>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Models and MCP tool servers behind one endpoint</a:t>
            </a:r>
          </a:p>
        </p:txBody>
      </p:sp>
      <p:cxnSp>
        <p:nvCxnSpPr>
          <p:cNvPr id="29" name="Connector 28"/>
          <p:cNvCxnSpPr/>
          <p:nvPr/>
        </p:nvCxnSpPr>
        <p:spPr>
          <a:xfrm>
            <a:off x="457200" y="3456432"/>
            <a:ext cx="11277295" cy="0"/>
          </a:xfrm>
          <a:prstGeom prst="line">
            <a:avLst/>
          </a:prstGeom>
          <a:ln w="9525">
            <a:solidFill>
              <a:srgbClr val="E1E7F4"/>
            </a:solidFill>
          </a:ln>
        </p:spPr>
      </p:cxnSp>
      <p:sp>
        <p:nvSpPr>
          <p:cNvPr id="30" name="TextBox 29"/>
          <p:cNvSpPr txBox="1"/>
          <p:nvPr/>
        </p:nvSpPr>
        <p:spPr>
          <a:xfrm>
            <a:off x="585216" y="3058668"/>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 governance</a:t>
            </a:r>
          </a:p>
        </p:txBody>
      </p:sp>
      <p:sp>
        <p:nvSpPr>
          <p:cNvPr id="31" name="TextBox 30"/>
          <p:cNvSpPr txBox="1"/>
          <p:nvPr/>
        </p:nvSpPr>
        <p:spPr>
          <a:xfrm>
            <a:off x="2164037" y="3058668"/>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TPM limits and token quotas per project and deployment</a:t>
            </a:r>
          </a:p>
        </p:txBody>
      </p:sp>
      <p:sp>
        <p:nvSpPr>
          <p:cNvPr id="32" name="TextBox 31"/>
          <p:cNvSpPr txBox="1"/>
          <p:nvPr/>
        </p:nvSpPr>
        <p:spPr>
          <a:xfrm>
            <a:off x="5208907" y="3058668"/>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 limits, token metrics, semantic caching, content safety, load balancing</a:t>
            </a:r>
          </a:p>
        </p:txBody>
      </p:sp>
      <p:sp>
        <p:nvSpPr>
          <p:cNvPr id="33" name="TextBox 32"/>
          <p:cNvSpPr txBox="1"/>
          <p:nvPr/>
        </p:nvSpPr>
        <p:spPr>
          <a:xfrm>
            <a:off x="8817641" y="3058668"/>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 and request rate limits, content safety, IP filtering</a:t>
            </a:r>
          </a:p>
        </p:txBody>
      </p:sp>
      <p:sp>
        <p:nvSpPr>
          <p:cNvPr id="34" name="Rectangle 33"/>
          <p:cNvSpPr/>
          <p:nvPr/>
        </p:nvSpPr>
        <p:spPr>
          <a:xfrm>
            <a:off x="457200" y="3456432"/>
            <a:ext cx="11277295" cy="448056"/>
          </a:xfrm>
          <a:prstGeom prst="rect">
            <a:avLst/>
          </a:prstGeom>
          <a:solidFill>
            <a:srgbClr val="F6F8FD"/>
          </a:solidFill>
          <a:ln>
            <a:noFill/>
          </a:ln>
          <a:effectLst/>
        </p:spPr>
        <p:txBody>
          <a:bodyPr wrap="square" rtlCol="0" anchor="ctr"/>
          <a:lstStyle/>
          <a:p>
            <a:endParaRPr/>
          </a:p>
        </p:txBody>
      </p:sp>
      <p:cxnSp>
        <p:nvCxnSpPr>
          <p:cNvPr id="35" name="Connector 34"/>
          <p:cNvCxnSpPr/>
          <p:nvPr/>
        </p:nvCxnSpPr>
        <p:spPr>
          <a:xfrm>
            <a:off x="457200" y="3904488"/>
            <a:ext cx="11277295" cy="0"/>
          </a:xfrm>
          <a:prstGeom prst="line">
            <a:avLst/>
          </a:prstGeom>
          <a:ln w="9525">
            <a:solidFill>
              <a:srgbClr val="E1E7F4"/>
            </a:solidFill>
          </a:ln>
        </p:spPr>
      </p:cxnSp>
      <p:sp>
        <p:nvSpPr>
          <p:cNvPr id="36" name="TextBox 35"/>
          <p:cNvSpPr txBox="1"/>
          <p:nvPr/>
        </p:nvSpPr>
        <p:spPr>
          <a:xfrm>
            <a:off x="585216" y="3506724"/>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Tools and agents</a:t>
            </a:r>
          </a:p>
        </p:txBody>
      </p:sp>
      <p:sp>
        <p:nvSpPr>
          <p:cNvPr id="37" name="TextBox 36"/>
          <p:cNvSpPr txBox="1"/>
          <p:nvPr/>
        </p:nvSpPr>
        <p:spPr>
          <a:xfrm>
            <a:off x="2164037" y="3506724"/>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Governs new MCP tools*; registers custom agents*</a:t>
            </a:r>
          </a:p>
        </p:txBody>
      </p:sp>
      <p:sp>
        <p:nvSpPr>
          <p:cNvPr id="38" name="TextBox 37"/>
          <p:cNvSpPr txBox="1"/>
          <p:nvPr/>
        </p:nvSpPr>
        <p:spPr>
          <a:xfrm>
            <a:off x="5208907" y="3506724"/>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REST APIs as MCP servers, MCP pass-through, A2A agent APIs</a:t>
            </a:r>
          </a:p>
        </p:txBody>
      </p:sp>
      <p:sp>
        <p:nvSpPr>
          <p:cNvPr id="39" name="TextBox 38"/>
          <p:cNvSpPr txBox="1"/>
          <p:nvPr/>
        </p:nvSpPr>
        <p:spPr>
          <a:xfrm>
            <a:off x="8817641" y="3506724"/>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MCP tool servers from remote MCP, OpenAPI or connectors</a:t>
            </a:r>
          </a:p>
        </p:txBody>
      </p:sp>
      <p:cxnSp>
        <p:nvCxnSpPr>
          <p:cNvPr id="40" name="Connector 39"/>
          <p:cNvCxnSpPr/>
          <p:nvPr/>
        </p:nvCxnSpPr>
        <p:spPr>
          <a:xfrm>
            <a:off x="457200" y="4352544"/>
            <a:ext cx="11277295" cy="0"/>
          </a:xfrm>
          <a:prstGeom prst="line">
            <a:avLst/>
          </a:prstGeom>
          <a:ln w="9525">
            <a:solidFill>
              <a:srgbClr val="E1E7F4"/>
            </a:solidFill>
          </a:ln>
        </p:spPr>
      </p:cxnSp>
      <p:sp>
        <p:nvSpPr>
          <p:cNvPr id="41" name="TextBox 40"/>
          <p:cNvSpPr txBox="1"/>
          <p:nvPr/>
        </p:nvSpPr>
        <p:spPr>
          <a:xfrm>
            <a:off x="585216" y="3954780"/>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API Management tier</a:t>
            </a:r>
          </a:p>
        </p:txBody>
      </p:sp>
      <p:sp>
        <p:nvSpPr>
          <p:cNvPr id="42" name="TextBox 41"/>
          <p:cNvSpPr txBox="1"/>
          <p:nvPr/>
        </p:nvSpPr>
        <p:spPr>
          <a:xfrm>
            <a:off x="2164037" y="395478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Basic v2 when created; an existing v2 instance when reused</a:t>
            </a:r>
          </a:p>
        </p:txBody>
      </p:sp>
      <p:sp>
        <p:nvSpPr>
          <p:cNvPr id="43" name="TextBox 42"/>
          <p:cNvSpPr txBox="1"/>
          <p:nvPr/>
        </p:nvSpPr>
        <p:spPr>
          <a:xfrm>
            <a:off x="5208907" y="3954780"/>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Classic and v2 tiers; features vary by tier</a:t>
            </a:r>
          </a:p>
        </p:txBody>
      </p:sp>
      <p:sp>
        <p:nvSpPr>
          <p:cNvPr id="44" name="TextBox 43"/>
          <p:cNvSpPr txBox="1"/>
          <p:nvPr/>
        </p:nvSpPr>
        <p:spPr>
          <a:xfrm>
            <a:off x="8817641" y="395478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Separate tier; East US 2 and Sweden Central only</a:t>
            </a:r>
          </a:p>
        </p:txBody>
      </p:sp>
      <p:sp>
        <p:nvSpPr>
          <p:cNvPr id="45" name="Rectangle 44"/>
          <p:cNvSpPr/>
          <p:nvPr/>
        </p:nvSpPr>
        <p:spPr>
          <a:xfrm>
            <a:off x="457200" y="4352544"/>
            <a:ext cx="11277295" cy="448056"/>
          </a:xfrm>
          <a:prstGeom prst="rect">
            <a:avLst/>
          </a:prstGeom>
          <a:solidFill>
            <a:srgbClr val="F6F8FD"/>
          </a:solidFill>
          <a:ln>
            <a:noFill/>
          </a:ln>
          <a:effectLst/>
        </p:spPr>
        <p:txBody>
          <a:bodyPr wrap="square" rtlCol="0" anchor="ctr"/>
          <a:lstStyle/>
          <a:p>
            <a:endParaRPr/>
          </a:p>
        </p:txBody>
      </p:sp>
      <p:cxnSp>
        <p:nvCxnSpPr>
          <p:cNvPr id="46" name="Connector 45"/>
          <p:cNvCxnSpPr/>
          <p:nvPr/>
        </p:nvCxnSpPr>
        <p:spPr>
          <a:xfrm>
            <a:off x="457200" y="4800600"/>
            <a:ext cx="11277295" cy="0"/>
          </a:xfrm>
          <a:prstGeom prst="line">
            <a:avLst/>
          </a:prstGeom>
          <a:ln w="9525">
            <a:solidFill>
              <a:srgbClr val="E1E7F4"/>
            </a:solidFill>
          </a:ln>
        </p:spPr>
      </p:cxnSp>
      <p:sp>
        <p:nvSpPr>
          <p:cNvPr id="47" name="TextBox 46"/>
          <p:cNvSpPr txBox="1"/>
          <p:nvPr/>
        </p:nvSpPr>
        <p:spPr>
          <a:xfrm>
            <a:off x="585216" y="4402836"/>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Status</a:t>
            </a:r>
          </a:p>
        </p:txBody>
      </p:sp>
      <p:sp>
        <p:nvSpPr>
          <p:cNvPr id="48" name="TextBox 47"/>
          <p:cNvSpPr txBox="1"/>
          <p:nvPr/>
        </p:nvSpPr>
        <p:spPr>
          <a:xfrm>
            <a:off x="2164037" y="440283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sp>
        <p:nvSpPr>
          <p:cNvPr id="49" name="TextBox 48"/>
          <p:cNvSpPr txBox="1"/>
          <p:nvPr/>
        </p:nvSpPr>
        <p:spPr>
          <a:xfrm>
            <a:off x="5208907" y="4402836"/>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sp>
        <p:nvSpPr>
          <p:cNvPr id="50" name="TextBox 49"/>
          <p:cNvSpPr txBox="1"/>
          <p:nvPr/>
        </p:nvSpPr>
        <p:spPr>
          <a:xfrm>
            <a:off x="8817641" y="440283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cxnSp>
        <p:nvCxnSpPr>
          <p:cNvPr id="51" name="Connector 50"/>
          <p:cNvCxnSpPr/>
          <p:nvPr/>
        </p:nvCxnSpPr>
        <p:spPr>
          <a:xfrm>
            <a:off x="2036021" y="1664208"/>
            <a:ext cx="0" cy="3136392"/>
          </a:xfrm>
          <a:prstGeom prst="line">
            <a:avLst/>
          </a:prstGeom>
          <a:ln w="9525">
            <a:solidFill>
              <a:srgbClr val="E1E7F4"/>
            </a:solidFill>
          </a:ln>
        </p:spPr>
      </p:cxnSp>
      <p:cxnSp>
        <p:nvCxnSpPr>
          <p:cNvPr id="52" name="Connector 51"/>
          <p:cNvCxnSpPr/>
          <p:nvPr/>
        </p:nvCxnSpPr>
        <p:spPr>
          <a:xfrm>
            <a:off x="5080891" y="1664208"/>
            <a:ext cx="0" cy="3136392"/>
          </a:xfrm>
          <a:prstGeom prst="line">
            <a:avLst/>
          </a:prstGeom>
          <a:ln w="9525">
            <a:solidFill>
              <a:srgbClr val="E1E7F4"/>
            </a:solidFill>
          </a:ln>
        </p:spPr>
      </p:cxnSp>
      <p:cxnSp>
        <p:nvCxnSpPr>
          <p:cNvPr id="53" name="Connector 52"/>
          <p:cNvCxnSpPr/>
          <p:nvPr/>
        </p:nvCxnSpPr>
        <p:spPr>
          <a:xfrm>
            <a:off x="8689625" y="1664208"/>
            <a:ext cx="0" cy="3136392"/>
          </a:xfrm>
          <a:prstGeom prst="line">
            <a:avLst/>
          </a:prstGeom>
          <a:ln w="9525">
            <a:solidFill>
              <a:srgbClr val="E1E7F4"/>
            </a:solidFill>
          </a:ln>
        </p:spPr>
      </p:cxnSp>
      <p:sp>
        <p:nvSpPr>
          <p:cNvPr id="54" name="Rectangle 53"/>
          <p:cNvSpPr/>
          <p:nvPr/>
        </p:nvSpPr>
        <p:spPr>
          <a:xfrm>
            <a:off x="457200" y="4846320"/>
            <a:ext cx="11277295" cy="530352"/>
          </a:xfrm>
          <a:prstGeom prst="rect">
            <a:avLst/>
          </a:prstGeom>
          <a:solidFill>
            <a:srgbClr val="EBEFF7"/>
          </a:solidFill>
          <a:ln>
            <a:noFill/>
          </a:ln>
          <a:effectLst/>
        </p:spPr>
        <p:txBody>
          <a:bodyPr wrap="square" rtlCol="0" anchor="ctr"/>
          <a:lstStyle/>
          <a:p>
            <a:endParaRPr/>
          </a:p>
        </p:txBody>
      </p:sp>
      <p:sp>
        <p:nvSpPr>
          <p:cNvPr id="55" name="Rectangle 54"/>
          <p:cNvSpPr/>
          <p:nvPr/>
        </p:nvSpPr>
        <p:spPr>
          <a:xfrm>
            <a:off x="457200" y="4846320"/>
            <a:ext cx="41148" cy="530352"/>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694944" y="4946904"/>
            <a:ext cx="10856671" cy="347471"/>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Terms used in this deck: “AI Gateway in Foundry” for the Foundry portal feature, and “API Management policies” for policies configured directly in API Management. The AI Gateway tier is mentioned for completeness only.</a:t>
            </a:r>
          </a:p>
        </p:txBody>
      </p:sp>
      <p:sp>
        <p:nvSpPr>
          <p:cNvPr id="57" name="TextBox 56"/>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ARCHITECTURE</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AI Gateway in Foundry architecture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API Management instance sits in front of models, MCP servers and agents; telemetry flows to governance services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learn.microsoft.com/azure/foundry/configuration/enable-ai-api-management-gateway-portal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4</a:t>
            </a:r>
          </a:p>
        </p:txBody>
      </p:sp>
      <p:sp>
        <p:nvSpPr>
          <p:cNvPr id="7" name="Rectangle 6"/>
          <p:cNvSpPr/>
          <p:nvPr/>
        </p:nvSpPr>
        <p:spPr>
          <a:xfrm>
            <a:off x="457200" y="1325880"/>
            <a:ext cx="164592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Microsoft Entra ID</a:t>
            </a:r>
          </a:p>
        </p:txBody>
      </p:sp>
      <p:sp>
        <p:nvSpPr>
          <p:cNvPr id="8" name="Rectangle 7"/>
          <p:cNvSpPr/>
          <p:nvPr/>
        </p:nvSpPr>
        <p:spPr>
          <a:xfrm>
            <a:off x="457200" y="2103120"/>
            <a:ext cx="1645920" cy="1920240"/>
          </a:xfrm>
          <a:prstGeom prst="rect">
            <a:avLst/>
          </a:prstGeom>
          <a:solidFill>
            <a:srgbClr val="EBEFF7"/>
          </a:solidFill>
          <a:ln>
            <a:noFill/>
          </a:ln>
          <a:effectLst/>
        </p:spPr>
        <p:txBody>
          <a:bodyPr wrap="square" lIns="54864" tIns="18288" rIns="54864" bIns="18288" rtlCol="0" anchor="ctr"/>
          <a:lstStyle/>
          <a:p>
            <a:pPr algn="ctr">
              <a:lnSpc>
                <a:spcPct val="125000"/>
              </a:lnSpc>
            </a:pPr>
            <a:r>
              <a:rPr sz="900" b="1" i="0" dirty="0">
                <a:solidFill>
                  <a:srgbClr val="101A3C"/>
                </a:solidFill>
                <a:latin typeface="Segoe UI"/>
                <a:cs typeface="Segoe UI"/>
              </a:rPr>
              <a:t>Callers</a:t>
            </a:r>
          </a:p>
          <a:p>
            <a:pPr algn="ctr">
              <a:lnSpc>
                <a:spcPct val="125000"/>
              </a:lnSpc>
            </a:pPr>
            <a:r>
              <a:rPr sz="800" b="0" i="0" dirty="0">
                <a:solidFill>
                  <a:srgbClr val="44495B"/>
                </a:solidFill>
                <a:latin typeface="Segoe UI"/>
                <a:cs typeface="Segoe UI"/>
              </a:rPr>
              <a:t>applications</a:t>
            </a:r>
          </a:p>
          <a:p>
            <a:pPr algn="ctr">
              <a:lnSpc>
                <a:spcPct val="125000"/>
              </a:lnSpc>
            </a:pPr>
            <a:r>
              <a:rPr sz="800" b="0" i="0" dirty="0">
                <a:solidFill>
                  <a:srgbClr val="44495B"/>
                </a:solidFill>
                <a:latin typeface="Segoe UI"/>
                <a:cs typeface="Segoe UI"/>
              </a:rPr>
              <a:t>agents</a:t>
            </a:r>
          </a:p>
          <a:p>
            <a:pPr algn="ctr">
              <a:lnSpc>
                <a:spcPct val="125000"/>
              </a:lnSpc>
            </a:pPr>
            <a:r>
              <a:rPr sz="800" b="0" i="0" dirty="0">
                <a:solidFill>
                  <a:srgbClr val="44495B"/>
                </a:solidFill>
                <a:latin typeface="Segoe UI"/>
                <a:cs typeface="Segoe UI"/>
              </a:rPr>
              <a:t>developer tools</a:t>
            </a:r>
          </a:p>
        </p:txBody>
      </p:sp>
      <p:cxnSp>
        <p:nvCxnSpPr>
          <p:cNvPr id="9" name="Connector 8"/>
          <p:cNvCxnSpPr/>
          <p:nvPr/>
        </p:nvCxnSpPr>
        <p:spPr>
          <a:xfrm>
            <a:off x="1280160" y="1691640"/>
            <a:ext cx="0" cy="411480"/>
          </a:xfrm>
          <a:prstGeom prst="line">
            <a:avLst/>
          </a:prstGeom>
          <a:ln w="13970">
            <a:solidFill>
              <a:srgbClr val="44495B"/>
            </a:solidFill>
            <a:prstDash val="dash"/>
          </a:ln>
        </p:spPr>
      </p:cxnSp>
      <p:sp>
        <p:nvSpPr>
          <p:cNvPr id="10" name="Oval 9"/>
          <p:cNvSpPr/>
          <p:nvPr/>
        </p:nvSpPr>
        <p:spPr>
          <a:xfrm>
            <a:off x="1175004" y="17922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1" name="Rectangle 10"/>
          <p:cNvSpPr/>
          <p:nvPr/>
        </p:nvSpPr>
        <p:spPr>
          <a:xfrm>
            <a:off x="2606040" y="1325880"/>
            <a:ext cx="3108960" cy="2834640"/>
          </a:xfrm>
          <a:prstGeom prst="rect">
            <a:avLst/>
          </a:prstGeom>
          <a:solidFill>
            <a:srgbClr val="101A3C"/>
          </a:solidFill>
          <a:ln>
            <a:noFill/>
          </a:ln>
          <a:effectLst/>
        </p:spPr>
        <p:txBody>
          <a:bodyPr wrap="square" rtlCol="0" anchor="ctr"/>
          <a:lstStyle/>
          <a:p>
            <a:endParaRPr/>
          </a:p>
        </p:txBody>
      </p:sp>
      <p:sp>
        <p:nvSpPr>
          <p:cNvPr id="12" name="TextBox 11"/>
          <p:cNvSpPr txBox="1"/>
          <p:nvPr/>
        </p:nvSpPr>
        <p:spPr>
          <a:xfrm>
            <a:off x="2770632" y="1408176"/>
            <a:ext cx="2834640"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AI Gateway in Foundry*</a:t>
            </a:r>
          </a:p>
        </p:txBody>
      </p:sp>
      <p:sp>
        <p:nvSpPr>
          <p:cNvPr id="13" name="TextBox 12"/>
          <p:cNvSpPr txBox="1"/>
          <p:nvPr/>
        </p:nvSpPr>
        <p:spPr>
          <a:xfrm>
            <a:off x="2770632" y="1609344"/>
            <a:ext cx="2834640" cy="164592"/>
          </a:xfrm>
          <a:prstGeom prst="rect">
            <a:avLst/>
          </a:prstGeom>
          <a:noFill/>
        </p:spPr>
        <p:txBody>
          <a:bodyPr wrap="square" lIns="0" tIns="0" rIns="0" bIns="0" anchor="t">
            <a:spAutoFit/>
          </a:bodyPr>
          <a:lstStyle/>
          <a:p>
            <a:pPr algn="l">
              <a:lnSpc>
                <a:spcPct val="100000"/>
              </a:lnSpc>
            </a:pPr>
            <a:r>
              <a:rPr sz="750" b="0" i="0" dirty="0">
                <a:solidFill>
                  <a:srgbClr val="B9C2D6"/>
                </a:solidFill>
                <a:latin typeface="Segoe UI"/>
                <a:cs typeface="Segoe UI"/>
              </a:rPr>
              <a:t>one API Management instance per Foundry resource</a:t>
            </a:r>
          </a:p>
        </p:txBody>
      </p:sp>
      <p:sp>
        <p:nvSpPr>
          <p:cNvPr id="14" name="TextBox 13"/>
          <p:cNvSpPr txBox="1"/>
          <p:nvPr/>
        </p:nvSpPr>
        <p:spPr>
          <a:xfrm>
            <a:off x="2770632" y="1856231"/>
            <a:ext cx="2779776" cy="146304"/>
          </a:xfrm>
          <a:prstGeom prst="rect">
            <a:avLst/>
          </a:prstGeom>
          <a:noFill/>
        </p:spPr>
        <p:txBody>
          <a:bodyPr wrap="square" lIns="0" tIns="0" rIns="0" bIns="0" anchor="t">
            <a:spAutoFit/>
          </a:bodyPr>
          <a:lstStyle/>
          <a:p>
            <a:pPr algn="l">
              <a:lnSpc>
                <a:spcPct val="100000"/>
              </a:lnSpc>
            </a:pPr>
            <a:r>
              <a:rPr sz="750" b="1" i="0" spc="100" dirty="0">
                <a:solidFill>
                  <a:srgbClr val="00B39F"/>
                </a:solidFill>
                <a:latin typeface="Segoe UI"/>
                <a:cs typeface="Segoe UI"/>
              </a:rPr>
              <a:t>SET IN THE FOUNDRY PORTAL</a:t>
            </a:r>
          </a:p>
        </p:txBody>
      </p:sp>
      <p:sp>
        <p:nvSpPr>
          <p:cNvPr id="15" name="Rectangle 14"/>
          <p:cNvSpPr/>
          <p:nvPr/>
        </p:nvSpPr>
        <p:spPr>
          <a:xfrm>
            <a:off x="2770632" y="2057400"/>
            <a:ext cx="877824" cy="420624"/>
          </a:xfrm>
          <a:prstGeom prst="rect">
            <a:avLst/>
          </a:prstGeom>
          <a:solidFill>
            <a:srgbClr val="FFFFFF"/>
          </a:solidFill>
          <a:ln>
            <a:noFill/>
          </a:ln>
          <a:effectLst/>
        </p:spPr>
        <p:txBody>
          <a:bodyPr wrap="square" lIns="54864" tIns="18288" rIns="54864" bIns="18288" rtlCol="0" anchor="ctr"/>
          <a:lstStyle/>
          <a:p>
            <a:pPr algn="ctr">
              <a:lnSpc>
                <a:spcPct val="105000"/>
              </a:lnSpc>
            </a:pPr>
            <a:r>
              <a:rPr sz="750" b="0" i="0" dirty="0">
                <a:solidFill>
                  <a:srgbClr val="101A3C"/>
                </a:solidFill>
                <a:latin typeface="Segoe UI"/>
                <a:cs typeface="Segoe UI"/>
              </a:rPr>
              <a:t>Token limits</a:t>
            </a:r>
          </a:p>
          <a:p>
            <a:pPr algn="ctr">
              <a:lnSpc>
                <a:spcPct val="105000"/>
              </a:lnSpc>
            </a:pPr>
            <a:r>
              <a:rPr sz="750" b="0" i="0" dirty="0">
                <a:solidFill>
                  <a:srgbClr val="101A3C"/>
                </a:solidFill>
                <a:latin typeface="Segoe UI"/>
                <a:cs typeface="Segoe UI"/>
              </a:rPr>
              <a:t>per project*</a:t>
            </a:r>
          </a:p>
        </p:txBody>
      </p:sp>
      <p:sp>
        <p:nvSpPr>
          <p:cNvPr id="16" name="Rectangle 15"/>
          <p:cNvSpPr/>
          <p:nvPr/>
        </p:nvSpPr>
        <p:spPr>
          <a:xfrm>
            <a:off x="3721608" y="2057400"/>
            <a:ext cx="877824" cy="420624"/>
          </a:xfrm>
          <a:prstGeom prst="rect">
            <a:avLst/>
          </a:prstGeom>
          <a:solidFill>
            <a:srgbClr val="FFFFFF"/>
          </a:solidFill>
          <a:ln>
            <a:noFill/>
          </a:ln>
          <a:effectLst/>
        </p:spPr>
        <p:txBody>
          <a:bodyPr wrap="square" lIns="54864" tIns="18288" rIns="54864" bIns="18288" rtlCol="0" anchor="ctr"/>
          <a:lstStyle/>
          <a:p>
            <a:pPr algn="ctr">
              <a:lnSpc>
                <a:spcPct val="105000"/>
              </a:lnSpc>
            </a:pPr>
            <a:r>
              <a:rPr sz="750" b="0" i="0" dirty="0">
                <a:solidFill>
                  <a:srgbClr val="101A3C"/>
                </a:solidFill>
                <a:latin typeface="Segoe UI"/>
                <a:cs typeface="Segoe UI"/>
              </a:rPr>
              <a:t>MCP tool</a:t>
            </a:r>
          </a:p>
          <a:p>
            <a:pPr algn="ctr">
              <a:lnSpc>
                <a:spcPct val="105000"/>
              </a:lnSpc>
            </a:pPr>
            <a:r>
              <a:rPr sz="750" b="0" i="0" dirty="0">
                <a:solidFill>
                  <a:srgbClr val="101A3C"/>
                </a:solidFill>
                <a:latin typeface="Segoe UI"/>
                <a:cs typeface="Segoe UI"/>
              </a:rPr>
              <a:t>routing*</a:t>
            </a:r>
          </a:p>
        </p:txBody>
      </p:sp>
      <p:sp>
        <p:nvSpPr>
          <p:cNvPr id="17" name="Rectangle 16"/>
          <p:cNvSpPr/>
          <p:nvPr/>
        </p:nvSpPr>
        <p:spPr>
          <a:xfrm>
            <a:off x="4672584" y="2057400"/>
            <a:ext cx="877824" cy="420624"/>
          </a:xfrm>
          <a:prstGeom prst="rect">
            <a:avLst/>
          </a:prstGeom>
          <a:solidFill>
            <a:srgbClr val="FFFFFF"/>
          </a:solidFill>
          <a:ln>
            <a:noFill/>
          </a:ln>
          <a:effectLst/>
        </p:spPr>
        <p:txBody>
          <a:bodyPr wrap="square" lIns="54864" tIns="18288" rIns="54864" bIns="18288" rtlCol="0" anchor="ctr"/>
          <a:lstStyle/>
          <a:p>
            <a:pPr algn="ctr">
              <a:lnSpc>
                <a:spcPct val="105000"/>
              </a:lnSpc>
            </a:pPr>
            <a:r>
              <a:rPr sz="750" b="0" i="0" dirty="0">
                <a:solidFill>
                  <a:srgbClr val="101A3C"/>
                </a:solidFill>
                <a:latin typeface="Segoe UI"/>
                <a:cs typeface="Segoe UI"/>
              </a:rPr>
              <a:t>Agent</a:t>
            </a:r>
          </a:p>
          <a:p>
            <a:pPr algn="ctr">
              <a:lnSpc>
                <a:spcPct val="105000"/>
              </a:lnSpc>
            </a:pPr>
            <a:r>
              <a:rPr sz="750" b="0" i="0" dirty="0">
                <a:solidFill>
                  <a:srgbClr val="101A3C"/>
                </a:solidFill>
                <a:latin typeface="Segoe UI"/>
                <a:cs typeface="Segoe UI"/>
              </a:rPr>
              <a:t>registration*</a:t>
            </a:r>
          </a:p>
        </p:txBody>
      </p:sp>
      <p:sp>
        <p:nvSpPr>
          <p:cNvPr id="18" name="TextBox 17"/>
          <p:cNvSpPr txBox="1"/>
          <p:nvPr/>
        </p:nvSpPr>
        <p:spPr>
          <a:xfrm>
            <a:off x="2770632" y="2606039"/>
            <a:ext cx="2779776" cy="146304"/>
          </a:xfrm>
          <a:prstGeom prst="rect">
            <a:avLst/>
          </a:prstGeom>
          <a:noFill/>
        </p:spPr>
        <p:txBody>
          <a:bodyPr wrap="square" lIns="0" tIns="0" rIns="0" bIns="0" anchor="t">
            <a:spAutoFit/>
          </a:bodyPr>
          <a:lstStyle/>
          <a:p>
            <a:pPr algn="l">
              <a:lnSpc>
                <a:spcPct val="100000"/>
              </a:lnSpc>
            </a:pPr>
            <a:r>
              <a:rPr sz="750" b="1" i="0" spc="100" dirty="0">
                <a:solidFill>
                  <a:srgbClr val="00B39F"/>
                </a:solidFill>
                <a:latin typeface="Segoe UI"/>
                <a:cs typeface="Segoe UI"/>
              </a:rPr>
              <a:t>CONFIGURED IN API MANAGEMENT</a:t>
            </a:r>
          </a:p>
        </p:txBody>
      </p:sp>
      <p:sp>
        <p:nvSpPr>
          <p:cNvPr id="19" name="Rectangle 18"/>
          <p:cNvSpPr/>
          <p:nvPr/>
        </p:nvSpPr>
        <p:spPr>
          <a:xfrm>
            <a:off x="2770632" y="2807208"/>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Token metrics</a:t>
            </a:r>
          </a:p>
        </p:txBody>
      </p:sp>
      <p:sp>
        <p:nvSpPr>
          <p:cNvPr id="20" name="Rectangle 19"/>
          <p:cNvSpPr/>
          <p:nvPr/>
        </p:nvSpPr>
        <p:spPr>
          <a:xfrm>
            <a:off x="4197096" y="2807208"/>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Content safety</a:t>
            </a:r>
          </a:p>
        </p:txBody>
      </p:sp>
      <p:sp>
        <p:nvSpPr>
          <p:cNvPr id="21" name="Rectangle 20"/>
          <p:cNvSpPr/>
          <p:nvPr/>
        </p:nvSpPr>
        <p:spPr>
          <a:xfrm>
            <a:off x="2770632" y="3227832"/>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Semantic cache</a:t>
            </a:r>
          </a:p>
        </p:txBody>
      </p:sp>
      <p:sp>
        <p:nvSpPr>
          <p:cNvPr id="22" name="Rectangle 21"/>
          <p:cNvSpPr/>
          <p:nvPr/>
        </p:nvSpPr>
        <p:spPr>
          <a:xfrm>
            <a:off x="4197096" y="3227832"/>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Load balancing</a:t>
            </a:r>
          </a:p>
        </p:txBody>
      </p:sp>
      <p:sp>
        <p:nvSpPr>
          <p:cNvPr id="23" name="Rectangle 22"/>
          <p:cNvSpPr/>
          <p:nvPr/>
        </p:nvSpPr>
        <p:spPr>
          <a:xfrm>
            <a:off x="2770632" y="3648456"/>
            <a:ext cx="2779776"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Managed identity to backends</a:t>
            </a:r>
          </a:p>
        </p:txBody>
      </p:sp>
      <p:cxnSp>
        <p:nvCxnSpPr>
          <p:cNvPr id="24" name="Connector 23"/>
          <p:cNvCxnSpPr/>
          <p:nvPr/>
        </p:nvCxnSpPr>
        <p:spPr>
          <a:xfrm>
            <a:off x="2103120" y="3063240"/>
            <a:ext cx="502920" cy="0"/>
          </a:xfrm>
          <a:prstGeom prst="line">
            <a:avLst/>
          </a:prstGeom>
          <a:ln w="13970">
            <a:solidFill>
              <a:srgbClr val="44495B"/>
            </a:solidFill>
            <a:tailEnd type="triangle" w="med" len="med"/>
          </a:ln>
        </p:spPr>
      </p:cxnSp>
      <p:sp>
        <p:nvSpPr>
          <p:cNvPr id="25" name="Oval 24"/>
          <p:cNvSpPr/>
          <p:nvPr/>
        </p:nvSpPr>
        <p:spPr>
          <a:xfrm>
            <a:off x="2249424" y="29580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6" name="Rectangle 25"/>
          <p:cNvSpPr/>
          <p:nvPr/>
        </p:nvSpPr>
        <p:spPr>
          <a:xfrm>
            <a:off x="6492240" y="1325880"/>
            <a:ext cx="2514600" cy="1188720"/>
          </a:xfrm>
          <a:prstGeom prst="rect">
            <a:avLst/>
          </a:prstGeom>
          <a:noFill/>
          <a:ln w="9525">
            <a:solidFill>
              <a:srgbClr val="44495B"/>
            </a:solidFill>
            <a:prstDash val="dash"/>
          </a:ln>
          <a:effectLst/>
        </p:spPr>
        <p:txBody>
          <a:bodyPr wrap="square" rtlCol="0" anchor="ctr"/>
          <a:lstStyle/>
          <a:p>
            <a:endParaRPr/>
          </a:p>
        </p:txBody>
      </p:sp>
      <p:sp>
        <p:nvSpPr>
          <p:cNvPr id="27" name="TextBox 26"/>
          <p:cNvSpPr txBox="1"/>
          <p:nvPr/>
        </p:nvSpPr>
        <p:spPr>
          <a:xfrm>
            <a:off x="6601968" y="1380744"/>
            <a:ext cx="2331720" cy="164592"/>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Foundry resource</a:t>
            </a:r>
          </a:p>
        </p:txBody>
      </p:sp>
      <p:sp>
        <p:nvSpPr>
          <p:cNvPr id="28" name="Rectangle 27"/>
          <p:cNvSpPr/>
          <p:nvPr/>
        </p:nvSpPr>
        <p:spPr>
          <a:xfrm>
            <a:off x="6601968" y="1645920"/>
            <a:ext cx="1115568" cy="713232"/>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Project A</a:t>
            </a:r>
          </a:p>
          <a:p>
            <a:pPr algn="ctr">
              <a:lnSpc>
                <a:spcPct val="110000"/>
              </a:lnSpc>
            </a:pPr>
            <a:r>
              <a:rPr sz="750" b="0" i="0" dirty="0">
                <a:solidFill>
                  <a:srgbClr val="44495B"/>
                </a:solidFill>
                <a:latin typeface="Segoe UI"/>
                <a:cs typeface="Segoe UI"/>
              </a:rPr>
              <a:t>model
deployments</a:t>
            </a:r>
          </a:p>
        </p:txBody>
      </p:sp>
      <p:sp>
        <p:nvSpPr>
          <p:cNvPr id="29" name="Rectangle 28"/>
          <p:cNvSpPr/>
          <p:nvPr/>
        </p:nvSpPr>
        <p:spPr>
          <a:xfrm>
            <a:off x="7772400" y="1645920"/>
            <a:ext cx="1115568" cy="713232"/>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Project B</a:t>
            </a:r>
          </a:p>
          <a:p>
            <a:pPr algn="ctr">
              <a:lnSpc>
                <a:spcPct val="110000"/>
              </a:lnSpc>
            </a:pPr>
            <a:r>
              <a:rPr sz="750" b="0" i="0" dirty="0">
                <a:solidFill>
                  <a:srgbClr val="44495B"/>
                </a:solidFill>
                <a:latin typeface="Segoe UI"/>
                <a:cs typeface="Segoe UI"/>
              </a:rPr>
              <a:t>model
deployments</a:t>
            </a:r>
          </a:p>
        </p:txBody>
      </p:sp>
      <p:sp>
        <p:nvSpPr>
          <p:cNvPr id="30" name="Rectangle 29"/>
          <p:cNvSpPr/>
          <p:nvPr/>
        </p:nvSpPr>
        <p:spPr>
          <a:xfrm>
            <a:off x="6492240" y="2724912"/>
            <a:ext cx="251460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MCP servers</a:t>
            </a:r>
          </a:p>
          <a:p>
            <a:pPr algn="ctr">
              <a:lnSpc>
                <a:spcPct val="110000"/>
              </a:lnSpc>
            </a:pPr>
            <a:r>
              <a:rPr sz="750" b="0" i="0" dirty="0">
                <a:solidFill>
                  <a:srgbClr val="44495B"/>
                </a:solidFill>
                <a:latin typeface="Segoe UI"/>
                <a:cs typeface="Segoe UI"/>
              </a:rPr>
              <a:t>new MCP tools created in Foundry</a:t>
            </a:r>
          </a:p>
        </p:txBody>
      </p:sp>
      <p:sp>
        <p:nvSpPr>
          <p:cNvPr id="31" name="Rectangle 30"/>
          <p:cNvSpPr/>
          <p:nvPr/>
        </p:nvSpPr>
        <p:spPr>
          <a:xfrm>
            <a:off x="6492240" y="3547872"/>
            <a:ext cx="251460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Custom agents</a:t>
            </a:r>
          </a:p>
          <a:p>
            <a:pPr algn="ctr">
              <a:lnSpc>
                <a:spcPct val="110000"/>
              </a:lnSpc>
            </a:pPr>
            <a:r>
              <a:rPr sz="750" b="0" i="0" dirty="0">
                <a:solidFill>
                  <a:srgbClr val="44495B"/>
                </a:solidFill>
                <a:latin typeface="Segoe UI"/>
                <a:cs typeface="Segoe UI"/>
              </a:rPr>
              <a:t>registered in the Control Plane; HTTP or A2A</a:t>
            </a:r>
          </a:p>
        </p:txBody>
      </p:sp>
      <p:cxnSp>
        <p:nvCxnSpPr>
          <p:cNvPr id="32" name="Connector 31"/>
          <p:cNvCxnSpPr/>
          <p:nvPr/>
        </p:nvCxnSpPr>
        <p:spPr>
          <a:xfrm>
            <a:off x="5715000" y="3044952"/>
            <a:ext cx="393192" cy="0"/>
          </a:xfrm>
          <a:prstGeom prst="line">
            <a:avLst/>
          </a:prstGeom>
          <a:ln w="13970">
            <a:solidFill>
              <a:srgbClr val="44495B"/>
            </a:solidFill>
          </a:ln>
        </p:spPr>
      </p:cxnSp>
      <p:sp>
        <p:nvSpPr>
          <p:cNvPr id="33" name="Oval 32"/>
          <p:cNvSpPr/>
          <p:nvPr/>
        </p:nvSpPr>
        <p:spPr>
          <a:xfrm>
            <a:off x="5806440" y="29397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34" name="Connector 33"/>
          <p:cNvCxnSpPr/>
          <p:nvPr/>
        </p:nvCxnSpPr>
        <p:spPr>
          <a:xfrm>
            <a:off x="6108192" y="2002536"/>
            <a:ext cx="0" cy="1865376"/>
          </a:xfrm>
          <a:prstGeom prst="line">
            <a:avLst/>
          </a:prstGeom>
          <a:ln w="13970">
            <a:solidFill>
              <a:srgbClr val="44495B"/>
            </a:solidFill>
          </a:ln>
        </p:spPr>
      </p:cxnSp>
      <p:cxnSp>
        <p:nvCxnSpPr>
          <p:cNvPr id="35" name="Connector 34"/>
          <p:cNvCxnSpPr/>
          <p:nvPr/>
        </p:nvCxnSpPr>
        <p:spPr>
          <a:xfrm>
            <a:off x="6108192" y="2002536"/>
            <a:ext cx="384048" cy="0"/>
          </a:xfrm>
          <a:prstGeom prst="line">
            <a:avLst/>
          </a:prstGeom>
          <a:ln w="13970">
            <a:solidFill>
              <a:srgbClr val="44495B"/>
            </a:solidFill>
            <a:tailEnd type="triangle" w="med" len="med"/>
          </a:ln>
        </p:spPr>
      </p:cxnSp>
      <p:cxnSp>
        <p:nvCxnSpPr>
          <p:cNvPr id="36" name="Connector 35"/>
          <p:cNvCxnSpPr/>
          <p:nvPr/>
        </p:nvCxnSpPr>
        <p:spPr>
          <a:xfrm>
            <a:off x="6108192" y="3044952"/>
            <a:ext cx="384048" cy="0"/>
          </a:xfrm>
          <a:prstGeom prst="line">
            <a:avLst/>
          </a:prstGeom>
          <a:ln w="13970">
            <a:solidFill>
              <a:srgbClr val="44495B"/>
            </a:solidFill>
            <a:tailEnd type="triangle" w="med" len="med"/>
          </a:ln>
        </p:spPr>
      </p:cxnSp>
      <p:cxnSp>
        <p:nvCxnSpPr>
          <p:cNvPr id="37" name="Connector 36"/>
          <p:cNvCxnSpPr/>
          <p:nvPr/>
        </p:nvCxnSpPr>
        <p:spPr>
          <a:xfrm>
            <a:off x="6108192" y="3867912"/>
            <a:ext cx="384048" cy="0"/>
          </a:xfrm>
          <a:prstGeom prst="line">
            <a:avLst/>
          </a:prstGeom>
          <a:ln w="13970">
            <a:solidFill>
              <a:srgbClr val="44495B"/>
            </a:solidFill>
            <a:tailEnd type="triangle" w="med" len="med"/>
          </a:ln>
        </p:spPr>
      </p:cxnSp>
      <p:sp>
        <p:nvSpPr>
          <p:cNvPr id="38" name="Rectangle 37"/>
          <p:cNvSpPr/>
          <p:nvPr/>
        </p:nvSpPr>
        <p:spPr>
          <a:xfrm>
            <a:off x="9418320" y="1325880"/>
            <a:ext cx="2316175" cy="2834640"/>
          </a:xfrm>
          <a:prstGeom prst="rect">
            <a:avLst/>
          </a:prstGeom>
          <a:solidFill>
            <a:srgbClr val="0B1229"/>
          </a:solidFill>
          <a:ln>
            <a:noFill/>
          </a:ln>
          <a:effectLst/>
        </p:spPr>
        <p:txBody>
          <a:bodyPr wrap="square" rtlCol="0" anchor="ctr"/>
          <a:lstStyle/>
          <a:p>
            <a:endParaRPr/>
          </a:p>
        </p:txBody>
      </p:sp>
      <p:sp>
        <p:nvSpPr>
          <p:cNvPr id="39" name="TextBox 38"/>
          <p:cNvSpPr txBox="1"/>
          <p:nvPr/>
        </p:nvSpPr>
        <p:spPr>
          <a:xfrm>
            <a:off x="9555480" y="1417320"/>
            <a:ext cx="2041855" cy="182880"/>
          </a:xfrm>
          <a:prstGeom prst="rect">
            <a:avLst/>
          </a:prstGeom>
          <a:noFill/>
        </p:spPr>
        <p:txBody>
          <a:bodyPr wrap="square" lIns="0" tIns="0" rIns="0" bIns="0" anchor="t">
            <a:spAutoFit/>
          </a:bodyPr>
          <a:lstStyle/>
          <a:p>
            <a:pPr algn="l">
              <a:lnSpc>
                <a:spcPct val="100000"/>
              </a:lnSpc>
            </a:pPr>
            <a:r>
              <a:rPr sz="900" b="1" i="0" dirty="0">
                <a:solidFill>
                  <a:srgbClr val="FFFFFF"/>
                </a:solidFill>
                <a:latin typeface="Segoe UI"/>
                <a:cs typeface="Segoe UI"/>
              </a:rPr>
              <a:t>Governance and operations</a:t>
            </a:r>
          </a:p>
        </p:txBody>
      </p:sp>
      <p:sp>
        <p:nvSpPr>
          <p:cNvPr id="40" name="Rectangle 39"/>
          <p:cNvSpPr/>
          <p:nvPr/>
        </p:nvSpPr>
        <p:spPr>
          <a:xfrm>
            <a:off x="9555480" y="1755648"/>
            <a:ext cx="2041855" cy="65836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Foundry Control Plane*</a:t>
            </a:r>
          </a:p>
          <a:p>
            <a:pPr algn="ctr">
              <a:lnSpc>
                <a:spcPct val="110000"/>
              </a:lnSpc>
            </a:pPr>
            <a:r>
              <a:rPr sz="750" b="0" i="0" dirty="0">
                <a:solidFill>
                  <a:srgbClr val="44495B"/>
                </a:solidFill>
                <a:latin typeface="Segoe UI"/>
                <a:cs typeface="Segoe UI"/>
              </a:rPr>
              <a:t>inventory, compliance</a:t>
            </a:r>
          </a:p>
        </p:txBody>
      </p:sp>
      <p:sp>
        <p:nvSpPr>
          <p:cNvPr id="41" name="Rectangle 40"/>
          <p:cNvSpPr/>
          <p:nvPr/>
        </p:nvSpPr>
        <p:spPr>
          <a:xfrm>
            <a:off x="9555480" y="2542032"/>
            <a:ext cx="2041855" cy="65836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API Center</a:t>
            </a:r>
          </a:p>
          <a:p>
            <a:pPr algn="ctr">
              <a:lnSpc>
                <a:spcPct val="110000"/>
              </a:lnSpc>
            </a:pPr>
            <a:r>
              <a:rPr sz="750" b="0" i="0" dirty="0">
                <a:solidFill>
                  <a:srgbClr val="44495B"/>
                </a:solidFill>
                <a:latin typeface="Segoe UI"/>
                <a:cs typeface="Segoe UI"/>
              </a:rPr>
              <a:t>registry of MCP servers</a:t>
            </a:r>
          </a:p>
        </p:txBody>
      </p:sp>
      <p:sp>
        <p:nvSpPr>
          <p:cNvPr id="42" name="Rectangle 41"/>
          <p:cNvSpPr/>
          <p:nvPr/>
        </p:nvSpPr>
        <p:spPr>
          <a:xfrm>
            <a:off x="9555480" y="3328415"/>
            <a:ext cx="2041855" cy="65836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Monitor</a:t>
            </a:r>
          </a:p>
          <a:p>
            <a:pPr algn="ctr">
              <a:lnSpc>
                <a:spcPct val="110000"/>
              </a:lnSpc>
            </a:pPr>
            <a:r>
              <a:rPr sz="750" b="0" i="0" dirty="0">
                <a:solidFill>
                  <a:srgbClr val="44495B"/>
                </a:solidFill>
                <a:latin typeface="Segoe UI"/>
                <a:cs typeface="Segoe UI"/>
              </a:rPr>
              <a:t>token metrics and logs</a:t>
            </a:r>
          </a:p>
        </p:txBody>
      </p:sp>
      <p:cxnSp>
        <p:nvCxnSpPr>
          <p:cNvPr id="43" name="Connector 42"/>
          <p:cNvCxnSpPr/>
          <p:nvPr/>
        </p:nvCxnSpPr>
        <p:spPr>
          <a:xfrm>
            <a:off x="4160520" y="4160520"/>
            <a:ext cx="0" cy="274320"/>
          </a:xfrm>
          <a:prstGeom prst="line">
            <a:avLst/>
          </a:prstGeom>
          <a:ln w="13970">
            <a:solidFill>
              <a:srgbClr val="44495B"/>
            </a:solidFill>
            <a:prstDash val="dash"/>
          </a:ln>
        </p:spPr>
      </p:cxnSp>
      <p:cxnSp>
        <p:nvCxnSpPr>
          <p:cNvPr id="44" name="Connector 43"/>
          <p:cNvCxnSpPr/>
          <p:nvPr/>
        </p:nvCxnSpPr>
        <p:spPr>
          <a:xfrm>
            <a:off x="4160520" y="4434840"/>
            <a:ext cx="6415887" cy="0"/>
          </a:xfrm>
          <a:prstGeom prst="line">
            <a:avLst/>
          </a:prstGeom>
          <a:ln w="13970">
            <a:solidFill>
              <a:srgbClr val="44495B"/>
            </a:solidFill>
            <a:prstDash val="dash"/>
          </a:ln>
        </p:spPr>
      </p:cxnSp>
      <p:cxnSp>
        <p:nvCxnSpPr>
          <p:cNvPr id="45" name="Connector 44"/>
          <p:cNvCxnSpPr/>
          <p:nvPr/>
        </p:nvCxnSpPr>
        <p:spPr>
          <a:xfrm flipV="1">
            <a:off x="10576407" y="4160520"/>
            <a:ext cx="0" cy="274320"/>
          </a:xfrm>
          <a:prstGeom prst="line">
            <a:avLst/>
          </a:prstGeom>
          <a:ln w="13970">
            <a:solidFill>
              <a:srgbClr val="44495B"/>
            </a:solidFill>
            <a:prstDash val="dash"/>
            <a:tailEnd type="triangle" w="med" len="med"/>
          </a:ln>
        </p:spPr>
      </p:cxnSp>
      <p:sp>
        <p:nvSpPr>
          <p:cNvPr id="46" name="Oval 45"/>
          <p:cNvSpPr/>
          <p:nvPr/>
        </p:nvSpPr>
        <p:spPr>
          <a:xfrm>
            <a:off x="7621523" y="432968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47" name="Oval 46"/>
          <p:cNvSpPr/>
          <p:nvPr/>
        </p:nvSpPr>
        <p:spPr>
          <a:xfrm>
            <a:off x="461772"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48" name="TextBox 47"/>
          <p:cNvSpPr txBox="1"/>
          <p:nvPr/>
        </p:nvSpPr>
        <p:spPr>
          <a:xfrm>
            <a:off x="749808"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Callers sign in with Microsoft Entra ID</a:t>
            </a:r>
          </a:p>
        </p:txBody>
      </p:sp>
      <p:sp>
        <p:nvSpPr>
          <p:cNvPr id="49" name="Oval 48"/>
          <p:cNvSpPr/>
          <p:nvPr/>
        </p:nvSpPr>
        <p:spPr>
          <a:xfrm>
            <a:off x="3326815"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50" name="TextBox 49"/>
          <p:cNvSpPr txBox="1"/>
          <p:nvPr/>
        </p:nvSpPr>
        <p:spPr>
          <a:xfrm>
            <a:off x="3614851"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Requests go to the gateway URL, not the backend</a:t>
            </a:r>
          </a:p>
        </p:txBody>
      </p:sp>
      <p:sp>
        <p:nvSpPr>
          <p:cNvPr id="51" name="Oval 50"/>
          <p:cNvSpPr/>
          <p:nvPr/>
        </p:nvSpPr>
        <p:spPr>
          <a:xfrm>
            <a:off x="6191859"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52" name="TextBox 51"/>
          <p:cNvSpPr txBox="1"/>
          <p:nvPr/>
        </p:nvSpPr>
        <p:spPr>
          <a:xfrm>
            <a:off x="6479895"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Policies run; the gateway forwards to the backend</a:t>
            </a:r>
          </a:p>
        </p:txBody>
      </p:sp>
      <p:sp>
        <p:nvSpPr>
          <p:cNvPr id="53" name="Oval 52"/>
          <p:cNvSpPr/>
          <p:nvPr/>
        </p:nvSpPr>
        <p:spPr>
          <a:xfrm>
            <a:off x="9056903"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54" name="TextBox 53"/>
          <p:cNvSpPr txBox="1"/>
          <p:nvPr/>
        </p:nvSpPr>
        <p:spPr>
          <a:xfrm>
            <a:off x="9344939"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Token metrics, logs and inventory reach governance services</a:t>
            </a:r>
          </a:p>
        </p:txBody>
      </p:sp>
      <p:sp>
        <p:nvSpPr>
          <p:cNvPr id="55" name="Rectangle 54"/>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6" name="TextBox 55"/>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AI gateway</a:t>
            </a:r>
          </a:p>
        </p:txBody>
      </p:sp>
      <p:sp>
        <p:nvSpPr>
          <p:cNvPr id="57" name="Rectangle 56"/>
          <p:cNvSpPr/>
          <p:nvPr/>
        </p:nvSpPr>
        <p:spPr>
          <a:xfrm>
            <a:off x="1353312"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8" name="TextBox 57"/>
          <p:cNvSpPr txBox="1"/>
          <p:nvPr/>
        </p:nvSpPr>
        <p:spPr>
          <a:xfrm>
            <a:off x="157276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Backend or service</a:t>
            </a:r>
          </a:p>
        </p:txBody>
      </p:sp>
      <p:sp>
        <p:nvSpPr>
          <p:cNvPr id="59" name="Rectangle 58"/>
          <p:cNvSpPr/>
          <p:nvPr/>
        </p:nvSpPr>
        <p:spPr>
          <a:xfrm>
            <a:off x="2688336" y="5545836"/>
            <a:ext cx="146304" cy="91440"/>
          </a:xfrm>
          <a:prstGeom prst="rect">
            <a:avLst/>
          </a:prstGeom>
          <a:solidFill>
            <a:srgbClr val="EBEFF7"/>
          </a:solidFill>
          <a:ln>
            <a:noFill/>
          </a:ln>
          <a:effectLst/>
        </p:spPr>
        <p:txBody>
          <a:bodyPr wrap="square" rtlCol="0" anchor="ctr"/>
          <a:lstStyle/>
          <a:p>
            <a:endParaRPr/>
          </a:p>
        </p:txBody>
      </p:sp>
      <p:sp>
        <p:nvSpPr>
          <p:cNvPr id="60" name="TextBox 59"/>
          <p:cNvSpPr txBox="1"/>
          <p:nvPr/>
        </p:nvSpPr>
        <p:spPr>
          <a:xfrm>
            <a:off x="290779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a:t>
            </a:r>
          </a:p>
        </p:txBody>
      </p:sp>
      <p:sp>
        <p:nvSpPr>
          <p:cNvPr id="61" name="Rectangle 60"/>
          <p:cNvSpPr/>
          <p:nvPr/>
        </p:nvSpPr>
        <p:spPr>
          <a:xfrm>
            <a:off x="3364992" y="5545836"/>
            <a:ext cx="146304" cy="91440"/>
          </a:xfrm>
          <a:prstGeom prst="rect">
            <a:avLst/>
          </a:prstGeom>
          <a:solidFill>
            <a:srgbClr val="0B1229"/>
          </a:solidFill>
          <a:ln>
            <a:noFill/>
          </a:ln>
          <a:effectLst/>
        </p:spPr>
        <p:txBody>
          <a:bodyPr wrap="square" rtlCol="0" anchor="ctr"/>
          <a:lstStyle/>
          <a:p>
            <a:endParaRPr/>
          </a:p>
        </p:txBody>
      </p:sp>
      <p:sp>
        <p:nvSpPr>
          <p:cNvPr id="62" name="TextBox 61"/>
          <p:cNvSpPr txBox="1"/>
          <p:nvPr/>
        </p:nvSpPr>
        <p:spPr>
          <a:xfrm>
            <a:off x="358444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Governance layer</a:t>
            </a:r>
          </a:p>
        </p:txBody>
      </p:sp>
      <p:sp>
        <p:nvSpPr>
          <p:cNvPr id="63" name="Rectangle 62"/>
          <p:cNvSpPr/>
          <p:nvPr/>
        </p:nvSpPr>
        <p:spPr>
          <a:xfrm>
            <a:off x="4590288" y="5532120"/>
            <a:ext cx="146304" cy="118872"/>
          </a:xfrm>
          <a:prstGeom prst="rect">
            <a:avLst/>
          </a:prstGeom>
          <a:noFill/>
          <a:ln w="9525">
            <a:solidFill>
              <a:srgbClr val="44495B"/>
            </a:solidFill>
            <a:prstDash val="dash"/>
          </a:ln>
          <a:effectLst/>
        </p:spPr>
        <p:txBody>
          <a:bodyPr wrap="square" rtlCol="0" anchor="ctr"/>
          <a:lstStyle/>
          <a:p>
            <a:endParaRPr/>
          </a:p>
        </p:txBody>
      </p:sp>
      <p:sp>
        <p:nvSpPr>
          <p:cNvPr id="64" name="TextBox 63"/>
          <p:cNvSpPr txBox="1"/>
          <p:nvPr/>
        </p:nvSpPr>
        <p:spPr>
          <a:xfrm>
            <a:off x="480974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Resource</a:t>
            </a:r>
          </a:p>
        </p:txBody>
      </p:sp>
      <p:cxnSp>
        <p:nvCxnSpPr>
          <p:cNvPr id="65" name="Connector 64"/>
          <p:cNvCxnSpPr/>
          <p:nvPr/>
        </p:nvCxnSpPr>
        <p:spPr>
          <a:xfrm>
            <a:off x="5376672" y="5591556"/>
            <a:ext cx="164592" cy="0"/>
          </a:xfrm>
          <a:prstGeom prst="line">
            <a:avLst/>
          </a:prstGeom>
          <a:ln w="13970">
            <a:solidFill>
              <a:srgbClr val="44495B"/>
            </a:solidFill>
          </a:ln>
        </p:spPr>
      </p:cxnSp>
      <p:sp>
        <p:nvSpPr>
          <p:cNvPr id="66" name="TextBox 65"/>
          <p:cNvSpPr txBox="1"/>
          <p:nvPr/>
        </p:nvSpPr>
        <p:spPr>
          <a:xfrm>
            <a:off x="559612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a:t>
            </a:r>
          </a:p>
        </p:txBody>
      </p:sp>
      <p:cxnSp>
        <p:nvCxnSpPr>
          <p:cNvPr id="67" name="Connector 66"/>
          <p:cNvCxnSpPr/>
          <p:nvPr/>
        </p:nvCxnSpPr>
        <p:spPr>
          <a:xfrm>
            <a:off x="6108192" y="5591556"/>
            <a:ext cx="164592" cy="0"/>
          </a:xfrm>
          <a:prstGeom prst="line">
            <a:avLst/>
          </a:prstGeom>
          <a:ln w="13970">
            <a:solidFill>
              <a:srgbClr val="44495B"/>
            </a:solidFill>
            <a:prstDash val="dash"/>
          </a:ln>
        </p:spPr>
      </p:cxnSp>
      <p:sp>
        <p:nvSpPr>
          <p:cNvPr id="68" name="TextBox 67"/>
          <p:cNvSpPr txBox="1"/>
          <p:nvPr/>
        </p:nvSpPr>
        <p:spPr>
          <a:xfrm>
            <a:off x="632764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telemetry</a:t>
            </a:r>
          </a:p>
        </p:txBody>
      </p:sp>
      <p:sp>
        <p:nvSpPr>
          <p:cNvPr id="69" name="TextBox 68"/>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GOVERNING MODELS, TOOLS AND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Model governance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Token limits, usage metrics, content safety and resilience applied to model traffic at the gateway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learn.microsoft.com/azure/api-management/llm-token-limit-policy · llm-emit-token-metric-policy</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5</a:t>
            </a:r>
          </a:p>
        </p:txBody>
      </p:sp>
      <p:sp>
        <p:nvSpPr>
          <p:cNvPr id="7" name="Rectangle 6"/>
          <p:cNvSpPr/>
          <p:nvPr/>
        </p:nvSpPr>
        <p:spPr>
          <a:xfrm>
            <a:off x="457200" y="1353312"/>
            <a:ext cx="6537960"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12471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Control</a:t>
            </a:r>
          </a:p>
        </p:txBody>
      </p:sp>
      <p:sp>
        <p:nvSpPr>
          <p:cNvPr id="9" name="TextBox 8"/>
          <p:cNvSpPr txBox="1"/>
          <p:nvPr/>
        </p:nvSpPr>
        <p:spPr>
          <a:xfrm>
            <a:off x="1892808" y="1431036"/>
            <a:ext cx="210540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Policy or setting</a:t>
            </a:r>
          </a:p>
        </p:txBody>
      </p:sp>
      <p:sp>
        <p:nvSpPr>
          <p:cNvPr id="10" name="TextBox 9"/>
          <p:cNvSpPr txBox="1"/>
          <p:nvPr/>
        </p:nvSpPr>
        <p:spPr>
          <a:xfrm>
            <a:off x="4181094" y="1431036"/>
            <a:ext cx="275920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Effect</a:t>
            </a:r>
          </a:p>
        </p:txBody>
      </p:sp>
      <p:sp>
        <p:nvSpPr>
          <p:cNvPr id="11" name="Rectangle 10"/>
          <p:cNvSpPr/>
          <p:nvPr/>
        </p:nvSpPr>
        <p:spPr>
          <a:xfrm>
            <a:off x="457200" y="1664208"/>
            <a:ext cx="6537960" cy="48920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153412"/>
            <a:ext cx="6537960" cy="0"/>
          </a:xfrm>
          <a:prstGeom prst="line">
            <a:avLst/>
          </a:prstGeom>
          <a:ln w="9525">
            <a:solidFill>
              <a:srgbClr val="E1E7F4"/>
            </a:solidFill>
          </a:ln>
        </p:spPr>
      </p:cxnSp>
      <p:sp>
        <p:nvSpPr>
          <p:cNvPr id="13" name="TextBox 12"/>
          <p:cNvSpPr txBox="1"/>
          <p:nvPr/>
        </p:nvSpPr>
        <p:spPr>
          <a:xfrm>
            <a:off x="585216" y="1714500"/>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Token rate limit</a:t>
            </a:r>
          </a:p>
        </p:txBody>
      </p:sp>
      <p:sp>
        <p:nvSpPr>
          <p:cNvPr id="14" name="TextBox 13"/>
          <p:cNvSpPr txBox="1"/>
          <p:nvPr/>
        </p:nvSpPr>
        <p:spPr>
          <a:xfrm>
            <a:off x="1892808" y="1714500"/>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llm-token-limit, tokens-per-minute</a:t>
            </a:r>
          </a:p>
        </p:txBody>
      </p:sp>
      <p:sp>
        <p:nvSpPr>
          <p:cNvPr id="15" name="TextBox 14"/>
          <p:cNvSpPr txBox="1"/>
          <p:nvPr/>
        </p:nvSpPr>
        <p:spPr>
          <a:xfrm>
            <a:off x="4181094" y="1714500"/>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Over the limit: 429 Too Many Requests</a:t>
            </a:r>
          </a:p>
        </p:txBody>
      </p:sp>
      <p:cxnSp>
        <p:nvCxnSpPr>
          <p:cNvPr id="16" name="Connector 15"/>
          <p:cNvCxnSpPr/>
          <p:nvPr/>
        </p:nvCxnSpPr>
        <p:spPr>
          <a:xfrm>
            <a:off x="457200" y="2642616"/>
            <a:ext cx="6537960" cy="0"/>
          </a:xfrm>
          <a:prstGeom prst="line">
            <a:avLst/>
          </a:prstGeom>
          <a:ln w="9525">
            <a:solidFill>
              <a:srgbClr val="E1E7F4"/>
            </a:solidFill>
          </a:ln>
        </p:spPr>
      </p:cxnSp>
      <p:sp>
        <p:nvSpPr>
          <p:cNvPr id="17" name="TextBox 16"/>
          <p:cNvSpPr txBox="1"/>
          <p:nvPr/>
        </p:nvSpPr>
        <p:spPr>
          <a:xfrm>
            <a:off x="585216" y="2203704"/>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Token quota</a:t>
            </a:r>
          </a:p>
        </p:txBody>
      </p:sp>
      <p:sp>
        <p:nvSpPr>
          <p:cNvPr id="18" name="TextBox 17"/>
          <p:cNvSpPr txBox="1"/>
          <p:nvPr/>
        </p:nvSpPr>
        <p:spPr>
          <a:xfrm>
            <a:off x="1892808" y="2203704"/>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token-quota, token-quota-period</a:t>
            </a:r>
          </a:p>
        </p:txBody>
      </p:sp>
      <p:sp>
        <p:nvSpPr>
          <p:cNvPr id="19" name="TextBox 18"/>
          <p:cNvSpPr txBox="1"/>
          <p:nvPr/>
        </p:nvSpPr>
        <p:spPr>
          <a:xfrm>
            <a:off x="4181094" y="2203704"/>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Hourly to yearly cap; over the quota: 403 Forbidden</a:t>
            </a:r>
          </a:p>
        </p:txBody>
      </p:sp>
      <p:sp>
        <p:nvSpPr>
          <p:cNvPr id="20" name="Rectangle 19"/>
          <p:cNvSpPr/>
          <p:nvPr/>
        </p:nvSpPr>
        <p:spPr>
          <a:xfrm>
            <a:off x="457200" y="2642616"/>
            <a:ext cx="6537960" cy="48920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3131820"/>
            <a:ext cx="6537960" cy="0"/>
          </a:xfrm>
          <a:prstGeom prst="line">
            <a:avLst/>
          </a:prstGeom>
          <a:ln w="9525">
            <a:solidFill>
              <a:srgbClr val="E1E7F4"/>
            </a:solidFill>
          </a:ln>
        </p:spPr>
      </p:cxnSp>
      <p:sp>
        <p:nvSpPr>
          <p:cNvPr id="22" name="TextBox 21"/>
          <p:cNvSpPr txBox="1"/>
          <p:nvPr/>
        </p:nvSpPr>
        <p:spPr>
          <a:xfrm>
            <a:off x="585216" y="2692908"/>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Token metrics</a:t>
            </a:r>
          </a:p>
        </p:txBody>
      </p:sp>
      <p:sp>
        <p:nvSpPr>
          <p:cNvPr id="23" name="TextBox 22"/>
          <p:cNvSpPr txBox="1"/>
          <p:nvPr/>
        </p:nvSpPr>
        <p:spPr>
          <a:xfrm>
            <a:off x="1892808" y="2692908"/>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llm-emit-token-metric</a:t>
            </a:r>
          </a:p>
        </p:txBody>
      </p:sp>
      <p:sp>
        <p:nvSpPr>
          <p:cNvPr id="24" name="TextBox 23"/>
          <p:cNvSpPr txBox="1"/>
          <p:nvPr/>
        </p:nvSpPr>
        <p:spPr>
          <a:xfrm>
            <a:off x="4181094" y="2692908"/>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 counts in Azure Monitor, up to five custom dimensions</a:t>
            </a:r>
          </a:p>
        </p:txBody>
      </p:sp>
      <p:cxnSp>
        <p:nvCxnSpPr>
          <p:cNvPr id="25" name="Connector 24"/>
          <p:cNvCxnSpPr/>
          <p:nvPr/>
        </p:nvCxnSpPr>
        <p:spPr>
          <a:xfrm>
            <a:off x="457200" y="3621024"/>
            <a:ext cx="6537960" cy="0"/>
          </a:xfrm>
          <a:prstGeom prst="line">
            <a:avLst/>
          </a:prstGeom>
          <a:ln w="9525">
            <a:solidFill>
              <a:srgbClr val="E1E7F4"/>
            </a:solidFill>
          </a:ln>
        </p:spPr>
      </p:cxnSp>
      <p:sp>
        <p:nvSpPr>
          <p:cNvPr id="26" name="TextBox 25"/>
          <p:cNvSpPr txBox="1"/>
          <p:nvPr/>
        </p:nvSpPr>
        <p:spPr>
          <a:xfrm>
            <a:off x="585216" y="3182112"/>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Content safety</a:t>
            </a:r>
          </a:p>
        </p:txBody>
      </p:sp>
      <p:sp>
        <p:nvSpPr>
          <p:cNvPr id="27" name="TextBox 26"/>
          <p:cNvSpPr txBox="1"/>
          <p:nvPr/>
        </p:nvSpPr>
        <p:spPr>
          <a:xfrm>
            <a:off x="1892808" y="3182112"/>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llm-content-safety</a:t>
            </a:r>
          </a:p>
        </p:txBody>
      </p:sp>
      <p:sp>
        <p:nvSpPr>
          <p:cNvPr id="28" name="TextBox 27"/>
          <p:cNvSpPr txBox="1"/>
          <p:nvPr/>
        </p:nvSpPr>
        <p:spPr>
          <a:xfrm>
            <a:off x="4181094" y="3182112"/>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Prompts checked with Azure AI Content Safety; blocked with 403</a:t>
            </a:r>
          </a:p>
        </p:txBody>
      </p:sp>
      <p:sp>
        <p:nvSpPr>
          <p:cNvPr id="29" name="Rectangle 28"/>
          <p:cNvSpPr/>
          <p:nvPr/>
        </p:nvSpPr>
        <p:spPr>
          <a:xfrm>
            <a:off x="457200" y="3621024"/>
            <a:ext cx="6537960" cy="48920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4110228"/>
            <a:ext cx="6537960" cy="0"/>
          </a:xfrm>
          <a:prstGeom prst="line">
            <a:avLst/>
          </a:prstGeom>
          <a:ln w="9525">
            <a:solidFill>
              <a:srgbClr val="E1E7F4"/>
            </a:solidFill>
          </a:ln>
        </p:spPr>
      </p:cxnSp>
      <p:sp>
        <p:nvSpPr>
          <p:cNvPr id="31" name="TextBox 30"/>
          <p:cNvSpPr txBox="1"/>
          <p:nvPr/>
        </p:nvSpPr>
        <p:spPr>
          <a:xfrm>
            <a:off x="585216" y="3671316"/>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Semantic caching</a:t>
            </a:r>
          </a:p>
        </p:txBody>
      </p:sp>
      <p:sp>
        <p:nvSpPr>
          <p:cNvPr id="32" name="TextBox 31"/>
          <p:cNvSpPr txBox="1"/>
          <p:nvPr/>
        </p:nvSpPr>
        <p:spPr>
          <a:xfrm>
            <a:off x="1892808" y="3671316"/>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llm-semantic-cache-lookup / -store</a:t>
            </a:r>
          </a:p>
        </p:txBody>
      </p:sp>
      <p:sp>
        <p:nvSpPr>
          <p:cNvPr id="33" name="TextBox 32"/>
          <p:cNvSpPr txBox="1"/>
          <p:nvPr/>
        </p:nvSpPr>
        <p:spPr>
          <a:xfrm>
            <a:off x="4181094" y="3671316"/>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Similar prompts served from cache; needs a Redis-compatible cache</a:t>
            </a:r>
          </a:p>
        </p:txBody>
      </p:sp>
      <p:cxnSp>
        <p:nvCxnSpPr>
          <p:cNvPr id="34" name="Connector 33"/>
          <p:cNvCxnSpPr/>
          <p:nvPr/>
        </p:nvCxnSpPr>
        <p:spPr>
          <a:xfrm>
            <a:off x="457200" y="4599432"/>
            <a:ext cx="6537960" cy="0"/>
          </a:xfrm>
          <a:prstGeom prst="line">
            <a:avLst/>
          </a:prstGeom>
          <a:ln w="9525">
            <a:solidFill>
              <a:srgbClr val="E1E7F4"/>
            </a:solidFill>
          </a:ln>
        </p:spPr>
      </p:cxnSp>
      <p:sp>
        <p:nvSpPr>
          <p:cNvPr id="35" name="TextBox 34"/>
          <p:cNvSpPr txBox="1"/>
          <p:nvPr/>
        </p:nvSpPr>
        <p:spPr>
          <a:xfrm>
            <a:off x="585216" y="4160520"/>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Load balancing</a:t>
            </a:r>
          </a:p>
        </p:txBody>
      </p:sp>
      <p:sp>
        <p:nvSpPr>
          <p:cNvPr id="36" name="TextBox 35"/>
          <p:cNvSpPr txBox="1"/>
          <p:nvPr/>
        </p:nvSpPr>
        <p:spPr>
          <a:xfrm>
            <a:off x="1892808" y="4160520"/>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Backend pool and circuit breaker</a:t>
            </a:r>
          </a:p>
        </p:txBody>
      </p:sp>
      <p:sp>
        <p:nvSpPr>
          <p:cNvPr id="37" name="TextBox 36"/>
          <p:cNvSpPr txBox="1"/>
          <p:nvPr/>
        </p:nvSpPr>
        <p:spPr>
          <a:xfrm>
            <a:off x="4181094" y="4160520"/>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Round-robin, weighted or priority; trips on Retry-After</a:t>
            </a:r>
          </a:p>
        </p:txBody>
      </p:sp>
      <p:sp>
        <p:nvSpPr>
          <p:cNvPr id="38" name="Rectangle 37"/>
          <p:cNvSpPr/>
          <p:nvPr/>
        </p:nvSpPr>
        <p:spPr>
          <a:xfrm>
            <a:off x="457200" y="4599432"/>
            <a:ext cx="6537960" cy="48920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5088636"/>
            <a:ext cx="6537960" cy="0"/>
          </a:xfrm>
          <a:prstGeom prst="line">
            <a:avLst/>
          </a:prstGeom>
          <a:ln w="9525">
            <a:solidFill>
              <a:srgbClr val="E1E7F4"/>
            </a:solidFill>
          </a:ln>
        </p:spPr>
      </p:cxnSp>
      <p:sp>
        <p:nvSpPr>
          <p:cNvPr id="40" name="TextBox 39"/>
          <p:cNvSpPr txBox="1"/>
          <p:nvPr/>
        </p:nvSpPr>
        <p:spPr>
          <a:xfrm>
            <a:off x="585216" y="4649724"/>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Authentication</a:t>
            </a:r>
          </a:p>
        </p:txBody>
      </p:sp>
      <p:sp>
        <p:nvSpPr>
          <p:cNvPr id="41" name="TextBox 40"/>
          <p:cNvSpPr txBox="1"/>
          <p:nvPr/>
        </p:nvSpPr>
        <p:spPr>
          <a:xfrm>
            <a:off x="1892808" y="4649724"/>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identity to the backend</a:t>
            </a:r>
          </a:p>
        </p:txBody>
      </p:sp>
      <p:sp>
        <p:nvSpPr>
          <p:cNvPr id="42" name="TextBox 41"/>
          <p:cNvSpPr txBox="1"/>
          <p:nvPr/>
        </p:nvSpPr>
        <p:spPr>
          <a:xfrm>
            <a:off x="4181094" y="4649724"/>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model keys held by clients</a:t>
            </a:r>
          </a:p>
        </p:txBody>
      </p:sp>
      <p:cxnSp>
        <p:nvCxnSpPr>
          <p:cNvPr id="43" name="Connector 42"/>
          <p:cNvCxnSpPr/>
          <p:nvPr/>
        </p:nvCxnSpPr>
        <p:spPr>
          <a:xfrm>
            <a:off x="1764792" y="1664208"/>
            <a:ext cx="0" cy="3424428"/>
          </a:xfrm>
          <a:prstGeom prst="line">
            <a:avLst/>
          </a:prstGeom>
          <a:ln w="9525">
            <a:solidFill>
              <a:srgbClr val="E1E7F4"/>
            </a:solidFill>
          </a:ln>
        </p:spPr>
      </p:cxnSp>
      <p:cxnSp>
        <p:nvCxnSpPr>
          <p:cNvPr id="44" name="Connector 43"/>
          <p:cNvCxnSpPr/>
          <p:nvPr/>
        </p:nvCxnSpPr>
        <p:spPr>
          <a:xfrm>
            <a:off x="4053078" y="1664208"/>
            <a:ext cx="0" cy="3424428"/>
          </a:xfrm>
          <a:prstGeom prst="line">
            <a:avLst/>
          </a:prstGeom>
          <a:ln w="9525">
            <a:solidFill>
              <a:srgbClr val="E1E7F4"/>
            </a:solidFill>
          </a:ln>
        </p:spPr>
      </p:cxnSp>
      <p:sp>
        <p:nvSpPr>
          <p:cNvPr id="45" name="Rectangle 44"/>
          <p:cNvSpPr/>
          <p:nvPr/>
        </p:nvSpPr>
        <p:spPr>
          <a:xfrm>
            <a:off x="7269480" y="1353312"/>
            <a:ext cx="4465015" cy="2852928"/>
          </a:xfrm>
          <a:prstGeom prst="rect">
            <a:avLst/>
          </a:prstGeom>
          <a:solidFill>
            <a:srgbClr val="0B1229"/>
          </a:solidFill>
          <a:ln>
            <a:noFill/>
          </a:ln>
          <a:effectLst/>
        </p:spPr>
        <p:txBody>
          <a:bodyPr wrap="square" rtlCol="0" anchor="ctr"/>
          <a:lstStyle/>
          <a:p>
            <a:endParaRPr/>
          </a:p>
        </p:txBody>
      </p:sp>
      <p:sp>
        <p:nvSpPr>
          <p:cNvPr id="46" name="TextBox 45"/>
          <p:cNvSpPr txBox="1"/>
          <p:nvPr/>
        </p:nvSpPr>
        <p:spPr>
          <a:xfrm>
            <a:off x="7488936" y="1499616"/>
            <a:ext cx="4026103"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 API MANAGEMENT POLICY (ILLUSTRATIVE)</a:t>
            </a:r>
          </a:p>
        </p:txBody>
      </p:sp>
      <p:sp>
        <p:nvSpPr>
          <p:cNvPr id="47" name="TextBox 46"/>
          <p:cNvSpPr txBox="1"/>
          <p:nvPr/>
        </p:nvSpPr>
        <p:spPr>
          <a:xfrm>
            <a:off x="7488936" y="1737360"/>
            <a:ext cx="4026103" cy="2340864"/>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&lt;inbound&gt;</a:t>
            </a:r>
          </a:p>
          <a:p>
            <a:pPr algn="l">
              <a:lnSpc>
                <a:spcPct val="128000"/>
              </a:lnSpc>
            </a:pPr>
            <a:r>
              <a:rPr sz="800" b="0" i="0" dirty="0">
                <a:solidFill>
                  <a:srgbClr val="D6DEEE"/>
                </a:solidFill>
                <a:latin typeface="Consolas"/>
                <a:cs typeface="Consolas"/>
              </a:rPr>
              <a:t>  &lt;base /&gt;</a:t>
            </a:r>
          </a:p>
          <a:p>
            <a:pPr algn="l">
              <a:lnSpc>
                <a:spcPct val="128000"/>
              </a:lnSpc>
            </a:pPr>
            <a:r>
              <a:rPr sz="800" b="0" i="0" dirty="0">
                <a:solidFill>
                  <a:srgbClr val="D6DEEE"/>
                </a:solidFill>
                <a:latin typeface="Consolas"/>
                <a:cs typeface="Consolas"/>
              </a:rPr>
              <a:t>  &lt;authentication-managed-identity</a:t>
            </a:r>
          </a:p>
          <a:p>
            <a:pPr algn="l">
              <a:lnSpc>
                <a:spcPct val="128000"/>
              </a:lnSpc>
            </a:pPr>
            <a:r>
              <a:rPr sz="800" b="0" i="0" dirty="0">
                <a:solidFill>
                  <a:srgbClr val="D6DEEE"/>
                </a:solidFill>
                <a:latin typeface="Consolas"/>
                <a:cs typeface="Consolas"/>
              </a:rPr>
              <a:t>      resource="https://cognitiveservices.azure.com" /&gt;</a:t>
            </a:r>
          </a:p>
          <a:p>
            <a:pPr algn="l">
              <a:lnSpc>
                <a:spcPct val="128000"/>
              </a:lnSpc>
            </a:pPr>
            <a:r>
              <a:rPr sz="800" b="0" i="0" dirty="0">
                <a:solidFill>
                  <a:srgbClr val="D6DEEE"/>
                </a:solidFill>
                <a:latin typeface="Consolas"/>
                <a:cs typeface="Consolas"/>
              </a:rPr>
              <a:t>  &lt;llm-token-limit</a:t>
            </a:r>
          </a:p>
          <a:p>
            <a:pPr algn="l">
              <a:lnSpc>
                <a:spcPct val="128000"/>
              </a:lnSpc>
            </a:pPr>
            <a:r>
              <a:rPr sz="800" b="0" i="0" dirty="0">
                <a:solidFill>
                  <a:srgbClr val="D6DEEE"/>
                </a:solidFill>
                <a:latin typeface="Consolas"/>
                <a:cs typeface="Consolas"/>
              </a:rPr>
              <a:t>      counter-key="@(context.Subscription.Id)"</a:t>
            </a:r>
          </a:p>
          <a:p>
            <a:pPr algn="l">
              <a:lnSpc>
                <a:spcPct val="128000"/>
              </a:lnSpc>
            </a:pPr>
            <a:r>
              <a:rPr sz="800" b="0" i="0" dirty="0">
                <a:solidFill>
                  <a:srgbClr val="D6DEEE"/>
                </a:solidFill>
                <a:latin typeface="Consolas"/>
                <a:cs typeface="Consolas"/>
              </a:rPr>
              <a:t>      tokens-per-minute="5000"</a:t>
            </a:r>
          </a:p>
          <a:p>
            <a:pPr algn="l">
              <a:lnSpc>
                <a:spcPct val="128000"/>
              </a:lnSpc>
            </a:pPr>
            <a:r>
              <a:rPr sz="800" b="0" i="0" dirty="0">
                <a:solidFill>
                  <a:srgbClr val="D6DEEE"/>
                </a:solidFill>
                <a:latin typeface="Consolas"/>
                <a:cs typeface="Consolas"/>
              </a:rPr>
              <a:t>      token-quota="100000" token-quota-period="Monthly"</a:t>
            </a:r>
          </a:p>
          <a:p>
            <a:pPr algn="l">
              <a:lnSpc>
                <a:spcPct val="128000"/>
              </a:lnSpc>
            </a:pPr>
            <a:r>
              <a:rPr sz="800" b="0" i="0" dirty="0">
                <a:solidFill>
                  <a:srgbClr val="D6DEEE"/>
                </a:solidFill>
                <a:latin typeface="Consolas"/>
                <a:cs typeface="Consolas"/>
              </a:rPr>
              <a:t>      estimate-prompt-tokens="true" /&gt;</a:t>
            </a:r>
          </a:p>
          <a:p>
            <a:pPr algn="l">
              <a:lnSpc>
                <a:spcPct val="128000"/>
              </a:lnSpc>
            </a:pPr>
            <a:r>
              <a:rPr sz="800" b="0" i="0" dirty="0">
                <a:solidFill>
                  <a:srgbClr val="D6DEEE"/>
                </a:solidFill>
                <a:latin typeface="Consolas"/>
                <a:cs typeface="Consolas"/>
              </a:rPr>
              <a:t>  &lt;llm-emit-token-metric namespace="ai-usage"&gt;</a:t>
            </a:r>
          </a:p>
          <a:p>
            <a:pPr algn="l">
              <a:lnSpc>
                <a:spcPct val="128000"/>
              </a:lnSpc>
            </a:pPr>
            <a:r>
              <a:rPr sz="800" b="0" i="0" dirty="0">
                <a:solidFill>
                  <a:srgbClr val="D6DEEE"/>
                </a:solidFill>
                <a:latin typeface="Consolas"/>
                <a:cs typeface="Consolas"/>
              </a:rPr>
              <a:t>      &lt;dimension name="Subscription ID" /&gt;</a:t>
            </a:r>
          </a:p>
          <a:p>
            <a:pPr algn="l">
              <a:lnSpc>
                <a:spcPct val="128000"/>
              </a:lnSpc>
            </a:pPr>
            <a:r>
              <a:rPr sz="800" b="0" i="0" dirty="0">
                <a:solidFill>
                  <a:srgbClr val="D6DEEE"/>
                </a:solidFill>
                <a:latin typeface="Consolas"/>
                <a:cs typeface="Consolas"/>
              </a:rPr>
              <a:t>  &lt;/llm-emit-token-metric&gt;</a:t>
            </a:r>
          </a:p>
          <a:p>
            <a:pPr algn="l">
              <a:lnSpc>
                <a:spcPct val="128000"/>
              </a:lnSpc>
            </a:pPr>
            <a:r>
              <a:rPr sz="800" b="0" i="0" dirty="0">
                <a:solidFill>
                  <a:srgbClr val="D6DEEE"/>
                </a:solidFill>
                <a:latin typeface="Consolas"/>
                <a:cs typeface="Consolas"/>
              </a:rPr>
              <a:t>&lt;/inbound&gt;</a:t>
            </a:r>
          </a:p>
        </p:txBody>
      </p:sp>
      <p:sp>
        <p:nvSpPr>
          <p:cNvPr id="48" name="Rectangle 47"/>
          <p:cNvSpPr/>
          <p:nvPr/>
        </p:nvSpPr>
        <p:spPr>
          <a:xfrm>
            <a:off x="7269480" y="4370832"/>
            <a:ext cx="4465015" cy="987552"/>
          </a:xfrm>
          <a:prstGeom prst="rect">
            <a:avLst/>
          </a:prstGeom>
          <a:solidFill>
            <a:srgbClr val="F6F8FD"/>
          </a:solidFill>
          <a:ln w="9525">
            <a:solidFill>
              <a:srgbClr val="E1E7F4"/>
            </a:solidFill>
          </a:ln>
          <a:effectLst/>
        </p:spPr>
        <p:txBody>
          <a:bodyPr wrap="square" rtlCol="0" anchor="ctr"/>
          <a:lstStyle/>
          <a:p>
            <a:endParaRPr/>
          </a:p>
        </p:txBody>
      </p:sp>
      <p:sp>
        <p:nvSpPr>
          <p:cNvPr id="49" name="Rectangle 48"/>
          <p:cNvSpPr/>
          <p:nvPr/>
        </p:nvSpPr>
        <p:spPr>
          <a:xfrm>
            <a:off x="7269480" y="4370832"/>
            <a:ext cx="41148" cy="987552"/>
          </a:xfrm>
          <a:prstGeom prst="rect">
            <a:avLst/>
          </a:prstGeom>
          <a:solidFill>
            <a:srgbClr val="00B39F"/>
          </a:solidFill>
          <a:ln>
            <a:noFill/>
          </a:ln>
          <a:effectLst/>
        </p:spPr>
        <p:txBody>
          <a:bodyPr wrap="square" rtlCol="0" anchor="ctr"/>
          <a:lstStyle/>
          <a:p>
            <a:endParaRPr/>
          </a:p>
        </p:txBody>
      </p:sp>
      <p:sp>
        <p:nvSpPr>
          <p:cNvPr id="50" name="TextBox 49"/>
          <p:cNvSpPr txBox="1"/>
          <p:nvPr/>
        </p:nvSpPr>
        <p:spPr>
          <a:xfrm>
            <a:off x="7415783" y="4471416"/>
            <a:ext cx="4172407"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Same limits, no policy code*</a:t>
            </a:r>
          </a:p>
        </p:txBody>
      </p:sp>
      <p:sp>
        <p:nvSpPr>
          <p:cNvPr id="51" name="TextBox 50"/>
          <p:cNvSpPr txBox="1"/>
          <p:nvPr/>
        </p:nvSpPr>
        <p:spPr>
          <a:xfrm>
            <a:off x="7415783" y="4713732"/>
            <a:ext cx="4172407" cy="59435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Foundry portal: Manage &gt; AI Gateway &gt; Token management sets a TPM limit and a token quota per project and deployment.</a:t>
            </a:r>
          </a:p>
        </p:txBody>
      </p:sp>
      <p:sp>
        <p:nvSpPr>
          <p:cNvPr id="52" name="TextBox 51"/>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GOVERNING MODELS, TOOLS AND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Tool and MCP server governance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Register MCP servers centrally, expose and secure them in API Management, and route Foundry tool calls through the gateway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learn.microsoft.com/azure/foundry/agents/how-to/tools/governance · api-management/mcp-server-overview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6</a:t>
            </a:r>
          </a:p>
        </p:txBody>
      </p:sp>
      <p:sp>
        <p:nvSpPr>
          <p:cNvPr id="7" name="Rectangle 6"/>
          <p:cNvSpPr/>
          <p:nvPr/>
        </p:nvSpPr>
        <p:spPr>
          <a:xfrm>
            <a:off x="457200" y="1371600"/>
            <a:ext cx="3624986" cy="310896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24986"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21792" y="1499616"/>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1</a:t>
            </a:r>
          </a:p>
        </p:txBody>
      </p:sp>
      <p:sp>
        <p:nvSpPr>
          <p:cNvPr id="10" name="TextBox 9"/>
          <p:cNvSpPr txBox="1"/>
          <p:nvPr/>
        </p:nvSpPr>
        <p:spPr>
          <a:xfrm>
            <a:off x="1024128" y="1527048"/>
            <a:ext cx="2939186" cy="237744"/>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Registry — Azure API Center</a:t>
            </a:r>
          </a:p>
        </p:txBody>
      </p:sp>
      <p:cxnSp>
        <p:nvCxnSpPr>
          <p:cNvPr id="11" name="Connector 10"/>
          <p:cNvCxnSpPr/>
          <p:nvPr/>
        </p:nvCxnSpPr>
        <p:spPr>
          <a:xfrm>
            <a:off x="621792" y="1901952"/>
            <a:ext cx="3295802" cy="0"/>
          </a:xfrm>
          <a:prstGeom prst="line">
            <a:avLst/>
          </a:prstGeom>
          <a:ln w="9525">
            <a:solidFill>
              <a:srgbClr val="E1E7F4"/>
            </a:solidFill>
          </a:ln>
        </p:spPr>
      </p:cxnSp>
      <p:sp>
        <p:nvSpPr>
          <p:cNvPr id="12" name="TextBox 11"/>
          <p:cNvSpPr txBox="1"/>
          <p:nvPr/>
        </p:nvSpPr>
        <p:spPr>
          <a:xfrm>
            <a:off x="621792" y="1965960"/>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Inventory  </a:t>
            </a:r>
            <a:r>
              <a:rPr sz="800" b="0" i="0" dirty="0">
                <a:solidFill>
                  <a:srgbClr val="44495B"/>
                </a:solidFill>
                <a:latin typeface="Segoe UI"/>
                <a:cs typeface="Segoe UI"/>
              </a:rPr>
              <a:t>One register of remote and local MCP servers</a:t>
            </a:r>
          </a:p>
        </p:txBody>
      </p:sp>
      <p:cxnSp>
        <p:nvCxnSpPr>
          <p:cNvPr id="13" name="Connector 12"/>
          <p:cNvCxnSpPr/>
          <p:nvPr/>
        </p:nvCxnSpPr>
        <p:spPr>
          <a:xfrm>
            <a:off x="621792" y="2523744"/>
            <a:ext cx="3295802" cy="0"/>
          </a:xfrm>
          <a:prstGeom prst="line">
            <a:avLst/>
          </a:prstGeom>
          <a:ln w="9525">
            <a:solidFill>
              <a:srgbClr val="E1E7F4"/>
            </a:solidFill>
          </a:ln>
        </p:spPr>
      </p:cxnSp>
      <p:sp>
        <p:nvSpPr>
          <p:cNvPr id="14" name="TextBox 13"/>
          <p:cNvSpPr txBox="1"/>
          <p:nvPr/>
        </p:nvSpPr>
        <p:spPr>
          <a:xfrm>
            <a:off x="621792" y="2587752"/>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Discovery  </a:t>
            </a:r>
            <a:r>
              <a:rPr sz="800" b="0" i="0" dirty="0">
                <a:solidFill>
                  <a:srgbClr val="44495B"/>
                </a:solidFill>
                <a:latin typeface="Segoe UI"/>
                <a:cs typeface="Segoe UI"/>
              </a:rPr>
              <a:t>MCP registry endpoint for Visual Studio Code and GitHub Copilot</a:t>
            </a:r>
          </a:p>
        </p:txBody>
      </p:sp>
      <p:cxnSp>
        <p:nvCxnSpPr>
          <p:cNvPr id="15" name="Connector 14"/>
          <p:cNvCxnSpPr/>
          <p:nvPr/>
        </p:nvCxnSpPr>
        <p:spPr>
          <a:xfrm>
            <a:off x="621792" y="3145536"/>
            <a:ext cx="3295802" cy="0"/>
          </a:xfrm>
          <a:prstGeom prst="line">
            <a:avLst/>
          </a:prstGeom>
          <a:ln w="9525">
            <a:solidFill>
              <a:srgbClr val="E1E7F4"/>
            </a:solidFill>
          </a:ln>
        </p:spPr>
      </p:cxnSp>
      <p:sp>
        <p:nvSpPr>
          <p:cNvPr id="16" name="TextBox 15"/>
          <p:cNvSpPr txBox="1"/>
          <p:nvPr/>
        </p:nvSpPr>
        <p:spPr>
          <a:xfrm>
            <a:off x="621792" y="3209544"/>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Sync  </a:t>
            </a:r>
            <a:r>
              <a:rPr sz="800" b="0" i="0" dirty="0">
                <a:solidFill>
                  <a:srgbClr val="44495B"/>
                </a:solidFill>
                <a:latin typeface="Segoe UI"/>
                <a:cs typeface="Segoe UI"/>
              </a:rPr>
              <a:t>Servers can be synchronised automatically from API Management</a:t>
            </a:r>
          </a:p>
        </p:txBody>
      </p:sp>
      <p:cxnSp>
        <p:nvCxnSpPr>
          <p:cNvPr id="17" name="Connector 16"/>
          <p:cNvCxnSpPr/>
          <p:nvPr/>
        </p:nvCxnSpPr>
        <p:spPr>
          <a:xfrm>
            <a:off x="621792" y="3767328"/>
            <a:ext cx="3295802" cy="0"/>
          </a:xfrm>
          <a:prstGeom prst="line">
            <a:avLst/>
          </a:prstGeom>
          <a:ln w="9525">
            <a:solidFill>
              <a:srgbClr val="E1E7F4"/>
            </a:solidFill>
          </a:ln>
        </p:spPr>
      </p:cxnSp>
      <p:sp>
        <p:nvSpPr>
          <p:cNvPr id="18" name="TextBox 17"/>
          <p:cNvSpPr txBox="1"/>
          <p:nvPr/>
        </p:nvSpPr>
        <p:spPr>
          <a:xfrm>
            <a:off x="621792" y="3831336"/>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Foundry  </a:t>
            </a:r>
            <a:r>
              <a:rPr sz="800" b="0" i="0" dirty="0">
                <a:solidFill>
                  <a:srgbClr val="44495B"/>
                </a:solidFill>
                <a:latin typeface="Segoe UI"/>
                <a:cs typeface="Segoe UI"/>
              </a:rPr>
              <a:t>Registered servers can feed Foundry tool catalogs</a:t>
            </a:r>
          </a:p>
        </p:txBody>
      </p:sp>
      <p:sp>
        <p:nvSpPr>
          <p:cNvPr id="19" name="Rectangle 18"/>
          <p:cNvSpPr/>
          <p:nvPr/>
        </p:nvSpPr>
        <p:spPr>
          <a:xfrm>
            <a:off x="4283354" y="1371600"/>
            <a:ext cx="3624986" cy="3108960"/>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283354" y="1371600"/>
            <a:ext cx="3624986" cy="41148"/>
          </a:xfrm>
          <a:prstGeom prst="rect">
            <a:avLst/>
          </a:prstGeom>
          <a:solidFill>
            <a:srgbClr val="00B39F"/>
          </a:solidFill>
          <a:ln>
            <a:noFill/>
          </a:ln>
          <a:effectLst/>
        </p:spPr>
        <p:txBody>
          <a:bodyPr wrap="square" rtlCol="0" anchor="ctr"/>
          <a:lstStyle/>
          <a:p>
            <a:endParaRPr/>
          </a:p>
        </p:txBody>
      </p:sp>
      <p:sp>
        <p:nvSpPr>
          <p:cNvPr id="21" name="TextBox 20"/>
          <p:cNvSpPr txBox="1"/>
          <p:nvPr/>
        </p:nvSpPr>
        <p:spPr>
          <a:xfrm>
            <a:off x="4447946" y="1499616"/>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2</a:t>
            </a:r>
          </a:p>
        </p:txBody>
      </p:sp>
      <p:sp>
        <p:nvSpPr>
          <p:cNvPr id="22" name="TextBox 21"/>
          <p:cNvSpPr txBox="1"/>
          <p:nvPr/>
        </p:nvSpPr>
        <p:spPr>
          <a:xfrm>
            <a:off x="4850282" y="1527048"/>
            <a:ext cx="2939186" cy="237744"/>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Gateway — API Management</a:t>
            </a:r>
          </a:p>
        </p:txBody>
      </p:sp>
      <p:cxnSp>
        <p:nvCxnSpPr>
          <p:cNvPr id="23" name="Connector 22"/>
          <p:cNvCxnSpPr/>
          <p:nvPr/>
        </p:nvCxnSpPr>
        <p:spPr>
          <a:xfrm>
            <a:off x="4447946" y="1901952"/>
            <a:ext cx="3295802" cy="0"/>
          </a:xfrm>
          <a:prstGeom prst="line">
            <a:avLst/>
          </a:prstGeom>
          <a:ln w="9525">
            <a:solidFill>
              <a:srgbClr val="E1E7F4"/>
            </a:solidFill>
          </a:ln>
        </p:spPr>
      </p:cxnSp>
      <p:sp>
        <p:nvSpPr>
          <p:cNvPr id="24" name="TextBox 23"/>
          <p:cNvSpPr txBox="1"/>
          <p:nvPr/>
        </p:nvSpPr>
        <p:spPr>
          <a:xfrm>
            <a:off x="4447946" y="1965960"/>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REST as MCP  </a:t>
            </a:r>
            <a:r>
              <a:rPr sz="800" b="0" i="0" dirty="0">
                <a:solidFill>
                  <a:srgbClr val="44495B"/>
                </a:solidFill>
                <a:latin typeface="Segoe UI"/>
                <a:cs typeface="Segoe UI"/>
              </a:rPr>
              <a:t>Existing REST API operations exposed as MCP tools</a:t>
            </a:r>
          </a:p>
        </p:txBody>
      </p:sp>
      <p:cxnSp>
        <p:nvCxnSpPr>
          <p:cNvPr id="25" name="Connector 24"/>
          <p:cNvCxnSpPr/>
          <p:nvPr/>
        </p:nvCxnSpPr>
        <p:spPr>
          <a:xfrm>
            <a:off x="4447946" y="2523744"/>
            <a:ext cx="3295802" cy="0"/>
          </a:xfrm>
          <a:prstGeom prst="line">
            <a:avLst/>
          </a:prstGeom>
          <a:ln w="9525">
            <a:solidFill>
              <a:srgbClr val="E1E7F4"/>
            </a:solidFill>
          </a:ln>
        </p:spPr>
      </p:cxnSp>
      <p:sp>
        <p:nvSpPr>
          <p:cNvPr id="26" name="TextBox 25"/>
          <p:cNvSpPr txBox="1"/>
          <p:nvPr/>
        </p:nvSpPr>
        <p:spPr>
          <a:xfrm>
            <a:off x="4447946" y="2587752"/>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Pass-through  </a:t>
            </a:r>
            <a:r>
              <a:rPr sz="800" b="0" i="0" dirty="0">
                <a:solidFill>
                  <a:srgbClr val="44495B"/>
                </a:solidFill>
                <a:latin typeface="Segoe UI"/>
                <a:cs typeface="Segoe UI"/>
              </a:rPr>
              <a:t>Existing MCP servers on MCP 2025-06-18 or later, Streamable HTTP or SSE</a:t>
            </a:r>
          </a:p>
        </p:txBody>
      </p:sp>
      <p:cxnSp>
        <p:nvCxnSpPr>
          <p:cNvPr id="27" name="Connector 26"/>
          <p:cNvCxnSpPr/>
          <p:nvPr/>
        </p:nvCxnSpPr>
        <p:spPr>
          <a:xfrm>
            <a:off x="4447946" y="3145536"/>
            <a:ext cx="3295802" cy="0"/>
          </a:xfrm>
          <a:prstGeom prst="line">
            <a:avLst/>
          </a:prstGeom>
          <a:ln w="9525">
            <a:solidFill>
              <a:srgbClr val="E1E7F4"/>
            </a:solidFill>
          </a:ln>
        </p:spPr>
      </p:cxnSp>
      <p:sp>
        <p:nvSpPr>
          <p:cNvPr id="28" name="TextBox 27"/>
          <p:cNvSpPr txBox="1"/>
          <p:nvPr/>
        </p:nvSpPr>
        <p:spPr>
          <a:xfrm>
            <a:off x="4447946" y="3209544"/>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Policies  </a:t>
            </a:r>
            <a:r>
              <a:rPr sz="800" b="0" i="0" dirty="0">
                <a:solidFill>
                  <a:srgbClr val="44495B"/>
                </a:solidFill>
                <a:latin typeface="Segoe UI"/>
                <a:cs typeface="Segoe UI"/>
              </a:rPr>
              <a:t>Rate limits, JWT validation, IP filtering, content safety on tool arguments and responses</a:t>
            </a:r>
          </a:p>
        </p:txBody>
      </p:sp>
      <p:cxnSp>
        <p:nvCxnSpPr>
          <p:cNvPr id="29" name="Connector 28"/>
          <p:cNvCxnSpPr/>
          <p:nvPr/>
        </p:nvCxnSpPr>
        <p:spPr>
          <a:xfrm>
            <a:off x="4447946" y="3767328"/>
            <a:ext cx="3295802" cy="0"/>
          </a:xfrm>
          <a:prstGeom prst="line">
            <a:avLst/>
          </a:prstGeom>
          <a:ln w="9525">
            <a:solidFill>
              <a:srgbClr val="E1E7F4"/>
            </a:solidFill>
          </a:ln>
        </p:spPr>
      </p:cxnSp>
      <p:sp>
        <p:nvSpPr>
          <p:cNvPr id="30" name="TextBox 29"/>
          <p:cNvSpPr txBox="1"/>
          <p:nvPr/>
        </p:nvSpPr>
        <p:spPr>
          <a:xfrm>
            <a:off x="4447946" y="3831336"/>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Limits  </a:t>
            </a:r>
            <a:r>
              <a:rPr sz="800" b="0" i="0" dirty="0">
                <a:solidFill>
                  <a:srgbClr val="44495B"/>
                </a:solidFill>
                <a:latin typeface="Segoe UI"/>
                <a:cs typeface="Segoe UI"/>
              </a:rPr>
              <a:t>Tools only — no MCP resources or prompts; not in workspaces or the Consumption tier</a:t>
            </a:r>
          </a:p>
        </p:txBody>
      </p:sp>
      <p:sp>
        <p:nvSpPr>
          <p:cNvPr id="31" name="Rectangle 30"/>
          <p:cNvSpPr/>
          <p:nvPr/>
        </p:nvSpPr>
        <p:spPr>
          <a:xfrm>
            <a:off x="8109508" y="1371600"/>
            <a:ext cx="3624986" cy="310896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109508" y="1371600"/>
            <a:ext cx="3624986" cy="41148"/>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8274100" y="1499616"/>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3</a:t>
            </a:r>
          </a:p>
        </p:txBody>
      </p:sp>
      <p:sp>
        <p:nvSpPr>
          <p:cNvPr id="34" name="TextBox 33"/>
          <p:cNvSpPr txBox="1"/>
          <p:nvPr/>
        </p:nvSpPr>
        <p:spPr>
          <a:xfrm>
            <a:off x="8676436" y="1527048"/>
            <a:ext cx="2939186" cy="237744"/>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Foundry tools through AI Gateway*</a:t>
            </a:r>
          </a:p>
        </p:txBody>
      </p:sp>
      <p:cxnSp>
        <p:nvCxnSpPr>
          <p:cNvPr id="35" name="Connector 34"/>
          <p:cNvCxnSpPr/>
          <p:nvPr/>
        </p:nvCxnSpPr>
        <p:spPr>
          <a:xfrm>
            <a:off x="8274100" y="1901952"/>
            <a:ext cx="3295803" cy="0"/>
          </a:xfrm>
          <a:prstGeom prst="line">
            <a:avLst/>
          </a:prstGeom>
          <a:ln w="9525">
            <a:solidFill>
              <a:srgbClr val="E1E7F4"/>
            </a:solidFill>
          </a:ln>
        </p:spPr>
      </p:cxnSp>
      <p:sp>
        <p:nvSpPr>
          <p:cNvPr id="36" name="TextBox 35"/>
          <p:cNvSpPr txBox="1"/>
          <p:nvPr/>
        </p:nvSpPr>
        <p:spPr>
          <a:xfrm>
            <a:off x="8274100" y="1965960"/>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Scope  </a:t>
            </a:r>
            <a:r>
              <a:rPr sz="800" b="0" i="0" dirty="0">
                <a:solidFill>
                  <a:srgbClr val="44495B"/>
                </a:solidFill>
                <a:latin typeface="Segoe UI"/>
                <a:cs typeface="Segoe UI"/>
              </a:rPr>
              <a:t>New MCP tools created in the Foundry portal, without managed OAuth</a:t>
            </a:r>
          </a:p>
        </p:txBody>
      </p:sp>
      <p:cxnSp>
        <p:nvCxnSpPr>
          <p:cNvPr id="37" name="Connector 36"/>
          <p:cNvCxnSpPr/>
          <p:nvPr/>
        </p:nvCxnSpPr>
        <p:spPr>
          <a:xfrm>
            <a:off x="8274100" y="2523744"/>
            <a:ext cx="3295803" cy="0"/>
          </a:xfrm>
          <a:prstGeom prst="line">
            <a:avLst/>
          </a:prstGeom>
          <a:ln w="9525">
            <a:solidFill>
              <a:srgbClr val="E1E7F4"/>
            </a:solidFill>
          </a:ln>
        </p:spPr>
      </p:cxnSp>
      <p:sp>
        <p:nvSpPr>
          <p:cNvPr id="38" name="TextBox 37"/>
          <p:cNvSpPr txBox="1"/>
          <p:nvPr/>
        </p:nvSpPr>
        <p:spPr>
          <a:xfrm>
            <a:off x="8274100" y="2587752"/>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Routing  </a:t>
            </a:r>
            <a:r>
              <a:rPr sz="800" b="0" i="0" dirty="0">
                <a:solidFill>
                  <a:srgbClr val="44495B"/>
                </a:solidFill>
                <a:latin typeface="Segoe UI"/>
                <a:cs typeface="Segoe UI"/>
              </a:rPr>
              <a:t>The tool endpoint is rewritten to the gateway URL</a:t>
            </a:r>
          </a:p>
        </p:txBody>
      </p:sp>
      <p:cxnSp>
        <p:nvCxnSpPr>
          <p:cNvPr id="39" name="Connector 38"/>
          <p:cNvCxnSpPr/>
          <p:nvPr/>
        </p:nvCxnSpPr>
        <p:spPr>
          <a:xfrm>
            <a:off x="8274100" y="3145536"/>
            <a:ext cx="3295803" cy="0"/>
          </a:xfrm>
          <a:prstGeom prst="line">
            <a:avLst/>
          </a:prstGeom>
          <a:ln w="9525">
            <a:solidFill>
              <a:srgbClr val="E1E7F4"/>
            </a:solidFill>
          </a:ln>
        </p:spPr>
      </p:cxnSp>
      <p:sp>
        <p:nvSpPr>
          <p:cNvPr id="40" name="TextBox 39"/>
          <p:cNvSpPr txBox="1"/>
          <p:nvPr/>
        </p:nvSpPr>
        <p:spPr>
          <a:xfrm>
            <a:off x="8274100" y="3209544"/>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Policies  </a:t>
            </a:r>
            <a:r>
              <a:rPr sz="800" b="0" i="0" dirty="0">
                <a:solidFill>
                  <a:srgbClr val="44495B"/>
                </a:solidFill>
                <a:latin typeface="Segoe UI"/>
                <a:cs typeface="Segoe UI"/>
              </a:rPr>
              <a:t>Applied in the Azure portal, for example rate-limit-by-key and ip-filter</a:t>
            </a:r>
          </a:p>
        </p:txBody>
      </p:sp>
      <p:cxnSp>
        <p:nvCxnSpPr>
          <p:cNvPr id="41" name="Connector 40"/>
          <p:cNvCxnSpPr/>
          <p:nvPr/>
        </p:nvCxnSpPr>
        <p:spPr>
          <a:xfrm>
            <a:off x="8274100" y="3767328"/>
            <a:ext cx="3295803" cy="0"/>
          </a:xfrm>
          <a:prstGeom prst="line">
            <a:avLst/>
          </a:prstGeom>
          <a:ln w="9525">
            <a:solidFill>
              <a:srgbClr val="E1E7F4"/>
            </a:solidFill>
          </a:ln>
        </p:spPr>
      </p:cxnSp>
      <p:sp>
        <p:nvSpPr>
          <p:cNvPr id="42" name="TextBox 41"/>
          <p:cNvSpPr txBox="1"/>
          <p:nvPr/>
        </p:nvSpPr>
        <p:spPr>
          <a:xfrm>
            <a:off x="8274100" y="3831336"/>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Not covered  </a:t>
            </a:r>
            <a:r>
              <a:rPr sz="800" b="0" i="0" dirty="0">
                <a:solidFill>
                  <a:srgbClr val="44495B"/>
                </a:solidFill>
                <a:latin typeface="Segoe UI"/>
                <a:cs typeface="Segoe UI"/>
              </a:rPr>
              <a:t>Built-in Foundry tools, code-first MCP, OpenAPI tools, existing tools; no tool traces</a:t>
            </a:r>
          </a:p>
        </p:txBody>
      </p:sp>
      <p:sp>
        <p:nvSpPr>
          <p:cNvPr id="43" name="Rectangle 42"/>
          <p:cNvSpPr/>
          <p:nvPr/>
        </p:nvSpPr>
        <p:spPr>
          <a:xfrm>
            <a:off x="457200" y="4663440"/>
            <a:ext cx="11277295" cy="365760"/>
          </a:xfrm>
          <a:prstGeom prst="rect">
            <a:avLst/>
          </a:prstGeom>
          <a:solidFill>
            <a:srgbClr val="EBEFF7"/>
          </a:solidFill>
          <a:ln>
            <a:noFill/>
          </a:ln>
          <a:effectLst/>
        </p:spPr>
        <p:txBody>
          <a:bodyPr wrap="square" rtlCol="0" anchor="ctr"/>
          <a:lstStyle/>
          <a:p>
            <a:endParaRPr/>
          </a:p>
        </p:txBody>
      </p:sp>
      <p:sp>
        <p:nvSpPr>
          <p:cNvPr id="44" name="Rectangle 43"/>
          <p:cNvSpPr/>
          <p:nvPr/>
        </p:nvSpPr>
        <p:spPr>
          <a:xfrm>
            <a:off x="457200" y="4663440"/>
            <a:ext cx="41148" cy="365760"/>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694944" y="4764024"/>
            <a:ext cx="10856671" cy="182880"/>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Order of adoption: register first, then govern access at the gateway, then let agents consume from the catalog.</a:t>
            </a:r>
          </a:p>
        </p:txBody>
      </p:sp>
      <p:sp>
        <p:nvSpPr>
          <p:cNvPr id="46" name="TextBox 45"/>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GOVERNING MODELS, TOOLS AND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Agent governance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Four mechanisms bring agents and their traffic under central control, each with a different traffic path</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learn.microsoft.com/azure/foundry/control-plane/register-custom-agent · api-management/agent-to-agent-api</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7</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283168"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051264"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Custom agent in Control Plane*</a:t>
            </a:r>
          </a:p>
        </p:txBody>
      </p:sp>
      <p:sp>
        <p:nvSpPr>
          <p:cNvPr id="10" name="TextBox 9"/>
          <p:cNvSpPr txBox="1"/>
          <p:nvPr/>
        </p:nvSpPr>
        <p:spPr>
          <a:xfrm>
            <a:off x="4532269" y="1431036"/>
            <a:ext cx="207257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External agent*</a:t>
            </a:r>
          </a:p>
        </p:txBody>
      </p:sp>
      <p:sp>
        <p:nvSpPr>
          <p:cNvPr id="11" name="TextBox 10"/>
          <p:cNvSpPr txBox="1"/>
          <p:nvPr/>
        </p:nvSpPr>
        <p:spPr>
          <a:xfrm>
            <a:off x="6787728"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A2A agent API in API Management</a:t>
            </a:r>
          </a:p>
        </p:txBody>
      </p:sp>
      <p:sp>
        <p:nvSpPr>
          <p:cNvPr id="12" name="TextBox 11"/>
          <p:cNvSpPr txBox="1"/>
          <p:nvPr/>
        </p:nvSpPr>
        <p:spPr>
          <a:xfrm>
            <a:off x="9268733" y="1431036"/>
            <a:ext cx="2410897"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Agent model calls through a gateway</a:t>
            </a:r>
          </a:p>
        </p:txBody>
      </p:sp>
      <p:sp>
        <p:nvSpPr>
          <p:cNvPr id="13" name="Rectangle 12"/>
          <p:cNvSpPr/>
          <p:nvPr/>
        </p:nvSpPr>
        <p:spPr>
          <a:xfrm>
            <a:off x="457200" y="1664208"/>
            <a:ext cx="11277295" cy="530352"/>
          </a:xfrm>
          <a:prstGeom prst="rect">
            <a:avLst/>
          </a:prstGeom>
          <a:solidFill>
            <a:srgbClr val="F6F8FD"/>
          </a:solidFill>
          <a:ln>
            <a:noFill/>
          </a:ln>
          <a:effectLst/>
        </p:spPr>
        <p:txBody>
          <a:bodyPr wrap="square" rtlCol="0" anchor="ctr"/>
          <a:lstStyle/>
          <a:p>
            <a:endParaRPr/>
          </a:p>
        </p:txBody>
      </p:sp>
      <p:cxnSp>
        <p:nvCxnSpPr>
          <p:cNvPr id="14" name="Connector 13"/>
          <p:cNvCxnSpPr/>
          <p:nvPr/>
        </p:nvCxnSpPr>
        <p:spPr>
          <a:xfrm>
            <a:off x="457200" y="2194560"/>
            <a:ext cx="11277295" cy="0"/>
          </a:xfrm>
          <a:prstGeom prst="line">
            <a:avLst/>
          </a:prstGeom>
          <a:ln w="9525">
            <a:solidFill>
              <a:srgbClr val="E1E7F4"/>
            </a:solidFill>
          </a:ln>
        </p:spPr>
      </p:cxnSp>
      <p:sp>
        <p:nvSpPr>
          <p:cNvPr id="15" name="TextBox 14"/>
          <p:cNvSpPr txBox="1"/>
          <p:nvPr/>
        </p:nvSpPr>
        <p:spPr>
          <a:xfrm>
            <a:off x="585216" y="1714500"/>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What is governed</a:t>
            </a:r>
          </a:p>
        </p:txBody>
      </p:sp>
      <p:sp>
        <p:nvSpPr>
          <p:cNvPr id="16" name="TextBox 15"/>
          <p:cNvSpPr txBox="1"/>
          <p:nvPr/>
        </p:nvSpPr>
        <p:spPr>
          <a:xfrm>
            <a:off x="2051264" y="1714500"/>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Incoming calls to an agent hosted anywhere</a:t>
            </a:r>
          </a:p>
        </p:txBody>
      </p:sp>
      <p:sp>
        <p:nvSpPr>
          <p:cNvPr id="17" name="TextBox 16"/>
          <p:cNvSpPr txBox="1"/>
          <p:nvPr/>
        </p:nvSpPr>
        <p:spPr>
          <a:xfrm>
            <a:off x="4532269" y="1714500"/>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Inventory and telemetry only</a:t>
            </a:r>
          </a:p>
        </p:txBody>
      </p:sp>
      <p:sp>
        <p:nvSpPr>
          <p:cNvPr id="18" name="TextBox 17"/>
          <p:cNvSpPr txBox="1"/>
          <p:nvPr/>
        </p:nvSpPr>
        <p:spPr>
          <a:xfrm>
            <a:off x="6787728" y="1714500"/>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Agent-to-agent JSON-RPC traffic</a:t>
            </a:r>
          </a:p>
        </p:txBody>
      </p:sp>
      <p:sp>
        <p:nvSpPr>
          <p:cNvPr id="19" name="TextBox 18"/>
          <p:cNvSpPr txBox="1"/>
          <p:nvPr/>
        </p:nvSpPr>
        <p:spPr>
          <a:xfrm>
            <a:off x="9268733" y="1714500"/>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 calls made by Foundry prompt agents</a:t>
            </a:r>
          </a:p>
        </p:txBody>
      </p:sp>
      <p:cxnSp>
        <p:nvCxnSpPr>
          <p:cNvPr id="20" name="Connector 19"/>
          <p:cNvCxnSpPr/>
          <p:nvPr/>
        </p:nvCxnSpPr>
        <p:spPr>
          <a:xfrm>
            <a:off x="457200" y="2724912"/>
            <a:ext cx="11277295" cy="0"/>
          </a:xfrm>
          <a:prstGeom prst="line">
            <a:avLst/>
          </a:prstGeom>
          <a:ln w="9525">
            <a:solidFill>
              <a:srgbClr val="E1E7F4"/>
            </a:solidFill>
          </a:ln>
        </p:spPr>
      </p:cxnSp>
      <p:sp>
        <p:nvSpPr>
          <p:cNvPr id="21" name="TextBox 20"/>
          <p:cNvSpPr txBox="1"/>
          <p:nvPr/>
        </p:nvSpPr>
        <p:spPr>
          <a:xfrm>
            <a:off x="585216" y="2244852"/>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Gateway in the path</a:t>
            </a:r>
          </a:p>
        </p:txBody>
      </p:sp>
      <p:sp>
        <p:nvSpPr>
          <p:cNvPr id="22" name="TextBox 21"/>
          <p:cNvSpPr txBox="1"/>
          <p:nvPr/>
        </p:nvSpPr>
        <p:spPr>
          <a:xfrm>
            <a:off x="2051264" y="2244852"/>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Yes — Foundry issues a new proxy URL</a:t>
            </a:r>
          </a:p>
        </p:txBody>
      </p:sp>
      <p:sp>
        <p:nvSpPr>
          <p:cNvPr id="23" name="TextBox 22"/>
          <p:cNvSpPr txBox="1"/>
          <p:nvPr/>
        </p:nvSpPr>
        <p:spPr>
          <a:xfrm>
            <a:off x="4532269" y="2244852"/>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 the agent keeps its own endpoint</a:t>
            </a:r>
          </a:p>
        </p:txBody>
      </p:sp>
      <p:sp>
        <p:nvSpPr>
          <p:cNvPr id="24" name="TextBox 23"/>
          <p:cNvSpPr txBox="1"/>
          <p:nvPr/>
        </p:nvSpPr>
        <p:spPr>
          <a:xfrm>
            <a:off x="6787728" y="2244852"/>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Yes — agent card host rewritten to the gateway</a:t>
            </a:r>
          </a:p>
        </p:txBody>
      </p:sp>
      <p:sp>
        <p:nvSpPr>
          <p:cNvPr id="25" name="TextBox 24"/>
          <p:cNvSpPr txBox="1"/>
          <p:nvPr/>
        </p:nvSpPr>
        <p:spPr>
          <a:xfrm>
            <a:off x="9268733" y="2244852"/>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Yes — through an admin-connected deployment</a:t>
            </a:r>
          </a:p>
        </p:txBody>
      </p:sp>
      <p:sp>
        <p:nvSpPr>
          <p:cNvPr id="26" name="Rectangle 25"/>
          <p:cNvSpPr/>
          <p:nvPr/>
        </p:nvSpPr>
        <p:spPr>
          <a:xfrm>
            <a:off x="457200" y="2724912"/>
            <a:ext cx="11277295" cy="530352"/>
          </a:xfrm>
          <a:prstGeom prst="rect">
            <a:avLst/>
          </a:prstGeom>
          <a:solidFill>
            <a:srgbClr val="F6F8FD"/>
          </a:solidFill>
          <a:ln>
            <a:noFill/>
          </a:ln>
          <a:effectLst/>
        </p:spPr>
        <p:txBody>
          <a:bodyPr wrap="square" rtlCol="0" anchor="ctr"/>
          <a:lstStyle/>
          <a:p>
            <a:endParaRPr/>
          </a:p>
        </p:txBody>
      </p:sp>
      <p:cxnSp>
        <p:nvCxnSpPr>
          <p:cNvPr id="27" name="Connector 26"/>
          <p:cNvCxnSpPr/>
          <p:nvPr/>
        </p:nvCxnSpPr>
        <p:spPr>
          <a:xfrm>
            <a:off x="457200" y="3255264"/>
            <a:ext cx="11277295" cy="0"/>
          </a:xfrm>
          <a:prstGeom prst="line">
            <a:avLst/>
          </a:prstGeom>
          <a:ln w="9525">
            <a:solidFill>
              <a:srgbClr val="E1E7F4"/>
            </a:solidFill>
          </a:ln>
        </p:spPr>
      </p:cxnSp>
      <p:sp>
        <p:nvSpPr>
          <p:cNvPr id="28" name="TextBox 27"/>
          <p:cNvSpPr txBox="1"/>
          <p:nvPr/>
        </p:nvSpPr>
        <p:spPr>
          <a:xfrm>
            <a:off x="585216" y="2775204"/>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Protocol</a:t>
            </a:r>
          </a:p>
        </p:txBody>
      </p:sp>
      <p:sp>
        <p:nvSpPr>
          <p:cNvPr id="29" name="TextBox 28"/>
          <p:cNvSpPr txBox="1"/>
          <p:nvPr/>
        </p:nvSpPr>
        <p:spPr>
          <a:xfrm>
            <a:off x="2051264" y="2775204"/>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HTTP or A2A</a:t>
            </a:r>
          </a:p>
        </p:txBody>
      </p:sp>
      <p:sp>
        <p:nvSpPr>
          <p:cNvPr id="30" name="TextBox 29"/>
          <p:cNvSpPr txBox="1"/>
          <p:nvPr/>
        </p:nvSpPr>
        <p:spPr>
          <a:xfrm>
            <a:off x="4532269" y="2775204"/>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OpenTelemetry for traces</a:t>
            </a:r>
          </a:p>
        </p:txBody>
      </p:sp>
      <p:sp>
        <p:nvSpPr>
          <p:cNvPr id="31" name="TextBox 30"/>
          <p:cNvSpPr txBox="1"/>
          <p:nvPr/>
        </p:nvSpPr>
        <p:spPr>
          <a:xfrm>
            <a:off x="6787728" y="2775204"/>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A2A, JSON-RPC only</a:t>
            </a:r>
          </a:p>
        </p:txBody>
      </p:sp>
      <p:sp>
        <p:nvSpPr>
          <p:cNvPr id="32" name="TextBox 31"/>
          <p:cNvSpPr txBox="1"/>
          <p:nvPr/>
        </p:nvSpPr>
        <p:spPr>
          <a:xfrm>
            <a:off x="9268733" y="2775204"/>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OpenAI-compatible chat completions</a:t>
            </a:r>
          </a:p>
        </p:txBody>
      </p:sp>
      <p:cxnSp>
        <p:nvCxnSpPr>
          <p:cNvPr id="33" name="Connector 32"/>
          <p:cNvCxnSpPr/>
          <p:nvPr/>
        </p:nvCxnSpPr>
        <p:spPr>
          <a:xfrm>
            <a:off x="457200" y="3785615"/>
            <a:ext cx="11277295" cy="0"/>
          </a:xfrm>
          <a:prstGeom prst="line">
            <a:avLst/>
          </a:prstGeom>
          <a:ln w="9525">
            <a:solidFill>
              <a:srgbClr val="E1E7F4"/>
            </a:solidFill>
          </a:ln>
        </p:spPr>
      </p:cxnSp>
      <p:sp>
        <p:nvSpPr>
          <p:cNvPr id="34" name="TextBox 33"/>
          <p:cNvSpPr txBox="1"/>
          <p:nvPr/>
        </p:nvSpPr>
        <p:spPr>
          <a:xfrm>
            <a:off x="585216" y="3305556"/>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Controls</a:t>
            </a:r>
          </a:p>
        </p:txBody>
      </p:sp>
      <p:sp>
        <p:nvSpPr>
          <p:cNvPr id="35" name="TextBox 34"/>
          <p:cNvSpPr txBox="1"/>
          <p:nvPr/>
        </p:nvSpPr>
        <p:spPr>
          <a:xfrm>
            <a:off x="2051264" y="3305556"/>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Block and unblock; monitoring; original authentication still applies</a:t>
            </a:r>
          </a:p>
        </p:txBody>
      </p:sp>
      <p:sp>
        <p:nvSpPr>
          <p:cNvPr id="36" name="TextBox 35"/>
          <p:cNvSpPr txBox="1"/>
          <p:nvPr/>
        </p:nvSpPr>
        <p:spPr>
          <a:xfrm>
            <a:off x="4532269" y="3305556"/>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Fleet visibility in the Control Plane</a:t>
            </a:r>
          </a:p>
        </p:txBody>
      </p:sp>
      <p:sp>
        <p:nvSpPr>
          <p:cNvPr id="37" name="TextBox 36"/>
          <p:cNvSpPr txBox="1"/>
          <p:nvPr/>
        </p:nvSpPr>
        <p:spPr>
          <a:xfrm>
            <a:off x="6787728" y="3305556"/>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API Management policy, including content safety</a:t>
            </a:r>
          </a:p>
        </p:txBody>
      </p:sp>
      <p:sp>
        <p:nvSpPr>
          <p:cNvPr id="38" name="TextBox 37"/>
          <p:cNvSpPr txBox="1"/>
          <p:nvPr/>
        </p:nvSpPr>
        <p:spPr>
          <a:xfrm>
            <a:off x="9268733" y="3305556"/>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policies on model traffic</a:t>
            </a:r>
          </a:p>
        </p:txBody>
      </p:sp>
      <p:sp>
        <p:nvSpPr>
          <p:cNvPr id="39" name="Rectangle 38"/>
          <p:cNvSpPr/>
          <p:nvPr/>
        </p:nvSpPr>
        <p:spPr>
          <a:xfrm>
            <a:off x="457200" y="3785615"/>
            <a:ext cx="11277295" cy="530352"/>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457200" y="4315968"/>
            <a:ext cx="11277295" cy="0"/>
          </a:xfrm>
          <a:prstGeom prst="line">
            <a:avLst/>
          </a:prstGeom>
          <a:ln w="9525">
            <a:solidFill>
              <a:srgbClr val="E1E7F4"/>
            </a:solidFill>
          </a:ln>
        </p:spPr>
      </p:cxnSp>
      <p:sp>
        <p:nvSpPr>
          <p:cNvPr id="41" name="TextBox 40"/>
          <p:cNvSpPr txBox="1"/>
          <p:nvPr/>
        </p:nvSpPr>
        <p:spPr>
          <a:xfrm>
            <a:off x="585216" y="3835907"/>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Prerequisite</a:t>
            </a:r>
          </a:p>
        </p:txBody>
      </p:sp>
      <p:sp>
        <p:nvSpPr>
          <p:cNvPr id="42" name="TextBox 41"/>
          <p:cNvSpPr txBox="1"/>
          <p:nvPr/>
        </p:nvSpPr>
        <p:spPr>
          <a:xfrm>
            <a:off x="2051264" y="3835907"/>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AI Gateway on the Foundry resource</a:t>
            </a:r>
          </a:p>
        </p:txBody>
      </p:sp>
      <p:sp>
        <p:nvSpPr>
          <p:cNvPr id="43" name="TextBox 42"/>
          <p:cNvSpPr txBox="1"/>
          <p:nvPr/>
        </p:nvSpPr>
        <p:spPr>
          <a:xfrm>
            <a:off x="4532269" y="3835907"/>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AI Gateway required</a:t>
            </a:r>
          </a:p>
        </p:txBody>
      </p:sp>
      <p:sp>
        <p:nvSpPr>
          <p:cNvPr id="44" name="TextBox 43"/>
          <p:cNvSpPr txBox="1"/>
          <p:nvPr/>
        </p:nvSpPr>
        <p:spPr>
          <a:xfrm>
            <a:off x="6787728" y="3835907"/>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classic or v2 tier</a:t>
            </a:r>
          </a:p>
        </p:txBody>
      </p:sp>
      <p:sp>
        <p:nvSpPr>
          <p:cNvPr id="45" name="TextBox 44"/>
          <p:cNvSpPr txBox="1"/>
          <p:nvPr/>
        </p:nvSpPr>
        <p:spPr>
          <a:xfrm>
            <a:off x="9268733" y="3835907"/>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connection in the project</a:t>
            </a:r>
          </a:p>
        </p:txBody>
      </p:sp>
      <p:cxnSp>
        <p:nvCxnSpPr>
          <p:cNvPr id="46" name="Connector 45"/>
          <p:cNvCxnSpPr/>
          <p:nvPr/>
        </p:nvCxnSpPr>
        <p:spPr>
          <a:xfrm>
            <a:off x="1923248" y="1664208"/>
            <a:ext cx="0" cy="2651760"/>
          </a:xfrm>
          <a:prstGeom prst="line">
            <a:avLst/>
          </a:prstGeom>
          <a:ln w="9525">
            <a:solidFill>
              <a:srgbClr val="E1E7F4"/>
            </a:solidFill>
          </a:ln>
        </p:spPr>
      </p:cxnSp>
      <p:cxnSp>
        <p:nvCxnSpPr>
          <p:cNvPr id="47" name="Connector 46"/>
          <p:cNvCxnSpPr/>
          <p:nvPr/>
        </p:nvCxnSpPr>
        <p:spPr>
          <a:xfrm>
            <a:off x="4404253" y="1664208"/>
            <a:ext cx="0" cy="2651760"/>
          </a:xfrm>
          <a:prstGeom prst="line">
            <a:avLst/>
          </a:prstGeom>
          <a:ln w="9525">
            <a:solidFill>
              <a:srgbClr val="E1E7F4"/>
            </a:solidFill>
          </a:ln>
        </p:spPr>
      </p:cxnSp>
      <p:cxnSp>
        <p:nvCxnSpPr>
          <p:cNvPr id="48" name="Connector 47"/>
          <p:cNvCxnSpPr/>
          <p:nvPr/>
        </p:nvCxnSpPr>
        <p:spPr>
          <a:xfrm>
            <a:off x="6659712" y="1664208"/>
            <a:ext cx="0" cy="2651760"/>
          </a:xfrm>
          <a:prstGeom prst="line">
            <a:avLst/>
          </a:prstGeom>
          <a:ln w="9525">
            <a:solidFill>
              <a:srgbClr val="E1E7F4"/>
            </a:solidFill>
          </a:ln>
        </p:spPr>
      </p:cxnSp>
      <p:cxnSp>
        <p:nvCxnSpPr>
          <p:cNvPr id="49" name="Connector 48"/>
          <p:cNvCxnSpPr/>
          <p:nvPr/>
        </p:nvCxnSpPr>
        <p:spPr>
          <a:xfrm>
            <a:off x="9140717" y="1664208"/>
            <a:ext cx="0" cy="2651760"/>
          </a:xfrm>
          <a:prstGeom prst="line">
            <a:avLst/>
          </a:prstGeom>
          <a:ln w="9525">
            <a:solidFill>
              <a:srgbClr val="E1E7F4"/>
            </a:solidFill>
          </a:ln>
        </p:spPr>
      </p:cxnSp>
      <p:sp>
        <p:nvSpPr>
          <p:cNvPr id="50" name="Rectangle 49"/>
          <p:cNvSpPr/>
          <p:nvPr/>
        </p:nvSpPr>
        <p:spPr>
          <a:xfrm>
            <a:off x="457200" y="4517136"/>
            <a:ext cx="11277295" cy="566928"/>
          </a:xfrm>
          <a:prstGeom prst="rect">
            <a:avLst/>
          </a:prstGeom>
          <a:solidFill>
            <a:srgbClr val="EBEFF7"/>
          </a:solidFill>
          <a:ln>
            <a:noFill/>
          </a:ln>
          <a:effectLst/>
        </p:spPr>
        <p:txBody>
          <a:bodyPr wrap="square" rtlCol="0" anchor="ctr"/>
          <a:lstStyle/>
          <a:p>
            <a:endParaRPr/>
          </a:p>
        </p:txBody>
      </p:sp>
      <p:sp>
        <p:nvSpPr>
          <p:cNvPr id="51" name="Rectangle 50"/>
          <p:cNvSpPr/>
          <p:nvPr/>
        </p:nvSpPr>
        <p:spPr>
          <a:xfrm>
            <a:off x="457200" y="4517136"/>
            <a:ext cx="41148" cy="566928"/>
          </a:xfrm>
          <a:prstGeom prst="rect">
            <a:avLst/>
          </a:prstGeom>
          <a:solidFill>
            <a:srgbClr val="00B39F"/>
          </a:solidFill>
          <a:ln>
            <a:noFill/>
          </a:ln>
          <a:effectLst/>
        </p:spPr>
        <p:txBody>
          <a:bodyPr wrap="square" rtlCol="0" anchor="ctr"/>
          <a:lstStyle/>
          <a:p>
            <a:endParaRPr/>
          </a:p>
        </p:txBody>
      </p:sp>
      <p:sp>
        <p:nvSpPr>
          <p:cNvPr id="52" name="TextBox 51"/>
          <p:cNvSpPr txBox="1"/>
          <p:nvPr/>
        </p:nvSpPr>
        <p:spPr>
          <a:xfrm>
            <a:off x="694944" y="4617720"/>
            <a:ext cx="10856671"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Foundry guardrails apply only to agents built in Foundry Agent Service, not to other agents registered in the Control Plane. For registered custom agents, content safety at the gateway (llm-content-safety) is the documented runtime control.</a:t>
            </a:r>
          </a:p>
        </p:txBody>
      </p:sp>
      <p:sp>
        <p:nvSpPr>
          <p:cNvPr id="53" name="TextBox 52"/>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governance controls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AI Gateway token limits compared with Foundry quota, API Management policies, Foundry guardrails, and Azure Policy and RBAC</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learn.microsoft.com/azure/foundry/guardrails/guardrails-overview · control-plane/overview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8</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226781"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1994877" y="1431036"/>
            <a:ext cx="167787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Foundry quota</a:t>
            </a:r>
          </a:p>
        </p:txBody>
      </p:sp>
      <p:sp>
        <p:nvSpPr>
          <p:cNvPr id="10" name="TextBox 9"/>
          <p:cNvSpPr txBox="1"/>
          <p:nvPr/>
        </p:nvSpPr>
        <p:spPr>
          <a:xfrm>
            <a:off x="3855631" y="1431036"/>
            <a:ext cx="173426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token limits*</a:t>
            </a:r>
          </a:p>
        </p:txBody>
      </p:sp>
      <p:sp>
        <p:nvSpPr>
          <p:cNvPr id="11" name="TextBox 10"/>
          <p:cNvSpPr txBox="1"/>
          <p:nvPr/>
        </p:nvSpPr>
        <p:spPr>
          <a:xfrm>
            <a:off x="5772771" y="1431036"/>
            <a:ext cx="190341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API Management AI policies</a:t>
            </a:r>
          </a:p>
        </p:txBody>
      </p:sp>
      <p:sp>
        <p:nvSpPr>
          <p:cNvPr id="12" name="TextBox 11"/>
          <p:cNvSpPr txBox="1"/>
          <p:nvPr/>
        </p:nvSpPr>
        <p:spPr>
          <a:xfrm>
            <a:off x="7859071" y="1431036"/>
            <a:ext cx="184703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Foundry guardrails</a:t>
            </a:r>
          </a:p>
        </p:txBody>
      </p:sp>
      <p:sp>
        <p:nvSpPr>
          <p:cNvPr id="13" name="TextBox 12"/>
          <p:cNvSpPr txBox="1"/>
          <p:nvPr/>
        </p:nvSpPr>
        <p:spPr>
          <a:xfrm>
            <a:off x="9888984" y="1431036"/>
            <a:ext cx="179064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Azure Policy and RBAC</a:t>
            </a:r>
          </a:p>
        </p:txBody>
      </p:sp>
      <p:sp>
        <p:nvSpPr>
          <p:cNvPr id="14" name="Rectangle 13"/>
          <p:cNvSpPr/>
          <p:nvPr/>
        </p:nvSpPr>
        <p:spPr>
          <a:xfrm>
            <a:off x="457200" y="1664208"/>
            <a:ext cx="11277295" cy="512064"/>
          </a:xfrm>
          <a:prstGeom prst="rect">
            <a:avLst/>
          </a:prstGeom>
          <a:solidFill>
            <a:srgbClr val="F6F8FD"/>
          </a:solidFill>
          <a:ln>
            <a:noFill/>
          </a:ln>
          <a:effectLst/>
        </p:spPr>
        <p:txBody>
          <a:bodyPr wrap="square" rtlCol="0" anchor="ctr"/>
          <a:lstStyle/>
          <a:p>
            <a:endParaRPr/>
          </a:p>
        </p:txBody>
      </p:sp>
      <p:cxnSp>
        <p:nvCxnSpPr>
          <p:cNvPr id="15" name="Connector 14"/>
          <p:cNvCxnSpPr/>
          <p:nvPr/>
        </p:nvCxnSpPr>
        <p:spPr>
          <a:xfrm>
            <a:off x="457200" y="2176272"/>
            <a:ext cx="11277295" cy="0"/>
          </a:xfrm>
          <a:prstGeom prst="line">
            <a:avLst/>
          </a:prstGeom>
          <a:ln w="9525">
            <a:solidFill>
              <a:srgbClr val="E1E7F4"/>
            </a:solidFill>
          </a:ln>
        </p:spPr>
      </p:cxnSp>
      <p:sp>
        <p:nvSpPr>
          <p:cNvPr id="16" name="TextBox 15"/>
          <p:cNvSpPr txBox="1"/>
          <p:nvPr/>
        </p:nvSpPr>
        <p:spPr>
          <a:xfrm>
            <a:off x="585216" y="1714500"/>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Controls</a:t>
            </a:r>
          </a:p>
        </p:txBody>
      </p:sp>
      <p:sp>
        <p:nvSpPr>
          <p:cNvPr id="17" name="TextBox 16"/>
          <p:cNvSpPr txBox="1"/>
          <p:nvPr/>
        </p:nvSpPr>
        <p:spPr>
          <a:xfrm>
            <a:off x="1994877" y="1714500"/>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 deployment capacity in TPM</a:t>
            </a:r>
          </a:p>
        </p:txBody>
      </p:sp>
      <p:sp>
        <p:nvSpPr>
          <p:cNvPr id="18" name="TextBox 17"/>
          <p:cNvSpPr txBox="1"/>
          <p:nvPr/>
        </p:nvSpPr>
        <p:spPr>
          <a:xfrm>
            <a:off x="3855631" y="1714500"/>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TPM and token quota per project</a:t>
            </a:r>
          </a:p>
        </p:txBody>
      </p:sp>
      <p:sp>
        <p:nvSpPr>
          <p:cNvPr id="19" name="TextBox 18"/>
          <p:cNvSpPr txBox="1"/>
          <p:nvPr/>
        </p:nvSpPr>
        <p:spPr>
          <a:xfrm>
            <a:off x="5772771" y="1714500"/>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Tokens, content, routing and caching, per any key</a:t>
            </a:r>
          </a:p>
        </p:txBody>
      </p:sp>
      <p:sp>
        <p:nvSpPr>
          <p:cNvPr id="20" name="TextBox 19"/>
          <p:cNvSpPr txBox="1"/>
          <p:nvPr/>
        </p:nvSpPr>
        <p:spPr>
          <a:xfrm>
            <a:off x="7859071" y="1714500"/>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Content risks, prompt attacks, PII, task adherence</a:t>
            </a:r>
          </a:p>
        </p:txBody>
      </p:sp>
      <p:sp>
        <p:nvSpPr>
          <p:cNvPr id="21" name="TextBox 20"/>
          <p:cNvSpPr txBox="1"/>
          <p:nvPr/>
        </p:nvSpPr>
        <p:spPr>
          <a:xfrm>
            <a:off x="9888984" y="1714500"/>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Who can create, configure and call resources</a:t>
            </a:r>
          </a:p>
        </p:txBody>
      </p:sp>
      <p:cxnSp>
        <p:nvCxnSpPr>
          <p:cNvPr id="22" name="Connector 21"/>
          <p:cNvCxnSpPr/>
          <p:nvPr/>
        </p:nvCxnSpPr>
        <p:spPr>
          <a:xfrm>
            <a:off x="457200" y="2688336"/>
            <a:ext cx="11277295" cy="0"/>
          </a:xfrm>
          <a:prstGeom prst="line">
            <a:avLst/>
          </a:prstGeom>
          <a:ln w="9525">
            <a:solidFill>
              <a:srgbClr val="E1E7F4"/>
            </a:solidFill>
          </a:ln>
        </p:spPr>
      </p:cxnSp>
      <p:sp>
        <p:nvSpPr>
          <p:cNvPr id="23" name="TextBox 22"/>
          <p:cNvSpPr txBox="1"/>
          <p:nvPr/>
        </p:nvSpPr>
        <p:spPr>
          <a:xfrm>
            <a:off x="585216" y="2226564"/>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Configured in</a:t>
            </a:r>
          </a:p>
        </p:txBody>
      </p:sp>
      <p:sp>
        <p:nvSpPr>
          <p:cNvPr id="24" name="TextBox 23"/>
          <p:cNvSpPr txBox="1"/>
          <p:nvPr/>
        </p:nvSpPr>
        <p:spPr>
          <a:xfrm>
            <a:off x="1994877" y="2226564"/>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Manage &gt; Quota</a:t>
            </a:r>
          </a:p>
        </p:txBody>
      </p:sp>
      <p:sp>
        <p:nvSpPr>
          <p:cNvPr id="25" name="TextBox 24"/>
          <p:cNvSpPr txBox="1"/>
          <p:nvPr/>
        </p:nvSpPr>
        <p:spPr>
          <a:xfrm>
            <a:off x="3855631" y="2226564"/>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Manage &gt; AI Gateway</a:t>
            </a:r>
          </a:p>
        </p:txBody>
      </p:sp>
      <p:sp>
        <p:nvSpPr>
          <p:cNvPr id="26" name="TextBox 25"/>
          <p:cNvSpPr txBox="1"/>
          <p:nvPr/>
        </p:nvSpPr>
        <p:spPr>
          <a:xfrm>
            <a:off x="5772771" y="2226564"/>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portal, policy XML</a:t>
            </a:r>
          </a:p>
        </p:txBody>
      </p:sp>
      <p:sp>
        <p:nvSpPr>
          <p:cNvPr id="27" name="TextBox 26"/>
          <p:cNvSpPr txBox="1"/>
          <p:nvPr/>
        </p:nvSpPr>
        <p:spPr>
          <a:xfrm>
            <a:off x="7859071" y="2226564"/>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Guardrails</a:t>
            </a:r>
          </a:p>
        </p:txBody>
      </p:sp>
      <p:sp>
        <p:nvSpPr>
          <p:cNvPr id="28" name="TextBox 27"/>
          <p:cNvSpPr txBox="1"/>
          <p:nvPr/>
        </p:nvSpPr>
        <p:spPr>
          <a:xfrm>
            <a:off x="9888984" y="2226564"/>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Policy and Azure RBAC</a:t>
            </a:r>
          </a:p>
        </p:txBody>
      </p:sp>
      <p:sp>
        <p:nvSpPr>
          <p:cNvPr id="29" name="Rectangle 28"/>
          <p:cNvSpPr/>
          <p:nvPr/>
        </p:nvSpPr>
        <p:spPr>
          <a:xfrm>
            <a:off x="457200" y="2688336"/>
            <a:ext cx="11277295" cy="51206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200400"/>
            <a:ext cx="11277295" cy="0"/>
          </a:xfrm>
          <a:prstGeom prst="line">
            <a:avLst/>
          </a:prstGeom>
          <a:ln w="9525">
            <a:solidFill>
              <a:srgbClr val="E1E7F4"/>
            </a:solidFill>
          </a:ln>
        </p:spPr>
      </p:cxnSp>
      <p:sp>
        <p:nvSpPr>
          <p:cNvPr id="31" name="TextBox 30"/>
          <p:cNvSpPr txBox="1"/>
          <p:nvPr/>
        </p:nvSpPr>
        <p:spPr>
          <a:xfrm>
            <a:off x="585216" y="2738628"/>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Scope</a:t>
            </a:r>
          </a:p>
        </p:txBody>
      </p:sp>
      <p:sp>
        <p:nvSpPr>
          <p:cNvPr id="32" name="TextBox 31"/>
          <p:cNvSpPr txBox="1"/>
          <p:nvPr/>
        </p:nvSpPr>
        <p:spPr>
          <a:xfrm>
            <a:off x="1994877" y="2738628"/>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Subscription, region and deployment</a:t>
            </a:r>
          </a:p>
        </p:txBody>
      </p:sp>
      <p:sp>
        <p:nvSpPr>
          <p:cNvPr id="33" name="TextBox 32"/>
          <p:cNvSpPr txBox="1"/>
          <p:nvPr/>
        </p:nvSpPr>
        <p:spPr>
          <a:xfrm>
            <a:off x="3855631" y="2738628"/>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Project on a shared gateway</a:t>
            </a:r>
          </a:p>
        </p:txBody>
      </p:sp>
      <p:sp>
        <p:nvSpPr>
          <p:cNvPr id="34" name="TextBox 33"/>
          <p:cNvSpPr txBox="1"/>
          <p:nvPr/>
        </p:nvSpPr>
        <p:spPr>
          <a:xfrm>
            <a:off x="5772771" y="2738628"/>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API in API Management</a:t>
            </a:r>
          </a:p>
        </p:txBody>
      </p:sp>
      <p:sp>
        <p:nvSpPr>
          <p:cNvPr id="35" name="TextBox 34"/>
          <p:cNvSpPr txBox="1"/>
          <p:nvPr/>
        </p:nvSpPr>
        <p:spPr>
          <a:xfrm>
            <a:off x="7859071" y="2738628"/>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Models; Foundry Agent Service agents*</a:t>
            </a:r>
          </a:p>
        </p:txBody>
      </p:sp>
      <p:sp>
        <p:nvSpPr>
          <p:cNvPr id="36" name="TextBox 35"/>
          <p:cNvSpPr txBox="1"/>
          <p:nvPr/>
        </p:nvSpPr>
        <p:spPr>
          <a:xfrm>
            <a:off x="9888984" y="2738628"/>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Resource and project</a:t>
            </a:r>
          </a:p>
        </p:txBody>
      </p:sp>
      <p:cxnSp>
        <p:nvCxnSpPr>
          <p:cNvPr id="37" name="Connector 36"/>
          <p:cNvCxnSpPr/>
          <p:nvPr/>
        </p:nvCxnSpPr>
        <p:spPr>
          <a:xfrm>
            <a:off x="457200" y="3712464"/>
            <a:ext cx="11277295" cy="0"/>
          </a:xfrm>
          <a:prstGeom prst="line">
            <a:avLst/>
          </a:prstGeom>
          <a:ln w="9525">
            <a:solidFill>
              <a:srgbClr val="E1E7F4"/>
            </a:solidFill>
          </a:ln>
        </p:spPr>
      </p:cxnSp>
      <p:sp>
        <p:nvSpPr>
          <p:cNvPr id="38" name="TextBox 37"/>
          <p:cNvSpPr txBox="1"/>
          <p:nvPr/>
        </p:nvSpPr>
        <p:spPr>
          <a:xfrm>
            <a:off x="585216" y="3250692"/>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When exceeded or blocked</a:t>
            </a:r>
          </a:p>
        </p:txBody>
      </p:sp>
      <p:sp>
        <p:nvSpPr>
          <p:cNvPr id="39" name="TextBox 38"/>
          <p:cNvSpPr txBox="1"/>
          <p:nvPr/>
        </p:nvSpPr>
        <p:spPr>
          <a:xfrm>
            <a:off x="1994877" y="3250692"/>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429 from the deployment</a:t>
            </a:r>
          </a:p>
        </p:txBody>
      </p:sp>
      <p:sp>
        <p:nvSpPr>
          <p:cNvPr id="40" name="TextBox 39"/>
          <p:cNvSpPr txBox="1"/>
          <p:nvPr/>
        </p:nvSpPr>
        <p:spPr>
          <a:xfrm>
            <a:off x="3855631" y="3250692"/>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429 over TPM; 403 over quota</a:t>
            </a:r>
          </a:p>
        </p:txBody>
      </p:sp>
      <p:sp>
        <p:nvSpPr>
          <p:cNvPr id="41" name="TextBox 40"/>
          <p:cNvSpPr txBox="1"/>
          <p:nvPr/>
        </p:nvSpPr>
        <p:spPr>
          <a:xfrm>
            <a:off x="5772771" y="3250692"/>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429 or 403, depending on the policy</a:t>
            </a:r>
          </a:p>
        </p:txBody>
      </p:sp>
      <p:sp>
        <p:nvSpPr>
          <p:cNvPr id="42" name="TextBox 41"/>
          <p:cNvSpPr txBox="1"/>
          <p:nvPr/>
        </p:nvSpPr>
        <p:spPr>
          <a:xfrm>
            <a:off x="7859071" y="3250692"/>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Request or response blocked</a:t>
            </a:r>
          </a:p>
        </p:txBody>
      </p:sp>
      <p:sp>
        <p:nvSpPr>
          <p:cNvPr id="43" name="TextBox 42"/>
          <p:cNvSpPr txBox="1"/>
          <p:nvPr/>
        </p:nvSpPr>
        <p:spPr>
          <a:xfrm>
            <a:off x="9888984" y="3250692"/>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Operation denied</a:t>
            </a:r>
          </a:p>
        </p:txBody>
      </p:sp>
      <p:sp>
        <p:nvSpPr>
          <p:cNvPr id="44" name="Rectangle 43"/>
          <p:cNvSpPr/>
          <p:nvPr/>
        </p:nvSpPr>
        <p:spPr>
          <a:xfrm>
            <a:off x="457200" y="3712464"/>
            <a:ext cx="11277295" cy="512064"/>
          </a:xfrm>
          <a:prstGeom prst="rect">
            <a:avLst/>
          </a:prstGeom>
          <a:solidFill>
            <a:srgbClr val="F6F8FD"/>
          </a:solidFill>
          <a:ln>
            <a:noFill/>
          </a:ln>
          <a:effectLst/>
        </p:spPr>
        <p:txBody>
          <a:bodyPr wrap="square" rtlCol="0" anchor="ctr"/>
          <a:lstStyle/>
          <a:p>
            <a:endParaRPr/>
          </a:p>
        </p:txBody>
      </p:sp>
      <p:cxnSp>
        <p:nvCxnSpPr>
          <p:cNvPr id="45" name="Connector 44"/>
          <p:cNvCxnSpPr/>
          <p:nvPr/>
        </p:nvCxnSpPr>
        <p:spPr>
          <a:xfrm>
            <a:off x="457200" y="4224528"/>
            <a:ext cx="11277295" cy="0"/>
          </a:xfrm>
          <a:prstGeom prst="line">
            <a:avLst/>
          </a:prstGeom>
          <a:ln w="9525">
            <a:solidFill>
              <a:srgbClr val="E1E7F4"/>
            </a:solidFill>
          </a:ln>
        </p:spPr>
      </p:cxnSp>
      <p:sp>
        <p:nvSpPr>
          <p:cNvPr id="46" name="TextBox 45"/>
          <p:cNvSpPr txBox="1"/>
          <p:nvPr/>
        </p:nvSpPr>
        <p:spPr>
          <a:xfrm>
            <a:off x="585216" y="3762756"/>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Custom agents and MCP</a:t>
            </a:r>
          </a:p>
        </p:txBody>
      </p:sp>
      <p:sp>
        <p:nvSpPr>
          <p:cNvPr id="47" name="TextBox 46"/>
          <p:cNvSpPr txBox="1"/>
          <p:nvPr/>
        </p:nvSpPr>
        <p:spPr>
          <a:xfrm>
            <a:off x="1994877" y="3762756"/>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covered</a:t>
            </a:r>
          </a:p>
        </p:txBody>
      </p:sp>
      <p:sp>
        <p:nvSpPr>
          <p:cNvPr id="48" name="TextBox 47"/>
          <p:cNvSpPr txBox="1"/>
          <p:nvPr/>
        </p:nvSpPr>
        <p:spPr>
          <a:xfrm>
            <a:off x="3855631" y="3762756"/>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MCP tools* and registered agents*</a:t>
            </a:r>
          </a:p>
        </p:txBody>
      </p:sp>
      <p:sp>
        <p:nvSpPr>
          <p:cNvPr id="49" name="TextBox 48"/>
          <p:cNvSpPr txBox="1"/>
          <p:nvPr/>
        </p:nvSpPr>
        <p:spPr>
          <a:xfrm>
            <a:off x="5772771" y="3762756"/>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MCP and A2A traffic</a:t>
            </a:r>
          </a:p>
        </p:txBody>
      </p:sp>
      <p:sp>
        <p:nvSpPr>
          <p:cNvPr id="50" name="TextBox 49"/>
          <p:cNvSpPr txBox="1"/>
          <p:nvPr/>
        </p:nvSpPr>
        <p:spPr>
          <a:xfrm>
            <a:off x="7859071" y="3762756"/>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covered</a:t>
            </a:r>
          </a:p>
        </p:txBody>
      </p:sp>
      <p:sp>
        <p:nvSpPr>
          <p:cNvPr id="51" name="TextBox 50"/>
          <p:cNvSpPr txBox="1"/>
          <p:nvPr/>
        </p:nvSpPr>
        <p:spPr>
          <a:xfrm>
            <a:off x="9888984" y="3762756"/>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Resource level only</a:t>
            </a:r>
          </a:p>
        </p:txBody>
      </p:sp>
      <p:cxnSp>
        <p:nvCxnSpPr>
          <p:cNvPr id="52" name="Connector 51"/>
          <p:cNvCxnSpPr/>
          <p:nvPr/>
        </p:nvCxnSpPr>
        <p:spPr>
          <a:xfrm>
            <a:off x="457200" y="4736592"/>
            <a:ext cx="11277295" cy="0"/>
          </a:xfrm>
          <a:prstGeom prst="line">
            <a:avLst/>
          </a:prstGeom>
          <a:ln w="9525">
            <a:solidFill>
              <a:srgbClr val="E1E7F4"/>
            </a:solidFill>
          </a:ln>
        </p:spPr>
      </p:cxnSp>
      <p:sp>
        <p:nvSpPr>
          <p:cNvPr id="53" name="TextBox 52"/>
          <p:cNvSpPr txBox="1"/>
          <p:nvPr/>
        </p:nvSpPr>
        <p:spPr>
          <a:xfrm>
            <a:off x="585216" y="4274820"/>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Status</a:t>
            </a:r>
          </a:p>
        </p:txBody>
      </p:sp>
      <p:sp>
        <p:nvSpPr>
          <p:cNvPr id="54" name="TextBox 53"/>
          <p:cNvSpPr txBox="1"/>
          <p:nvPr/>
        </p:nvSpPr>
        <p:spPr>
          <a:xfrm>
            <a:off x="1994877" y="4274820"/>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sp>
        <p:nvSpPr>
          <p:cNvPr id="55" name="TextBox 54"/>
          <p:cNvSpPr txBox="1"/>
          <p:nvPr/>
        </p:nvSpPr>
        <p:spPr>
          <a:xfrm>
            <a:off x="3855631" y="4274820"/>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sp>
        <p:nvSpPr>
          <p:cNvPr id="56" name="TextBox 55"/>
          <p:cNvSpPr txBox="1"/>
          <p:nvPr/>
        </p:nvSpPr>
        <p:spPr>
          <a:xfrm>
            <a:off x="5772771" y="4274820"/>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sp>
        <p:nvSpPr>
          <p:cNvPr id="57" name="TextBox 56"/>
          <p:cNvSpPr txBox="1"/>
          <p:nvPr/>
        </p:nvSpPr>
        <p:spPr>
          <a:xfrm>
            <a:off x="7859071" y="4274820"/>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Models generally available; agents preview</a:t>
            </a:r>
          </a:p>
        </p:txBody>
      </p:sp>
      <p:sp>
        <p:nvSpPr>
          <p:cNvPr id="58" name="TextBox 57"/>
          <p:cNvSpPr txBox="1"/>
          <p:nvPr/>
        </p:nvSpPr>
        <p:spPr>
          <a:xfrm>
            <a:off x="9888984" y="4274820"/>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cxnSp>
        <p:nvCxnSpPr>
          <p:cNvPr id="59" name="Connector 58"/>
          <p:cNvCxnSpPr/>
          <p:nvPr/>
        </p:nvCxnSpPr>
        <p:spPr>
          <a:xfrm>
            <a:off x="1866861" y="1664208"/>
            <a:ext cx="0" cy="3072384"/>
          </a:xfrm>
          <a:prstGeom prst="line">
            <a:avLst/>
          </a:prstGeom>
          <a:ln w="9525">
            <a:solidFill>
              <a:srgbClr val="E1E7F4"/>
            </a:solidFill>
          </a:ln>
        </p:spPr>
      </p:cxnSp>
      <p:cxnSp>
        <p:nvCxnSpPr>
          <p:cNvPr id="60" name="Connector 59"/>
          <p:cNvCxnSpPr/>
          <p:nvPr/>
        </p:nvCxnSpPr>
        <p:spPr>
          <a:xfrm>
            <a:off x="3727615" y="1664208"/>
            <a:ext cx="0" cy="3072384"/>
          </a:xfrm>
          <a:prstGeom prst="line">
            <a:avLst/>
          </a:prstGeom>
          <a:ln w="9525">
            <a:solidFill>
              <a:srgbClr val="E1E7F4"/>
            </a:solidFill>
          </a:ln>
        </p:spPr>
      </p:cxnSp>
      <p:cxnSp>
        <p:nvCxnSpPr>
          <p:cNvPr id="61" name="Connector 60"/>
          <p:cNvCxnSpPr/>
          <p:nvPr/>
        </p:nvCxnSpPr>
        <p:spPr>
          <a:xfrm>
            <a:off x="5644755" y="1664208"/>
            <a:ext cx="0" cy="3072384"/>
          </a:xfrm>
          <a:prstGeom prst="line">
            <a:avLst/>
          </a:prstGeom>
          <a:ln w="9525">
            <a:solidFill>
              <a:srgbClr val="E1E7F4"/>
            </a:solidFill>
          </a:ln>
        </p:spPr>
      </p:cxnSp>
      <p:cxnSp>
        <p:nvCxnSpPr>
          <p:cNvPr id="62" name="Connector 61"/>
          <p:cNvCxnSpPr/>
          <p:nvPr/>
        </p:nvCxnSpPr>
        <p:spPr>
          <a:xfrm>
            <a:off x="7731055" y="1664208"/>
            <a:ext cx="0" cy="3072384"/>
          </a:xfrm>
          <a:prstGeom prst="line">
            <a:avLst/>
          </a:prstGeom>
          <a:ln w="9525">
            <a:solidFill>
              <a:srgbClr val="E1E7F4"/>
            </a:solidFill>
          </a:ln>
        </p:spPr>
      </p:cxnSp>
      <p:cxnSp>
        <p:nvCxnSpPr>
          <p:cNvPr id="63" name="Connector 62"/>
          <p:cNvCxnSpPr/>
          <p:nvPr/>
        </p:nvCxnSpPr>
        <p:spPr>
          <a:xfrm>
            <a:off x="9760968" y="1664208"/>
            <a:ext cx="0" cy="3072384"/>
          </a:xfrm>
          <a:prstGeom prst="line">
            <a:avLst/>
          </a:prstGeom>
          <a:ln w="9525">
            <a:solidFill>
              <a:srgbClr val="E1E7F4"/>
            </a:solidFill>
          </a:ln>
        </p:spPr>
      </p:cxnSp>
      <p:sp>
        <p:nvSpPr>
          <p:cNvPr id="64" name="Rectangle 63"/>
          <p:cNvSpPr/>
          <p:nvPr/>
        </p:nvSpPr>
        <p:spPr>
          <a:xfrm>
            <a:off x="457200" y="4937760"/>
            <a:ext cx="11277295" cy="566928"/>
          </a:xfrm>
          <a:prstGeom prst="rect">
            <a:avLst/>
          </a:prstGeom>
          <a:solidFill>
            <a:srgbClr val="EBEFF7"/>
          </a:solidFill>
          <a:ln>
            <a:noFill/>
          </a:ln>
          <a:effectLst/>
        </p:spPr>
        <p:txBody>
          <a:bodyPr wrap="square" rtlCol="0" anchor="ctr"/>
          <a:lstStyle/>
          <a:p>
            <a:endParaRPr/>
          </a:p>
        </p:txBody>
      </p:sp>
      <p:sp>
        <p:nvSpPr>
          <p:cNvPr id="65" name="Rectangle 64"/>
          <p:cNvSpPr/>
          <p:nvPr/>
        </p:nvSpPr>
        <p:spPr>
          <a:xfrm>
            <a:off x="457200" y="4937760"/>
            <a:ext cx="41148" cy="566928"/>
          </a:xfrm>
          <a:prstGeom prst="rect">
            <a:avLst/>
          </a:prstGeom>
          <a:solidFill>
            <a:srgbClr val="00B39F"/>
          </a:solidFill>
          <a:ln>
            <a:noFill/>
          </a:ln>
          <a:effectLst/>
        </p:spPr>
        <p:txBody>
          <a:bodyPr wrap="square" rtlCol="0" anchor="ctr"/>
          <a:lstStyle/>
          <a:p>
            <a:endParaRPr/>
          </a:p>
        </p:txBody>
      </p:sp>
      <p:sp>
        <p:nvSpPr>
          <p:cNvPr id="66" name="TextBox 65"/>
          <p:cNvSpPr txBox="1"/>
          <p:nvPr/>
        </p:nvSpPr>
        <p:spPr>
          <a:xfrm>
            <a:off x="694944" y="5038344"/>
            <a:ext cx="10856671"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The controls stack rather than replace each other: quota sets capacity, gateway limits divide it among consumers, guardrails and content safety filter content, and Azure Policy and RBAC govern who can create and configure resources.</a:t>
            </a:r>
          </a:p>
        </p:txBody>
      </p:sp>
      <p:sp>
        <p:nvSpPr>
          <p:cNvPr id="67" name="TextBox 66"/>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Governance at scale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Hub-and-spoke pattern from the Foundry Citadel reference, key design constraints, and when a gateway is not needed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github.com/Azure-Samples/foundry-citadel-platform · Azure Architecture Center gateway guide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9</a:t>
            </a:r>
          </a:p>
        </p:txBody>
      </p:sp>
      <p:sp>
        <p:nvSpPr>
          <p:cNvPr id="7" name="TextBox 6"/>
          <p:cNvSpPr txBox="1"/>
          <p:nvPr/>
        </p:nvSpPr>
        <p:spPr>
          <a:xfrm>
            <a:off x="457200" y="1371600"/>
            <a:ext cx="60350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HUB-AND-SPOKE PATTERN (FOUNDRY CITADEL REFERENCE)</a:t>
            </a:r>
          </a:p>
        </p:txBody>
      </p:sp>
      <p:sp>
        <p:nvSpPr>
          <p:cNvPr id="8" name="Rectangle 7"/>
          <p:cNvSpPr/>
          <p:nvPr/>
        </p:nvSpPr>
        <p:spPr>
          <a:xfrm>
            <a:off x="457200" y="1645920"/>
            <a:ext cx="6080760" cy="658368"/>
          </a:xfrm>
          <a:prstGeom prst="rect">
            <a:avLst/>
          </a:prstGeom>
          <a:solidFill>
            <a:srgbClr val="0B1229"/>
          </a:solidFill>
          <a:ln>
            <a:noFill/>
          </a:ln>
          <a:effectLst/>
        </p:spPr>
        <p:txBody>
          <a:bodyPr wrap="square" rtlCol="0" anchor="ctr"/>
          <a:lstStyle/>
          <a:p>
            <a:endParaRPr/>
          </a:p>
        </p:txBody>
      </p:sp>
      <p:sp>
        <p:nvSpPr>
          <p:cNvPr id="9" name="Rectangle 8"/>
          <p:cNvSpPr/>
          <p:nvPr/>
        </p:nvSpPr>
        <p:spPr>
          <a:xfrm>
            <a:off x="566928" y="1737360"/>
            <a:ext cx="1874519"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Foundry Control Plane*</a:t>
            </a:r>
          </a:p>
          <a:p>
            <a:pPr algn="ctr">
              <a:lnSpc>
                <a:spcPct val="110000"/>
              </a:lnSpc>
            </a:pPr>
            <a:r>
              <a:rPr sz="750" b="0" i="0" dirty="0">
                <a:solidFill>
                  <a:srgbClr val="44495B"/>
                </a:solidFill>
                <a:latin typeface="Segoe UI"/>
                <a:cs typeface="Segoe UI"/>
              </a:rPr>
              <a:t>fleet and compliance</a:t>
            </a:r>
          </a:p>
        </p:txBody>
      </p:sp>
      <p:sp>
        <p:nvSpPr>
          <p:cNvPr id="10" name="Rectangle 9"/>
          <p:cNvSpPr/>
          <p:nvPr/>
        </p:nvSpPr>
        <p:spPr>
          <a:xfrm>
            <a:off x="2551176" y="1737360"/>
            <a:ext cx="1874519"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Microsoft Entra</a:t>
            </a:r>
          </a:p>
          <a:p>
            <a:pPr algn="ctr">
              <a:lnSpc>
                <a:spcPct val="110000"/>
              </a:lnSpc>
            </a:pPr>
            <a:r>
              <a:rPr sz="750" b="0" i="0" dirty="0">
                <a:solidFill>
                  <a:srgbClr val="44495B"/>
                </a:solidFill>
                <a:latin typeface="Segoe UI"/>
                <a:cs typeface="Segoe UI"/>
              </a:rPr>
              <a:t>agent identity</a:t>
            </a:r>
          </a:p>
        </p:txBody>
      </p:sp>
      <p:sp>
        <p:nvSpPr>
          <p:cNvPr id="11" name="Rectangle 10"/>
          <p:cNvSpPr/>
          <p:nvPr/>
        </p:nvSpPr>
        <p:spPr>
          <a:xfrm>
            <a:off x="4535424" y="1737360"/>
            <a:ext cx="1874519"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Defender and Purview</a:t>
            </a:r>
          </a:p>
          <a:p>
            <a:pPr algn="ctr">
              <a:lnSpc>
                <a:spcPct val="110000"/>
              </a:lnSpc>
            </a:pPr>
            <a:r>
              <a:rPr sz="750" b="0" i="0" dirty="0">
                <a:solidFill>
                  <a:srgbClr val="44495B"/>
                </a:solidFill>
                <a:latin typeface="Segoe UI"/>
                <a:cs typeface="Segoe UI"/>
              </a:rPr>
              <a:t>threat and data protection</a:t>
            </a:r>
          </a:p>
        </p:txBody>
      </p:sp>
      <p:sp>
        <p:nvSpPr>
          <p:cNvPr id="12" name="Rectangle 11"/>
          <p:cNvSpPr/>
          <p:nvPr/>
        </p:nvSpPr>
        <p:spPr>
          <a:xfrm>
            <a:off x="2697480" y="2697480"/>
            <a:ext cx="1920240" cy="822960"/>
          </a:xfrm>
          <a:prstGeom prst="rect">
            <a:avLst/>
          </a:prstGeom>
          <a:solidFill>
            <a:srgbClr val="101A3C"/>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Governance hub</a:t>
            </a:r>
          </a:p>
          <a:p>
            <a:pPr algn="ctr">
              <a:lnSpc>
                <a:spcPct val="110000"/>
              </a:lnSpc>
            </a:pPr>
            <a:r>
              <a:rPr sz="800" b="0" i="0" dirty="0">
                <a:solidFill>
                  <a:srgbClr val="B9C2D6"/>
                </a:solidFill>
                <a:latin typeface="Segoe UI"/>
                <a:cs typeface="Segoe UI"/>
              </a:rPr>
              <a:t>API Management + API Center</a:t>
            </a:r>
          </a:p>
        </p:txBody>
      </p:sp>
      <p:sp>
        <p:nvSpPr>
          <p:cNvPr id="13" name="Rectangle 12"/>
          <p:cNvSpPr/>
          <p:nvPr/>
        </p:nvSpPr>
        <p:spPr>
          <a:xfrm>
            <a:off x="4983480" y="2697480"/>
            <a:ext cx="1554480" cy="8229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Shared backends</a:t>
            </a:r>
          </a:p>
          <a:p>
            <a:pPr algn="ctr">
              <a:lnSpc>
                <a:spcPct val="110000"/>
              </a:lnSpc>
            </a:pPr>
            <a:r>
              <a:rPr sz="750" b="0" i="0" dirty="0">
                <a:solidFill>
                  <a:srgbClr val="44495B"/>
                </a:solidFill>
                <a:latin typeface="Segoe UI"/>
                <a:cs typeface="Segoe UI"/>
              </a:rPr>
              <a:t>models, tools, agents</a:t>
            </a:r>
          </a:p>
        </p:txBody>
      </p:sp>
      <p:cxnSp>
        <p:nvCxnSpPr>
          <p:cNvPr id="14" name="Connector 13"/>
          <p:cNvCxnSpPr/>
          <p:nvPr/>
        </p:nvCxnSpPr>
        <p:spPr>
          <a:xfrm>
            <a:off x="4617720" y="3108960"/>
            <a:ext cx="365760" cy="0"/>
          </a:xfrm>
          <a:prstGeom prst="line">
            <a:avLst/>
          </a:prstGeom>
          <a:ln w="13970">
            <a:solidFill>
              <a:srgbClr val="44495B"/>
            </a:solidFill>
            <a:tailEnd type="triangle" w="med" len="med"/>
          </a:ln>
        </p:spPr>
      </p:cxnSp>
      <p:sp>
        <p:nvSpPr>
          <p:cNvPr id="15" name="Oval 14"/>
          <p:cNvSpPr/>
          <p:nvPr/>
        </p:nvSpPr>
        <p:spPr>
          <a:xfrm>
            <a:off x="4695444" y="300380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16" name="Connector 15"/>
          <p:cNvCxnSpPr/>
          <p:nvPr/>
        </p:nvCxnSpPr>
        <p:spPr>
          <a:xfrm flipV="1">
            <a:off x="3657600" y="2304288"/>
            <a:ext cx="0" cy="393192"/>
          </a:xfrm>
          <a:prstGeom prst="line">
            <a:avLst/>
          </a:prstGeom>
          <a:ln w="13970">
            <a:solidFill>
              <a:srgbClr val="44495B"/>
            </a:solidFill>
            <a:prstDash val="dash"/>
          </a:ln>
        </p:spPr>
      </p:cxnSp>
      <p:sp>
        <p:nvSpPr>
          <p:cNvPr id="17" name="Oval 16"/>
          <p:cNvSpPr/>
          <p:nvPr/>
        </p:nvSpPr>
        <p:spPr>
          <a:xfrm>
            <a:off x="3552444" y="239572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18" name="Rectangle 17"/>
          <p:cNvSpPr/>
          <p:nvPr/>
        </p:nvSpPr>
        <p:spPr>
          <a:xfrm>
            <a:off x="457200" y="4160520"/>
            <a:ext cx="1874519" cy="658368"/>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Spoke — business unit A</a:t>
            </a:r>
          </a:p>
          <a:p>
            <a:pPr algn="ctr">
              <a:lnSpc>
                <a:spcPct val="110000"/>
              </a:lnSpc>
            </a:pPr>
            <a:r>
              <a:rPr sz="750" b="0" i="0" dirty="0">
                <a:solidFill>
                  <a:srgbClr val="44495B"/>
                </a:solidFill>
                <a:latin typeface="Segoe UI"/>
                <a:cs typeface="Segoe UI"/>
              </a:rPr>
              <a:t>Foundry resource and projects</a:t>
            </a:r>
          </a:p>
        </p:txBody>
      </p:sp>
      <p:cxnSp>
        <p:nvCxnSpPr>
          <p:cNvPr id="19" name="Connector 18"/>
          <p:cNvCxnSpPr/>
          <p:nvPr/>
        </p:nvCxnSpPr>
        <p:spPr>
          <a:xfrm flipV="1">
            <a:off x="1394460" y="3858768"/>
            <a:ext cx="0" cy="301752"/>
          </a:xfrm>
          <a:prstGeom prst="line">
            <a:avLst/>
          </a:prstGeom>
          <a:ln w="13970">
            <a:solidFill>
              <a:srgbClr val="44495B"/>
            </a:solidFill>
          </a:ln>
        </p:spPr>
      </p:cxnSp>
      <p:sp>
        <p:nvSpPr>
          <p:cNvPr id="20" name="Rectangle 19"/>
          <p:cNvSpPr/>
          <p:nvPr/>
        </p:nvSpPr>
        <p:spPr>
          <a:xfrm>
            <a:off x="2560320" y="4160520"/>
            <a:ext cx="1874519" cy="658368"/>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Spoke — business unit B</a:t>
            </a:r>
          </a:p>
          <a:p>
            <a:pPr algn="ctr">
              <a:lnSpc>
                <a:spcPct val="110000"/>
              </a:lnSpc>
            </a:pPr>
            <a:r>
              <a:rPr sz="750" b="0" i="0" dirty="0">
                <a:solidFill>
                  <a:srgbClr val="44495B"/>
                </a:solidFill>
                <a:latin typeface="Segoe UI"/>
                <a:cs typeface="Segoe UI"/>
              </a:rPr>
              <a:t>Foundry resource and projects</a:t>
            </a:r>
          </a:p>
        </p:txBody>
      </p:sp>
      <p:cxnSp>
        <p:nvCxnSpPr>
          <p:cNvPr id="21" name="Connector 20"/>
          <p:cNvCxnSpPr/>
          <p:nvPr/>
        </p:nvCxnSpPr>
        <p:spPr>
          <a:xfrm flipV="1">
            <a:off x="3497579" y="3858768"/>
            <a:ext cx="0" cy="301752"/>
          </a:xfrm>
          <a:prstGeom prst="line">
            <a:avLst/>
          </a:prstGeom>
          <a:ln w="13970">
            <a:solidFill>
              <a:srgbClr val="44495B"/>
            </a:solidFill>
          </a:ln>
        </p:spPr>
      </p:cxnSp>
      <p:sp>
        <p:nvSpPr>
          <p:cNvPr id="22" name="Rectangle 21"/>
          <p:cNvSpPr/>
          <p:nvPr/>
        </p:nvSpPr>
        <p:spPr>
          <a:xfrm>
            <a:off x="4663440" y="4160520"/>
            <a:ext cx="1874519" cy="658368"/>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Spoke — business unit C</a:t>
            </a:r>
          </a:p>
          <a:p>
            <a:pPr algn="ctr">
              <a:lnSpc>
                <a:spcPct val="110000"/>
              </a:lnSpc>
            </a:pPr>
            <a:r>
              <a:rPr sz="750" b="0" i="0" dirty="0">
                <a:solidFill>
                  <a:srgbClr val="44495B"/>
                </a:solidFill>
                <a:latin typeface="Segoe UI"/>
                <a:cs typeface="Segoe UI"/>
              </a:rPr>
              <a:t>Foundry resource and projects</a:t>
            </a:r>
          </a:p>
        </p:txBody>
      </p:sp>
      <p:cxnSp>
        <p:nvCxnSpPr>
          <p:cNvPr id="23" name="Connector 22"/>
          <p:cNvCxnSpPr/>
          <p:nvPr/>
        </p:nvCxnSpPr>
        <p:spPr>
          <a:xfrm flipV="1">
            <a:off x="5600700" y="3858768"/>
            <a:ext cx="0" cy="301752"/>
          </a:xfrm>
          <a:prstGeom prst="line">
            <a:avLst/>
          </a:prstGeom>
          <a:ln w="13970">
            <a:solidFill>
              <a:srgbClr val="44495B"/>
            </a:solidFill>
          </a:ln>
        </p:spPr>
      </p:cxnSp>
      <p:cxnSp>
        <p:nvCxnSpPr>
          <p:cNvPr id="24" name="Connector 23"/>
          <p:cNvCxnSpPr/>
          <p:nvPr/>
        </p:nvCxnSpPr>
        <p:spPr>
          <a:xfrm>
            <a:off x="1394460" y="3858768"/>
            <a:ext cx="4206240" cy="0"/>
          </a:xfrm>
          <a:prstGeom prst="line">
            <a:avLst/>
          </a:prstGeom>
          <a:ln w="13970">
            <a:solidFill>
              <a:srgbClr val="44495B"/>
            </a:solidFill>
          </a:ln>
        </p:spPr>
      </p:cxnSp>
      <p:cxnSp>
        <p:nvCxnSpPr>
          <p:cNvPr id="25" name="Connector 24"/>
          <p:cNvCxnSpPr/>
          <p:nvPr/>
        </p:nvCxnSpPr>
        <p:spPr>
          <a:xfrm flipV="1">
            <a:off x="3657600" y="3520440"/>
            <a:ext cx="0" cy="338328"/>
          </a:xfrm>
          <a:prstGeom prst="line">
            <a:avLst/>
          </a:prstGeom>
          <a:ln w="13970">
            <a:solidFill>
              <a:srgbClr val="44495B"/>
            </a:solidFill>
            <a:tailEnd type="triangle" w="med" len="med"/>
          </a:ln>
        </p:spPr>
      </p:cxnSp>
      <p:sp>
        <p:nvSpPr>
          <p:cNvPr id="26" name="Oval 25"/>
          <p:cNvSpPr/>
          <p:nvPr/>
        </p:nvSpPr>
        <p:spPr>
          <a:xfrm>
            <a:off x="3552444" y="358444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27" name="TextBox 26"/>
          <p:cNvSpPr txBox="1"/>
          <p:nvPr/>
        </p:nvSpPr>
        <p:spPr>
          <a:xfrm>
            <a:off x="457200" y="4919472"/>
            <a:ext cx="6080760" cy="36576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Each business unit builds in its own spoke; the hub applies common policies to all AI traffic.</a:t>
            </a:r>
          </a:p>
        </p:txBody>
      </p:sp>
      <p:sp>
        <p:nvSpPr>
          <p:cNvPr id="28" name="TextBox 27"/>
          <p:cNvSpPr txBox="1"/>
          <p:nvPr/>
        </p:nvSpPr>
        <p:spPr>
          <a:xfrm>
            <a:off x="6903720" y="1371600"/>
            <a:ext cx="483077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DESIGN CONSTRAINTS</a:t>
            </a:r>
          </a:p>
        </p:txBody>
      </p:sp>
      <p:sp>
        <p:nvSpPr>
          <p:cNvPr id="29" name="TextBox 28"/>
          <p:cNvSpPr txBox="1"/>
          <p:nvPr/>
        </p:nvSpPr>
        <p:spPr>
          <a:xfrm>
            <a:off x="6903720" y="16459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Gateway scope</a:t>
            </a:r>
          </a:p>
        </p:txBody>
      </p:sp>
      <p:sp>
        <p:nvSpPr>
          <p:cNvPr id="30" name="TextBox 29"/>
          <p:cNvSpPr txBox="1"/>
          <p:nvPr/>
        </p:nvSpPr>
        <p:spPr>
          <a:xfrm>
            <a:off x="8208029" y="16459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AI Gateway in Foundry serves one Foundry resource; a cross-resource hub needs standalone API Management</a:t>
            </a:r>
          </a:p>
        </p:txBody>
      </p:sp>
      <p:cxnSp>
        <p:nvCxnSpPr>
          <p:cNvPr id="31" name="Connector 30"/>
          <p:cNvCxnSpPr/>
          <p:nvPr/>
        </p:nvCxnSpPr>
        <p:spPr>
          <a:xfrm>
            <a:off x="6903720" y="2084831"/>
            <a:ext cx="4830775" cy="0"/>
          </a:xfrm>
          <a:prstGeom prst="line">
            <a:avLst/>
          </a:prstGeom>
          <a:ln w="9525">
            <a:solidFill>
              <a:srgbClr val="E1E7F4"/>
            </a:solidFill>
          </a:ln>
        </p:spPr>
      </p:cxnSp>
      <p:sp>
        <p:nvSpPr>
          <p:cNvPr id="32" name="TextBox 31"/>
          <p:cNvSpPr txBox="1"/>
          <p:nvPr/>
        </p:nvSpPr>
        <p:spPr>
          <a:xfrm>
            <a:off x="6903720" y="21031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Isolation</a:t>
            </a:r>
          </a:p>
        </p:txBody>
      </p:sp>
      <p:sp>
        <p:nvSpPr>
          <p:cNvPr id="33" name="TextBox 32"/>
          <p:cNvSpPr txBox="1"/>
          <p:nvPr/>
        </p:nvSpPr>
        <p:spPr>
          <a:xfrm>
            <a:off x="8208029" y="21031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Separate gateways require separate Foundry resources</a:t>
            </a:r>
          </a:p>
        </p:txBody>
      </p:sp>
      <p:cxnSp>
        <p:nvCxnSpPr>
          <p:cNvPr id="34" name="Connector 33"/>
          <p:cNvCxnSpPr/>
          <p:nvPr/>
        </p:nvCxnSpPr>
        <p:spPr>
          <a:xfrm>
            <a:off x="6903720" y="2542032"/>
            <a:ext cx="4830775" cy="0"/>
          </a:xfrm>
          <a:prstGeom prst="line">
            <a:avLst/>
          </a:prstGeom>
          <a:ln w="9525">
            <a:solidFill>
              <a:srgbClr val="E1E7F4"/>
            </a:solidFill>
          </a:ln>
        </p:spPr>
      </p:cxnSp>
      <p:sp>
        <p:nvSpPr>
          <p:cNvPr id="35" name="TextBox 34"/>
          <p:cNvSpPr txBox="1"/>
          <p:nvPr/>
        </p:nvSpPr>
        <p:spPr>
          <a:xfrm>
            <a:off x="6903720" y="25603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Private network</a:t>
            </a:r>
          </a:p>
        </p:txBody>
      </p:sp>
      <p:sp>
        <p:nvSpPr>
          <p:cNvPr id="36" name="TextBox 35"/>
          <p:cNvSpPr txBox="1"/>
          <p:nvPr/>
        </p:nvSpPr>
        <p:spPr>
          <a:xfrm>
            <a:off x="8208029" y="25603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Standard v2 or Premium v2 with a private endpoint, or Premium v2 in a virtual network</a:t>
            </a:r>
          </a:p>
        </p:txBody>
      </p:sp>
      <p:cxnSp>
        <p:nvCxnSpPr>
          <p:cNvPr id="37" name="Connector 36"/>
          <p:cNvCxnSpPr/>
          <p:nvPr/>
        </p:nvCxnSpPr>
        <p:spPr>
          <a:xfrm>
            <a:off x="6903720" y="2999232"/>
            <a:ext cx="4830775" cy="0"/>
          </a:xfrm>
          <a:prstGeom prst="line">
            <a:avLst/>
          </a:prstGeom>
          <a:ln w="9525">
            <a:solidFill>
              <a:srgbClr val="E1E7F4"/>
            </a:solidFill>
          </a:ln>
        </p:spPr>
      </p:cxnSp>
      <p:sp>
        <p:nvSpPr>
          <p:cNvPr id="38" name="TextBox 37"/>
          <p:cNvSpPr txBox="1"/>
          <p:nvPr/>
        </p:nvSpPr>
        <p:spPr>
          <a:xfrm>
            <a:off x="6903720" y="30175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 counting</a:t>
            </a:r>
          </a:p>
        </p:txBody>
      </p:sp>
      <p:sp>
        <p:nvSpPr>
          <p:cNvPr id="39" name="TextBox 38"/>
          <p:cNvSpPr txBox="1"/>
          <p:nvPr/>
        </p:nvSpPr>
        <p:spPr>
          <a:xfrm>
            <a:off x="8208029" y="30175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Counted per gateway; not aggregated across regional gateways</a:t>
            </a:r>
          </a:p>
        </p:txBody>
      </p:sp>
      <p:cxnSp>
        <p:nvCxnSpPr>
          <p:cNvPr id="40" name="Connector 39"/>
          <p:cNvCxnSpPr/>
          <p:nvPr/>
        </p:nvCxnSpPr>
        <p:spPr>
          <a:xfrm>
            <a:off x="6903720" y="3456432"/>
            <a:ext cx="4830775" cy="0"/>
          </a:xfrm>
          <a:prstGeom prst="line">
            <a:avLst/>
          </a:prstGeom>
          <a:ln w="9525">
            <a:solidFill>
              <a:srgbClr val="E1E7F4"/>
            </a:solidFill>
          </a:ln>
        </p:spPr>
      </p:cxnSp>
      <p:sp>
        <p:nvSpPr>
          <p:cNvPr id="41" name="TextBox 40"/>
          <p:cNvSpPr txBox="1"/>
          <p:nvPr/>
        </p:nvSpPr>
        <p:spPr>
          <a:xfrm>
            <a:off x="6903720" y="34747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Geography</a:t>
            </a:r>
          </a:p>
        </p:txBody>
      </p:sp>
      <p:sp>
        <p:nvSpPr>
          <p:cNvPr id="42" name="TextBox 41"/>
          <p:cNvSpPr txBox="1"/>
          <p:nvPr/>
        </p:nvSpPr>
        <p:spPr>
          <a:xfrm>
            <a:off x="8208029" y="34747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No single gateway across geopolitical boundaries</a:t>
            </a:r>
          </a:p>
        </p:txBody>
      </p:sp>
      <p:cxnSp>
        <p:nvCxnSpPr>
          <p:cNvPr id="43" name="Connector 42"/>
          <p:cNvCxnSpPr/>
          <p:nvPr/>
        </p:nvCxnSpPr>
        <p:spPr>
          <a:xfrm>
            <a:off x="6903720" y="3913632"/>
            <a:ext cx="4830775" cy="0"/>
          </a:xfrm>
          <a:prstGeom prst="line">
            <a:avLst/>
          </a:prstGeom>
          <a:ln w="9525">
            <a:solidFill>
              <a:srgbClr val="E1E7F4"/>
            </a:solidFill>
          </a:ln>
        </p:spPr>
      </p:cxnSp>
      <p:sp>
        <p:nvSpPr>
          <p:cNvPr id="44" name="TextBox 43"/>
          <p:cNvSpPr txBox="1"/>
          <p:nvPr/>
        </p:nvSpPr>
        <p:spPr>
          <a:xfrm>
            <a:off x="6903720" y="4069080"/>
            <a:ext cx="483077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WHEN A GATEWAY IS NOT NEEDED</a:t>
            </a:r>
          </a:p>
        </p:txBody>
      </p:sp>
      <p:sp>
        <p:nvSpPr>
          <p:cNvPr id="45" name="Rectangle 44"/>
          <p:cNvSpPr/>
          <p:nvPr/>
        </p:nvSpPr>
        <p:spPr>
          <a:xfrm>
            <a:off x="6903720" y="4343400"/>
            <a:ext cx="4830775" cy="457200"/>
          </a:xfrm>
          <a:prstGeom prst="rect">
            <a:avLst/>
          </a:prstGeom>
          <a:solidFill>
            <a:srgbClr val="F6F8FD"/>
          </a:solidFill>
          <a:ln w="9525">
            <a:solidFill>
              <a:srgbClr val="E1E7F4"/>
            </a:solidFill>
          </a:ln>
          <a:effectLst/>
        </p:spPr>
        <p:txBody>
          <a:bodyPr wrap="square" rtlCol="0" anchor="ctr"/>
          <a:lstStyle/>
          <a:p>
            <a:endParaRPr/>
          </a:p>
        </p:txBody>
      </p:sp>
      <p:sp>
        <p:nvSpPr>
          <p:cNvPr id="46" name="Rectangle 45"/>
          <p:cNvSpPr/>
          <p:nvPr/>
        </p:nvSpPr>
        <p:spPr>
          <a:xfrm>
            <a:off x="6903720" y="4343400"/>
            <a:ext cx="41148" cy="457200"/>
          </a:xfrm>
          <a:prstGeom prst="rect">
            <a:avLst/>
          </a:prstGeom>
          <a:solidFill>
            <a:srgbClr val="44495B"/>
          </a:solidFill>
          <a:ln>
            <a:noFill/>
          </a:ln>
          <a:effectLst/>
        </p:spPr>
        <p:txBody>
          <a:bodyPr wrap="square" rtlCol="0" anchor="ctr"/>
          <a:lstStyle/>
          <a:p>
            <a:endParaRPr/>
          </a:p>
        </p:txBody>
      </p:sp>
      <p:sp>
        <p:nvSpPr>
          <p:cNvPr id="47" name="TextBox 46"/>
          <p:cNvSpPr txBox="1"/>
          <p:nvPr/>
        </p:nvSpPr>
        <p:spPr>
          <a:xfrm>
            <a:off x="7050024" y="4443984"/>
            <a:ext cx="4538167" cy="201168"/>
          </a:xfrm>
          <a:prstGeom prst="rect">
            <a:avLst/>
          </a:prstGeom>
          <a:noFill/>
        </p:spPr>
        <p:txBody>
          <a:bodyPr wrap="square" lIns="0" tIns="0" rIns="0" bIns="0" anchor="t">
            <a:spAutoFit/>
          </a:bodyPr>
          <a:lstStyle/>
          <a:p>
            <a:pPr algn="l">
              <a:lnSpc>
                <a:spcPct val="95000"/>
              </a:lnSpc>
            </a:pPr>
            <a:endParaRPr/>
          </a:p>
        </p:txBody>
      </p:sp>
      <p:sp>
        <p:nvSpPr>
          <p:cNvPr id="48" name="TextBox 47"/>
          <p:cNvSpPr txBox="1"/>
          <p:nvPr/>
        </p:nvSpPr>
        <p:spPr>
          <a:xfrm>
            <a:off x="7068312" y="4343400"/>
            <a:ext cx="4556455" cy="45720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One application calling one model, with no need for central credentials or attribution</a:t>
            </a:r>
          </a:p>
        </p:txBody>
      </p:sp>
      <p:sp>
        <p:nvSpPr>
          <p:cNvPr id="49" name="Rectangle 48"/>
          <p:cNvSpPr/>
          <p:nvPr/>
        </p:nvSpPr>
        <p:spPr>
          <a:xfrm>
            <a:off x="6903720" y="4873752"/>
            <a:ext cx="4830775" cy="457200"/>
          </a:xfrm>
          <a:prstGeom prst="rect">
            <a:avLst/>
          </a:prstGeom>
          <a:solidFill>
            <a:srgbClr val="F6F8FD"/>
          </a:solidFill>
          <a:ln w="9525">
            <a:solidFill>
              <a:srgbClr val="E1E7F4"/>
            </a:solidFill>
          </a:ln>
          <a:effectLst/>
        </p:spPr>
        <p:txBody>
          <a:bodyPr wrap="square" rtlCol="0" anchor="ctr"/>
          <a:lstStyle/>
          <a:p>
            <a:endParaRPr/>
          </a:p>
        </p:txBody>
      </p:sp>
      <p:sp>
        <p:nvSpPr>
          <p:cNvPr id="50" name="Rectangle 49"/>
          <p:cNvSpPr/>
          <p:nvPr/>
        </p:nvSpPr>
        <p:spPr>
          <a:xfrm>
            <a:off x="6903720" y="4873752"/>
            <a:ext cx="41148" cy="457200"/>
          </a:xfrm>
          <a:prstGeom prst="rect">
            <a:avLst/>
          </a:prstGeom>
          <a:solidFill>
            <a:srgbClr val="44495B"/>
          </a:solidFill>
          <a:ln>
            <a:noFill/>
          </a:ln>
          <a:effectLst/>
        </p:spPr>
        <p:txBody>
          <a:bodyPr wrap="square" rtlCol="0" anchor="ctr"/>
          <a:lstStyle/>
          <a:p>
            <a:endParaRPr/>
          </a:p>
        </p:txBody>
      </p:sp>
      <p:sp>
        <p:nvSpPr>
          <p:cNvPr id="51" name="TextBox 50"/>
          <p:cNvSpPr txBox="1"/>
          <p:nvPr/>
        </p:nvSpPr>
        <p:spPr>
          <a:xfrm>
            <a:off x="7050024" y="4974336"/>
            <a:ext cx="4538167" cy="201168"/>
          </a:xfrm>
          <a:prstGeom prst="rect">
            <a:avLst/>
          </a:prstGeom>
          <a:noFill/>
        </p:spPr>
        <p:txBody>
          <a:bodyPr wrap="square" lIns="0" tIns="0" rIns="0" bIns="0" anchor="t">
            <a:spAutoFit/>
          </a:bodyPr>
          <a:lstStyle/>
          <a:p>
            <a:pPr algn="l">
              <a:lnSpc>
                <a:spcPct val="95000"/>
              </a:lnSpc>
            </a:pPr>
            <a:endParaRPr/>
          </a:p>
        </p:txBody>
      </p:sp>
      <p:sp>
        <p:nvSpPr>
          <p:cNvPr id="52" name="TextBox 51"/>
          <p:cNvSpPr txBox="1"/>
          <p:nvPr/>
        </p:nvSpPr>
        <p:spPr>
          <a:xfrm>
            <a:off x="7068312" y="4873752"/>
            <a:ext cx="4556455" cy="45720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Throttling only — a Global or Data Zone deployment already spreads the load</a:t>
            </a:r>
          </a:p>
        </p:txBody>
      </p:sp>
      <p:sp>
        <p:nvSpPr>
          <p:cNvPr id="53" name="Rectangle 52"/>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4" name="TextBox 53"/>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Governance hub</a:t>
            </a:r>
          </a:p>
        </p:txBody>
      </p:sp>
      <p:sp>
        <p:nvSpPr>
          <p:cNvPr id="55" name="Rectangle 54"/>
          <p:cNvSpPr/>
          <p:nvPr/>
        </p:nvSpPr>
        <p:spPr>
          <a:xfrm>
            <a:off x="1572768"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6" name="TextBox 55"/>
          <p:cNvSpPr txBox="1"/>
          <p:nvPr/>
        </p:nvSpPr>
        <p:spPr>
          <a:xfrm>
            <a:off x="1792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Backend or service</a:t>
            </a:r>
          </a:p>
        </p:txBody>
      </p:sp>
      <p:sp>
        <p:nvSpPr>
          <p:cNvPr id="57" name="Rectangle 56"/>
          <p:cNvSpPr/>
          <p:nvPr/>
        </p:nvSpPr>
        <p:spPr>
          <a:xfrm>
            <a:off x="2907792" y="5545836"/>
            <a:ext cx="146304" cy="91440"/>
          </a:xfrm>
          <a:prstGeom prst="rect">
            <a:avLst/>
          </a:prstGeom>
          <a:solidFill>
            <a:srgbClr val="EBEFF7"/>
          </a:solidFill>
          <a:ln>
            <a:noFill/>
          </a:ln>
          <a:effectLst/>
        </p:spPr>
        <p:txBody>
          <a:bodyPr wrap="square" rtlCol="0" anchor="ctr"/>
          <a:lstStyle/>
          <a:p>
            <a:endParaRPr/>
          </a:p>
        </p:txBody>
      </p:sp>
      <p:sp>
        <p:nvSpPr>
          <p:cNvPr id="58" name="TextBox 57"/>
          <p:cNvSpPr txBox="1"/>
          <p:nvPr/>
        </p:nvSpPr>
        <p:spPr>
          <a:xfrm>
            <a:off x="312724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Spoke</a:t>
            </a:r>
          </a:p>
        </p:txBody>
      </p:sp>
      <p:sp>
        <p:nvSpPr>
          <p:cNvPr id="59" name="Rectangle 58"/>
          <p:cNvSpPr/>
          <p:nvPr/>
        </p:nvSpPr>
        <p:spPr>
          <a:xfrm>
            <a:off x="3529584" y="5545836"/>
            <a:ext cx="146304" cy="91440"/>
          </a:xfrm>
          <a:prstGeom prst="rect">
            <a:avLst/>
          </a:prstGeom>
          <a:solidFill>
            <a:srgbClr val="0B1229"/>
          </a:solidFill>
          <a:ln>
            <a:noFill/>
          </a:ln>
          <a:effectLst/>
        </p:spPr>
        <p:txBody>
          <a:bodyPr wrap="square" rtlCol="0" anchor="ctr"/>
          <a:lstStyle/>
          <a:p>
            <a:endParaRPr/>
          </a:p>
        </p:txBody>
      </p:sp>
      <p:sp>
        <p:nvSpPr>
          <p:cNvPr id="60" name="TextBox 59"/>
          <p:cNvSpPr txBox="1"/>
          <p:nvPr/>
        </p:nvSpPr>
        <p:spPr>
          <a:xfrm>
            <a:off x="3749039"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Governance layer</a:t>
            </a:r>
          </a:p>
        </p:txBody>
      </p:sp>
      <p:cxnSp>
        <p:nvCxnSpPr>
          <p:cNvPr id="61" name="Connector 60"/>
          <p:cNvCxnSpPr/>
          <p:nvPr/>
        </p:nvCxnSpPr>
        <p:spPr>
          <a:xfrm>
            <a:off x="4754879" y="5591556"/>
            <a:ext cx="164592" cy="0"/>
          </a:xfrm>
          <a:prstGeom prst="line">
            <a:avLst/>
          </a:prstGeom>
          <a:ln w="13970">
            <a:solidFill>
              <a:srgbClr val="44495B"/>
            </a:solidFill>
          </a:ln>
        </p:spPr>
      </p:cxnSp>
      <p:sp>
        <p:nvSpPr>
          <p:cNvPr id="62" name="TextBox 61"/>
          <p:cNvSpPr txBox="1"/>
          <p:nvPr/>
        </p:nvSpPr>
        <p:spPr>
          <a:xfrm>
            <a:off x="497433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a:t>
            </a:r>
          </a:p>
        </p:txBody>
      </p:sp>
      <p:cxnSp>
        <p:nvCxnSpPr>
          <p:cNvPr id="63" name="Connector 62"/>
          <p:cNvCxnSpPr/>
          <p:nvPr/>
        </p:nvCxnSpPr>
        <p:spPr>
          <a:xfrm>
            <a:off x="5486400" y="5591556"/>
            <a:ext cx="164592" cy="0"/>
          </a:xfrm>
          <a:prstGeom prst="line">
            <a:avLst/>
          </a:prstGeom>
          <a:ln w="13970">
            <a:solidFill>
              <a:srgbClr val="44495B"/>
            </a:solidFill>
            <a:prstDash val="dash"/>
          </a:ln>
        </p:spPr>
      </p:cxnSp>
      <p:sp>
        <p:nvSpPr>
          <p:cNvPr id="64" name="TextBox 63"/>
          <p:cNvSpPr txBox="1"/>
          <p:nvPr/>
        </p:nvSpPr>
        <p:spPr>
          <a:xfrm>
            <a:off x="57058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Telemetry, control</a:t>
            </a:r>
          </a:p>
        </p:txBody>
      </p:sp>
      <p:sp>
        <p:nvSpPr>
          <p:cNvPr id="65" name="TextBox 64"/>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4178</Words>
  <Application>Microsoft Office PowerPoint</Application>
  <PresentationFormat>Widescreen</PresentationFormat>
  <Paragraphs>415</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3</cp:revision>
  <dcterms:created xsi:type="dcterms:W3CDTF">2013-01-27T09:14:16Z</dcterms:created>
  <dcterms:modified xsi:type="dcterms:W3CDTF">2026-10-14T14:09:36Z</dcterms:modified>
  <cp:category/>
</cp:coreProperties>
</file>