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10-30T08:13:07.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Sachelarescu" userId="S::alexsac@microsoft.com::774a4e7a-2386-4e79-97d5-603ed92c67ae" providerId="AD" clId="Web-{00000000-0000-0000-0000-000000000000}"/>
    <pc:docChg chg="modSld">
      <pc:chgData name="Alex Sachelarescu" userId="S::alexsac@microsoft.com::774a4e7a-2386-4e79-97d5-603ed92c67ae" providerId="AD" clId="Web-{00000000-0000-0000-0000-000000000000}" dt="2026-10-30T08:13:07.357" v="0"/>
      <pc:docMkLst>
        <pc:docMk/>
      </pc:docMkLst>
      <pc:sldChg chg="delSp">
        <pc:chgData name="Alex Sachelarescu" userId="S::alexsac@microsoft.com::774a4e7a-2386-4e79-97d5-603ed92c67ae" providerId="AD" clId="Web-{00000000-0000-0000-0000-000000000000}" dt="2026-10-30T08:13:07.357" v="0"/>
        <pc:sldMkLst>
          <pc:docMk/>
          <pc:sldMk cId="0" sldId="256"/>
        </pc:sldMkLst>
        <pc:spChg chg="del">
          <ac:chgData name="Alex Sachelarescu" userId="S::alexsac@microsoft.com::774a4e7a-2386-4e79-97d5-603ed92c67ae" providerId="AD" clId="Web-{00000000-0000-0000-0000-000000000000}" dt="2026-10-30T08:13:07.357" v="0"/>
          <ac:spMkLst>
            <pc:docMk/>
            <pc:sldMk cId="0" sldId="256"/>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C1AEAC-7C2E-461A-B49B-5869BA3C2019}" type="datetimeFigureOut">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735CB1-05C8-43DD-A871-90CF18B7BDF9}" type="slidenum">
              <a:t>‹#›</a:t>
            </a:fld>
            <a:endParaRPr lang="en-US"/>
          </a:p>
        </p:txBody>
      </p:sp>
    </p:spTree>
    <p:extLst>
      <p:ext uri="{BB962C8B-B14F-4D97-AF65-F5344CB8AC3E}">
        <p14:creationId xmlns:p14="http://schemas.microsoft.com/office/powerpoint/2010/main" val="237034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session covers one new option in Foundry Agent Service: the Microsoft Copilot harness for prompt agents, announced in public preview on 28 October 2026. According to the Microsoft announcement, the same harness already runs Microsoft's own agent products, including Copilot Studio, the GitHub Copilot app, the command line and Visual Studio Code. Foundry now offers it as a managed runtime for agents that are defined declaratively.</a:t>
            </a:r>
          </a:p>
          <a:p>
            <a:endParaRPr/>
          </a:p>
          <a:p>
            <a:r>
              <a:t>The deck answers five questions in order: what the harness is and which problem it removes; how a request moves through it; how it differs from a standard prompt agent and from a hosted agent; when to choose it; and which limits, security controls and costs apply before a pilot. Preview items carry an asterisk.</a:t>
            </a:r>
          </a:p>
          <a:p>
            <a:endParaRPr/>
          </a:p>
          <a:p>
            <a:r>
              <a:t>One point up front, because it causes confusion: the Copilot harness is not a new agent type. The resource stays a prompt agent, with the same endpoint and the same governance; only the runtime underneath changes.</a:t>
            </a:r>
          </a:p>
          <a:p>
            <a:endParaRPr/>
          </a:p>
          <a:p>
            <a:r>
              <a:t>A common question is whether existing prompt agents can be switched to the harness. Not during this preview. The harness is chosen when an agent is created, so an existing agent is recreated rather than converted.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supplies the reasoning; the harness is everything around it. It decides when to call the model, what context to send, how to read the reply and which tool to run next, and it continues until the task is complete or a configured limit is reached.</a:t>
            </a:r>
          </a:p>
          <a:p>
            <a:endParaRPr/>
          </a:p>
          <a:p>
            <a:r>
              <a:t>Teams that build multi-step agents usually rebuild this loop themselves, together with an isolated place to keep files and run commands. That work rarely differentiates the application, and it often ties the code to one model. With the Copilot harness, Foundry runs both the loop and the sandbox, and the development team concentrates on instructions, skills and tools.</a:t>
            </a:r>
          </a:p>
          <a:p>
            <a:endParaRPr/>
          </a:p>
          <a:p>
            <a:r>
              <a:t>The right-hand side separates what stays the same from what the harness adds. The agent type, the Responses endpoint, identity and governance do not change. The harness adds an agent loop for multi-step work, up to 50 skill references, five built-in tools, one workspace per conversation, and file output through Foundry Files.</a:t>
            </a:r>
          </a:p>
          <a:p>
            <a:endParaRPr/>
          </a:p>
          <a:p>
            <a:r>
              <a:t>A frequent question is whether a special model is required. No. Any model that supports reasoning and tool calling and is available to prompt agents in the region works, except bring-your-own models.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is drawn from the official how-to and limits pages. There is no Azure Architecture Center pattern for the harness yet, so the drawing shows logical components, not a network topology.</a:t>
            </a:r>
          </a:p>
          <a:p>
            <a:endParaRPr/>
          </a:p>
          <a:p>
            <a:r>
              <a:t>Step 1: the client application calls the agent's Responses endpoint, always within a conversation. Step 2: the endpoint passes the request to the Copilot harness, which reads the prompt-agent definition: model, instructions, skills, tools and the attached guardrail. Steps 3 to 5: the harness loop calls the model deployment, applies the procedures in attached skills, and calls declared tools, such as web search, function tools or a toolbox. Step 6: for files and commands, the harness uses the sandbox, which holds one workspace per conversation. Step 7: to return a file, the harness uploads it to Foundry Files with the agent's identity, which needs the Foundry User role on the project.</a:t>
            </a:r>
          </a:p>
          <a:p>
            <a:endParaRPr/>
          </a:p>
          <a:p>
            <a:r>
              <a:t>The dark band is the control layer: agent identity, project roles, the guardrail with network egress rules, and tracing.</a:t>
            </a:r>
          </a:p>
          <a:p>
            <a:endParaRPr/>
          </a:p>
          <a:p>
            <a:r>
              <a:t>A common question is whether egress rules can block web search. They cannot; declared tools keep their own network boundaries, and egress rules govern only direct traffic from the sandbox.</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options run in Foundry Agent Service, so the choice is about who owns the agent loop and the execution environment.</a:t>
            </a:r>
          </a:p>
          <a:p>
            <a:endParaRPr/>
          </a:p>
          <a:p>
            <a:r>
              <a:t>A standard prompt agent is the simplest option. The development team provides the model, instructions and tools, and the default runtime runs them. There is no agent workspace; tools such as Code Interpreter run in their own environments.</a:t>
            </a:r>
          </a:p>
          <a:p>
            <a:endParaRPr/>
          </a:p>
          <a:p>
            <a:r>
              <a:t>With the Copilot harness, Foundry still runs everything, but the runtime adds skills, a sandbox with one workspace per conversation, and five built-in tools for files, shell commands, web fetch and subagents. The trade-off during the preview is control: sandbox CPU, memory and idle settings are not configurable.</a:t>
            </a:r>
          </a:p>
          <a:p>
            <a:endParaRPr/>
          </a:p>
          <a:p>
            <a:r>
              <a:t>A hosted agent reverses the model. The team ships its own code in a container, with any framework, and chooses compute per session, from half a vCPU to two vCPUs, with an idle timeout between 2 and 240 minutes.</a:t>
            </a:r>
          </a:p>
          <a:p>
            <a:endParaRPr/>
          </a:p>
          <a:p>
            <a:r>
              <a:t>Standard prompt agents and hosted agents are generally available; the harness is in public preview.</a:t>
            </a:r>
          </a:p>
          <a:p>
            <a:endParaRPr/>
          </a:p>
          <a:p>
            <a:r>
              <a:t>A frequent question is whether hosted agents can also use skills and Foundry tools. They can, through a toolbox endpoint, but the agent code decides how and when to use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questions are asked in this order because each one rules out an option.</a:t>
            </a:r>
          </a:p>
          <a:p>
            <a:endParaRPr/>
          </a:p>
          <a:p>
            <a:r>
              <a:t>First: does the solution need its own framework, middleware, a protocol other than Responses, such as webhooks, or control of CPU and memory? If so, the answer is a hosted agent.</a:t>
            </a:r>
          </a:p>
          <a:p>
            <a:endParaRPr/>
          </a:p>
          <a:p>
            <a:r>
              <a:t>Second: does the work span several steps with files, shell commands, reusable skills or subagents, for example a research brief with sources and charts? That is the design point of the harness.</a:t>
            </a:r>
          </a:p>
          <a:p>
            <a:endParaRPr/>
          </a:p>
          <a:p>
            <a:r>
              <a:t>Third: if instructions and supported tools are enough, the standard prompt agent stays the right choice. It is the simplest runtime and it is generally available.</a:t>
            </a:r>
          </a:p>
          <a:p>
            <a:endParaRPr/>
          </a:p>
          <a:p>
            <a:r>
              <a:t>The lower boxes list typical fits and the cases where the harness is not the right choice today: production workloads that need a service level agreement, audio input, Foundry Memory, strict function schemas, bring-your-own models, and projects outside the nine supported regions.</a:t>
            </a:r>
          </a:p>
          <a:p>
            <a:endParaRPr/>
          </a:p>
          <a:p>
            <a:r>
              <a:t>A common question is whether to start with the harness and move to a hosted agent later. That is a reasonable path, but it should be planned as a rebuild: instructions and skills carry over as content, while the loop becomes the team's own code.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a pilot, three groups of constraints need checking.</a:t>
            </a:r>
          </a:p>
          <a:p>
            <a:endParaRPr/>
          </a:p>
          <a:p>
            <a:r>
              <a:t>Availability: the harness runs in nine regions: Australia East, Canada Central, Central US, Germany West Central, Japan East, Sweden Central, UK South, West Europe and West US. Switzerland is not among them, so data-residency requirements need an early decision. The model must support reasoning and tool calling, and bring-your-own models are not supported.</a:t>
            </a:r>
          </a:p>
          <a:p>
            <a:endParaRPr/>
          </a:p>
          <a:p>
            <a:r>
              <a:t>Request and definition rules: every request needs a conversation. Settings that the harness manages, such as temperature or max_output_tokens, are rejected rather than silently ignored. Input is text, images and files over HTTP; audio and WebSocket transport are not supported.</a:t>
            </a:r>
          </a:p>
          <a:p>
            <a:endParaRPr/>
          </a:p>
          <a:p>
            <a:r>
              <a:t>Security and cost: shell is the broadest harness tool, so disabling file or web tools while shell stays enabled is not a security boundary. Network egress rules, attached through a guardrail, should start in audit mode to discover the destinations the agent needs. Harness runtime is free until 1 December 2026; from then on, sandbox CPU and memory are billed per hour, and model and tool usage are billed separately.</a:t>
            </a:r>
          </a:p>
          <a:p>
            <a:endParaRPr/>
          </a:p>
          <a:p>
            <a:r>
              <a:t>A typical question is whether the harness is ready for production. Not yet; the preview has no service level agreement.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pages behind every fact in the deck.</a:t>
            </a:r>
          </a:p>
          <a:p>
            <a:endParaRPr/>
          </a:p>
          <a:p>
            <a:r>
              <a:t>The how-to article is the starting point for a build. It covers creating a harness agent in the Foundry portal, with azd or with the SDKs, and configuring harness tools, skills, file exchange and network egress rules.</a:t>
            </a:r>
          </a:p>
          <a:p>
            <a:endParaRPr/>
          </a:p>
          <a:p>
            <a:r>
              <a:t>The limits page holds the region list and the table of request and definition constraints. That table is likely to change during the preview, so it should be checked again before each customer session.</a:t>
            </a:r>
          </a:p>
          <a:p>
            <a:endParaRPr/>
          </a:p>
          <a:p>
            <a:r>
              <a:t>The prompt-agent and hosted-agent concept pages describe the two neighbouring options in more depth, including hosted-agent sandbox sizes, protocols and identity.</a:t>
            </a:r>
          </a:p>
          <a:p>
            <a:endParaRPr/>
          </a:p>
          <a:p>
            <a:r>
              <a:t>The two blog posts provide the announcement context, the comparison of the three options, the pricing that starts on 1 December 2026, and the general availability of long-running resilience for hosted agents.</a:t>
            </a:r>
          </a:p>
          <a:p>
            <a:endParaRPr/>
          </a:p>
          <a:p>
            <a:r>
              <a:t>For a hands-on start, the web research quickstart in the same documentation set builds a harness agent with web search and a reusable skill.</a:t>
            </a:r>
          </a:p>
          <a:p>
            <a:endParaRPr/>
          </a:p>
          <a:p>
            <a:r>
              <a:t>A common closing question is where the harness is heading. The announcements describe continuous improvements shared across Microsoft's own agent products, but no specific roadmap items are published. Commitments to customers should therefore stay within the documented preview scope.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AGENT SERVICE  ·  TECHNICAL DEEP DIVE</a:t>
            </a:r>
          </a:p>
        </p:txBody>
      </p:sp>
      <p:sp>
        <p:nvSpPr>
          <p:cNvPr id="5" name="TextBox 4"/>
          <p:cNvSpPr txBox="1"/>
          <p:nvPr/>
        </p:nvSpPr>
        <p:spPr>
          <a:xfrm>
            <a:off x="914400" y="2203704"/>
            <a:ext cx="10789920" cy="658368"/>
          </a:xfrm>
          <a:prstGeom prst="rect">
            <a:avLst/>
          </a:prstGeom>
          <a:noFill/>
        </p:spPr>
        <p:txBody>
          <a:bodyPr wrap="none" lIns="0" tIns="0" rIns="0" bIns="0" anchor="t">
            <a:spAutoFit/>
          </a:bodyPr>
          <a:lstStyle/>
          <a:p>
            <a:pPr algn="l">
              <a:lnSpc>
                <a:spcPct val="100000"/>
              </a:lnSpc>
            </a:pPr>
            <a:r>
              <a:rPr sz="3200" b="1" i="0" dirty="0">
                <a:solidFill>
                  <a:srgbClr val="FFFFFF"/>
                </a:solidFill>
                <a:latin typeface="Segoe UI"/>
                <a:cs typeface="Segoe UI"/>
              </a:rPr>
              <a:t>Microsoft Copilot harness for prompt agents</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A managed agent runtime in Foundry Agent Service: what it adds to a prompt agent, how a request flows through it, and when to choose it.</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Architects, developers and 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Overview · architecture · comparison with prompt and hosted agents · selection · limits</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Microsoft Learn and Microsoft Foundry Blog, checked 29 October 2026</a:t>
            </a:r>
          </a:p>
        </p:txBody>
      </p:sp>
      <p:sp>
        <p:nvSpPr>
          <p:cNvPr id="15" name="TextBox 14"/>
          <p:cNvSpPr txBox="1"/>
          <p:nvPr/>
        </p:nvSpPr>
        <p:spPr>
          <a:xfrm>
            <a:off x="8412480" y="5897880"/>
            <a:ext cx="2864815" cy="182880"/>
          </a:xfrm>
          <a:prstGeom prst="rect">
            <a:avLst/>
          </a:prstGeom>
          <a:noFill/>
        </p:spPr>
        <p:txBody>
          <a:bodyPr wrap="square" lIns="0" tIns="0" rIns="0" bIns="0" anchor="t">
            <a:spAutoFit/>
          </a:bodyPr>
          <a:lstStyle/>
          <a:p>
            <a:pPr algn="r">
              <a:lnSpc>
                <a:spcPct val="100000"/>
              </a:lnSpc>
            </a:pPr>
            <a:r>
              <a:rPr sz="950" b="0" i="0" dirty="0">
                <a:solidFill>
                  <a:srgbClr val="B9C2D6"/>
                </a:solidFill>
                <a:latin typeface="Segoe UI"/>
                <a:cs typeface="Segoe UI"/>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Copilot harness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An optional runtime, operated by Foundry, that runs multi-step work for a prompt agent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learn.microsoft.com/azure/foundry/agents/how-to/use-tools-skills-copilot-harness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Copilot harness for prompt agents · October 2026 · 2</a:t>
            </a:r>
          </a:p>
        </p:txBody>
      </p:sp>
      <p:sp>
        <p:nvSpPr>
          <p:cNvPr id="7" name="TextBox 6"/>
          <p:cNvSpPr txBox="1"/>
          <p:nvPr/>
        </p:nvSpPr>
        <p:spPr>
          <a:xfrm>
            <a:off x="457200" y="137160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A HARNESS IS</a:t>
            </a:r>
          </a:p>
        </p:txBody>
      </p:sp>
      <p:sp>
        <p:nvSpPr>
          <p:cNvPr id="8" name="Rectangle 7"/>
          <p:cNvSpPr/>
          <p:nvPr/>
        </p:nvSpPr>
        <p:spPr>
          <a:xfrm>
            <a:off x="457200" y="1627632"/>
            <a:ext cx="5257800" cy="786384"/>
          </a:xfrm>
          <a:prstGeom prst="rect">
            <a:avLst/>
          </a:prstGeom>
          <a:solidFill>
            <a:srgbClr val="EBEFF7"/>
          </a:solidFill>
          <a:ln>
            <a:noFill/>
          </a:ln>
          <a:effectLst/>
        </p:spPr>
        <p:txBody>
          <a:bodyPr wrap="square" rtlCol="0" anchor="ctr"/>
          <a:lstStyle/>
          <a:p>
            <a:endParaRPr/>
          </a:p>
        </p:txBody>
      </p:sp>
      <p:sp>
        <p:nvSpPr>
          <p:cNvPr id="9" name="Rectangle 8"/>
          <p:cNvSpPr/>
          <p:nvPr/>
        </p:nvSpPr>
        <p:spPr>
          <a:xfrm>
            <a:off x="457200" y="1627632"/>
            <a:ext cx="41148" cy="786384"/>
          </a:xfrm>
          <a:prstGeom prst="rect">
            <a:avLst/>
          </a:prstGeom>
          <a:solidFill>
            <a:srgbClr val="00B39F"/>
          </a:solidFill>
          <a:ln>
            <a:noFill/>
          </a:ln>
          <a:effectLst/>
        </p:spPr>
        <p:txBody>
          <a:bodyPr wrap="square" rtlCol="0" anchor="ctr"/>
          <a:lstStyle/>
          <a:p>
            <a:endParaRPr/>
          </a:p>
        </p:txBody>
      </p:sp>
      <p:sp>
        <p:nvSpPr>
          <p:cNvPr id="10" name="TextBox 9"/>
          <p:cNvSpPr txBox="1"/>
          <p:nvPr/>
        </p:nvSpPr>
        <p:spPr>
          <a:xfrm>
            <a:off x="694944" y="1728216"/>
            <a:ext cx="4837176" cy="603503"/>
          </a:xfrm>
          <a:prstGeom prst="rect">
            <a:avLst/>
          </a:prstGeom>
          <a:noFill/>
        </p:spPr>
        <p:txBody>
          <a:bodyPr wrap="square" lIns="0" tIns="0" rIns="0" bIns="0" anchor="t">
            <a:spAutoFit/>
          </a:bodyPr>
          <a:lstStyle/>
          <a:p>
            <a:pPr algn="l">
              <a:lnSpc>
                <a:spcPct val="120000"/>
              </a:lnSpc>
            </a:pPr>
            <a:r>
              <a:rPr sz="950" b="0" i="0" dirty="0">
                <a:solidFill>
                  <a:srgbClr val="101A3C"/>
                </a:solidFill>
                <a:latin typeface="Segoe UI"/>
                <a:cs typeface="Segoe UI"/>
              </a:rPr>
              <a:t>The model supplies the reasoning. The harness is the runtime around the model: it decides when to call the model, what context to send, how to read the reply and which tool to run next, until the task is complete.</a:t>
            </a:r>
          </a:p>
        </p:txBody>
      </p:sp>
      <p:sp>
        <p:nvSpPr>
          <p:cNvPr id="11" name="TextBox 10"/>
          <p:cNvSpPr txBox="1"/>
          <p:nvPr/>
        </p:nvSpPr>
        <p:spPr>
          <a:xfrm>
            <a:off x="457200" y="2615184"/>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PROBLEM IT SOLVES</a:t>
            </a:r>
          </a:p>
        </p:txBody>
      </p:sp>
      <p:sp>
        <p:nvSpPr>
          <p:cNvPr id="12" name="Rectangle 11"/>
          <p:cNvSpPr/>
          <p:nvPr/>
        </p:nvSpPr>
        <p:spPr>
          <a:xfrm>
            <a:off x="457200" y="2871216"/>
            <a:ext cx="5257800" cy="749808"/>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57200" y="2871216"/>
            <a:ext cx="41148" cy="749808"/>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603504" y="2971800"/>
            <a:ext cx="4965192"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Repeated engineering</a:t>
            </a:r>
          </a:p>
        </p:txBody>
      </p:sp>
      <p:sp>
        <p:nvSpPr>
          <p:cNvPr id="15" name="TextBox 14"/>
          <p:cNvSpPr txBox="1"/>
          <p:nvPr/>
        </p:nvSpPr>
        <p:spPr>
          <a:xfrm>
            <a:off x="603504" y="3214116"/>
            <a:ext cx="4965192" cy="356616"/>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Each team rebuilds the same loop: model and tool calls, working context, files and the next-step decision.</a:t>
            </a:r>
          </a:p>
        </p:txBody>
      </p:sp>
      <p:sp>
        <p:nvSpPr>
          <p:cNvPr id="16" name="Rectangle 15"/>
          <p:cNvSpPr/>
          <p:nvPr/>
        </p:nvSpPr>
        <p:spPr>
          <a:xfrm>
            <a:off x="457200" y="3730752"/>
            <a:ext cx="5257800" cy="749808"/>
          </a:xfrm>
          <a:prstGeom prst="rect">
            <a:avLst/>
          </a:prstGeom>
          <a:solidFill>
            <a:srgbClr val="F6F8FD"/>
          </a:solidFill>
          <a:ln w="9525">
            <a:solidFill>
              <a:srgbClr val="E1E7F4"/>
            </a:solidFill>
          </a:ln>
          <a:effectLst/>
        </p:spPr>
        <p:txBody>
          <a:bodyPr wrap="square" rtlCol="0" anchor="ctr"/>
          <a:lstStyle/>
          <a:p>
            <a:endParaRPr/>
          </a:p>
        </p:txBody>
      </p:sp>
      <p:sp>
        <p:nvSpPr>
          <p:cNvPr id="17" name="Rectangle 16"/>
          <p:cNvSpPr/>
          <p:nvPr/>
        </p:nvSpPr>
        <p:spPr>
          <a:xfrm>
            <a:off x="457200" y="3730752"/>
            <a:ext cx="41148" cy="749808"/>
          </a:xfrm>
          <a:prstGeom prst="rect">
            <a:avLst/>
          </a:prstGeom>
          <a:solidFill>
            <a:srgbClr val="00B39F"/>
          </a:solidFill>
          <a:ln>
            <a:noFill/>
          </a:ln>
          <a:effectLst/>
        </p:spPr>
        <p:txBody>
          <a:bodyPr wrap="square" rtlCol="0" anchor="ctr"/>
          <a:lstStyle/>
          <a:p>
            <a:endParaRPr/>
          </a:p>
        </p:txBody>
      </p:sp>
      <p:sp>
        <p:nvSpPr>
          <p:cNvPr id="18" name="TextBox 17"/>
          <p:cNvSpPr txBox="1"/>
          <p:nvPr/>
        </p:nvSpPr>
        <p:spPr>
          <a:xfrm>
            <a:off x="603504" y="3831336"/>
            <a:ext cx="4965192"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Runtime operations</a:t>
            </a:r>
          </a:p>
        </p:txBody>
      </p:sp>
      <p:sp>
        <p:nvSpPr>
          <p:cNvPr id="19" name="TextBox 18"/>
          <p:cNvSpPr txBox="1"/>
          <p:nvPr/>
        </p:nvSpPr>
        <p:spPr>
          <a:xfrm>
            <a:off x="603504" y="4073652"/>
            <a:ext cx="4965192" cy="356615"/>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Files and commands need an isolated environment that someone must allocate, idle, resume and secure.</a:t>
            </a:r>
          </a:p>
        </p:txBody>
      </p:sp>
      <p:sp>
        <p:nvSpPr>
          <p:cNvPr id="20" name="Rectangle 19"/>
          <p:cNvSpPr/>
          <p:nvPr/>
        </p:nvSpPr>
        <p:spPr>
          <a:xfrm>
            <a:off x="457200" y="4590288"/>
            <a:ext cx="5257800" cy="749808"/>
          </a:xfrm>
          <a:prstGeom prst="rect">
            <a:avLst/>
          </a:prstGeom>
          <a:solidFill>
            <a:srgbClr val="F6F8FD"/>
          </a:solidFill>
          <a:ln w="9525">
            <a:solidFill>
              <a:srgbClr val="E1E7F4"/>
            </a:solidFill>
          </a:ln>
          <a:effectLst/>
        </p:spPr>
        <p:txBody>
          <a:bodyPr wrap="square" rtlCol="0" anchor="ctr"/>
          <a:lstStyle/>
          <a:p>
            <a:endParaRPr/>
          </a:p>
        </p:txBody>
      </p:sp>
      <p:sp>
        <p:nvSpPr>
          <p:cNvPr id="21" name="Rectangle 20"/>
          <p:cNvSpPr/>
          <p:nvPr/>
        </p:nvSpPr>
        <p:spPr>
          <a:xfrm>
            <a:off x="457200" y="4590288"/>
            <a:ext cx="41148" cy="749808"/>
          </a:xfrm>
          <a:prstGeom prst="rect">
            <a:avLst/>
          </a:prstGeom>
          <a:solidFill>
            <a:srgbClr val="00B39F"/>
          </a:solidFill>
          <a:ln>
            <a:noFill/>
          </a:ln>
          <a:effectLst/>
        </p:spPr>
        <p:txBody>
          <a:bodyPr wrap="square" rtlCol="0" anchor="ctr"/>
          <a:lstStyle/>
          <a:p>
            <a:endParaRPr/>
          </a:p>
        </p:txBody>
      </p:sp>
      <p:sp>
        <p:nvSpPr>
          <p:cNvPr id="22" name="TextBox 21"/>
          <p:cNvSpPr txBox="1"/>
          <p:nvPr/>
        </p:nvSpPr>
        <p:spPr>
          <a:xfrm>
            <a:off x="603504" y="4690872"/>
            <a:ext cx="4965192"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Model coupling</a:t>
            </a:r>
          </a:p>
        </p:txBody>
      </p:sp>
      <p:sp>
        <p:nvSpPr>
          <p:cNvPr id="23" name="TextBox 22"/>
          <p:cNvSpPr txBox="1"/>
          <p:nvPr/>
        </p:nvSpPr>
        <p:spPr>
          <a:xfrm>
            <a:off x="603504" y="4933188"/>
            <a:ext cx="4965192" cy="356615"/>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A hand-built loop is often tied to one model; changing the model means rewriting the orchestration.</a:t>
            </a:r>
          </a:p>
        </p:txBody>
      </p:sp>
      <p:sp>
        <p:nvSpPr>
          <p:cNvPr id="24" name="TextBox 23"/>
          <p:cNvSpPr txBox="1"/>
          <p:nvPr/>
        </p:nvSpPr>
        <p:spPr>
          <a:xfrm>
            <a:off x="6172200" y="1371600"/>
            <a:ext cx="556229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UNCHANGED FOR THE PROMPT AGENT</a:t>
            </a:r>
          </a:p>
        </p:txBody>
      </p:sp>
      <p:sp>
        <p:nvSpPr>
          <p:cNvPr id="25" name="TextBox 24"/>
          <p:cNvSpPr txBox="1"/>
          <p:nvPr/>
        </p:nvSpPr>
        <p:spPr>
          <a:xfrm>
            <a:off x="6172200" y="1627632"/>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Agent type</a:t>
            </a:r>
          </a:p>
        </p:txBody>
      </p:sp>
      <p:sp>
        <p:nvSpPr>
          <p:cNvPr id="26" name="TextBox 25"/>
          <p:cNvSpPr txBox="1"/>
          <p:nvPr/>
        </p:nvSpPr>
        <p:spPr>
          <a:xfrm>
            <a:off x="7562773" y="1627632"/>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Prompt agent</a:t>
            </a:r>
          </a:p>
        </p:txBody>
      </p:sp>
      <p:cxnSp>
        <p:nvCxnSpPr>
          <p:cNvPr id="27" name="Connector 26"/>
          <p:cNvCxnSpPr/>
          <p:nvPr/>
        </p:nvCxnSpPr>
        <p:spPr>
          <a:xfrm>
            <a:off x="6172200" y="1883664"/>
            <a:ext cx="5562295" cy="0"/>
          </a:xfrm>
          <a:prstGeom prst="line">
            <a:avLst/>
          </a:prstGeom>
          <a:ln w="9525">
            <a:solidFill>
              <a:srgbClr val="E1E7F4"/>
            </a:solidFill>
          </a:ln>
        </p:spPr>
      </p:cxnSp>
      <p:sp>
        <p:nvSpPr>
          <p:cNvPr id="28" name="TextBox 27"/>
          <p:cNvSpPr txBox="1"/>
          <p:nvPr/>
        </p:nvSpPr>
        <p:spPr>
          <a:xfrm>
            <a:off x="6172200" y="1901952"/>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Definition</a:t>
            </a:r>
          </a:p>
        </p:txBody>
      </p:sp>
      <p:sp>
        <p:nvSpPr>
          <p:cNvPr id="29" name="TextBox 28"/>
          <p:cNvSpPr txBox="1"/>
          <p:nvPr/>
        </p:nvSpPr>
        <p:spPr>
          <a:xfrm>
            <a:off x="7562773" y="1901952"/>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Model, instructions, tools and other prompt-agent fields</a:t>
            </a:r>
          </a:p>
        </p:txBody>
      </p:sp>
      <p:cxnSp>
        <p:nvCxnSpPr>
          <p:cNvPr id="30" name="Connector 29"/>
          <p:cNvCxnSpPr/>
          <p:nvPr/>
        </p:nvCxnSpPr>
        <p:spPr>
          <a:xfrm>
            <a:off x="6172200" y="2157984"/>
            <a:ext cx="5562295" cy="0"/>
          </a:xfrm>
          <a:prstGeom prst="line">
            <a:avLst/>
          </a:prstGeom>
          <a:ln w="9525">
            <a:solidFill>
              <a:srgbClr val="E1E7F4"/>
            </a:solidFill>
          </a:ln>
        </p:spPr>
      </p:cxnSp>
      <p:sp>
        <p:nvSpPr>
          <p:cNvPr id="31" name="TextBox 30"/>
          <p:cNvSpPr txBox="1"/>
          <p:nvPr/>
        </p:nvSpPr>
        <p:spPr>
          <a:xfrm>
            <a:off x="6172200" y="2176272"/>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Invocation</a:t>
            </a:r>
          </a:p>
        </p:txBody>
      </p:sp>
      <p:sp>
        <p:nvSpPr>
          <p:cNvPr id="32" name="TextBox 31"/>
          <p:cNvSpPr txBox="1"/>
          <p:nvPr/>
        </p:nvSpPr>
        <p:spPr>
          <a:xfrm>
            <a:off x="7562773" y="2176272"/>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The agent's Responses endpoint</a:t>
            </a:r>
          </a:p>
        </p:txBody>
      </p:sp>
      <p:cxnSp>
        <p:nvCxnSpPr>
          <p:cNvPr id="33" name="Connector 32"/>
          <p:cNvCxnSpPr/>
          <p:nvPr/>
        </p:nvCxnSpPr>
        <p:spPr>
          <a:xfrm>
            <a:off x="6172200" y="2432303"/>
            <a:ext cx="5562295" cy="0"/>
          </a:xfrm>
          <a:prstGeom prst="line">
            <a:avLst/>
          </a:prstGeom>
          <a:ln w="9525">
            <a:solidFill>
              <a:srgbClr val="E1E7F4"/>
            </a:solidFill>
          </a:ln>
        </p:spPr>
      </p:cxnSp>
      <p:sp>
        <p:nvSpPr>
          <p:cNvPr id="34" name="TextBox 33"/>
          <p:cNvSpPr txBox="1"/>
          <p:nvPr/>
        </p:nvSpPr>
        <p:spPr>
          <a:xfrm>
            <a:off x="6172200" y="245059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Governance</a:t>
            </a:r>
          </a:p>
        </p:txBody>
      </p:sp>
      <p:sp>
        <p:nvSpPr>
          <p:cNvPr id="35" name="TextBox 34"/>
          <p:cNvSpPr txBox="1"/>
          <p:nvPr/>
        </p:nvSpPr>
        <p:spPr>
          <a:xfrm>
            <a:off x="7562773" y="245059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Project roles, agent identity, connections and policies</a:t>
            </a:r>
          </a:p>
        </p:txBody>
      </p:sp>
      <p:cxnSp>
        <p:nvCxnSpPr>
          <p:cNvPr id="36" name="Connector 35"/>
          <p:cNvCxnSpPr/>
          <p:nvPr/>
        </p:nvCxnSpPr>
        <p:spPr>
          <a:xfrm>
            <a:off x="6172200" y="2706623"/>
            <a:ext cx="5562295" cy="0"/>
          </a:xfrm>
          <a:prstGeom prst="line">
            <a:avLst/>
          </a:prstGeom>
          <a:ln w="9525">
            <a:solidFill>
              <a:srgbClr val="E1E7F4"/>
            </a:solidFill>
          </a:ln>
        </p:spPr>
      </p:cxnSp>
      <p:sp>
        <p:nvSpPr>
          <p:cNvPr id="37" name="TextBox 36"/>
          <p:cNvSpPr txBox="1"/>
          <p:nvPr/>
        </p:nvSpPr>
        <p:spPr>
          <a:xfrm>
            <a:off x="6172200" y="272491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Operations</a:t>
            </a:r>
          </a:p>
        </p:txBody>
      </p:sp>
      <p:sp>
        <p:nvSpPr>
          <p:cNvPr id="38" name="TextBox 37"/>
          <p:cNvSpPr txBox="1"/>
          <p:nvPr/>
        </p:nvSpPr>
        <p:spPr>
          <a:xfrm>
            <a:off x="7562773" y="272491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Foundry runs the runtime; no separate resource to manage</a:t>
            </a:r>
          </a:p>
        </p:txBody>
      </p:sp>
      <p:cxnSp>
        <p:nvCxnSpPr>
          <p:cNvPr id="39" name="Connector 38"/>
          <p:cNvCxnSpPr/>
          <p:nvPr/>
        </p:nvCxnSpPr>
        <p:spPr>
          <a:xfrm>
            <a:off x="6172200" y="2980943"/>
            <a:ext cx="5562295" cy="0"/>
          </a:xfrm>
          <a:prstGeom prst="line">
            <a:avLst/>
          </a:prstGeom>
          <a:ln w="9525">
            <a:solidFill>
              <a:srgbClr val="E1E7F4"/>
            </a:solidFill>
          </a:ln>
        </p:spPr>
      </p:cxnSp>
      <p:sp>
        <p:nvSpPr>
          <p:cNvPr id="40" name="TextBox 39"/>
          <p:cNvSpPr txBox="1"/>
          <p:nvPr/>
        </p:nvSpPr>
        <p:spPr>
          <a:xfrm>
            <a:off x="6172200" y="3200399"/>
            <a:ext cx="556229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ADDED BY THE COPILOT HARNESS*</a:t>
            </a:r>
          </a:p>
        </p:txBody>
      </p:sp>
      <p:sp>
        <p:nvSpPr>
          <p:cNvPr id="41" name="TextBox 40"/>
          <p:cNvSpPr txBox="1"/>
          <p:nvPr/>
        </p:nvSpPr>
        <p:spPr>
          <a:xfrm>
            <a:off x="6172200" y="345643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Agent loop</a:t>
            </a:r>
          </a:p>
        </p:txBody>
      </p:sp>
      <p:sp>
        <p:nvSpPr>
          <p:cNvPr id="42" name="TextBox 41"/>
          <p:cNvSpPr txBox="1"/>
          <p:nvPr/>
        </p:nvSpPr>
        <p:spPr>
          <a:xfrm>
            <a:off x="7562773" y="345643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Coordinates model and tool steps toward the requested outcome</a:t>
            </a:r>
          </a:p>
        </p:txBody>
      </p:sp>
      <p:cxnSp>
        <p:nvCxnSpPr>
          <p:cNvPr id="43" name="Connector 42"/>
          <p:cNvCxnSpPr/>
          <p:nvPr/>
        </p:nvCxnSpPr>
        <p:spPr>
          <a:xfrm>
            <a:off x="6172200" y="3712463"/>
            <a:ext cx="5562295" cy="0"/>
          </a:xfrm>
          <a:prstGeom prst="line">
            <a:avLst/>
          </a:prstGeom>
          <a:ln w="9525">
            <a:solidFill>
              <a:srgbClr val="E1E7F4"/>
            </a:solidFill>
          </a:ln>
        </p:spPr>
      </p:cxnSp>
      <p:sp>
        <p:nvSpPr>
          <p:cNvPr id="44" name="TextBox 43"/>
          <p:cNvSpPr txBox="1"/>
          <p:nvPr/>
        </p:nvSpPr>
        <p:spPr>
          <a:xfrm>
            <a:off x="6172200" y="373075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Skills</a:t>
            </a:r>
          </a:p>
        </p:txBody>
      </p:sp>
      <p:sp>
        <p:nvSpPr>
          <p:cNvPr id="45" name="TextBox 44"/>
          <p:cNvSpPr txBox="1"/>
          <p:nvPr/>
        </p:nvSpPr>
        <p:spPr>
          <a:xfrm>
            <a:off x="7562773" y="373075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Up to 50 versioned procedures attached to the agent</a:t>
            </a:r>
          </a:p>
        </p:txBody>
      </p:sp>
      <p:cxnSp>
        <p:nvCxnSpPr>
          <p:cNvPr id="46" name="Connector 45"/>
          <p:cNvCxnSpPr/>
          <p:nvPr/>
        </p:nvCxnSpPr>
        <p:spPr>
          <a:xfrm>
            <a:off x="6172200" y="3986783"/>
            <a:ext cx="5562295" cy="0"/>
          </a:xfrm>
          <a:prstGeom prst="line">
            <a:avLst/>
          </a:prstGeom>
          <a:ln w="9525">
            <a:solidFill>
              <a:srgbClr val="E1E7F4"/>
            </a:solidFill>
          </a:ln>
        </p:spPr>
      </p:cxnSp>
      <p:sp>
        <p:nvSpPr>
          <p:cNvPr id="47" name="TextBox 46"/>
          <p:cNvSpPr txBox="1"/>
          <p:nvPr/>
        </p:nvSpPr>
        <p:spPr>
          <a:xfrm>
            <a:off x="6172200" y="400507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Harness tools</a:t>
            </a:r>
          </a:p>
        </p:txBody>
      </p:sp>
      <p:sp>
        <p:nvSpPr>
          <p:cNvPr id="48" name="TextBox 47"/>
          <p:cNvSpPr txBox="1"/>
          <p:nvPr/>
        </p:nvSpPr>
        <p:spPr>
          <a:xfrm>
            <a:off x="7562773" y="400507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File read, file write, shell, web fetch and subagents</a:t>
            </a:r>
          </a:p>
        </p:txBody>
      </p:sp>
      <p:cxnSp>
        <p:nvCxnSpPr>
          <p:cNvPr id="49" name="Connector 48"/>
          <p:cNvCxnSpPr/>
          <p:nvPr/>
        </p:nvCxnSpPr>
        <p:spPr>
          <a:xfrm>
            <a:off x="6172200" y="4261103"/>
            <a:ext cx="5562295" cy="0"/>
          </a:xfrm>
          <a:prstGeom prst="line">
            <a:avLst/>
          </a:prstGeom>
          <a:ln w="9525">
            <a:solidFill>
              <a:srgbClr val="E1E7F4"/>
            </a:solidFill>
          </a:ln>
        </p:spPr>
      </p:cxnSp>
      <p:sp>
        <p:nvSpPr>
          <p:cNvPr id="50" name="TextBox 49"/>
          <p:cNvSpPr txBox="1"/>
          <p:nvPr/>
        </p:nvSpPr>
        <p:spPr>
          <a:xfrm>
            <a:off x="6172200" y="427939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Workspace</a:t>
            </a:r>
          </a:p>
        </p:txBody>
      </p:sp>
      <p:sp>
        <p:nvSpPr>
          <p:cNvPr id="51" name="TextBox 50"/>
          <p:cNvSpPr txBox="1"/>
          <p:nvPr/>
        </p:nvSpPr>
        <p:spPr>
          <a:xfrm>
            <a:off x="7562773" y="427939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One per conversation, in a sandbox that Foundry manages</a:t>
            </a:r>
          </a:p>
        </p:txBody>
      </p:sp>
      <p:cxnSp>
        <p:nvCxnSpPr>
          <p:cNvPr id="52" name="Connector 51"/>
          <p:cNvCxnSpPr/>
          <p:nvPr/>
        </p:nvCxnSpPr>
        <p:spPr>
          <a:xfrm>
            <a:off x="6172200" y="4535423"/>
            <a:ext cx="5562295" cy="0"/>
          </a:xfrm>
          <a:prstGeom prst="line">
            <a:avLst/>
          </a:prstGeom>
          <a:ln w="9525">
            <a:solidFill>
              <a:srgbClr val="E1E7F4"/>
            </a:solidFill>
          </a:ln>
        </p:spPr>
      </p:cxnSp>
      <p:sp>
        <p:nvSpPr>
          <p:cNvPr id="53" name="TextBox 52"/>
          <p:cNvSpPr txBox="1"/>
          <p:nvPr/>
        </p:nvSpPr>
        <p:spPr>
          <a:xfrm>
            <a:off x="6172200" y="4553711"/>
            <a:ext cx="1299133" cy="274320"/>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File output</a:t>
            </a:r>
          </a:p>
        </p:txBody>
      </p:sp>
      <p:sp>
        <p:nvSpPr>
          <p:cNvPr id="54" name="TextBox 53"/>
          <p:cNvSpPr txBox="1"/>
          <p:nvPr/>
        </p:nvSpPr>
        <p:spPr>
          <a:xfrm>
            <a:off x="7562773" y="4553711"/>
            <a:ext cx="4171721" cy="274320"/>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Generated files returned through Foundry Files</a:t>
            </a:r>
          </a:p>
        </p:txBody>
      </p:sp>
      <p:cxnSp>
        <p:nvCxnSpPr>
          <p:cNvPr id="55" name="Connector 54"/>
          <p:cNvCxnSpPr/>
          <p:nvPr/>
        </p:nvCxnSpPr>
        <p:spPr>
          <a:xfrm>
            <a:off x="6172200" y="4809743"/>
            <a:ext cx="5562295" cy="0"/>
          </a:xfrm>
          <a:prstGeom prst="line">
            <a:avLst/>
          </a:prstGeom>
          <a:ln w="9525">
            <a:solidFill>
              <a:srgbClr val="E1E7F4"/>
            </a:solidFill>
          </a:ln>
        </p:spPr>
      </p:cxnSp>
      <p:sp>
        <p:nvSpPr>
          <p:cNvPr id="56" name="TextBox 55"/>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ARCHITECTURE</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Copilot harness architecture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Request path from a client application through the harness to models, skills, tools and the sandbox</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learn.microsoft.com/azure/foundry/agents/how-to/use-tools-skills-copilot-harness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Copilot harness for prompt agents · October 2026 · 3</a:t>
            </a:r>
          </a:p>
        </p:txBody>
      </p:sp>
      <p:sp>
        <p:nvSpPr>
          <p:cNvPr id="7" name="Rectangle 6"/>
          <p:cNvSpPr/>
          <p:nvPr/>
        </p:nvSpPr>
        <p:spPr>
          <a:xfrm>
            <a:off x="2240280" y="1325880"/>
            <a:ext cx="9491472" cy="4041648"/>
          </a:xfrm>
          <a:prstGeom prst="rect">
            <a:avLst/>
          </a:prstGeom>
          <a:noFill/>
          <a:ln w="9525">
            <a:solidFill>
              <a:srgbClr val="44495B"/>
            </a:solidFill>
            <a:prstDash val="dash"/>
          </a:ln>
          <a:effectLst/>
        </p:spPr>
        <p:txBody>
          <a:bodyPr wrap="square" rtlCol="0" anchor="ctr"/>
          <a:lstStyle/>
          <a:p>
            <a:endParaRPr/>
          </a:p>
        </p:txBody>
      </p:sp>
      <p:sp>
        <p:nvSpPr>
          <p:cNvPr id="8" name="TextBox 7"/>
          <p:cNvSpPr txBox="1"/>
          <p:nvPr/>
        </p:nvSpPr>
        <p:spPr>
          <a:xfrm>
            <a:off x="2377440" y="1389888"/>
            <a:ext cx="2743200" cy="164592"/>
          </a:xfrm>
          <a:prstGeom prst="rect">
            <a:avLst/>
          </a:prstGeom>
          <a:noFill/>
        </p:spPr>
        <p:txBody>
          <a:bodyPr wrap="square" lIns="0" tIns="0" rIns="0" bIns="0" anchor="t">
            <a:spAutoFit/>
          </a:bodyPr>
          <a:lstStyle/>
          <a:p>
            <a:pPr algn="l">
              <a:lnSpc>
                <a:spcPct val="100000"/>
              </a:lnSpc>
            </a:pPr>
            <a:r>
              <a:rPr sz="750" b="1" i="0" spc="120" dirty="0">
                <a:solidFill>
                  <a:srgbClr val="44495B"/>
                </a:solidFill>
                <a:latin typeface="Segoe UI"/>
                <a:cs typeface="Segoe UI"/>
              </a:rPr>
              <a:t>FOUNDRY PROJECT</a:t>
            </a:r>
          </a:p>
        </p:txBody>
      </p:sp>
      <p:sp>
        <p:nvSpPr>
          <p:cNvPr id="9" name="Rectangle 8"/>
          <p:cNvSpPr/>
          <p:nvPr/>
        </p:nvSpPr>
        <p:spPr>
          <a:xfrm>
            <a:off x="457200" y="2331720"/>
            <a:ext cx="1463040" cy="777240"/>
          </a:xfrm>
          <a:prstGeom prst="rect">
            <a:avLst/>
          </a:prstGeom>
          <a:solidFill>
            <a:srgbClr val="EBEFF7"/>
          </a:solidFill>
          <a:ln>
            <a:no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Client application</a:t>
            </a:r>
          </a:p>
          <a:p>
            <a:pPr algn="ctr">
              <a:lnSpc>
                <a:spcPct val="110000"/>
              </a:lnSpc>
            </a:pPr>
            <a:r>
              <a:rPr sz="750" b="0" i="0" dirty="0">
                <a:solidFill>
                  <a:srgbClr val="44495B"/>
                </a:solidFill>
                <a:latin typeface="Segoe UI"/>
                <a:cs typeface="Segoe UI"/>
              </a:rPr>
              <a:t>Responses API with a conversation ID</a:t>
            </a:r>
          </a:p>
        </p:txBody>
      </p:sp>
      <p:sp>
        <p:nvSpPr>
          <p:cNvPr id="10" name="Rectangle 9"/>
          <p:cNvSpPr/>
          <p:nvPr/>
        </p:nvSpPr>
        <p:spPr>
          <a:xfrm>
            <a:off x="2468880" y="2331720"/>
            <a:ext cx="1920240" cy="7772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endpoint</a:t>
            </a:r>
          </a:p>
          <a:p>
            <a:pPr algn="ctr">
              <a:lnSpc>
                <a:spcPct val="110000"/>
              </a:lnSpc>
            </a:pPr>
            <a:r>
              <a:rPr sz="750" b="0" i="0" dirty="0">
                <a:solidFill>
                  <a:srgbClr val="44495B"/>
                </a:solidFill>
                <a:latin typeface="Segoe UI"/>
                <a:cs typeface="Segoe UI"/>
              </a:rPr>
              <a:t>Responses API</a:t>
            </a:r>
          </a:p>
        </p:txBody>
      </p:sp>
      <p:sp>
        <p:nvSpPr>
          <p:cNvPr id="11" name="Rectangle 10"/>
          <p:cNvSpPr/>
          <p:nvPr/>
        </p:nvSpPr>
        <p:spPr>
          <a:xfrm>
            <a:off x="2468880" y="3429000"/>
            <a:ext cx="192024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Conversation</a:t>
            </a:r>
          </a:p>
          <a:p>
            <a:pPr algn="ctr">
              <a:lnSpc>
                <a:spcPct val="110000"/>
              </a:lnSpc>
            </a:pPr>
            <a:r>
              <a:rPr sz="750" b="0" i="0" dirty="0">
                <a:solidFill>
                  <a:srgbClr val="44495B"/>
                </a:solidFill>
                <a:latin typeface="Segoe UI"/>
                <a:cs typeface="Segoe UI"/>
              </a:rPr>
              <a:t>history across turns</a:t>
            </a:r>
          </a:p>
        </p:txBody>
      </p:sp>
      <p:sp>
        <p:nvSpPr>
          <p:cNvPr id="12" name="Rectangle 11"/>
          <p:cNvSpPr/>
          <p:nvPr/>
        </p:nvSpPr>
        <p:spPr>
          <a:xfrm>
            <a:off x="4892040" y="1645920"/>
            <a:ext cx="2743200"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Prompt agent definition</a:t>
            </a:r>
          </a:p>
          <a:p>
            <a:pPr algn="ctr">
              <a:lnSpc>
                <a:spcPct val="110000"/>
              </a:lnSpc>
            </a:pPr>
            <a:r>
              <a:rPr sz="750" b="0" i="0" dirty="0">
                <a:solidFill>
                  <a:srgbClr val="44495B"/>
                </a:solidFill>
                <a:latin typeface="Segoe UI"/>
                <a:cs typeface="Segoe UI"/>
              </a:rPr>
              <a:t>model · instructions · skills · tools · guardrail</a:t>
            </a:r>
          </a:p>
        </p:txBody>
      </p:sp>
      <p:sp>
        <p:nvSpPr>
          <p:cNvPr id="13" name="Rectangle 12"/>
          <p:cNvSpPr/>
          <p:nvPr/>
        </p:nvSpPr>
        <p:spPr>
          <a:xfrm>
            <a:off x="4892040" y="2331720"/>
            <a:ext cx="2743200" cy="777240"/>
          </a:xfrm>
          <a:prstGeom prst="rect">
            <a:avLst/>
          </a:prstGeom>
          <a:solidFill>
            <a:srgbClr val="101A3C"/>
          </a:solidFill>
          <a:ln>
            <a:noFill/>
          </a:ln>
          <a:effectLst/>
        </p:spPr>
        <p:txBody>
          <a:bodyPr wrap="square" lIns="54864" tIns="18288" rIns="54864" bIns="18288" rtlCol="0" anchor="ctr"/>
          <a:lstStyle/>
          <a:p>
            <a:pPr algn="ctr">
              <a:lnSpc>
                <a:spcPct val="110000"/>
              </a:lnSpc>
            </a:pPr>
            <a:r>
              <a:rPr sz="1000" b="1" i="0" dirty="0">
                <a:solidFill>
                  <a:srgbClr val="FFFFFF"/>
                </a:solidFill>
                <a:latin typeface="Segoe UI"/>
                <a:cs typeface="Segoe UI"/>
              </a:rPr>
              <a:t>Copilot harness*</a:t>
            </a:r>
          </a:p>
          <a:p>
            <a:pPr algn="ctr">
              <a:lnSpc>
                <a:spcPct val="110000"/>
              </a:lnSpc>
            </a:pPr>
            <a:r>
              <a:rPr sz="750" b="0" i="0" dirty="0">
                <a:solidFill>
                  <a:srgbClr val="B9C2D6"/>
                </a:solidFill>
                <a:latin typeface="Segoe UI"/>
                <a:cs typeface="Segoe UI"/>
              </a:rPr>
              <a:t>agent loop · operated by Foundry</a:t>
            </a:r>
          </a:p>
        </p:txBody>
      </p:sp>
      <p:sp>
        <p:nvSpPr>
          <p:cNvPr id="14" name="Rectangle 13"/>
          <p:cNvSpPr/>
          <p:nvPr/>
        </p:nvSpPr>
        <p:spPr>
          <a:xfrm>
            <a:off x="4892040" y="3401568"/>
            <a:ext cx="2743200" cy="1216152"/>
          </a:xfrm>
          <a:prstGeom prst="rect">
            <a:avLst/>
          </a:prstGeom>
          <a:noFill/>
          <a:ln w="9525">
            <a:solidFill>
              <a:srgbClr val="44495B"/>
            </a:solidFill>
            <a:prstDash val="dash"/>
          </a:ln>
          <a:effectLst/>
        </p:spPr>
        <p:txBody>
          <a:bodyPr wrap="square" rtlCol="0" anchor="ctr"/>
          <a:lstStyle/>
          <a:p>
            <a:endParaRPr/>
          </a:p>
        </p:txBody>
      </p:sp>
      <p:sp>
        <p:nvSpPr>
          <p:cNvPr id="15" name="TextBox 14"/>
          <p:cNvSpPr txBox="1"/>
          <p:nvPr/>
        </p:nvSpPr>
        <p:spPr>
          <a:xfrm>
            <a:off x="5010912" y="3465576"/>
            <a:ext cx="2560320" cy="146304"/>
          </a:xfrm>
          <a:prstGeom prst="rect">
            <a:avLst/>
          </a:prstGeom>
          <a:noFill/>
        </p:spPr>
        <p:txBody>
          <a:bodyPr wrap="square" lIns="0" tIns="0" rIns="0" bIns="0" anchor="t">
            <a:spAutoFit/>
          </a:bodyPr>
          <a:lstStyle/>
          <a:p>
            <a:pPr algn="l">
              <a:lnSpc>
                <a:spcPct val="100000"/>
              </a:lnSpc>
            </a:pPr>
            <a:r>
              <a:rPr sz="750" b="1" i="0" spc="100" dirty="0">
                <a:solidFill>
                  <a:srgbClr val="44495B"/>
                </a:solidFill>
                <a:latin typeface="Segoe UI"/>
                <a:cs typeface="Segoe UI"/>
              </a:rPr>
              <a:t>SANDBOX · MANAGED BY FOUNDRY</a:t>
            </a:r>
          </a:p>
        </p:txBody>
      </p:sp>
      <p:sp>
        <p:nvSpPr>
          <p:cNvPr id="16" name="Rectangle 15"/>
          <p:cNvSpPr/>
          <p:nvPr/>
        </p:nvSpPr>
        <p:spPr>
          <a:xfrm>
            <a:off x="5029200" y="3675887"/>
            <a:ext cx="2468880" cy="29260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Workspace per conversation</a:t>
            </a:r>
          </a:p>
        </p:txBody>
      </p:sp>
      <p:sp>
        <p:nvSpPr>
          <p:cNvPr id="17" name="Rectangle 16"/>
          <p:cNvSpPr/>
          <p:nvPr/>
        </p:nvSpPr>
        <p:spPr>
          <a:xfrm>
            <a:off x="5029200" y="4050791"/>
            <a:ext cx="786384" cy="22860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file read</a:t>
            </a:r>
          </a:p>
        </p:txBody>
      </p:sp>
      <p:sp>
        <p:nvSpPr>
          <p:cNvPr id="18" name="Rectangle 17"/>
          <p:cNvSpPr/>
          <p:nvPr/>
        </p:nvSpPr>
        <p:spPr>
          <a:xfrm>
            <a:off x="5870448" y="4050791"/>
            <a:ext cx="786384" cy="22860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file write</a:t>
            </a:r>
          </a:p>
        </p:txBody>
      </p:sp>
      <p:sp>
        <p:nvSpPr>
          <p:cNvPr id="19" name="Rectangle 18"/>
          <p:cNvSpPr/>
          <p:nvPr/>
        </p:nvSpPr>
        <p:spPr>
          <a:xfrm>
            <a:off x="6711696" y="4050791"/>
            <a:ext cx="786384" cy="22860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shell</a:t>
            </a:r>
          </a:p>
        </p:txBody>
      </p:sp>
      <p:sp>
        <p:nvSpPr>
          <p:cNvPr id="20" name="Rectangle 19"/>
          <p:cNvSpPr/>
          <p:nvPr/>
        </p:nvSpPr>
        <p:spPr>
          <a:xfrm>
            <a:off x="5029200" y="4325112"/>
            <a:ext cx="786384" cy="22860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web fetch</a:t>
            </a:r>
          </a:p>
        </p:txBody>
      </p:sp>
      <p:sp>
        <p:nvSpPr>
          <p:cNvPr id="21" name="Rectangle 20"/>
          <p:cNvSpPr/>
          <p:nvPr/>
        </p:nvSpPr>
        <p:spPr>
          <a:xfrm>
            <a:off x="5870448" y="4325112"/>
            <a:ext cx="786384" cy="22860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subagents</a:t>
            </a:r>
          </a:p>
        </p:txBody>
      </p:sp>
      <p:sp>
        <p:nvSpPr>
          <p:cNvPr id="22" name="Rectangle 21"/>
          <p:cNvSpPr/>
          <p:nvPr/>
        </p:nvSpPr>
        <p:spPr>
          <a:xfrm>
            <a:off x="8229600" y="1600200"/>
            <a:ext cx="3291840"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Model deployment</a:t>
            </a:r>
          </a:p>
          <a:p>
            <a:pPr algn="ctr">
              <a:lnSpc>
                <a:spcPct val="110000"/>
              </a:lnSpc>
            </a:pPr>
            <a:r>
              <a:rPr sz="750" b="0" i="0" dirty="0">
                <a:solidFill>
                  <a:srgbClr val="44495B"/>
                </a:solidFill>
                <a:latin typeface="Segoe UI"/>
                <a:cs typeface="Segoe UI"/>
              </a:rPr>
              <a:t>supports reasoning and tool calling</a:t>
            </a:r>
          </a:p>
        </p:txBody>
      </p:sp>
      <p:sp>
        <p:nvSpPr>
          <p:cNvPr id="23" name="Rectangle 22"/>
          <p:cNvSpPr/>
          <p:nvPr/>
        </p:nvSpPr>
        <p:spPr>
          <a:xfrm>
            <a:off x="8229600" y="2286000"/>
            <a:ext cx="3291840"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Skills</a:t>
            </a:r>
          </a:p>
          <a:p>
            <a:pPr algn="ctr">
              <a:lnSpc>
                <a:spcPct val="110000"/>
              </a:lnSpc>
            </a:pPr>
            <a:r>
              <a:rPr sz="750" b="0" i="0" dirty="0">
                <a:solidFill>
                  <a:srgbClr val="44495B"/>
                </a:solidFill>
                <a:latin typeface="Segoe UI"/>
                <a:cs typeface="Segoe UI"/>
              </a:rPr>
              <a:t>versioned procedures in the same project</a:t>
            </a:r>
          </a:p>
        </p:txBody>
      </p:sp>
      <p:sp>
        <p:nvSpPr>
          <p:cNvPr id="24" name="Rectangle 23"/>
          <p:cNvSpPr/>
          <p:nvPr/>
        </p:nvSpPr>
        <p:spPr>
          <a:xfrm>
            <a:off x="8229600" y="2971800"/>
            <a:ext cx="3291840"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Declared tools</a:t>
            </a:r>
          </a:p>
          <a:p>
            <a:pPr algn="ctr">
              <a:lnSpc>
                <a:spcPct val="110000"/>
              </a:lnSpc>
            </a:pPr>
            <a:r>
              <a:rPr sz="750" b="0" i="0" dirty="0">
                <a:solidFill>
                  <a:srgbClr val="44495B"/>
                </a:solidFill>
                <a:latin typeface="Segoe UI"/>
                <a:cs typeface="Segoe UI"/>
              </a:rPr>
              <a:t>web search · function tools · toolbox</a:t>
            </a:r>
          </a:p>
        </p:txBody>
      </p:sp>
      <p:sp>
        <p:nvSpPr>
          <p:cNvPr id="25" name="Rectangle 24"/>
          <p:cNvSpPr/>
          <p:nvPr/>
        </p:nvSpPr>
        <p:spPr>
          <a:xfrm>
            <a:off x="8229600" y="3886200"/>
            <a:ext cx="3291840"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Foundry Files</a:t>
            </a:r>
          </a:p>
          <a:p>
            <a:pPr algn="ctr">
              <a:lnSpc>
                <a:spcPct val="110000"/>
              </a:lnSpc>
            </a:pPr>
            <a:r>
              <a:rPr sz="750" b="0" i="0" dirty="0">
                <a:solidFill>
                  <a:srgbClr val="44495B"/>
                </a:solidFill>
                <a:latin typeface="Segoe UI"/>
                <a:cs typeface="Segoe UI"/>
              </a:rPr>
              <a:t>durable copy of generated files</a:t>
            </a:r>
          </a:p>
        </p:txBody>
      </p:sp>
      <p:sp>
        <p:nvSpPr>
          <p:cNvPr id="26" name="Rectangle 25"/>
          <p:cNvSpPr/>
          <p:nvPr/>
        </p:nvSpPr>
        <p:spPr>
          <a:xfrm>
            <a:off x="2468880" y="4773168"/>
            <a:ext cx="9052560" cy="411480"/>
          </a:xfrm>
          <a:prstGeom prst="rect">
            <a:avLst/>
          </a:prstGeom>
          <a:solidFill>
            <a:srgbClr val="0B1229"/>
          </a:solidFill>
          <a:ln>
            <a:noFill/>
          </a:ln>
          <a:effectLst/>
        </p:spPr>
        <p:txBody>
          <a:bodyPr wrap="square" lIns="54864" tIns="18288" rIns="54864" bIns="18288" rtlCol="0" anchor="ctr"/>
          <a:lstStyle/>
          <a:p>
            <a:pPr algn="ctr">
              <a:lnSpc>
                <a:spcPct val="112000"/>
              </a:lnSpc>
            </a:pPr>
            <a:r>
              <a:rPr sz="850" b="0" i="0" dirty="0">
                <a:solidFill>
                  <a:srgbClr val="FFFFFF"/>
                </a:solidFill>
                <a:latin typeface="Segoe UI"/>
                <a:cs typeface="Segoe UI"/>
              </a:rPr>
              <a:t>Agent identity (Microsoft Entra ID)  ·  Foundry project roles  ·  guardrail with network egress rules*  ·  tracing</a:t>
            </a:r>
          </a:p>
        </p:txBody>
      </p:sp>
      <p:cxnSp>
        <p:nvCxnSpPr>
          <p:cNvPr id="27" name="Connector 26"/>
          <p:cNvCxnSpPr/>
          <p:nvPr/>
        </p:nvCxnSpPr>
        <p:spPr>
          <a:xfrm>
            <a:off x="1920240" y="2720340"/>
            <a:ext cx="548640" cy="0"/>
          </a:xfrm>
          <a:prstGeom prst="line">
            <a:avLst/>
          </a:prstGeom>
          <a:ln w="13970">
            <a:solidFill>
              <a:srgbClr val="44495B"/>
            </a:solidFill>
            <a:tailEnd type="triangle" w="med" len="med"/>
          </a:ln>
        </p:spPr>
      </p:cxnSp>
      <p:sp>
        <p:nvSpPr>
          <p:cNvPr id="28" name="Oval 27"/>
          <p:cNvSpPr/>
          <p:nvPr/>
        </p:nvSpPr>
        <p:spPr>
          <a:xfrm>
            <a:off x="2089403" y="26151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29" name="Connector 28"/>
          <p:cNvCxnSpPr/>
          <p:nvPr/>
        </p:nvCxnSpPr>
        <p:spPr>
          <a:xfrm>
            <a:off x="4389120" y="2720340"/>
            <a:ext cx="502920" cy="0"/>
          </a:xfrm>
          <a:prstGeom prst="line">
            <a:avLst/>
          </a:prstGeom>
          <a:ln w="13970">
            <a:solidFill>
              <a:srgbClr val="44495B"/>
            </a:solidFill>
            <a:tailEnd type="triangle" w="med" len="med"/>
          </a:ln>
        </p:spPr>
      </p:cxnSp>
      <p:sp>
        <p:nvSpPr>
          <p:cNvPr id="30" name="Oval 29"/>
          <p:cNvSpPr/>
          <p:nvPr/>
        </p:nvSpPr>
        <p:spPr>
          <a:xfrm>
            <a:off x="4535424" y="26151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31" name="Connector 30"/>
          <p:cNvCxnSpPr/>
          <p:nvPr/>
        </p:nvCxnSpPr>
        <p:spPr>
          <a:xfrm>
            <a:off x="3429000" y="3108960"/>
            <a:ext cx="0" cy="320040"/>
          </a:xfrm>
          <a:prstGeom prst="line">
            <a:avLst/>
          </a:prstGeom>
          <a:ln w="13970">
            <a:solidFill>
              <a:srgbClr val="44495B"/>
            </a:solidFill>
          </a:ln>
        </p:spPr>
      </p:cxnSp>
      <p:cxnSp>
        <p:nvCxnSpPr>
          <p:cNvPr id="32" name="Connector 31"/>
          <p:cNvCxnSpPr/>
          <p:nvPr/>
        </p:nvCxnSpPr>
        <p:spPr>
          <a:xfrm>
            <a:off x="6263640" y="2148840"/>
            <a:ext cx="0" cy="182880"/>
          </a:xfrm>
          <a:prstGeom prst="line">
            <a:avLst/>
          </a:prstGeom>
          <a:ln w="13970">
            <a:solidFill>
              <a:srgbClr val="44495B"/>
            </a:solidFill>
            <a:prstDash val="dash"/>
            <a:tailEnd type="triangle" w="med" len="med"/>
          </a:ln>
        </p:spPr>
      </p:cxnSp>
      <p:cxnSp>
        <p:nvCxnSpPr>
          <p:cNvPr id="33" name="Connector 32"/>
          <p:cNvCxnSpPr/>
          <p:nvPr/>
        </p:nvCxnSpPr>
        <p:spPr>
          <a:xfrm>
            <a:off x="7635240" y="2720340"/>
            <a:ext cx="274320" cy="0"/>
          </a:xfrm>
          <a:prstGeom prst="line">
            <a:avLst/>
          </a:prstGeom>
          <a:ln w="13970">
            <a:solidFill>
              <a:srgbClr val="44495B"/>
            </a:solidFill>
          </a:ln>
        </p:spPr>
      </p:cxnSp>
      <p:cxnSp>
        <p:nvCxnSpPr>
          <p:cNvPr id="34" name="Connector 33"/>
          <p:cNvCxnSpPr/>
          <p:nvPr/>
        </p:nvCxnSpPr>
        <p:spPr>
          <a:xfrm>
            <a:off x="7909560" y="1874519"/>
            <a:ext cx="0" cy="1371601"/>
          </a:xfrm>
          <a:prstGeom prst="line">
            <a:avLst/>
          </a:prstGeom>
          <a:ln w="13970">
            <a:solidFill>
              <a:srgbClr val="44495B"/>
            </a:solidFill>
          </a:ln>
        </p:spPr>
      </p:cxnSp>
      <p:cxnSp>
        <p:nvCxnSpPr>
          <p:cNvPr id="35" name="Connector 34"/>
          <p:cNvCxnSpPr/>
          <p:nvPr/>
        </p:nvCxnSpPr>
        <p:spPr>
          <a:xfrm>
            <a:off x="7909560" y="1874519"/>
            <a:ext cx="320040" cy="0"/>
          </a:xfrm>
          <a:prstGeom prst="line">
            <a:avLst/>
          </a:prstGeom>
          <a:ln w="13970">
            <a:solidFill>
              <a:srgbClr val="44495B"/>
            </a:solidFill>
            <a:tailEnd type="triangle" w="med" len="med"/>
          </a:ln>
        </p:spPr>
      </p:cxnSp>
      <p:sp>
        <p:nvSpPr>
          <p:cNvPr id="36" name="Oval 35"/>
          <p:cNvSpPr/>
          <p:nvPr/>
        </p:nvSpPr>
        <p:spPr>
          <a:xfrm>
            <a:off x="7968996" y="17693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37" name="Connector 36"/>
          <p:cNvCxnSpPr/>
          <p:nvPr/>
        </p:nvCxnSpPr>
        <p:spPr>
          <a:xfrm>
            <a:off x="7909560" y="2560320"/>
            <a:ext cx="320040" cy="0"/>
          </a:xfrm>
          <a:prstGeom prst="line">
            <a:avLst/>
          </a:prstGeom>
          <a:ln w="13970">
            <a:solidFill>
              <a:srgbClr val="44495B"/>
            </a:solidFill>
            <a:tailEnd type="triangle" w="med" len="med"/>
          </a:ln>
        </p:spPr>
      </p:cxnSp>
      <p:sp>
        <p:nvSpPr>
          <p:cNvPr id="38" name="Oval 37"/>
          <p:cNvSpPr/>
          <p:nvPr/>
        </p:nvSpPr>
        <p:spPr>
          <a:xfrm>
            <a:off x="7968996" y="24551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cxnSp>
        <p:nvCxnSpPr>
          <p:cNvPr id="39" name="Connector 38"/>
          <p:cNvCxnSpPr/>
          <p:nvPr/>
        </p:nvCxnSpPr>
        <p:spPr>
          <a:xfrm>
            <a:off x="7909560" y="3246120"/>
            <a:ext cx="320040" cy="0"/>
          </a:xfrm>
          <a:prstGeom prst="line">
            <a:avLst/>
          </a:prstGeom>
          <a:ln w="13970">
            <a:solidFill>
              <a:srgbClr val="44495B"/>
            </a:solidFill>
            <a:tailEnd type="triangle" w="med" len="med"/>
          </a:ln>
        </p:spPr>
      </p:cxnSp>
      <p:sp>
        <p:nvSpPr>
          <p:cNvPr id="40" name="Oval 39"/>
          <p:cNvSpPr/>
          <p:nvPr/>
        </p:nvSpPr>
        <p:spPr>
          <a:xfrm>
            <a:off x="7968996" y="31409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cxnSp>
        <p:nvCxnSpPr>
          <p:cNvPr id="41" name="Connector 40"/>
          <p:cNvCxnSpPr/>
          <p:nvPr/>
        </p:nvCxnSpPr>
        <p:spPr>
          <a:xfrm>
            <a:off x="6263640" y="3108960"/>
            <a:ext cx="0" cy="292608"/>
          </a:xfrm>
          <a:prstGeom prst="line">
            <a:avLst/>
          </a:prstGeom>
          <a:ln w="13970">
            <a:solidFill>
              <a:srgbClr val="44495B"/>
            </a:solidFill>
            <a:tailEnd type="triangle" w="med" len="med"/>
          </a:ln>
        </p:spPr>
      </p:cxnSp>
      <p:sp>
        <p:nvSpPr>
          <p:cNvPr id="42" name="Oval 41"/>
          <p:cNvSpPr/>
          <p:nvPr/>
        </p:nvSpPr>
        <p:spPr>
          <a:xfrm>
            <a:off x="6158483" y="315010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6</a:t>
            </a:r>
          </a:p>
        </p:txBody>
      </p:sp>
      <p:cxnSp>
        <p:nvCxnSpPr>
          <p:cNvPr id="43" name="Connector 42"/>
          <p:cNvCxnSpPr/>
          <p:nvPr/>
        </p:nvCxnSpPr>
        <p:spPr>
          <a:xfrm>
            <a:off x="7635240" y="4160520"/>
            <a:ext cx="594360" cy="0"/>
          </a:xfrm>
          <a:prstGeom prst="line">
            <a:avLst/>
          </a:prstGeom>
          <a:ln w="13970">
            <a:solidFill>
              <a:srgbClr val="44495B"/>
            </a:solidFill>
            <a:tailEnd type="triangle" w="med" len="med"/>
          </a:ln>
        </p:spPr>
      </p:cxnSp>
      <p:sp>
        <p:nvSpPr>
          <p:cNvPr id="44" name="Oval 43"/>
          <p:cNvSpPr/>
          <p:nvPr/>
        </p:nvSpPr>
        <p:spPr>
          <a:xfrm>
            <a:off x="7822692" y="40553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7</a:t>
            </a:r>
          </a:p>
        </p:txBody>
      </p:sp>
      <p:cxnSp>
        <p:nvCxnSpPr>
          <p:cNvPr id="45" name="Connector 44"/>
          <p:cNvCxnSpPr/>
          <p:nvPr/>
        </p:nvCxnSpPr>
        <p:spPr>
          <a:xfrm flipV="1">
            <a:off x="9875520" y="4434840"/>
            <a:ext cx="0" cy="338328"/>
          </a:xfrm>
          <a:prstGeom prst="line">
            <a:avLst/>
          </a:prstGeom>
          <a:ln w="13970">
            <a:solidFill>
              <a:srgbClr val="44495B"/>
            </a:solidFill>
            <a:prstDash val="dash"/>
            <a:tailEnd type="triangle" w="med" len="med"/>
          </a:ln>
        </p:spPr>
      </p:cxnSp>
      <p:cxnSp>
        <p:nvCxnSpPr>
          <p:cNvPr id="46" name="Connector 45"/>
          <p:cNvCxnSpPr/>
          <p:nvPr/>
        </p:nvCxnSpPr>
        <p:spPr>
          <a:xfrm flipV="1">
            <a:off x="7086600" y="4617720"/>
            <a:ext cx="0" cy="155448"/>
          </a:xfrm>
          <a:prstGeom prst="line">
            <a:avLst/>
          </a:prstGeom>
          <a:ln w="13970">
            <a:solidFill>
              <a:srgbClr val="44495B"/>
            </a:solidFill>
            <a:prstDash val="dash"/>
            <a:tailEnd type="triangle" w="med" len="med"/>
          </a:ln>
        </p:spPr>
      </p:cxnSp>
      <p:sp>
        <p:nvSpPr>
          <p:cNvPr id="47" name="Rectangle 46"/>
          <p:cNvSpPr/>
          <p:nvPr/>
        </p:nvSpPr>
        <p:spPr>
          <a:xfrm>
            <a:off x="457200" y="5518404"/>
            <a:ext cx="146304" cy="91440"/>
          </a:xfrm>
          <a:prstGeom prst="rect">
            <a:avLst/>
          </a:prstGeom>
          <a:solidFill>
            <a:srgbClr val="101A3C"/>
          </a:solidFill>
          <a:ln>
            <a:noFill/>
          </a:ln>
          <a:effectLst/>
        </p:spPr>
        <p:txBody>
          <a:bodyPr wrap="square" rtlCol="0" anchor="ctr"/>
          <a:lstStyle/>
          <a:p>
            <a:endParaRPr/>
          </a:p>
        </p:txBody>
      </p:sp>
      <p:sp>
        <p:nvSpPr>
          <p:cNvPr id="48" name="TextBox 47"/>
          <p:cNvSpPr txBox="1"/>
          <p:nvPr/>
        </p:nvSpPr>
        <p:spPr>
          <a:xfrm>
            <a:off x="676656"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Service described</a:t>
            </a:r>
          </a:p>
        </p:txBody>
      </p:sp>
      <p:sp>
        <p:nvSpPr>
          <p:cNvPr id="49" name="Rectangle 48"/>
          <p:cNvSpPr/>
          <p:nvPr/>
        </p:nvSpPr>
        <p:spPr>
          <a:xfrm>
            <a:off x="1737360" y="5518404"/>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0" name="TextBox 49"/>
          <p:cNvSpPr txBox="1"/>
          <p:nvPr/>
        </p:nvSpPr>
        <p:spPr>
          <a:xfrm>
            <a:off x="1956816"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Capability or resource</a:t>
            </a:r>
          </a:p>
        </p:txBody>
      </p:sp>
      <p:sp>
        <p:nvSpPr>
          <p:cNvPr id="51" name="Rectangle 50"/>
          <p:cNvSpPr/>
          <p:nvPr/>
        </p:nvSpPr>
        <p:spPr>
          <a:xfrm>
            <a:off x="3291840" y="5518404"/>
            <a:ext cx="146304" cy="91440"/>
          </a:xfrm>
          <a:prstGeom prst="rect">
            <a:avLst/>
          </a:prstGeom>
          <a:solidFill>
            <a:srgbClr val="EBEFF7"/>
          </a:solidFill>
          <a:ln>
            <a:noFill/>
          </a:ln>
          <a:effectLst/>
        </p:spPr>
        <p:txBody>
          <a:bodyPr wrap="square" rtlCol="0" anchor="ctr"/>
          <a:lstStyle/>
          <a:p>
            <a:endParaRPr/>
          </a:p>
        </p:txBody>
      </p:sp>
      <p:sp>
        <p:nvSpPr>
          <p:cNvPr id="52" name="TextBox 51"/>
          <p:cNvSpPr txBox="1"/>
          <p:nvPr/>
        </p:nvSpPr>
        <p:spPr>
          <a:xfrm>
            <a:off x="3511296"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a:t>
            </a:r>
          </a:p>
        </p:txBody>
      </p:sp>
      <p:sp>
        <p:nvSpPr>
          <p:cNvPr id="53" name="Rectangle 52"/>
          <p:cNvSpPr/>
          <p:nvPr/>
        </p:nvSpPr>
        <p:spPr>
          <a:xfrm>
            <a:off x="3968496" y="5518404"/>
            <a:ext cx="146304" cy="91440"/>
          </a:xfrm>
          <a:prstGeom prst="rect">
            <a:avLst/>
          </a:prstGeom>
          <a:solidFill>
            <a:srgbClr val="0B1229"/>
          </a:solidFill>
          <a:ln>
            <a:noFill/>
          </a:ln>
          <a:effectLst/>
        </p:spPr>
        <p:txBody>
          <a:bodyPr wrap="square" rtlCol="0" anchor="ctr"/>
          <a:lstStyle/>
          <a:p>
            <a:endParaRPr/>
          </a:p>
        </p:txBody>
      </p:sp>
      <p:sp>
        <p:nvSpPr>
          <p:cNvPr id="54" name="TextBox 53"/>
          <p:cNvSpPr txBox="1"/>
          <p:nvPr/>
        </p:nvSpPr>
        <p:spPr>
          <a:xfrm>
            <a:off x="4187952"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Control layer</a:t>
            </a:r>
          </a:p>
        </p:txBody>
      </p:sp>
      <p:sp>
        <p:nvSpPr>
          <p:cNvPr id="55" name="Rectangle 54"/>
          <p:cNvSpPr/>
          <p:nvPr/>
        </p:nvSpPr>
        <p:spPr>
          <a:xfrm>
            <a:off x="5029200" y="5504688"/>
            <a:ext cx="146304" cy="118872"/>
          </a:xfrm>
          <a:prstGeom prst="rect">
            <a:avLst/>
          </a:prstGeom>
          <a:noFill/>
          <a:ln w="9525">
            <a:solidFill>
              <a:srgbClr val="44495B"/>
            </a:solidFill>
            <a:prstDash val="dash"/>
          </a:ln>
          <a:effectLst/>
        </p:spPr>
        <p:txBody>
          <a:bodyPr wrap="square" rtlCol="0" anchor="ctr"/>
          <a:lstStyle/>
          <a:p>
            <a:endParaRPr/>
          </a:p>
        </p:txBody>
      </p:sp>
      <p:sp>
        <p:nvSpPr>
          <p:cNvPr id="56" name="TextBox 55"/>
          <p:cNvSpPr txBox="1"/>
          <p:nvPr/>
        </p:nvSpPr>
        <p:spPr>
          <a:xfrm>
            <a:off x="5248656"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Boundary</a:t>
            </a:r>
          </a:p>
        </p:txBody>
      </p:sp>
      <p:cxnSp>
        <p:nvCxnSpPr>
          <p:cNvPr id="57" name="Connector 56"/>
          <p:cNvCxnSpPr/>
          <p:nvPr/>
        </p:nvCxnSpPr>
        <p:spPr>
          <a:xfrm>
            <a:off x="5815584" y="5564124"/>
            <a:ext cx="164592" cy="0"/>
          </a:xfrm>
          <a:prstGeom prst="line">
            <a:avLst/>
          </a:prstGeom>
          <a:ln w="13970">
            <a:solidFill>
              <a:srgbClr val="44495B"/>
            </a:solidFill>
          </a:ln>
        </p:spPr>
      </p:cxnSp>
      <p:sp>
        <p:nvSpPr>
          <p:cNvPr id="58" name="TextBox 57"/>
          <p:cNvSpPr txBox="1"/>
          <p:nvPr/>
        </p:nvSpPr>
        <p:spPr>
          <a:xfrm>
            <a:off x="6035040"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cxnSp>
        <p:nvCxnSpPr>
          <p:cNvPr id="59" name="Connector 58"/>
          <p:cNvCxnSpPr/>
          <p:nvPr/>
        </p:nvCxnSpPr>
        <p:spPr>
          <a:xfrm>
            <a:off x="6656832" y="5564124"/>
            <a:ext cx="164592" cy="0"/>
          </a:xfrm>
          <a:prstGeom prst="line">
            <a:avLst/>
          </a:prstGeom>
          <a:ln w="13970">
            <a:solidFill>
              <a:srgbClr val="44495B"/>
            </a:solidFill>
            <a:prstDash val="dash"/>
          </a:ln>
        </p:spPr>
      </p:cxnSp>
      <p:sp>
        <p:nvSpPr>
          <p:cNvPr id="60" name="TextBox 59"/>
          <p:cNvSpPr txBox="1"/>
          <p:nvPr/>
        </p:nvSpPr>
        <p:spPr>
          <a:xfrm>
            <a:off x="6876288"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or control</a:t>
            </a:r>
          </a:p>
        </p:txBody>
      </p:sp>
      <p:sp>
        <p:nvSpPr>
          <p:cNvPr id="61" name="TextBox 60"/>
          <p:cNvSpPr txBox="1"/>
          <p:nvPr/>
        </p:nvSpPr>
        <p:spPr>
          <a:xfrm>
            <a:off x="7863840" y="5632704"/>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COMPARISON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three agent options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Standard prompt agent, prompt agent with the Copilot harness, and hosted agent, compared on the same questions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learn.microsoft.com/azure/foundry/agents/concepts/prompt-agents · …/hosted-agents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Copilot harness for prompt agents · October 2026 · 4</a:t>
            </a:r>
          </a:p>
        </p:txBody>
      </p:sp>
      <p:sp>
        <p:nvSpPr>
          <p:cNvPr id="7" name="Rectangle 6"/>
          <p:cNvSpPr/>
          <p:nvPr/>
        </p:nvSpPr>
        <p:spPr>
          <a:xfrm>
            <a:off x="457200" y="1417320"/>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95044"/>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Question</a:t>
            </a:r>
          </a:p>
        </p:txBody>
      </p:sp>
      <p:sp>
        <p:nvSpPr>
          <p:cNvPr id="9" name="TextBox 8"/>
          <p:cNvSpPr txBox="1"/>
          <p:nvPr/>
        </p:nvSpPr>
        <p:spPr>
          <a:xfrm>
            <a:off x="3066220" y="1495044"/>
            <a:ext cx="263644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Prompt agent</a:t>
            </a:r>
          </a:p>
        </p:txBody>
      </p:sp>
      <p:sp>
        <p:nvSpPr>
          <p:cNvPr id="10" name="TextBox 9"/>
          <p:cNvSpPr txBox="1"/>
          <p:nvPr/>
        </p:nvSpPr>
        <p:spPr>
          <a:xfrm>
            <a:off x="5885544" y="1495044"/>
            <a:ext cx="286198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Prompt agent with Copilot harness*</a:t>
            </a:r>
          </a:p>
        </p:txBody>
      </p:sp>
      <p:sp>
        <p:nvSpPr>
          <p:cNvPr id="11" name="TextBox 10"/>
          <p:cNvSpPr txBox="1"/>
          <p:nvPr/>
        </p:nvSpPr>
        <p:spPr>
          <a:xfrm>
            <a:off x="8930414" y="1495044"/>
            <a:ext cx="274921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Hosted agent</a:t>
            </a:r>
          </a:p>
        </p:txBody>
      </p:sp>
      <p:sp>
        <p:nvSpPr>
          <p:cNvPr id="12" name="Rectangle 11"/>
          <p:cNvSpPr/>
          <p:nvPr/>
        </p:nvSpPr>
        <p:spPr>
          <a:xfrm>
            <a:off x="457200" y="1728216"/>
            <a:ext cx="11277295" cy="493776"/>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221992"/>
            <a:ext cx="11277295" cy="0"/>
          </a:xfrm>
          <a:prstGeom prst="line">
            <a:avLst/>
          </a:prstGeom>
          <a:ln w="9525">
            <a:solidFill>
              <a:srgbClr val="E1E7F4"/>
            </a:solidFill>
          </a:ln>
        </p:spPr>
      </p:cxnSp>
      <p:sp>
        <p:nvSpPr>
          <p:cNvPr id="14" name="TextBox 13"/>
          <p:cNvSpPr txBox="1"/>
          <p:nvPr/>
        </p:nvSpPr>
        <p:spPr>
          <a:xfrm>
            <a:off x="585216" y="1778508"/>
            <a:ext cx="2261548" cy="41148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Provided by the development team</a:t>
            </a:r>
          </a:p>
        </p:txBody>
      </p:sp>
      <p:sp>
        <p:nvSpPr>
          <p:cNvPr id="15" name="TextBox 14"/>
          <p:cNvSpPr txBox="1"/>
          <p:nvPr/>
        </p:nvSpPr>
        <p:spPr>
          <a:xfrm>
            <a:off x="3066220" y="1778508"/>
            <a:ext cx="2599867"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 instructions and tools</a:t>
            </a:r>
          </a:p>
        </p:txBody>
      </p:sp>
      <p:sp>
        <p:nvSpPr>
          <p:cNvPr id="16" name="TextBox 15"/>
          <p:cNvSpPr txBox="1"/>
          <p:nvPr/>
        </p:nvSpPr>
        <p:spPr>
          <a:xfrm>
            <a:off x="5885544" y="1778508"/>
            <a:ext cx="2825413"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 instructions, tools and skills</a:t>
            </a:r>
          </a:p>
        </p:txBody>
      </p:sp>
      <p:sp>
        <p:nvSpPr>
          <p:cNvPr id="17" name="TextBox 16"/>
          <p:cNvSpPr txBox="1"/>
          <p:nvPr/>
        </p:nvSpPr>
        <p:spPr>
          <a:xfrm>
            <a:off x="8930414" y="1778508"/>
            <a:ext cx="2712640"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Agent code in a container image, any framework</a:t>
            </a:r>
          </a:p>
        </p:txBody>
      </p:sp>
      <p:cxnSp>
        <p:nvCxnSpPr>
          <p:cNvPr id="18" name="Connector 17"/>
          <p:cNvCxnSpPr/>
          <p:nvPr/>
        </p:nvCxnSpPr>
        <p:spPr>
          <a:xfrm>
            <a:off x="457200" y="2642616"/>
            <a:ext cx="11277295" cy="0"/>
          </a:xfrm>
          <a:prstGeom prst="line">
            <a:avLst/>
          </a:prstGeom>
          <a:ln w="9525">
            <a:solidFill>
              <a:srgbClr val="E1E7F4"/>
            </a:solidFill>
          </a:ln>
        </p:spPr>
      </p:cxnSp>
      <p:sp>
        <p:nvSpPr>
          <p:cNvPr id="19" name="TextBox 18"/>
          <p:cNvSpPr txBox="1"/>
          <p:nvPr/>
        </p:nvSpPr>
        <p:spPr>
          <a:xfrm>
            <a:off x="585216" y="2272284"/>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Runs the agent loop</a:t>
            </a:r>
          </a:p>
        </p:txBody>
      </p:sp>
      <p:sp>
        <p:nvSpPr>
          <p:cNvPr id="20" name="TextBox 19"/>
          <p:cNvSpPr txBox="1"/>
          <p:nvPr/>
        </p:nvSpPr>
        <p:spPr>
          <a:xfrm>
            <a:off x="3066220" y="2272284"/>
            <a:ext cx="2599867"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Foundry, default runtime</a:t>
            </a:r>
          </a:p>
        </p:txBody>
      </p:sp>
      <p:sp>
        <p:nvSpPr>
          <p:cNvPr id="21" name="TextBox 20"/>
          <p:cNvSpPr txBox="1"/>
          <p:nvPr/>
        </p:nvSpPr>
        <p:spPr>
          <a:xfrm>
            <a:off x="5885544" y="2272284"/>
            <a:ext cx="2825413"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Foundry, Copilot harness</a:t>
            </a:r>
          </a:p>
        </p:txBody>
      </p:sp>
      <p:sp>
        <p:nvSpPr>
          <p:cNvPr id="22" name="TextBox 21"/>
          <p:cNvSpPr txBox="1"/>
          <p:nvPr/>
        </p:nvSpPr>
        <p:spPr>
          <a:xfrm>
            <a:off x="8930414" y="2272284"/>
            <a:ext cx="2712640"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agent code</a:t>
            </a:r>
          </a:p>
        </p:txBody>
      </p:sp>
      <p:sp>
        <p:nvSpPr>
          <p:cNvPr id="23" name="Rectangle 22"/>
          <p:cNvSpPr/>
          <p:nvPr/>
        </p:nvSpPr>
        <p:spPr>
          <a:xfrm>
            <a:off x="457200" y="2642616"/>
            <a:ext cx="11277295" cy="548640"/>
          </a:xfrm>
          <a:prstGeom prst="rect">
            <a:avLst/>
          </a:prstGeom>
          <a:solidFill>
            <a:srgbClr val="F6F8FD"/>
          </a:solidFill>
          <a:ln>
            <a:noFill/>
          </a:ln>
          <a:effectLst/>
        </p:spPr>
        <p:txBody>
          <a:bodyPr wrap="square" rtlCol="0" anchor="ctr"/>
          <a:lstStyle/>
          <a:p>
            <a:endParaRPr/>
          </a:p>
        </p:txBody>
      </p:sp>
      <p:cxnSp>
        <p:nvCxnSpPr>
          <p:cNvPr id="24" name="Connector 23"/>
          <p:cNvCxnSpPr/>
          <p:nvPr/>
        </p:nvCxnSpPr>
        <p:spPr>
          <a:xfrm>
            <a:off x="457200" y="3191256"/>
            <a:ext cx="11277295" cy="0"/>
          </a:xfrm>
          <a:prstGeom prst="line">
            <a:avLst/>
          </a:prstGeom>
          <a:ln w="9525">
            <a:solidFill>
              <a:srgbClr val="E1E7F4"/>
            </a:solidFill>
          </a:ln>
        </p:spPr>
      </p:cxnSp>
      <p:sp>
        <p:nvSpPr>
          <p:cNvPr id="25" name="TextBox 24"/>
          <p:cNvSpPr txBox="1"/>
          <p:nvPr/>
        </p:nvSpPr>
        <p:spPr>
          <a:xfrm>
            <a:off x="585216" y="2692908"/>
            <a:ext cx="2261548" cy="46634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Environment for files and commands</a:t>
            </a:r>
          </a:p>
        </p:txBody>
      </p:sp>
      <p:sp>
        <p:nvSpPr>
          <p:cNvPr id="26" name="TextBox 25"/>
          <p:cNvSpPr txBox="1"/>
          <p:nvPr/>
        </p:nvSpPr>
        <p:spPr>
          <a:xfrm>
            <a:off x="3066220" y="2692908"/>
            <a:ext cx="2599867" cy="46634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agent workspace; tools such as Code Interpreter run in their own environment</a:t>
            </a:r>
          </a:p>
        </p:txBody>
      </p:sp>
      <p:sp>
        <p:nvSpPr>
          <p:cNvPr id="27" name="TextBox 26"/>
          <p:cNvSpPr txBox="1"/>
          <p:nvPr/>
        </p:nvSpPr>
        <p:spPr>
          <a:xfrm>
            <a:off x="5885544" y="2692908"/>
            <a:ext cx="2825413" cy="46634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Managed sandbox with one workspace per conversation</a:t>
            </a:r>
          </a:p>
        </p:txBody>
      </p:sp>
      <p:sp>
        <p:nvSpPr>
          <p:cNvPr id="28" name="TextBox 27"/>
          <p:cNvSpPr txBox="1"/>
          <p:nvPr/>
        </p:nvSpPr>
        <p:spPr>
          <a:xfrm>
            <a:off x="8930414" y="2692908"/>
            <a:ext cx="2712640" cy="46634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Isolated sandbox per session with persistent $HOME and /files</a:t>
            </a:r>
          </a:p>
        </p:txBody>
      </p:sp>
      <p:cxnSp>
        <p:nvCxnSpPr>
          <p:cNvPr id="29" name="Connector 28"/>
          <p:cNvCxnSpPr/>
          <p:nvPr/>
        </p:nvCxnSpPr>
        <p:spPr>
          <a:xfrm>
            <a:off x="457200" y="3611880"/>
            <a:ext cx="11277295" cy="0"/>
          </a:xfrm>
          <a:prstGeom prst="line">
            <a:avLst/>
          </a:prstGeom>
          <a:ln w="9525">
            <a:solidFill>
              <a:srgbClr val="E1E7F4"/>
            </a:solidFill>
          </a:ln>
        </p:spPr>
      </p:cxnSp>
      <p:sp>
        <p:nvSpPr>
          <p:cNvPr id="30" name="TextBox 29"/>
          <p:cNvSpPr txBox="1"/>
          <p:nvPr/>
        </p:nvSpPr>
        <p:spPr>
          <a:xfrm>
            <a:off x="585216" y="3241548"/>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Built-in agent tools</a:t>
            </a:r>
          </a:p>
        </p:txBody>
      </p:sp>
      <p:sp>
        <p:nvSpPr>
          <p:cNvPr id="31" name="TextBox 30"/>
          <p:cNvSpPr txBox="1"/>
          <p:nvPr/>
        </p:nvSpPr>
        <p:spPr>
          <a:xfrm>
            <a:off x="3066220" y="3241548"/>
            <a:ext cx="2599867"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a:t>
            </a:r>
          </a:p>
        </p:txBody>
      </p:sp>
      <p:sp>
        <p:nvSpPr>
          <p:cNvPr id="32" name="TextBox 31"/>
          <p:cNvSpPr txBox="1"/>
          <p:nvPr/>
        </p:nvSpPr>
        <p:spPr>
          <a:xfrm>
            <a:off x="5885544" y="3241548"/>
            <a:ext cx="2825413"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File read, file write, shell, web fetch, subagents</a:t>
            </a:r>
          </a:p>
        </p:txBody>
      </p:sp>
      <p:sp>
        <p:nvSpPr>
          <p:cNvPr id="33" name="TextBox 32"/>
          <p:cNvSpPr txBox="1"/>
          <p:nvPr/>
        </p:nvSpPr>
        <p:spPr>
          <a:xfrm>
            <a:off x="8930414" y="3241548"/>
            <a:ext cx="2712640"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Defined by the agent code</a:t>
            </a:r>
          </a:p>
        </p:txBody>
      </p:sp>
      <p:sp>
        <p:nvSpPr>
          <p:cNvPr id="34" name="Rectangle 33"/>
          <p:cNvSpPr/>
          <p:nvPr/>
        </p:nvSpPr>
        <p:spPr>
          <a:xfrm>
            <a:off x="457200" y="3611880"/>
            <a:ext cx="11277295" cy="493776"/>
          </a:xfrm>
          <a:prstGeom prst="rect">
            <a:avLst/>
          </a:prstGeom>
          <a:solidFill>
            <a:srgbClr val="F6F8FD"/>
          </a:solidFill>
          <a:ln>
            <a:noFill/>
          </a:ln>
          <a:effectLst/>
        </p:spPr>
        <p:txBody>
          <a:bodyPr wrap="square" rtlCol="0" anchor="ctr"/>
          <a:lstStyle/>
          <a:p>
            <a:endParaRPr/>
          </a:p>
        </p:txBody>
      </p:sp>
      <p:cxnSp>
        <p:nvCxnSpPr>
          <p:cNvPr id="35" name="Connector 34"/>
          <p:cNvCxnSpPr/>
          <p:nvPr/>
        </p:nvCxnSpPr>
        <p:spPr>
          <a:xfrm>
            <a:off x="457200" y="4105656"/>
            <a:ext cx="11277295" cy="0"/>
          </a:xfrm>
          <a:prstGeom prst="line">
            <a:avLst/>
          </a:prstGeom>
          <a:ln w="9525">
            <a:solidFill>
              <a:srgbClr val="E1E7F4"/>
            </a:solidFill>
          </a:ln>
        </p:spPr>
      </p:cxnSp>
      <p:sp>
        <p:nvSpPr>
          <p:cNvPr id="36" name="TextBox 35"/>
          <p:cNvSpPr txBox="1"/>
          <p:nvPr/>
        </p:nvSpPr>
        <p:spPr>
          <a:xfrm>
            <a:off x="585216" y="3662172"/>
            <a:ext cx="2261548" cy="41148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Compute settings</a:t>
            </a:r>
          </a:p>
        </p:txBody>
      </p:sp>
      <p:sp>
        <p:nvSpPr>
          <p:cNvPr id="37" name="TextBox 36"/>
          <p:cNvSpPr txBox="1"/>
          <p:nvPr/>
        </p:nvSpPr>
        <p:spPr>
          <a:xfrm>
            <a:off x="3066220" y="3662172"/>
            <a:ext cx="2599867"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Not applicable</a:t>
            </a:r>
          </a:p>
        </p:txBody>
      </p:sp>
      <p:sp>
        <p:nvSpPr>
          <p:cNvPr id="38" name="TextBox 37"/>
          <p:cNvSpPr txBox="1"/>
          <p:nvPr/>
        </p:nvSpPr>
        <p:spPr>
          <a:xfrm>
            <a:off x="5885544" y="3662172"/>
            <a:ext cx="2825413"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Not configurable</a:t>
            </a:r>
          </a:p>
        </p:txBody>
      </p:sp>
      <p:sp>
        <p:nvSpPr>
          <p:cNvPr id="39" name="TextBox 38"/>
          <p:cNvSpPr txBox="1"/>
          <p:nvPr/>
        </p:nvSpPr>
        <p:spPr>
          <a:xfrm>
            <a:off x="8930414" y="3662172"/>
            <a:ext cx="2712640"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0.5–2 vCPU and 1–4 GiB per session; idle timeout 2–240 minutes</a:t>
            </a:r>
          </a:p>
        </p:txBody>
      </p:sp>
      <p:cxnSp>
        <p:nvCxnSpPr>
          <p:cNvPr id="40" name="Connector 39"/>
          <p:cNvCxnSpPr/>
          <p:nvPr/>
        </p:nvCxnSpPr>
        <p:spPr>
          <a:xfrm>
            <a:off x="457200" y="4599432"/>
            <a:ext cx="11277295" cy="0"/>
          </a:xfrm>
          <a:prstGeom prst="line">
            <a:avLst/>
          </a:prstGeom>
          <a:ln w="9525">
            <a:solidFill>
              <a:srgbClr val="E1E7F4"/>
            </a:solidFill>
          </a:ln>
        </p:spPr>
      </p:cxnSp>
      <p:sp>
        <p:nvSpPr>
          <p:cNvPr id="41" name="TextBox 40"/>
          <p:cNvSpPr txBox="1"/>
          <p:nvPr/>
        </p:nvSpPr>
        <p:spPr>
          <a:xfrm>
            <a:off x="585216" y="4155948"/>
            <a:ext cx="2261548" cy="41148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Protocols</a:t>
            </a:r>
          </a:p>
        </p:txBody>
      </p:sp>
      <p:sp>
        <p:nvSpPr>
          <p:cNvPr id="42" name="TextBox 41"/>
          <p:cNvSpPr txBox="1"/>
          <p:nvPr/>
        </p:nvSpPr>
        <p:spPr>
          <a:xfrm>
            <a:off x="3066220" y="4155948"/>
            <a:ext cx="2599867"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Responses API</a:t>
            </a:r>
          </a:p>
        </p:txBody>
      </p:sp>
      <p:sp>
        <p:nvSpPr>
          <p:cNvPr id="43" name="TextBox 42"/>
          <p:cNvSpPr txBox="1"/>
          <p:nvPr/>
        </p:nvSpPr>
        <p:spPr>
          <a:xfrm>
            <a:off x="5885544" y="4155948"/>
            <a:ext cx="2825413"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Responses API, with a conversation on every request</a:t>
            </a:r>
          </a:p>
        </p:txBody>
      </p:sp>
      <p:sp>
        <p:nvSpPr>
          <p:cNvPr id="44" name="TextBox 43"/>
          <p:cNvSpPr txBox="1"/>
          <p:nvPr/>
        </p:nvSpPr>
        <p:spPr>
          <a:xfrm>
            <a:off x="8930414" y="4155948"/>
            <a:ext cx="2712640" cy="41148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Responses, Invocations, Activity and A2A</a:t>
            </a:r>
          </a:p>
        </p:txBody>
      </p:sp>
      <p:cxnSp>
        <p:nvCxnSpPr>
          <p:cNvPr id="45" name="Connector 44"/>
          <p:cNvCxnSpPr/>
          <p:nvPr/>
        </p:nvCxnSpPr>
        <p:spPr>
          <a:xfrm>
            <a:off x="2938204" y="1728216"/>
            <a:ext cx="0" cy="2871216"/>
          </a:xfrm>
          <a:prstGeom prst="line">
            <a:avLst/>
          </a:prstGeom>
          <a:ln w="9525">
            <a:solidFill>
              <a:srgbClr val="E1E7F4"/>
            </a:solidFill>
          </a:ln>
        </p:spPr>
      </p:cxnSp>
      <p:cxnSp>
        <p:nvCxnSpPr>
          <p:cNvPr id="46" name="Connector 45"/>
          <p:cNvCxnSpPr/>
          <p:nvPr/>
        </p:nvCxnSpPr>
        <p:spPr>
          <a:xfrm>
            <a:off x="5757528" y="1728216"/>
            <a:ext cx="0" cy="2871216"/>
          </a:xfrm>
          <a:prstGeom prst="line">
            <a:avLst/>
          </a:prstGeom>
          <a:ln w="9525">
            <a:solidFill>
              <a:srgbClr val="E1E7F4"/>
            </a:solidFill>
          </a:ln>
        </p:spPr>
      </p:cxnSp>
      <p:cxnSp>
        <p:nvCxnSpPr>
          <p:cNvPr id="47" name="Connector 46"/>
          <p:cNvCxnSpPr/>
          <p:nvPr/>
        </p:nvCxnSpPr>
        <p:spPr>
          <a:xfrm>
            <a:off x="8802398" y="1728216"/>
            <a:ext cx="0" cy="2871216"/>
          </a:xfrm>
          <a:prstGeom prst="line">
            <a:avLst/>
          </a:prstGeom>
          <a:ln w="9525">
            <a:solidFill>
              <a:srgbClr val="E1E7F4"/>
            </a:solidFill>
          </a:ln>
        </p:spPr>
      </p:cxnSp>
      <p:sp>
        <p:nvSpPr>
          <p:cNvPr id="48" name="Rectangle 47"/>
          <p:cNvSpPr/>
          <p:nvPr/>
        </p:nvSpPr>
        <p:spPr>
          <a:xfrm>
            <a:off x="457200" y="4773168"/>
            <a:ext cx="11277295" cy="457200"/>
          </a:xfrm>
          <a:prstGeom prst="rect">
            <a:avLst/>
          </a:prstGeom>
          <a:solidFill>
            <a:srgbClr val="EBEFF7"/>
          </a:solidFill>
          <a:ln>
            <a:noFill/>
          </a:ln>
          <a:effectLst/>
        </p:spPr>
        <p:txBody>
          <a:bodyPr wrap="square" rtlCol="0" anchor="ctr"/>
          <a:lstStyle/>
          <a:p>
            <a:endParaRPr/>
          </a:p>
        </p:txBody>
      </p:sp>
      <p:sp>
        <p:nvSpPr>
          <p:cNvPr id="49" name="Rectangle 48"/>
          <p:cNvSpPr/>
          <p:nvPr/>
        </p:nvSpPr>
        <p:spPr>
          <a:xfrm>
            <a:off x="457200" y="4773168"/>
            <a:ext cx="41148" cy="457200"/>
          </a:xfrm>
          <a:prstGeom prst="rect">
            <a:avLst/>
          </a:prstGeom>
          <a:solidFill>
            <a:srgbClr val="00B39F"/>
          </a:solidFill>
          <a:ln>
            <a:noFill/>
          </a:ln>
          <a:effectLst/>
        </p:spPr>
        <p:txBody>
          <a:bodyPr wrap="square" rtlCol="0" anchor="ctr"/>
          <a:lstStyle/>
          <a:p>
            <a:endParaRPr/>
          </a:p>
        </p:txBody>
      </p:sp>
      <p:sp>
        <p:nvSpPr>
          <p:cNvPr id="50" name="TextBox 49"/>
          <p:cNvSpPr txBox="1"/>
          <p:nvPr/>
        </p:nvSpPr>
        <p:spPr>
          <a:xfrm>
            <a:off x="694944" y="4873752"/>
            <a:ext cx="10856671" cy="274320"/>
          </a:xfrm>
          <a:prstGeom prst="rect">
            <a:avLst/>
          </a:prstGeom>
          <a:noFill/>
        </p:spPr>
        <p:txBody>
          <a:bodyPr wrap="square" lIns="0" tIns="0" rIns="0" bIns="0" anchor="t">
            <a:spAutoFit/>
          </a:bodyPr>
          <a:lstStyle/>
          <a:p>
            <a:pPr algn="l">
              <a:lnSpc>
                <a:spcPct val="120000"/>
              </a:lnSpc>
            </a:pPr>
            <a:r>
              <a:rPr sz="950" b="0" i="0" dirty="0">
                <a:solidFill>
                  <a:srgbClr val="101A3C"/>
                </a:solidFill>
                <a:latin typeface="Segoe UI"/>
                <a:cs typeface="Segoe UI"/>
              </a:rPr>
              <a:t>Common to all three options: hosting in Foundry Agent Service  ·  agent identity in Microsoft Entra ID  ·  immutable agent versions  ·  tracing in the Foundry project</a:t>
            </a:r>
          </a:p>
        </p:txBody>
      </p:sp>
      <p:sp>
        <p:nvSpPr>
          <p:cNvPr id="51" name="TextBox 50"/>
          <p:cNvSpPr txBox="1"/>
          <p:nvPr/>
        </p:nvSpPr>
        <p:spPr>
          <a:xfrm>
            <a:off x="7863840" y="557784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SELECTION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Selection guidance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questions in order; the first one answered with yes decides the option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devblogs.microsoft.com/foundry/microsoft-copilot-harness-in-foundry</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Copilot harness for prompt agents · October 2026 · 5</a:t>
            </a:r>
          </a:p>
        </p:txBody>
      </p:sp>
      <p:sp>
        <p:nvSpPr>
          <p:cNvPr id="7" name="Rectangle 6"/>
          <p:cNvSpPr/>
          <p:nvPr/>
        </p:nvSpPr>
        <p:spPr>
          <a:xfrm>
            <a:off x="457200" y="1417320"/>
            <a:ext cx="5669280" cy="566928"/>
          </a:xfrm>
          <a:prstGeom prst="rect">
            <a:avLst/>
          </a:prstGeom>
          <a:solidFill>
            <a:srgbClr val="F6F8FD"/>
          </a:solidFill>
          <a:ln w="9525">
            <a:solidFill>
              <a:srgbClr val="E1E7F4"/>
            </a:solidFill>
          </a:ln>
          <a:effectLst/>
        </p:spPr>
        <p:txBody>
          <a:bodyPr wrap="square" rtlCol="0" anchor="ctr"/>
          <a:lstStyle/>
          <a:p>
            <a:endParaRPr/>
          </a:p>
        </p:txBody>
      </p:sp>
      <p:sp>
        <p:nvSpPr>
          <p:cNvPr id="8" name="Oval 7"/>
          <p:cNvSpPr/>
          <p:nvPr/>
        </p:nvSpPr>
        <p:spPr>
          <a:xfrm>
            <a:off x="621792" y="1563624"/>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1000" b="1" i="0" dirty="0">
                <a:solidFill>
                  <a:srgbClr val="FFFFFF"/>
                </a:solidFill>
                <a:latin typeface="Segoe UI"/>
                <a:cs typeface="Segoe UI"/>
              </a:rPr>
              <a:t>1</a:t>
            </a:r>
          </a:p>
        </p:txBody>
      </p:sp>
      <p:sp>
        <p:nvSpPr>
          <p:cNvPr id="9" name="TextBox 8"/>
          <p:cNvSpPr txBox="1"/>
          <p:nvPr/>
        </p:nvSpPr>
        <p:spPr>
          <a:xfrm>
            <a:off x="1051560" y="1527048"/>
            <a:ext cx="4937760" cy="365760"/>
          </a:xfrm>
          <a:prstGeom prst="rect">
            <a:avLst/>
          </a:prstGeom>
          <a:noFill/>
        </p:spPr>
        <p:txBody>
          <a:bodyPr wrap="square" lIns="0" tIns="0" rIns="0" bIns="0" anchor="ctr">
            <a:spAutoFit/>
          </a:bodyPr>
          <a:lstStyle/>
          <a:p>
            <a:pPr algn="l">
              <a:lnSpc>
                <a:spcPct val="100000"/>
              </a:lnSpc>
            </a:pPr>
            <a:r>
              <a:rPr sz="1000" b="1" i="0" dirty="0">
                <a:solidFill>
                  <a:srgbClr val="101A3C"/>
                </a:solidFill>
                <a:latin typeface="Segoe UI"/>
                <a:cs typeface="Segoe UI"/>
              </a:rPr>
              <a:t>Own framework, middleware, protocol or compute control required?</a:t>
            </a:r>
          </a:p>
        </p:txBody>
      </p:sp>
      <p:cxnSp>
        <p:nvCxnSpPr>
          <p:cNvPr id="10" name="Connector 9"/>
          <p:cNvCxnSpPr/>
          <p:nvPr/>
        </p:nvCxnSpPr>
        <p:spPr>
          <a:xfrm>
            <a:off x="6126480" y="1700784"/>
            <a:ext cx="502920" cy="0"/>
          </a:xfrm>
          <a:prstGeom prst="line">
            <a:avLst/>
          </a:prstGeom>
          <a:ln w="13970">
            <a:solidFill>
              <a:srgbClr val="44495B"/>
            </a:solidFill>
            <a:tailEnd type="triangle" w="med" len="med"/>
          </a:ln>
        </p:spPr>
      </p:cxnSp>
      <p:sp>
        <p:nvSpPr>
          <p:cNvPr id="11" name="TextBox 10"/>
          <p:cNvSpPr txBox="1"/>
          <p:nvPr/>
        </p:nvSpPr>
        <p:spPr>
          <a:xfrm>
            <a:off x="6199632" y="1472184"/>
            <a:ext cx="411480"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yes</a:t>
            </a:r>
          </a:p>
        </p:txBody>
      </p:sp>
      <p:sp>
        <p:nvSpPr>
          <p:cNvPr id="12" name="Rectangle 11"/>
          <p:cNvSpPr/>
          <p:nvPr/>
        </p:nvSpPr>
        <p:spPr>
          <a:xfrm>
            <a:off x="6629400" y="1417320"/>
            <a:ext cx="5102352"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1000" b="1" i="0" dirty="0">
                <a:solidFill>
                  <a:srgbClr val="101A3C"/>
                </a:solidFill>
                <a:latin typeface="Segoe UI"/>
                <a:cs typeface="Segoe UI"/>
              </a:rPr>
              <a:t>Hosted agent</a:t>
            </a:r>
          </a:p>
          <a:p>
            <a:pPr algn="ctr">
              <a:lnSpc>
                <a:spcPct val="110000"/>
              </a:lnSpc>
            </a:pPr>
            <a:r>
              <a:rPr sz="800" b="0" i="0" dirty="0">
                <a:solidFill>
                  <a:srgbClr val="44495B"/>
                </a:solidFill>
                <a:latin typeface="Segoe UI"/>
                <a:cs typeface="Segoe UI"/>
              </a:rPr>
              <a:t>Agent code in a container; Foundry hosts and scales it</a:t>
            </a:r>
          </a:p>
        </p:txBody>
      </p:sp>
      <p:sp>
        <p:nvSpPr>
          <p:cNvPr id="13" name="TextBox 12"/>
          <p:cNvSpPr txBox="1"/>
          <p:nvPr/>
        </p:nvSpPr>
        <p:spPr>
          <a:xfrm>
            <a:off x="1051560" y="2020824"/>
            <a:ext cx="1828800"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no ↓</a:t>
            </a:r>
          </a:p>
        </p:txBody>
      </p:sp>
      <p:sp>
        <p:nvSpPr>
          <p:cNvPr id="14" name="Rectangle 13"/>
          <p:cNvSpPr/>
          <p:nvPr/>
        </p:nvSpPr>
        <p:spPr>
          <a:xfrm>
            <a:off x="457200" y="2203704"/>
            <a:ext cx="5669280" cy="566928"/>
          </a:xfrm>
          <a:prstGeom prst="rect">
            <a:avLst/>
          </a:prstGeom>
          <a:solidFill>
            <a:srgbClr val="F6F8FD"/>
          </a:solidFill>
          <a:ln w="9525">
            <a:solidFill>
              <a:srgbClr val="E1E7F4"/>
            </a:solidFill>
          </a:ln>
          <a:effectLst/>
        </p:spPr>
        <p:txBody>
          <a:bodyPr wrap="square" rtlCol="0" anchor="ctr"/>
          <a:lstStyle/>
          <a:p>
            <a:endParaRPr/>
          </a:p>
        </p:txBody>
      </p:sp>
      <p:sp>
        <p:nvSpPr>
          <p:cNvPr id="15" name="Oval 14"/>
          <p:cNvSpPr/>
          <p:nvPr/>
        </p:nvSpPr>
        <p:spPr>
          <a:xfrm>
            <a:off x="621792" y="2350008"/>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1000" b="1" i="0" dirty="0">
                <a:solidFill>
                  <a:srgbClr val="FFFFFF"/>
                </a:solidFill>
                <a:latin typeface="Segoe UI"/>
                <a:cs typeface="Segoe UI"/>
              </a:rPr>
              <a:t>2</a:t>
            </a:r>
          </a:p>
        </p:txBody>
      </p:sp>
      <p:sp>
        <p:nvSpPr>
          <p:cNvPr id="16" name="TextBox 15"/>
          <p:cNvSpPr txBox="1"/>
          <p:nvPr/>
        </p:nvSpPr>
        <p:spPr>
          <a:xfrm>
            <a:off x="1051560" y="2313432"/>
            <a:ext cx="4937760" cy="365760"/>
          </a:xfrm>
          <a:prstGeom prst="rect">
            <a:avLst/>
          </a:prstGeom>
          <a:noFill/>
        </p:spPr>
        <p:txBody>
          <a:bodyPr wrap="square" lIns="0" tIns="0" rIns="0" bIns="0" anchor="ctr">
            <a:spAutoFit/>
          </a:bodyPr>
          <a:lstStyle/>
          <a:p>
            <a:pPr algn="l">
              <a:lnSpc>
                <a:spcPct val="100000"/>
              </a:lnSpc>
            </a:pPr>
            <a:r>
              <a:rPr sz="1000" b="1" i="0" dirty="0">
                <a:solidFill>
                  <a:srgbClr val="101A3C"/>
                </a:solidFill>
                <a:latin typeface="Segoe UI"/>
                <a:cs typeface="Segoe UI"/>
              </a:rPr>
              <a:t>Multi-step work with files, commands, skills or subagents?</a:t>
            </a:r>
          </a:p>
        </p:txBody>
      </p:sp>
      <p:cxnSp>
        <p:nvCxnSpPr>
          <p:cNvPr id="17" name="Connector 16"/>
          <p:cNvCxnSpPr/>
          <p:nvPr/>
        </p:nvCxnSpPr>
        <p:spPr>
          <a:xfrm>
            <a:off x="6126480" y="2487168"/>
            <a:ext cx="502920" cy="0"/>
          </a:xfrm>
          <a:prstGeom prst="line">
            <a:avLst/>
          </a:prstGeom>
          <a:ln w="13970">
            <a:solidFill>
              <a:srgbClr val="44495B"/>
            </a:solidFill>
            <a:tailEnd type="triangle" w="med" len="med"/>
          </a:ln>
        </p:spPr>
      </p:cxnSp>
      <p:sp>
        <p:nvSpPr>
          <p:cNvPr id="18" name="TextBox 17"/>
          <p:cNvSpPr txBox="1"/>
          <p:nvPr/>
        </p:nvSpPr>
        <p:spPr>
          <a:xfrm>
            <a:off x="6199632" y="2258568"/>
            <a:ext cx="411480"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yes</a:t>
            </a:r>
          </a:p>
        </p:txBody>
      </p:sp>
      <p:sp>
        <p:nvSpPr>
          <p:cNvPr id="19" name="Rectangle 18"/>
          <p:cNvSpPr/>
          <p:nvPr/>
        </p:nvSpPr>
        <p:spPr>
          <a:xfrm>
            <a:off x="6629400" y="2203704"/>
            <a:ext cx="5102352" cy="566928"/>
          </a:xfrm>
          <a:prstGeom prst="rect">
            <a:avLst/>
          </a:prstGeom>
          <a:solidFill>
            <a:srgbClr val="101A3C"/>
          </a:solidFill>
          <a:ln>
            <a:noFill/>
          </a:ln>
          <a:effectLst/>
        </p:spPr>
        <p:txBody>
          <a:bodyPr wrap="square" lIns="54864" tIns="18288" rIns="54864" bIns="18288" rtlCol="0" anchor="ctr"/>
          <a:lstStyle/>
          <a:p>
            <a:pPr algn="ctr">
              <a:lnSpc>
                <a:spcPct val="110000"/>
              </a:lnSpc>
            </a:pPr>
            <a:r>
              <a:rPr sz="1000" b="1" i="0" dirty="0">
                <a:solidFill>
                  <a:srgbClr val="FFFFFF"/>
                </a:solidFill>
                <a:latin typeface="Segoe UI"/>
                <a:cs typeface="Segoe UI"/>
              </a:rPr>
              <a:t>Prompt agent with Copilot harness*</a:t>
            </a:r>
          </a:p>
          <a:p>
            <a:pPr algn="ctr">
              <a:lnSpc>
                <a:spcPct val="110000"/>
              </a:lnSpc>
            </a:pPr>
            <a:r>
              <a:rPr sz="800" b="0" i="0" dirty="0">
                <a:solidFill>
                  <a:srgbClr val="B9C2D6"/>
                </a:solidFill>
                <a:latin typeface="Segoe UI"/>
                <a:cs typeface="Segoe UI"/>
              </a:rPr>
              <a:t>Foundry runs the agent loop and the sandbox</a:t>
            </a:r>
          </a:p>
        </p:txBody>
      </p:sp>
      <p:sp>
        <p:nvSpPr>
          <p:cNvPr id="20" name="TextBox 19"/>
          <p:cNvSpPr txBox="1"/>
          <p:nvPr/>
        </p:nvSpPr>
        <p:spPr>
          <a:xfrm>
            <a:off x="1051560" y="2807208"/>
            <a:ext cx="1828800"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no ↓</a:t>
            </a:r>
          </a:p>
        </p:txBody>
      </p:sp>
      <p:sp>
        <p:nvSpPr>
          <p:cNvPr id="21" name="Rectangle 20"/>
          <p:cNvSpPr/>
          <p:nvPr/>
        </p:nvSpPr>
        <p:spPr>
          <a:xfrm>
            <a:off x="457200" y="2990088"/>
            <a:ext cx="5669280" cy="566928"/>
          </a:xfrm>
          <a:prstGeom prst="rect">
            <a:avLst/>
          </a:prstGeom>
          <a:solidFill>
            <a:srgbClr val="F6F8FD"/>
          </a:solidFill>
          <a:ln w="9525">
            <a:solidFill>
              <a:srgbClr val="E1E7F4"/>
            </a:solidFill>
          </a:ln>
          <a:effectLst/>
        </p:spPr>
        <p:txBody>
          <a:bodyPr wrap="square" rtlCol="0" anchor="ctr"/>
          <a:lstStyle/>
          <a:p>
            <a:endParaRPr/>
          </a:p>
        </p:txBody>
      </p:sp>
      <p:sp>
        <p:nvSpPr>
          <p:cNvPr id="22" name="Oval 21"/>
          <p:cNvSpPr/>
          <p:nvPr/>
        </p:nvSpPr>
        <p:spPr>
          <a:xfrm>
            <a:off x="621792" y="3136392"/>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1000" b="1" i="0" dirty="0">
                <a:solidFill>
                  <a:srgbClr val="FFFFFF"/>
                </a:solidFill>
                <a:latin typeface="Segoe UI"/>
                <a:cs typeface="Segoe UI"/>
              </a:rPr>
              <a:t>3</a:t>
            </a:r>
          </a:p>
        </p:txBody>
      </p:sp>
      <p:sp>
        <p:nvSpPr>
          <p:cNvPr id="23" name="TextBox 22"/>
          <p:cNvSpPr txBox="1"/>
          <p:nvPr/>
        </p:nvSpPr>
        <p:spPr>
          <a:xfrm>
            <a:off x="1051560" y="3099816"/>
            <a:ext cx="4937760" cy="365760"/>
          </a:xfrm>
          <a:prstGeom prst="rect">
            <a:avLst/>
          </a:prstGeom>
          <a:noFill/>
        </p:spPr>
        <p:txBody>
          <a:bodyPr wrap="square" lIns="0" tIns="0" rIns="0" bIns="0" anchor="ctr">
            <a:spAutoFit/>
          </a:bodyPr>
          <a:lstStyle/>
          <a:p>
            <a:pPr algn="l">
              <a:lnSpc>
                <a:spcPct val="100000"/>
              </a:lnSpc>
            </a:pPr>
            <a:r>
              <a:rPr sz="1000" b="1" i="0" dirty="0">
                <a:solidFill>
                  <a:srgbClr val="101A3C"/>
                </a:solidFill>
                <a:latin typeface="Segoe UI"/>
                <a:cs typeface="Segoe UI"/>
              </a:rPr>
              <a:t>Instructions and supported tools sufficient?</a:t>
            </a:r>
          </a:p>
        </p:txBody>
      </p:sp>
      <p:cxnSp>
        <p:nvCxnSpPr>
          <p:cNvPr id="24" name="Connector 23"/>
          <p:cNvCxnSpPr/>
          <p:nvPr/>
        </p:nvCxnSpPr>
        <p:spPr>
          <a:xfrm>
            <a:off x="6126480" y="3273552"/>
            <a:ext cx="502920" cy="0"/>
          </a:xfrm>
          <a:prstGeom prst="line">
            <a:avLst/>
          </a:prstGeom>
          <a:ln w="13970">
            <a:solidFill>
              <a:srgbClr val="44495B"/>
            </a:solidFill>
            <a:tailEnd type="triangle" w="med" len="med"/>
          </a:ln>
        </p:spPr>
      </p:cxnSp>
      <p:sp>
        <p:nvSpPr>
          <p:cNvPr id="25" name="TextBox 24"/>
          <p:cNvSpPr txBox="1"/>
          <p:nvPr/>
        </p:nvSpPr>
        <p:spPr>
          <a:xfrm>
            <a:off x="6199632" y="3044952"/>
            <a:ext cx="411480"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yes</a:t>
            </a:r>
          </a:p>
        </p:txBody>
      </p:sp>
      <p:sp>
        <p:nvSpPr>
          <p:cNvPr id="26" name="Rectangle 25"/>
          <p:cNvSpPr/>
          <p:nvPr/>
        </p:nvSpPr>
        <p:spPr>
          <a:xfrm>
            <a:off x="6629400" y="2990088"/>
            <a:ext cx="5102352"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1000" b="1" i="0" dirty="0">
                <a:solidFill>
                  <a:srgbClr val="101A3C"/>
                </a:solidFill>
                <a:latin typeface="Segoe UI"/>
                <a:cs typeface="Segoe UI"/>
              </a:rPr>
              <a:t>Prompt agent</a:t>
            </a:r>
          </a:p>
          <a:p>
            <a:pPr algn="ctr">
              <a:lnSpc>
                <a:spcPct val="110000"/>
              </a:lnSpc>
            </a:pPr>
            <a:r>
              <a:rPr sz="800" b="0" i="0" dirty="0">
                <a:solidFill>
                  <a:srgbClr val="44495B"/>
                </a:solidFill>
                <a:latin typeface="Segoe UI"/>
                <a:cs typeface="Segoe UI"/>
              </a:rPr>
              <a:t>Simplest runtime and configuration</a:t>
            </a:r>
          </a:p>
        </p:txBody>
      </p:sp>
      <p:sp>
        <p:nvSpPr>
          <p:cNvPr id="27" name="Rectangle 26"/>
          <p:cNvSpPr/>
          <p:nvPr/>
        </p:nvSpPr>
        <p:spPr>
          <a:xfrm>
            <a:off x="457200" y="3886200"/>
            <a:ext cx="5532120" cy="1508760"/>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57200" y="3886200"/>
            <a:ext cx="5532120" cy="41148"/>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603504" y="4005072"/>
            <a:ext cx="5239512"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Typical fits for the harness</a:t>
            </a:r>
          </a:p>
        </p:txBody>
      </p:sp>
      <p:sp>
        <p:nvSpPr>
          <p:cNvPr id="30" name="TextBox 29"/>
          <p:cNvSpPr txBox="1"/>
          <p:nvPr/>
        </p:nvSpPr>
        <p:spPr>
          <a:xfrm>
            <a:off x="603504" y="4247388"/>
            <a:ext cx="5239512" cy="109728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Research brief with cited sources, calculations and charts</a:t>
            </a:r>
          </a:p>
          <a:p>
            <a:pPr algn="l">
              <a:lnSpc>
                <a:spcPct val="112000"/>
              </a:lnSpc>
              <a:spcAft>
                <a:spcPts val="250"/>
              </a:spcAft>
            </a:pPr>
            <a:r>
              <a:rPr sz="850" b="0" i="0" dirty="0">
                <a:solidFill>
                  <a:srgbClr val="44495B"/>
                </a:solidFill>
                <a:latin typeface="Segoe UI"/>
                <a:cs typeface="Segoe UI"/>
              </a:rPr>
              <a:t>Processing an attached file into a new output file</a:t>
            </a:r>
          </a:p>
          <a:p>
            <a:pPr algn="l">
              <a:lnSpc>
                <a:spcPct val="112000"/>
              </a:lnSpc>
              <a:spcAft>
                <a:spcPts val="250"/>
              </a:spcAft>
            </a:pPr>
            <a:r>
              <a:rPr sz="850" b="0" i="0" dirty="0">
                <a:solidFill>
                  <a:srgbClr val="44495B"/>
                </a:solidFill>
                <a:latin typeface="Segoe UI"/>
                <a:cs typeface="Segoe UI"/>
              </a:rPr>
              <a:t>Operational analysis or planning across several tools and skills</a:t>
            </a:r>
          </a:p>
        </p:txBody>
      </p:sp>
      <p:sp>
        <p:nvSpPr>
          <p:cNvPr id="31" name="Rectangle 30"/>
          <p:cNvSpPr/>
          <p:nvPr/>
        </p:nvSpPr>
        <p:spPr>
          <a:xfrm>
            <a:off x="6199632" y="3886200"/>
            <a:ext cx="5532120" cy="150876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6199632" y="3886200"/>
            <a:ext cx="5532120" cy="41148"/>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6345936" y="4005072"/>
            <a:ext cx="5239512"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Not a fit during the preview</a:t>
            </a:r>
          </a:p>
        </p:txBody>
      </p:sp>
      <p:sp>
        <p:nvSpPr>
          <p:cNvPr id="34" name="TextBox 33"/>
          <p:cNvSpPr txBox="1"/>
          <p:nvPr/>
        </p:nvSpPr>
        <p:spPr>
          <a:xfrm>
            <a:off x="6345936" y="4247388"/>
            <a:ext cx="5239512" cy="109728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Production workload that needs a service level agreement</a:t>
            </a:r>
          </a:p>
          <a:p>
            <a:pPr algn="l">
              <a:lnSpc>
                <a:spcPct val="112000"/>
              </a:lnSpc>
              <a:spcAft>
                <a:spcPts val="250"/>
              </a:spcAft>
            </a:pPr>
            <a:r>
              <a:rPr sz="850" b="0" i="0" dirty="0">
                <a:solidFill>
                  <a:srgbClr val="44495B"/>
                </a:solidFill>
                <a:latin typeface="Segoe UI"/>
                <a:cs typeface="Segoe UI"/>
              </a:rPr>
              <a:t>Audio input, real-time voice or WebSocket transport</a:t>
            </a:r>
          </a:p>
          <a:p>
            <a:pPr algn="l">
              <a:lnSpc>
                <a:spcPct val="112000"/>
              </a:lnSpc>
              <a:spcAft>
                <a:spcPts val="250"/>
              </a:spcAft>
            </a:pPr>
            <a:r>
              <a:rPr sz="850" b="0" i="0" dirty="0">
                <a:solidFill>
                  <a:srgbClr val="44495B"/>
                </a:solidFill>
                <a:latin typeface="Segoe UI"/>
                <a:cs typeface="Segoe UI"/>
              </a:rPr>
              <a:t>Foundry Memory, strict function schemas or a customer-supplied model</a:t>
            </a:r>
          </a:p>
          <a:p>
            <a:pPr algn="l">
              <a:lnSpc>
                <a:spcPct val="112000"/>
              </a:lnSpc>
              <a:spcAft>
                <a:spcPts val="250"/>
              </a:spcAft>
            </a:pPr>
            <a:r>
              <a:rPr sz="850" b="0" i="0" dirty="0">
                <a:solidFill>
                  <a:srgbClr val="44495B"/>
                </a:solidFill>
                <a:latin typeface="Segoe UI"/>
                <a:cs typeface="Segoe UI"/>
              </a:rPr>
              <a:t>Project outside the nine supported regions</a:t>
            </a:r>
          </a:p>
        </p:txBody>
      </p:sp>
      <p:sp>
        <p:nvSpPr>
          <p:cNvPr id="35" name="TextBox 34"/>
          <p:cNvSpPr txBox="1"/>
          <p:nvPr/>
        </p:nvSpPr>
        <p:spPr>
          <a:xfrm>
            <a:off x="7863840" y="557784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OPERATIONS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Limits, security and cost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Preview constraints, security controls and billing to check before a pilot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learn.microsoft.com/azure/foundry/agents/concepts/limits-quotas-regions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Copilot harness for prompt agents · October 2026 · 6</a:t>
            </a:r>
          </a:p>
        </p:txBody>
      </p:sp>
      <p:sp>
        <p:nvSpPr>
          <p:cNvPr id="7" name="Rectangle 6"/>
          <p:cNvSpPr/>
          <p:nvPr/>
        </p:nvSpPr>
        <p:spPr>
          <a:xfrm>
            <a:off x="457200" y="1417320"/>
            <a:ext cx="3606698" cy="3977639"/>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417320"/>
            <a:ext cx="3606698"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03504" y="1536192"/>
            <a:ext cx="3332378"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Availability</a:t>
            </a:r>
          </a:p>
        </p:txBody>
      </p:sp>
      <p:sp>
        <p:nvSpPr>
          <p:cNvPr id="10" name="TextBox 9"/>
          <p:cNvSpPr txBox="1"/>
          <p:nvPr/>
        </p:nvSpPr>
        <p:spPr>
          <a:xfrm>
            <a:off x="603504" y="1847088"/>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REGIONS</a:t>
            </a:r>
          </a:p>
        </p:txBody>
      </p:sp>
      <p:sp>
        <p:nvSpPr>
          <p:cNvPr id="11" name="TextBox 10"/>
          <p:cNvSpPr txBox="1"/>
          <p:nvPr/>
        </p:nvSpPr>
        <p:spPr>
          <a:xfrm>
            <a:off x="603504" y="2029968"/>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Australia East, Canada Central, Central US, Germany West Central, Japan East, Sweden Central, UK South, West Europe, West US</a:t>
            </a:r>
          </a:p>
        </p:txBody>
      </p:sp>
      <p:sp>
        <p:nvSpPr>
          <p:cNvPr id="12" name="TextBox 11"/>
          <p:cNvSpPr txBox="1"/>
          <p:nvPr/>
        </p:nvSpPr>
        <p:spPr>
          <a:xfrm>
            <a:off x="603504" y="2706624"/>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MODELS</a:t>
            </a:r>
          </a:p>
        </p:txBody>
      </p:sp>
      <p:sp>
        <p:nvSpPr>
          <p:cNvPr id="13" name="TextBox 12"/>
          <p:cNvSpPr txBox="1"/>
          <p:nvPr/>
        </p:nvSpPr>
        <p:spPr>
          <a:xfrm>
            <a:off x="603504" y="2889504"/>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Reasoning and tool calling, available to prompt agents in the region</a:t>
            </a:r>
          </a:p>
        </p:txBody>
      </p:sp>
      <p:sp>
        <p:nvSpPr>
          <p:cNvPr id="14" name="TextBox 13"/>
          <p:cNvSpPr txBox="1"/>
          <p:nvPr/>
        </p:nvSpPr>
        <p:spPr>
          <a:xfrm>
            <a:off x="603504" y="3364991"/>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OWN MODELS</a:t>
            </a:r>
          </a:p>
        </p:txBody>
      </p:sp>
      <p:sp>
        <p:nvSpPr>
          <p:cNvPr id="15" name="TextBox 14"/>
          <p:cNvSpPr txBox="1"/>
          <p:nvPr/>
        </p:nvSpPr>
        <p:spPr>
          <a:xfrm>
            <a:off x="603504" y="3547872"/>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Customer-supplied models are not supported</a:t>
            </a:r>
          </a:p>
        </p:txBody>
      </p:sp>
      <p:sp>
        <p:nvSpPr>
          <p:cNvPr id="16" name="TextBox 15"/>
          <p:cNvSpPr txBox="1"/>
          <p:nvPr/>
        </p:nvSpPr>
        <p:spPr>
          <a:xfrm>
            <a:off x="603504" y="4023359"/>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SELECTION</a:t>
            </a:r>
          </a:p>
        </p:txBody>
      </p:sp>
      <p:sp>
        <p:nvSpPr>
          <p:cNvPr id="17" name="TextBox 16"/>
          <p:cNvSpPr txBox="1"/>
          <p:nvPr/>
        </p:nvSpPr>
        <p:spPr>
          <a:xfrm>
            <a:off x="603504" y="4206240"/>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At agent creation only; an existing agent cannot switch</a:t>
            </a:r>
          </a:p>
        </p:txBody>
      </p:sp>
      <p:sp>
        <p:nvSpPr>
          <p:cNvPr id="18" name="TextBox 17"/>
          <p:cNvSpPr txBox="1"/>
          <p:nvPr/>
        </p:nvSpPr>
        <p:spPr>
          <a:xfrm>
            <a:off x="603504" y="4681727"/>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TOOLING</a:t>
            </a:r>
          </a:p>
        </p:txBody>
      </p:sp>
      <p:sp>
        <p:nvSpPr>
          <p:cNvPr id="19" name="TextBox 18"/>
          <p:cNvSpPr txBox="1"/>
          <p:nvPr/>
        </p:nvSpPr>
        <p:spPr>
          <a:xfrm>
            <a:off x="603504" y="4864607"/>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azure-ai-projects 2.9.0 or later; azd 1.37.0 or later</a:t>
            </a:r>
          </a:p>
        </p:txBody>
      </p:sp>
      <p:sp>
        <p:nvSpPr>
          <p:cNvPr id="20" name="Rectangle 19"/>
          <p:cNvSpPr/>
          <p:nvPr/>
        </p:nvSpPr>
        <p:spPr>
          <a:xfrm>
            <a:off x="4292498" y="1417320"/>
            <a:ext cx="3606698" cy="3977639"/>
          </a:xfrm>
          <a:prstGeom prst="rect">
            <a:avLst/>
          </a:prstGeom>
          <a:solidFill>
            <a:srgbClr val="F6F8FD"/>
          </a:solidFill>
          <a:ln w="9525">
            <a:solidFill>
              <a:srgbClr val="E1E7F4"/>
            </a:solidFill>
          </a:ln>
          <a:effectLst/>
        </p:spPr>
        <p:txBody>
          <a:bodyPr wrap="square" rtlCol="0" anchor="ctr"/>
          <a:lstStyle/>
          <a:p>
            <a:endParaRPr/>
          </a:p>
        </p:txBody>
      </p:sp>
      <p:sp>
        <p:nvSpPr>
          <p:cNvPr id="21" name="Rectangle 20"/>
          <p:cNvSpPr/>
          <p:nvPr/>
        </p:nvSpPr>
        <p:spPr>
          <a:xfrm>
            <a:off x="4292498" y="1417320"/>
            <a:ext cx="3606698" cy="41148"/>
          </a:xfrm>
          <a:prstGeom prst="rect">
            <a:avLst/>
          </a:prstGeom>
          <a:solidFill>
            <a:srgbClr val="00B39F"/>
          </a:solidFill>
          <a:ln>
            <a:noFill/>
          </a:ln>
          <a:effectLst/>
        </p:spPr>
        <p:txBody>
          <a:bodyPr wrap="square" rtlCol="0" anchor="ctr"/>
          <a:lstStyle/>
          <a:p>
            <a:endParaRPr/>
          </a:p>
        </p:txBody>
      </p:sp>
      <p:sp>
        <p:nvSpPr>
          <p:cNvPr id="22" name="TextBox 21"/>
          <p:cNvSpPr txBox="1"/>
          <p:nvPr/>
        </p:nvSpPr>
        <p:spPr>
          <a:xfrm>
            <a:off x="4438802" y="1536192"/>
            <a:ext cx="3332378"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Request and definition rules</a:t>
            </a:r>
          </a:p>
        </p:txBody>
      </p:sp>
      <p:sp>
        <p:nvSpPr>
          <p:cNvPr id="23" name="TextBox 22"/>
          <p:cNvSpPr txBox="1"/>
          <p:nvPr/>
        </p:nvSpPr>
        <p:spPr>
          <a:xfrm>
            <a:off x="4438802" y="1847088"/>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SESSION</a:t>
            </a:r>
          </a:p>
        </p:txBody>
      </p:sp>
      <p:sp>
        <p:nvSpPr>
          <p:cNvPr id="24" name="TextBox 23"/>
          <p:cNvSpPr txBox="1"/>
          <p:nvPr/>
        </p:nvSpPr>
        <p:spPr>
          <a:xfrm>
            <a:off x="4438802" y="2029968"/>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Conversation on every request; no store: false or previous_response_id</a:t>
            </a:r>
          </a:p>
        </p:txBody>
      </p:sp>
      <p:sp>
        <p:nvSpPr>
          <p:cNvPr id="25" name="TextBox 24"/>
          <p:cNvSpPr txBox="1"/>
          <p:nvPr/>
        </p:nvSpPr>
        <p:spPr>
          <a:xfrm>
            <a:off x="4438802" y="2505456"/>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SETTINGS</a:t>
            </a:r>
          </a:p>
        </p:txBody>
      </p:sp>
      <p:sp>
        <p:nvSpPr>
          <p:cNvPr id="26" name="TextBox 25"/>
          <p:cNvSpPr txBox="1"/>
          <p:nvPr/>
        </p:nvSpPr>
        <p:spPr>
          <a:xfrm>
            <a:off x="4438802" y="2688336"/>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temperature, top_p, tool_choice, max_output_tokens and similar are harness-managed</a:t>
            </a:r>
          </a:p>
        </p:txBody>
      </p:sp>
      <p:sp>
        <p:nvSpPr>
          <p:cNvPr id="27" name="TextBox 26"/>
          <p:cNvSpPr txBox="1"/>
          <p:nvPr/>
        </p:nvSpPr>
        <p:spPr>
          <a:xfrm>
            <a:off x="4438802" y="3163824"/>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INPUT</a:t>
            </a:r>
          </a:p>
        </p:txBody>
      </p:sp>
      <p:sp>
        <p:nvSpPr>
          <p:cNvPr id="28" name="TextBox 27"/>
          <p:cNvSpPr txBox="1"/>
          <p:nvPr/>
        </p:nvSpPr>
        <p:spPr>
          <a:xfrm>
            <a:off x="4438802" y="3346704"/>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Text, images and files over HTTP; no audio or WebSocket</a:t>
            </a:r>
          </a:p>
        </p:txBody>
      </p:sp>
      <p:sp>
        <p:nvSpPr>
          <p:cNvPr id="29" name="TextBox 28"/>
          <p:cNvSpPr txBox="1"/>
          <p:nvPr/>
        </p:nvSpPr>
        <p:spPr>
          <a:xfrm>
            <a:off x="4438802" y="3822191"/>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CAPABILITIES</a:t>
            </a:r>
          </a:p>
        </p:txBody>
      </p:sp>
      <p:sp>
        <p:nvSpPr>
          <p:cNvPr id="30" name="TextBox 29"/>
          <p:cNvSpPr txBox="1"/>
          <p:nvPr/>
        </p:nvSpPr>
        <p:spPr>
          <a:xfrm>
            <a:off x="4438802" y="4005072"/>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Up to 50 skills; non-strict function tools; no Foundry Memory</a:t>
            </a:r>
          </a:p>
        </p:txBody>
      </p:sp>
      <p:sp>
        <p:nvSpPr>
          <p:cNvPr id="31" name="TextBox 30"/>
          <p:cNvSpPr txBox="1"/>
          <p:nvPr/>
        </p:nvSpPr>
        <p:spPr>
          <a:xfrm>
            <a:off x="4438802" y="4480559"/>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ERRORS</a:t>
            </a:r>
          </a:p>
        </p:txBody>
      </p:sp>
      <p:sp>
        <p:nvSpPr>
          <p:cNvPr id="32" name="TextBox 31"/>
          <p:cNvSpPr txBox="1"/>
          <p:nvPr/>
        </p:nvSpPr>
        <p:spPr>
          <a:xfrm>
            <a:off x="4438802" y="4663440"/>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Unsupported fields return an error instead of being ignored</a:t>
            </a:r>
          </a:p>
        </p:txBody>
      </p:sp>
      <p:sp>
        <p:nvSpPr>
          <p:cNvPr id="33" name="Rectangle 32"/>
          <p:cNvSpPr/>
          <p:nvPr/>
        </p:nvSpPr>
        <p:spPr>
          <a:xfrm>
            <a:off x="8127796" y="1417320"/>
            <a:ext cx="3606698" cy="3977639"/>
          </a:xfrm>
          <a:prstGeom prst="rect">
            <a:avLst/>
          </a:prstGeom>
          <a:solidFill>
            <a:srgbClr val="F6F8FD"/>
          </a:solidFill>
          <a:ln w="9525">
            <a:solidFill>
              <a:srgbClr val="E1E7F4"/>
            </a:solidFill>
          </a:ln>
          <a:effectLst/>
        </p:spPr>
        <p:txBody>
          <a:bodyPr wrap="square" rtlCol="0" anchor="ctr"/>
          <a:lstStyle/>
          <a:p>
            <a:endParaRPr/>
          </a:p>
        </p:txBody>
      </p:sp>
      <p:sp>
        <p:nvSpPr>
          <p:cNvPr id="34" name="Rectangle 33"/>
          <p:cNvSpPr/>
          <p:nvPr/>
        </p:nvSpPr>
        <p:spPr>
          <a:xfrm>
            <a:off x="8127796" y="1417320"/>
            <a:ext cx="3606698" cy="41148"/>
          </a:xfrm>
          <a:prstGeom prst="rect">
            <a:avLst/>
          </a:prstGeom>
          <a:solidFill>
            <a:srgbClr val="101A3C"/>
          </a:solidFill>
          <a:ln>
            <a:noFill/>
          </a:ln>
          <a:effectLst/>
        </p:spPr>
        <p:txBody>
          <a:bodyPr wrap="square" rtlCol="0" anchor="ctr"/>
          <a:lstStyle/>
          <a:p>
            <a:endParaRPr/>
          </a:p>
        </p:txBody>
      </p:sp>
      <p:sp>
        <p:nvSpPr>
          <p:cNvPr id="35" name="TextBox 34"/>
          <p:cNvSpPr txBox="1"/>
          <p:nvPr/>
        </p:nvSpPr>
        <p:spPr>
          <a:xfrm>
            <a:off x="8274100" y="1536192"/>
            <a:ext cx="3332378"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Security and cost</a:t>
            </a:r>
          </a:p>
        </p:txBody>
      </p:sp>
      <p:sp>
        <p:nvSpPr>
          <p:cNvPr id="36" name="TextBox 35"/>
          <p:cNvSpPr txBox="1"/>
          <p:nvPr/>
        </p:nvSpPr>
        <p:spPr>
          <a:xfrm>
            <a:off x="8274100" y="1847088"/>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SHELL</a:t>
            </a:r>
          </a:p>
        </p:txBody>
      </p:sp>
      <p:sp>
        <p:nvSpPr>
          <p:cNvPr id="37" name="TextBox 36"/>
          <p:cNvSpPr txBox="1"/>
          <p:nvPr/>
        </p:nvSpPr>
        <p:spPr>
          <a:xfrm>
            <a:off x="8274100" y="2029968"/>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Broadest tool; turning off other tools while shell is on is not a security boundary</a:t>
            </a:r>
          </a:p>
        </p:txBody>
      </p:sp>
      <p:sp>
        <p:nvSpPr>
          <p:cNvPr id="38" name="TextBox 37"/>
          <p:cNvSpPr txBox="1"/>
          <p:nvPr/>
        </p:nvSpPr>
        <p:spPr>
          <a:xfrm>
            <a:off x="8274100" y="2505456"/>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EGRESS*</a:t>
            </a:r>
          </a:p>
        </p:txBody>
      </p:sp>
      <p:sp>
        <p:nvSpPr>
          <p:cNvPr id="39" name="TextBox 38"/>
          <p:cNvSpPr txBox="1"/>
          <p:nvPr/>
        </p:nvSpPr>
        <p:spPr>
          <a:xfrm>
            <a:off x="8274100" y="2688336"/>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Guardrail with network rules; start in audit mode, then enforce</a:t>
            </a:r>
          </a:p>
        </p:txBody>
      </p:sp>
      <p:sp>
        <p:nvSpPr>
          <p:cNvPr id="40" name="TextBox 39"/>
          <p:cNvSpPr txBox="1"/>
          <p:nvPr/>
        </p:nvSpPr>
        <p:spPr>
          <a:xfrm>
            <a:off x="8274100" y="3163824"/>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IDENTITY</a:t>
            </a:r>
          </a:p>
        </p:txBody>
      </p:sp>
      <p:sp>
        <p:nvSpPr>
          <p:cNvPr id="41" name="TextBox 40"/>
          <p:cNvSpPr txBox="1"/>
          <p:nvPr/>
        </p:nvSpPr>
        <p:spPr>
          <a:xfrm>
            <a:off x="8274100" y="3346704"/>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Agent identity needs Foundry User to return files or call a toolbox</a:t>
            </a:r>
          </a:p>
        </p:txBody>
      </p:sp>
      <p:sp>
        <p:nvSpPr>
          <p:cNvPr id="42" name="TextBox 41"/>
          <p:cNvSpPr txBox="1"/>
          <p:nvPr/>
        </p:nvSpPr>
        <p:spPr>
          <a:xfrm>
            <a:off x="8274100" y="3822191"/>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DURABILITY</a:t>
            </a:r>
          </a:p>
        </p:txBody>
      </p:sp>
      <p:sp>
        <p:nvSpPr>
          <p:cNvPr id="43" name="TextBox 42"/>
          <p:cNvSpPr txBox="1"/>
          <p:nvPr/>
        </p:nvSpPr>
        <p:spPr>
          <a:xfrm>
            <a:off x="8274100" y="4005072"/>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Workspace is session state; keep outputs in Foundry Files</a:t>
            </a:r>
          </a:p>
        </p:txBody>
      </p:sp>
      <p:sp>
        <p:nvSpPr>
          <p:cNvPr id="44" name="TextBox 43"/>
          <p:cNvSpPr txBox="1"/>
          <p:nvPr/>
        </p:nvSpPr>
        <p:spPr>
          <a:xfrm>
            <a:off x="8274100" y="4480559"/>
            <a:ext cx="3314090" cy="164592"/>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BILLING</a:t>
            </a:r>
          </a:p>
        </p:txBody>
      </p:sp>
      <p:sp>
        <p:nvSpPr>
          <p:cNvPr id="45" name="TextBox 44"/>
          <p:cNvSpPr txBox="1"/>
          <p:nvPr/>
        </p:nvSpPr>
        <p:spPr>
          <a:xfrm>
            <a:off x="8274100" y="4663440"/>
            <a:ext cx="3314090" cy="548640"/>
          </a:xfrm>
          <a:prstGeom prst="rect">
            <a:avLst/>
          </a:prstGeom>
          <a:noFill/>
        </p:spPr>
        <p:txBody>
          <a:bodyPr wrap="square" lIns="0" tIns="0" rIns="0" bIns="0" anchor="t">
            <a:spAutoFit/>
          </a:bodyPr>
          <a:lstStyle/>
          <a:p>
            <a:pPr algn="l">
              <a:lnSpc>
                <a:spcPct val="110000"/>
              </a:lnSpc>
            </a:pPr>
            <a:r>
              <a:rPr sz="850" b="0" i="0" dirty="0">
                <a:solidFill>
                  <a:srgbClr val="44495B"/>
                </a:solidFill>
                <a:latin typeface="Segoe UI"/>
                <a:cs typeface="Segoe UI"/>
              </a:rPr>
              <a:t>From 1 Dec 2026: USD 0.0994 per vCPU-hour, 0.0118 per GiB-hour</a:t>
            </a:r>
          </a:p>
        </p:txBody>
      </p:sp>
      <p:sp>
        <p:nvSpPr>
          <p:cNvPr id="46" name="TextBox 45"/>
          <p:cNvSpPr txBox="1"/>
          <p:nvPr/>
        </p:nvSpPr>
        <p:spPr>
          <a:xfrm>
            <a:off x="7863840" y="557784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06 · REFERENCES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References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Official documentation and announcements used for this deck, checked 29 October 2026</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 · devblogs.microsoft.com · blogs.microsoft.com</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Copilot harness for prompt agents · October 2026 · 7</a:t>
            </a:r>
          </a:p>
        </p:txBody>
      </p:sp>
      <p:sp>
        <p:nvSpPr>
          <p:cNvPr id="7" name="Rectangle 6"/>
          <p:cNvSpPr/>
          <p:nvPr/>
        </p:nvSpPr>
        <p:spPr>
          <a:xfrm>
            <a:off x="457200" y="1417320"/>
            <a:ext cx="11277295" cy="512064"/>
          </a:xfrm>
          <a:prstGeom prst="rect">
            <a:avLst/>
          </a:prstGeom>
          <a:solidFill>
            <a:srgbClr val="F6F8FD"/>
          </a:solidFill>
          <a:ln w="9525">
            <a:solidFill>
              <a:srgbClr val="E1E7F4"/>
            </a:solidFill>
          </a:ln>
          <a:effectLst/>
        </p:spPr>
        <p:txBody>
          <a:bodyPr wrap="square" rtlCol="0" anchor="ctr"/>
          <a:lstStyle/>
          <a:p>
            <a:endParaRPr/>
          </a:p>
        </p:txBody>
      </p:sp>
      <p:sp>
        <p:nvSpPr>
          <p:cNvPr id="8" name="Oval 7"/>
          <p:cNvSpPr/>
          <p:nvPr/>
        </p:nvSpPr>
        <p:spPr>
          <a:xfrm>
            <a:off x="612648" y="1554480"/>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1</a:t>
            </a:r>
          </a:p>
        </p:txBody>
      </p:sp>
      <p:sp>
        <p:nvSpPr>
          <p:cNvPr id="9" name="TextBox 8"/>
          <p:cNvSpPr txBox="1"/>
          <p:nvPr/>
        </p:nvSpPr>
        <p:spPr>
          <a:xfrm>
            <a:off x="1005840" y="1490472"/>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Copilot harness how-to</a:t>
            </a:r>
          </a:p>
        </p:txBody>
      </p:sp>
      <p:sp>
        <p:nvSpPr>
          <p:cNvPr id="10" name="TextBox 9"/>
          <p:cNvSpPr txBox="1"/>
          <p:nvPr/>
        </p:nvSpPr>
        <p:spPr>
          <a:xfrm>
            <a:off x="1005840" y="1700784"/>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Create, invoke, tools, skills, files, egress</a:t>
            </a:r>
          </a:p>
        </p:txBody>
      </p:sp>
      <p:sp>
        <p:nvSpPr>
          <p:cNvPr id="11" name="TextBox 10"/>
          <p:cNvSpPr txBox="1"/>
          <p:nvPr/>
        </p:nvSpPr>
        <p:spPr>
          <a:xfrm>
            <a:off x="4297680" y="1581912"/>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learn.microsoft.com/azure/foundry/agents/how-to/use-tools-skills-copilot-harness</a:t>
            </a:r>
          </a:p>
        </p:txBody>
      </p:sp>
      <p:sp>
        <p:nvSpPr>
          <p:cNvPr id="12" name="Rectangle 11"/>
          <p:cNvSpPr/>
          <p:nvPr/>
        </p:nvSpPr>
        <p:spPr>
          <a:xfrm>
            <a:off x="457200" y="1993392"/>
            <a:ext cx="11277295" cy="512064"/>
          </a:xfrm>
          <a:prstGeom prst="rect">
            <a:avLst/>
          </a:prstGeom>
          <a:solidFill>
            <a:srgbClr val="FFFFFF"/>
          </a:solidFill>
          <a:ln w="9525">
            <a:solidFill>
              <a:srgbClr val="E1E7F4"/>
            </a:solidFill>
          </a:ln>
          <a:effectLst/>
        </p:spPr>
        <p:txBody>
          <a:bodyPr wrap="square" rtlCol="0" anchor="ctr"/>
          <a:lstStyle/>
          <a:p>
            <a:endParaRPr/>
          </a:p>
        </p:txBody>
      </p:sp>
      <p:sp>
        <p:nvSpPr>
          <p:cNvPr id="13" name="Oval 12"/>
          <p:cNvSpPr/>
          <p:nvPr/>
        </p:nvSpPr>
        <p:spPr>
          <a:xfrm>
            <a:off x="612648" y="2130552"/>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2</a:t>
            </a:r>
          </a:p>
        </p:txBody>
      </p:sp>
      <p:sp>
        <p:nvSpPr>
          <p:cNvPr id="14" name="TextBox 13"/>
          <p:cNvSpPr txBox="1"/>
          <p:nvPr/>
        </p:nvSpPr>
        <p:spPr>
          <a:xfrm>
            <a:off x="1005840" y="2066544"/>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Limits and regions</a:t>
            </a:r>
          </a:p>
        </p:txBody>
      </p:sp>
      <p:sp>
        <p:nvSpPr>
          <p:cNvPr id="15" name="TextBox 14"/>
          <p:cNvSpPr txBox="1"/>
          <p:nvPr/>
        </p:nvSpPr>
        <p:spPr>
          <a:xfrm>
            <a:off x="1005840" y="2276856"/>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Harness regions, models and request constraints</a:t>
            </a:r>
          </a:p>
        </p:txBody>
      </p:sp>
      <p:sp>
        <p:nvSpPr>
          <p:cNvPr id="16" name="TextBox 15"/>
          <p:cNvSpPr txBox="1"/>
          <p:nvPr/>
        </p:nvSpPr>
        <p:spPr>
          <a:xfrm>
            <a:off x="4297680" y="2157984"/>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learn.microsoft.com/azure/foundry/agents/concepts/limits-quotas-regions</a:t>
            </a:r>
          </a:p>
        </p:txBody>
      </p:sp>
      <p:sp>
        <p:nvSpPr>
          <p:cNvPr id="17" name="Rectangle 16"/>
          <p:cNvSpPr/>
          <p:nvPr/>
        </p:nvSpPr>
        <p:spPr>
          <a:xfrm>
            <a:off x="457200" y="2569464"/>
            <a:ext cx="11277295" cy="512064"/>
          </a:xfrm>
          <a:prstGeom prst="rect">
            <a:avLst/>
          </a:prstGeom>
          <a:solidFill>
            <a:srgbClr val="F6F8FD"/>
          </a:solidFill>
          <a:ln w="9525">
            <a:solidFill>
              <a:srgbClr val="E1E7F4"/>
            </a:solidFill>
          </a:ln>
          <a:effectLst/>
        </p:spPr>
        <p:txBody>
          <a:bodyPr wrap="square" rtlCol="0" anchor="ctr"/>
          <a:lstStyle/>
          <a:p>
            <a:endParaRPr/>
          </a:p>
        </p:txBody>
      </p:sp>
      <p:sp>
        <p:nvSpPr>
          <p:cNvPr id="18" name="Oval 17"/>
          <p:cNvSpPr/>
          <p:nvPr/>
        </p:nvSpPr>
        <p:spPr>
          <a:xfrm>
            <a:off x="612648" y="2706624"/>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3</a:t>
            </a:r>
          </a:p>
        </p:txBody>
      </p:sp>
      <p:sp>
        <p:nvSpPr>
          <p:cNvPr id="19" name="TextBox 18"/>
          <p:cNvSpPr txBox="1"/>
          <p:nvPr/>
        </p:nvSpPr>
        <p:spPr>
          <a:xfrm>
            <a:off x="1005840" y="2642616"/>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Prompt agents</a:t>
            </a:r>
          </a:p>
        </p:txBody>
      </p:sp>
      <p:sp>
        <p:nvSpPr>
          <p:cNvPr id="20" name="TextBox 19"/>
          <p:cNvSpPr txBox="1"/>
          <p:nvPr/>
        </p:nvSpPr>
        <p:spPr>
          <a:xfrm>
            <a:off x="1005840" y="2852928"/>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Definition, default runtime and harness option</a:t>
            </a:r>
          </a:p>
        </p:txBody>
      </p:sp>
      <p:sp>
        <p:nvSpPr>
          <p:cNvPr id="21" name="TextBox 20"/>
          <p:cNvSpPr txBox="1"/>
          <p:nvPr/>
        </p:nvSpPr>
        <p:spPr>
          <a:xfrm>
            <a:off x="4297680" y="2734056"/>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learn.microsoft.com/azure/foundry/agents/concepts/prompt-agents</a:t>
            </a:r>
          </a:p>
        </p:txBody>
      </p:sp>
      <p:sp>
        <p:nvSpPr>
          <p:cNvPr id="22" name="Rectangle 21"/>
          <p:cNvSpPr/>
          <p:nvPr/>
        </p:nvSpPr>
        <p:spPr>
          <a:xfrm>
            <a:off x="457200" y="3145536"/>
            <a:ext cx="11277295" cy="512064"/>
          </a:xfrm>
          <a:prstGeom prst="rect">
            <a:avLst/>
          </a:prstGeom>
          <a:solidFill>
            <a:srgbClr val="FFFFFF"/>
          </a:solidFill>
          <a:ln w="9525">
            <a:solidFill>
              <a:srgbClr val="E1E7F4"/>
            </a:solidFill>
          </a:ln>
          <a:effectLst/>
        </p:spPr>
        <p:txBody>
          <a:bodyPr wrap="square" rtlCol="0" anchor="ctr"/>
          <a:lstStyle/>
          <a:p>
            <a:endParaRPr/>
          </a:p>
        </p:txBody>
      </p:sp>
      <p:sp>
        <p:nvSpPr>
          <p:cNvPr id="23" name="Oval 22"/>
          <p:cNvSpPr/>
          <p:nvPr/>
        </p:nvSpPr>
        <p:spPr>
          <a:xfrm>
            <a:off x="612648" y="3282696"/>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4</a:t>
            </a:r>
          </a:p>
        </p:txBody>
      </p:sp>
      <p:sp>
        <p:nvSpPr>
          <p:cNvPr id="24" name="TextBox 23"/>
          <p:cNvSpPr txBox="1"/>
          <p:nvPr/>
        </p:nvSpPr>
        <p:spPr>
          <a:xfrm>
            <a:off x="1005840" y="3218688"/>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Hosted agents</a:t>
            </a:r>
          </a:p>
        </p:txBody>
      </p:sp>
      <p:sp>
        <p:nvSpPr>
          <p:cNvPr id="25" name="TextBox 24"/>
          <p:cNvSpPr txBox="1"/>
          <p:nvPr/>
        </p:nvSpPr>
        <p:spPr>
          <a:xfrm>
            <a:off x="1005840" y="3429000"/>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Container hosting, sandboxes, protocols, identity</a:t>
            </a:r>
          </a:p>
        </p:txBody>
      </p:sp>
      <p:sp>
        <p:nvSpPr>
          <p:cNvPr id="26" name="TextBox 25"/>
          <p:cNvSpPr txBox="1"/>
          <p:nvPr/>
        </p:nvSpPr>
        <p:spPr>
          <a:xfrm>
            <a:off x="4297680" y="3310128"/>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learn.microsoft.com/azure/foundry/agents/concepts/hosted-agents</a:t>
            </a:r>
          </a:p>
        </p:txBody>
      </p:sp>
      <p:sp>
        <p:nvSpPr>
          <p:cNvPr id="27" name="Rectangle 26"/>
          <p:cNvSpPr/>
          <p:nvPr/>
        </p:nvSpPr>
        <p:spPr>
          <a:xfrm>
            <a:off x="457200" y="3721608"/>
            <a:ext cx="11277295" cy="512064"/>
          </a:xfrm>
          <a:prstGeom prst="rect">
            <a:avLst/>
          </a:prstGeom>
          <a:solidFill>
            <a:srgbClr val="F6F8FD"/>
          </a:solidFill>
          <a:ln w="9525">
            <a:solidFill>
              <a:srgbClr val="E1E7F4"/>
            </a:solidFill>
          </a:ln>
          <a:effectLst/>
        </p:spPr>
        <p:txBody>
          <a:bodyPr wrap="square" rtlCol="0" anchor="ctr"/>
          <a:lstStyle/>
          <a:p>
            <a:endParaRPr/>
          </a:p>
        </p:txBody>
      </p:sp>
      <p:sp>
        <p:nvSpPr>
          <p:cNvPr id="28" name="Oval 27"/>
          <p:cNvSpPr/>
          <p:nvPr/>
        </p:nvSpPr>
        <p:spPr>
          <a:xfrm>
            <a:off x="612648" y="3858768"/>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5</a:t>
            </a:r>
          </a:p>
        </p:txBody>
      </p:sp>
      <p:sp>
        <p:nvSpPr>
          <p:cNvPr id="29" name="TextBox 28"/>
          <p:cNvSpPr txBox="1"/>
          <p:nvPr/>
        </p:nvSpPr>
        <p:spPr>
          <a:xfrm>
            <a:off x="1005840" y="3794760"/>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Agent Service overview</a:t>
            </a:r>
          </a:p>
        </p:txBody>
      </p:sp>
      <p:sp>
        <p:nvSpPr>
          <p:cNvPr id="30" name="TextBox 29"/>
          <p:cNvSpPr txBox="1"/>
          <p:nvPr/>
        </p:nvSpPr>
        <p:spPr>
          <a:xfrm>
            <a:off x="1005840" y="4005072"/>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Prompt, voice-based and hosted agent types</a:t>
            </a:r>
          </a:p>
        </p:txBody>
      </p:sp>
      <p:sp>
        <p:nvSpPr>
          <p:cNvPr id="31" name="TextBox 30"/>
          <p:cNvSpPr txBox="1"/>
          <p:nvPr/>
        </p:nvSpPr>
        <p:spPr>
          <a:xfrm>
            <a:off x="4297680" y="3886200"/>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learn.microsoft.com/azure/foundry/agents/overview</a:t>
            </a:r>
          </a:p>
        </p:txBody>
      </p:sp>
      <p:sp>
        <p:nvSpPr>
          <p:cNvPr id="32" name="Rectangle 31"/>
          <p:cNvSpPr/>
          <p:nvPr/>
        </p:nvSpPr>
        <p:spPr>
          <a:xfrm>
            <a:off x="457200" y="4297680"/>
            <a:ext cx="11277295" cy="512064"/>
          </a:xfrm>
          <a:prstGeom prst="rect">
            <a:avLst/>
          </a:prstGeom>
          <a:solidFill>
            <a:srgbClr val="FFFFFF"/>
          </a:solidFill>
          <a:ln w="9525">
            <a:solidFill>
              <a:srgbClr val="E1E7F4"/>
            </a:solidFill>
          </a:ln>
          <a:effectLst/>
        </p:spPr>
        <p:txBody>
          <a:bodyPr wrap="square" rtlCol="0" anchor="ctr"/>
          <a:lstStyle/>
          <a:p>
            <a:endParaRPr/>
          </a:p>
        </p:txBody>
      </p:sp>
      <p:sp>
        <p:nvSpPr>
          <p:cNvPr id="33" name="Oval 32"/>
          <p:cNvSpPr/>
          <p:nvPr/>
        </p:nvSpPr>
        <p:spPr>
          <a:xfrm>
            <a:off x="612648" y="4434840"/>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6</a:t>
            </a:r>
          </a:p>
        </p:txBody>
      </p:sp>
      <p:sp>
        <p:nvSpPr>
          <p:cNvPr id="34" name="TextBox 33"/>
          <p:cNvSpPr txBox="1"/>
          <p:nvPr/>
        </p:nvSpPr>
        <p:spPr>
          <a:xfrm>
            <a:off x="1005840" y="4370832"/>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Foundry Blog announcement</a:t>
            </a:r>
          </a:p>
        </p:txBody>
      </p:sp>
      <p:sp>
        <p:nvSpPr>
          <p:cNvPr id="35" name="TextBox 34"/>
          <p:cNvSpPr txBox="1"/>
          <p:nvPr/>
        </p:nvSpPr>
        <p:spPr>
          <a:xfrm>
            <a:off x="1005840" y="4581144"/>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Preview launch, comparison, pricing from 1 Dec 2026</a:t>
            </a:r>
          </a:p>
        </p:txBody>
      </p:sp>
      <p:sp>
        <p:nvSpPr>
          <p:cNvPr id="36" name="TextBox 35"/>
          <p:cNvSpPr txBox="1"/>
          <p:nvPr/>
        </p:nvSpPr>
        <p:spPr>
          <a:xfrm>
            <a:off x="4297680" y="4462272"/>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devblogs.microsoft.com/foundry/microsoft-copilot-harness-in-foundry</a:t>
            </a:r>
          </a:p>
        </p:txBody>
      </p:sp>
      <p:sp>
        <p:nvSpPr>
          <p:cNvPr id="37" name="Rectangle 36"/>
          <p:cNvSpPr/>
          <p:nvPr/>
        </p:nvSpPr>
        <p:spPr>
          <a:xfrm>
            <a:off x="457200" y="4873752"/>
            <a:ext cx="11277295" cy="512064"/>
          </a:xfrm>
          <a:prstGeom prst="rect">
            <a:avLst/>
          </a:prstGeom>
          <a:solidFill>
            <a:srgbClr val="F6F8FD"/>
          </a:solidFill>
          <a:ln w="9525">
            <a:solidFill>
              <a:srgbClr val="E1E7F4"/>
            </a:solidFill>
          </a:ln>
          <a:effectLst/>
        </p:spPr>
        <p:txBody>
          <a:bodyPr wrap="square" rtlCol="0" anchor="ctr"/>
          <a:lstStyle/>
          <a:p>
            <a:endParaRPr/>
          </a:p>
        </p:txBody>
      </p:sp>
      <p:sp>
        <p:nvSpPr>
          <p:cNvPr id="38" name="Oval 37"/>
          <p:cNvSpPr/>
          <p:nvPr/>
        </p:nvSpPr>
        <p:spPr>
          <a:xfrm>
            <a:off x="612648" y="5010912"/>
            <a:ext cx="237744" cy="237744"/>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7</a:t>
            </a:r>
          </a:p>
        </p:txBody>
      </p:sp>
      <p:sp>
        <p:nvSpPr>
          <p:cNvPr id="39" name="TextBox 38"/>
          <p:cNvSpPr txBox="1"/>
          <p:nvPr/>
        </p:nvSpPr>
        <p:spPr>
          <a:xfrm>
            <a:off x="1005840" y="4946904"/>
            <a:ext cx="29260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Official Microsoft Blog</a:t>
            </a:r>
          </a:p>
        </p:txBody>
      </p:sp>
      <p:sp>
        <p:nvSpPr>
          <p:cNvPr id="40" name="TextBox 39"/>
          <p:cNvSpPr txBox="1"/>
          <p:nvPr/>
        </p:nvSpPr>
        <p:spPr>
          <a:xfrm>
            <a:off x="1005840" y="5157216"/>
            <a:ext cx="3108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Unified harness across Microsoft agent products</a:t>
            </a:r>
          </a:p>
        </p:txBody>
      </p:sp>
      <p:sp>
        <p:nvSpPr>
          <p:cNvPr id="41" name="TextBox 40"/>
          <p:cNvSpPr txBox="1"/>
          <p:nvPr/>
        </p:nvSpPr>
        <p:spPr>
          <a:xfrm>
            <a:off x="4297680" y="5038344"/>
            <a:ext cx="7299655" cy="182880"/>
          </a:xfrm>
          <a:prstGeom prst="rect">
            <a:avLst/>
          </a:prstGeom>
          <a:noFill/>
        </p:spPr>
        <p:txBody>
          <a:bodyPr wrap="square" lIns="0" tIns="0" rIns="0" bIns="0" anchor="t">
            <a:spAutoFit/>
          </a:bodyPr>
          <a:lstStyle/>
          <a:p>
            <a:pPr algn="l">
              <a:lnSpc>
                <a:spcPct val="100000"/>
              </a:lnSpc>
            </a:pPr>
            <a:r>
              <a:rPr sz="800" b="0" i="0" dirty="0">
                <a:solidFill>
                  <a:srgbClr val="008173"/>
                </a:solidFill>
                <a:latin typeface="Segoe UI"/>
                <a:cs typeface="Segoe UI"/>
              </a:rPr>
              <a:t>blogs.microsoft.com/blog/2026/10/28 · Introducing the Microsoft Copilot harness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Copilot harness for prompt agents</dc:title>
  <dc:subject/>
  <dc:creator/>
  <cp:keywords/>
  <dc:description/>
  <cp:lastModifiedBy/>
  <cp:revision>4</cp:revision>
  <dcterms:created xsi:type="dcterms:W3CDTF">2026-10-29T22:14:43Z</dcterms:created>
  <dcterms:modified xsi:type="dcterms:W3CDTF">2026-10-30T08:13:07Z</dcterms:modified>
  <cp:category/>
</cp:coreProperties>
</file>