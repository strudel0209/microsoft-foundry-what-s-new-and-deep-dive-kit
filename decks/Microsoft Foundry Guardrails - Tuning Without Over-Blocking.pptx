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2E0053-6AD3-4BB1-B286-6F91667728FA}" v="2" dt="2026-10-30T08:18:09.5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936B98DE-C715-4378-8583-78310F4ECA16}"/>
    <pc:docChg chg="modSld">
      <pc:chgData name="" userId="" providerId="" clId="Web-{936B98DE-C715-4378-8583-78310F4ECA16}" dt="2026-10-14T14:09:48.612" v="0" actId="34807"/>
      <pc:docMkLst>
        <pc:docMk/>
      </pc:docMkLst>
      <pc:sldChg chg="modNotesTx">
        <pc:chgData name="" userId="" providerId="" clId="Web-{936B98DE-C715-4378-8583-78310F4ECA16}" dt="2026-10-14T14:09:48.612" v="0" actId="34807"/>
        <pc:sldMkLst>
          <pc:docMk/>
          <pc:sldMk cId="0" sldId="256"/>
        </pc:sldMkLst>
      </pc:sldChg>
      <pc:sldChg chg="modNotesTx">
        <pc:chgData name="" userId="" providerId="" clId="Web-{936B98DE-C715-4378-8583-78310F4ECA16}" dt="2026-10-14T14:09:48.612" v="0" actId="34807"/>
        <pc:sldMkLst>
          <pc:docMk/>
          <pc:sldMk cId="0" sldId="257"/>
        </pc:sldMkLst>
      </pc:sldChg>
      <pc:sldChg chg="modNotesTx">
        <pc:chgData name="" userId="" providerId="" clId="Web-{936B98DE-C715-4378-8583-78310F4ECA16}" dt="2026-10-14T14:09:48.612" v="0" actId="34807"/>
        <pc:sldMkLst>
          <pc:docMk/>
          <pc:sldMk cId="0" sldId="258"/>
        </pc:sldMkLst>
      </pc:sldChg>
      <pc:sldChg chg="modNotesTx">
        <pc:chgData name="" userId="" providerId="" clId="Web-{936B98DE-C715-4378-8583-78310F4ECA16}" dt="2026-10-14T14:09:48.612" v="0" actId="34807"/>
        <pc:sldMkLst>
          <pc:docMk/>
          <pc:sldMk cId="0" sldId="259"/>
        </pc:sldMkLst>
      </pc:sldChg>
      <pc:sldChg chg="modNotesTx">
        <pc:chgData name="" userId="" providerId="" clId="Web-{936B98DE-C715-4378-8583-78310F4ECA16}" dt="2026-10-14T14:09:48.612" v="0" actId="34807"/>
        <pc:sldMkLst>
          <pc:docMk/>
          <pc:sldMk cId="0" sldId="260"/>
        </pc:sldMkLst>
      </pc:sldChg>
      <pc:sldChg chg="modNotesTx">
        <pc:chgData name="" userId="" providerId="" clId="Web-{936B98DE-C715-4378-8583-78310F4ECA16}" dt="2026-10-14T14:09:48.612" v="0" actId="34807"/>
        <pc:sldMkLst>
          <pc:docMk/>
          <pc:sldMk cId="0" sldId="261"/>
        </pc:sldMkLst>
      </pc:sldChg>
      <pc:sldChg chg="modNotesTx">
        <pc:chgData name="" userId="" providerId="" clId="Web-{936B98DE-C715-4378-8583-78310F4ECA16}" dt="2026-10-14T14:09:48.612" v="0" actId="34807"/>
        <pc:sldMkLst>
          <pc:docMk/>
          <pc:sldMk cId="0" sldId="262"/>
        </pc:sldMkLst>
      </pc:sldChg>
      <pc:sldChg chg="modNotesTx">
        <pc:chgData name="" userId="" providerId="" clId="Web-{936B98DE-C715-4378-8583-78310F4ECA16}" dt="2026-10-14T14:09:48.612" v="0" actId="34807"/>
        <pc:sldMkLst>
          <pc:docMk/>
          <pc:sldMk cId="0" sldId="263"/>
        </pc:sldMkLst>
      </pc:sldChg>
      <pc:sldChg chg="modNotesTx">
        <pc:chgData name="" userId="" providerId="" clId="Web-{936B98DE-C715-4378-8583-78310F4ECA16}" dt="2026-10-14T14:09:48.612" v="0" actId="34807"/>
        <pc:sldMkLst>
          <pc:docMk/>
          <pc:sldMk cId="0" sldId="264"/>
        </pc:sldMkLst>
      </pc:sldChg>
      <pc:sldChg chg="modNotesTx">
        <pc:chgData name="" userId="" providerId="" clId="Web-{936B98DE-C715-4378-8583-78310F4ECA16}" dt="2026-10-14T14:09:48.612" v="0" actId="34807"/>
        <pc:sldMkLst>
          <pc:docMk/>
          <pc:sldMk cId="0" sldId="265"/>
        </pc:sldMkLst>
      </pc:sldChg>
      <pc:sldChg chg="modNotesTx">
        <pc:chgData name="" userId="" providerId="" clId="Web-{936B98DE-C715-4378-8583-78310F4ECA16}" dt="2026-10-14T14:09:48.612" v="0" actId="34807"/>
        <pc:sldMkLst>
          <pc:docMk/>
          <pc:sldMk cId="0" sldId="266"/>
        </pc:sldMkLst>
      </pc:sldChg>
      <pc:sldChg chg="modNotesTx">
        <pc:chgData name="" userId="" providerId="" clId="Web-{936B98DE-C715-4378-8583-78310F4ECA16}" dt="2026-10-14T14:09:48.612" v="0" actId="34807"/>
        <pc:sldMkLst>
          <pc:docMk/>
          <pc:sldMk cId="0" sldId="267"/>
        </pc:sldMkLst>
      </pc:sldChg>
      <pc:sldChg chg="modNotesTx">
        <pc:chgData name="" userId="" providerId="" clId="Web-{936B98DE-C715-4378-8583-78310F4ECA16}" dt="2026-10-14T14:09:48.612" v="0" actId="34807"/>
        <pc:sldMkLst>
          <pc:docMk/>
          <pc:sldMk cId="0" sldId="268"/>
        </pc:sldMkLst>
      </pc:sldChg>
      <pc:sldChg chg="modNotesTx">
        <pc:chgData name="" userId="" providerId="" clId="Web-{936B98DE-C715-4378-8583-78310F4ECA16}" dt="2026-10-14T14:09:48.612" v="0" actId="34807"/>
        <pc:sldMkLst>
          <pc:docMk/>
          <pc:sldMk cId="0" sldId="269"/>
        </pc:sldMkLst>
      </pc:sldChg>
    </pc:docChg>
  </pc:docChgLst>
  <pc:docChgLst>
    <pc:chgData clId="Web-{9F2E0053-6AD3-4BB1-B286-6F91667728FA}"/>
    <pc:docChg chg="modSld">
      <pc:chgData name="" userId="" providerId="" clId="Web-{9F2E0053-6AD3-4BB1-B286-6F91667728FA}" dt="2026-10-30T08:18:09.535" v="1" actId="34807"/>
      <pc:docMkLst>
        <pc:docMk/>
      </pc:docMkLst>
      <pc:sldChg chg="delSp">
        <pc:chgData name="" userId="" providerId="" clId="Web-{9F2E0053-6AD3-4BB1-B286-6F91667728FA}" dt="2026-10-30T08:18:09.238" v="0" actId="34807"/>
        <pc:sldMkLst>
          <pc:docMk/>
          <pc:sldMk cId="0" sldId="256"/>
        </pc:sldMkLst>
        <pc:spChg chg="del">
          <ac:chgData name="" userId="" providerId="" clId="Web-{9F2E0053-6AD3-4BB1-B286-6F91667728FA}" dt="2026-10-30T08:18:09.238" v="0" actId="34807"/>
          <ac:spMkLst>
            <pc:docMk/>
            <pc:sldMk cId="0" sldId="256"/>
            <ac:spMk id="14" creationId="{00000000-0000-0000-0000-000000000000}"/>
          </ac:spMkLst>
        </pc:spChg>
      </pc:sldChg>
      <pc:sldChg chg="modSp">
        <pc:chgData name="" userId="" providerId="" clId="Web-{9F2E0053-6AD3-4BB1-B286-6F91667728FA}" dt="2026-10-30T08:18:09.535" v="1" actId="34807"/>
        <pc:sldMkLst>
          <pc:docMk/>
          <pc:sldMk cId="0" sldId="261"/>
        </pc:sldMkLst>
        <pc:spChg chg="mod">
          <ac:chgData name="" userId="" providerId="" clId="Web-{9F2E0053-6AD3-4BB1-B286-6F91667728FA}" dt="2026-10-30T08:18:09.535" v="1" actId="34807"/>
          <ac:spMkLst>
            <pc:docMk/>
            <pc:sldMk cId="0" sldId="261"/>
            <ac:spMk id="25" creationId="{00000000-0000-0000-0000-000000000000}"/>
          </ac:spMkLst>
        </pc:spChg>
      </pc:sldChg>
      <pc:sldChg chg="modSp">
        <pc:chgData name="" userId="" providerId="" clId="Web-{9F2E0053-6AD3-4BB1-B286-6F91667728FA}" dt="2026-10-30T08:18:09.535" v="1" actId="34807"/>
        <pc:sldMkLst>
          <pc:docMk/>
          <pc:sldMk cId="0" sldId="269"/>
        </pc:sldMkLst>
        <pc:spChg chg="mod">
          <ac:chgData name="" userId="" providerId="" clId="Web-{9F2E0053-6AD3-4BB1-B286-6F91667728FA}" dt="2026-10-30T08:18:09.535" v="1" actId="34807"/>
          <ac:spMkLst>
            <pc:docMk/>
            <pc:sldMk cId="0" sldId="269"/>
            <ac:spMk id="3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915448-D9A5-4218-8B1C-61F0674FF8C4}" type="datetimeFigureOut">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66F449-F41F-4034-807D-8461A3750F79}" type="slidenum">
              <a:t>‹#›</a:t>
            </a:fld>
            <a:endParaRPr lang="en-US"/>
          </a:p>
        </p:txBody>
      </p:sp>
    </p:spTree>
    <p:extLst>
      <p:ext uri="{BB962C8B-B14F-4D97-AF65-F5344CB8AC3E}">
        <p14:creationId xmlns:p14="http://schemas.microsoft.com/office/powerpoint/2010/main" val="1246237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session covers guardrail tuning in Microsoft Foundry, and one practical problem in particular: a guardrail that blocks too much is as much a production blocker as one that blocks too little, and most teams cannot tell which of the two they have.
The session is aimed at solution architects, developers, and responsible AI and security teams. The scope is the content-harm guardrails on model deployments and the built-in content safety evaluators. Sources were verified on 11 October 2026 against the official Microsoft documentation and a measured test run.
Foundry provides two content-safety mechanisms.
First, the runtime guardrail.
It sits in the request path and can block a request or a response.
Second, the risk and safety evaluators.
They run afterwards and score the responses. The important distinction is that the two mechanisms use different scales and never see each other's results, so neither one answers the tuning question on its own.
The plan follows from that. We begin with the two layers and how each one works. We then look at how the guardrail reports its decisions in the API, followed by the evaluator output and a side-by-side comparison of both layers.
The second half is a measured test: one synthetic question set sent through both layers, three guardrail configurations and two model deployments, and what the numbers say about tuning per category. The test code is public in the foundry-content-safety-eval repository on GitHub.
A common question is whether this session is about turning guardrails off. It is not: it is about choosing the least restrictive setting that still keeps measured risk within what the workload accepts.
The overall narrative is simple: enforcement and measurement are separate layers, and only when the same questions pass through both can over-blocking be told apart from missed risk.</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Today we will look at guardrail tuning in five parts, from the two safety layers to measured tuning guidance.
The order matters, because the tuning recommendations at the end only make sense once the two layers are clearly separated. One thread runs through all five parts: one question set, two layers, and the same verdict recorded by each.
We begin with the two safety layers, on slide 3. This part places both layers on one diagram: the guardrail in the request path and the evaluators after the response, showing where each layer runs and what it can see.
We then examine the runtime guardrail itself, on slides 4 to 6. This covers what a control is, how the severity thresholds work, including a naming trap between the portal and the API, and how decisions come back in the Responses API.
The third section, on slides 7 and 8, covers the safety evaluators: the evaluator output, and a comparison that puts both layers side by side.
The fourth section, on slides 9 to 12, is the experiment. The same synthetic questions go through a cloud evaluation run and through direct replay against the deployment, so each question ends up with two verdicts. Those verdicts form an agreement matrix, and the matrix is what makes it possible to discuss unnecessary blocking and missed risk with numbers. This section covers the test design, the agreement matrix and the results.
We close with tuning guidance on slides 13 and 14. This part turns the numbers into a tuning procedure, lists the limitations of the test honestly, and gives the sources.
A common question is how long the measurement takes to repeat. Once the dataset exists, a rerun is one evaluation run plus one replay per configuration, which typically takes minutes, not days.
The overall narrative is simple: separate the two layers, understand how each one reports, measure both against the same questions, and then tune with evidence.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two content safety layers on one diagram, and it is the frame for the whole session. Read it as two lanes: the runtime path at the top and evaluation at the bottom.
The core idea is that a guardrail acts in the request path, while risk and safety evaluators score responses afterwards.
First, the runtime lane, steps one to four.
In step one, the client application sends a request. In step two, the guardrail checks the user input and either passes it to the model or rejects it. In step three, the model deployment generates the answer. In step four, the guardrail checks that output and either returns it or blocks it. For agents, the guardrail can also check tool calls and tool responses, in preview.
Second, the evaluation lane, steps five to seven.
In step five, a test dataset of questions, with optional answers, feeds an evaluation run. In step six, the run sends each response to the risk and safety evaluators, which are Microsoft-hosted models that need no judge deployment. In step seven, each response receives a severity score from zero to seven, a pass or fail verdict and a written reason.
Third, the dashed line between the lanes.
When the run uses a live target, it calls the deployment, so the deployment's guardrail is in the path, and anything it blocks never reaches an evaluator. When the run scores stored responses instead, the model is not called at all.
The three cards at the bottom state the consequence. The guardrail question is what was stopped, at which point and at what severity. The evaluator question is how much risk remains in the responses that were returned. The shared blind spot is that a guardrail cannot judge its own blocks, and an evaluator never sees them.
A common question is whether an evaluator result can change the guardrail. It cannot: there is no link between the two, and they are configured and read separately.
The key takeaway is that each layer answers a different question, and neither one can see what the other one decided.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the anatomy of a guardrail control. Read the formula at the top first, then the intervention points, then the table of risks.
The core idea is that a guardrail in Microsoft Foundry is a named collection of controls, and each control answers three questions: which risk to detect, where to look for it, and what to do when it is found.
First, the intervention points.
There are four. User input and output apply to models and agents. Tool call and tool response apply to agents only and are in preview, as is the whole agent guardrail capability.
Second, the risks.
The four content-harm categories, hate, sexual, violence and self-harm, run on user input and output. User prompt attacks, also called jailbreak, are only meaningful on user input. Indirect attacks look at document content and, for agents, at tool responses. Protected material, for text and code, is checked on the output. Spotlighting, in preview, applies to document content in user input, for models only. Groundedness, personally identifiable information and task adherence controls are also available in preview, as are custom blocklists.
Third, the actions and assignment rules.
There are two actions. Annotate applies to models only, and approval may apply. Annotate and block applies to models and to agents. By default, models use Microsoft.DefaultV2. Two details catch teams out. An agent's own guardrail fully overrides the guardrail of its model deployment; without one, the agent inherits the model's. And the content-harm controls on input and output cannot be deleted, only overridden with a different threshold.
Preview items carry no service level agreement. Because preview coverage changes, the intervention points per risk for agents should be confirmed on the intervention points page before presenting.
A common question is whether one guardrail can serve several deployments. It can: one guardrail can be assigned to many models and agents in a project.
The key takeaway is that every control is a combination of risk, intervention point and action, and that an agent's own guardrail replaces the model's rather than adding to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the severity thresholds and blocking levels, and a naming trap that costs customers hours. Read the table from left to right, from the setting that blocks less content to the setting that blocks more.
The core idea is that each content-harm control blocks from a chosen severity upwards, and safe content is never blocked.
First, the API threshold.
It is named after the lowest severity that triggers a block. A threshold of Low blocks low, medium and high content, so it blocks the most. A threshold of High blocks only high-severity content, so it blocks the least.
Second, the portal setting.
The portal slider is named after the outcome instead: highest blocking corresponds to the API threshold Low, and lowest blocking to High. The two scales run in opposite directions. The severity table on the guardrails overview page adds to the confusion by calling Low least restrictive, although in behaviour Low blocks the most content. The safe approach is to rely on the behaviour, not the label, and always to name both, for example highest blocking, which is threshold Low.
Third, the settings that do not block.
Turning detection off requires approval for modified guardrails. Annotate only keeps detection running and returns annotations without blocking; for completions on Azure OpenAI models it also requires approval. In every setting other than off, all severities are returned as annotations.
Fourth, safe content.
It is always annotated, never blocked, and this is not configurable.
The portal labels were read from the Foundry portal during the test, and the documentation describes the direction inconsistently, so the labels should be confirmed on the day before presenting.
A common question is what the default is. The default configuration filters at medium for prompts and completions in all four categories.
The key takeaway is to describe a setting by what it blocks, and to state both the portal label and the API threshold whenever a configuration is discussed.</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how guardrail results come back in the Responses API. Read the abridged example on the left with the three numbered fields on the right.
The core idea is that each response lists where a check ran, whether it blocked, and the category and severity behind it, in a top-level array called content_filters.
First, source_type.
It states where the check was applied. Prompt means the user input, and completion means the model output.
Second, blocked.
It states whether the content was stopped. In this example, the prompt passed and the completion was blocked, so the user received nothing of that answer.
Third, content_filter_results.
It explains why the guardrail acted. For each category, it holds the severity the content was rated, safe, low, medium or high, and whether that rating caused a block through the filtered flag.
Three handling details then matter in application code.
A blocked input does not return this structure at all. It fails with HTTP 400 and the code content_filter, which carries no category detail, so input blocks are harder to diagnose than output blocks.
The content_filters array is a Microsoft Foundry extension to the OpenAI schema, so the Python SDK exposes it through model_extra.
And in the test, blocked completions sometimes returned an empty results object, so the application should log the block itself, not only the categories.
A common question is what the application should log. On every call, it should record the guardrail name, the checkpoint, the blocked flag, the category and the severity. That is the evidence needed later to tell protection from over-blocking.
The key takeaway is that the guardrail decision is only useful if the client application records it on every call, including blocks that arrive without category detail.</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output of the second layer, the risk and safety evaluators. Read the evaluator result on the left, the severity scale in the middle and the list of evaluators on the right.
The core idea is that each response receives a severity score from zero to seven per category, a verdict against a threshold, and a written reason.
First, where the evaluators run.
They run in the Foundry Evaluation service on Microsoft-hosted safety models, need no judge deployment, and never change production behaviour.
Second, the score and the threshold.
For the four content-safety evaluators, every response gets a severity score per category: zero to one is very low, two to three low, four to five medium, and six to seven high. The result passes when the score is at or below the threshold, which defaults to three, and fails above it. The important distinction is that the threshold is a parameter of the evaluation run, not of the deployment, so the same scores can produce a different pass rate under a different threshold. That is why a defect rate should always be reported together with its threshold.
Third, the reason field.
It justifies each score and is the fastest way to triage a surprising result.
Fourth, the other risk and safety evaluators.
Protected material, indirect attack, code vulnerability, ungrounded attributes, prohibited actions and sensitive data leakage return pass or fail only. Indirect attack applies to models only. Prohibited actions and sensitive data leakage are in preview, with no service level agreement, and apply to agents only.
A common question is whether these are the same classifiers as the guardrail. They are not: they share the harm category names, but they are a different mechanism with a different scale and a different purpose, as the next slide shows.
The key takeaway is that an evaluator result is a score judged against a run-level threshold, so a pass rate means nothing without the threshold that produced it.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guardrails and evaluators, the two things customers most often confuse in this area. Read the table row by row: every row asks the same question of both layers.
The core idea is that the two layers share the harm category names but differ in scale, in timing and in effect.
First, when each layer runs and what it does.
The guardrail runs on every call inside the request path and can block; a blocked answer never reaches the user. It inspects user input and output, and for agents tool calls and tool responses, in preview. The evaluator runs later, as an evaluation run, on the returned responses, and only reports, so production behaviour is unchanged.
Second, the scale.
The guardrail speaks in four severity levels, safe, low, medium and high, with a filtered flag. The evaluator speaks in a zero-to-seven score, with a pass or fail against a threshold that defaults to three.
Third, where each layer is configured.
A guardrail is attached to a deployment or an agent, and for testing it can be overridden per request with the x-policy-id header. The evaluator threshold belongs to the run, as an analysis parameter.
Fourth, latency.
The guardrail adds roughly fifty to one hundred milliseconds per intervention point, which matters for high-throughput workloads. The evaluator adds nothing to production traffic.
Fifth, what each layer cannot show.
This last row is the reason for the experiment. The guardrail cannot show whether a block was correct, and the evaluator cannot show anything the guardrail blocked. Each layer is blind exactly where the other one acts.
A common question is whether the evaluator can replace the guardrail in production. It cannot: it does not stop anything, it measures. It should be used to choose and confirm the guardrail setting, not instead of it.
The key takeaway is that enforcement and measurement are complementary, and the relationship becomes visible only when the same question carries a verdict from each.</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test design. Read the five numbered steps from left to right, then the three cards below them.
The core idea is that one synthetic question set is sent through both layers, and the results are joined question by question. This turns the blind spot from the comparison slide into numbers.
First, question design.
The questions are designed across four harm categories and four intent levels.
Second, the synthetic dataset.
One synthetic dataset is generated once from that brief and versioned, so every later run reuses exactly the same questions.
Third, the fork into two paths.
The same questions go into a cloud evaluation run, where Foundry calls the deployment and four content safety evaluators score the answers on the zero-to-seven scale. They also go into a direct replay through the Responses API, where the guardrail's own content_filters annotations are read.
Fourth, the join.
Both results are joined on deployment and question text.
Fifth, the agreement matrix.
The join produces two verdicts per pair, which form the agreement matrix on the next slide.
The cards below set the scope. The test used two model deployments, gpt-5.4-mini and gpt-5.6-sol, for 266 question-and-model pairs in total, 133 per deployment. Three guardrail configurations, HighestBlocking, MediumBlocking and LowestBlocking, were swapped between runs over the same questions. The x-policy-id header could do the swap per request instead, except for image input. Every exported result carries the name of the guardrail in effect, so runs stay comparable instead of overwriting each other.
The documentation changed during October 2026, so the preview status of synthetic dataset generation and of the synthetic data source for cloud evaluation should be confirmed on the day before presenting.
A common question is why the test uses synthetic data. It gives controlled coverage before real traffic exists, but it still needs human review before it drives a decision.
The key takeaway is that a fixed, versioned question set sent through both layers is what makes the two verdicts comparable.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agreement matrix, the guardrail verdict against the evaluator verdict, counted per configuration over 266 question-and-model pairs. Read the rows as the guardrail verdict, blocked or allowed, and the columns as the evaluator verdict, passed or failed.
The core idea is that each pair ends up in exactly one of four cells. Each cell holds three counts, one per configuration, in the order HighestBlocking, MediumBlocking and LowestBlocking, and for each configuration the four cells sum to 266.
First, blocked unnecessarily, the top-left cell.
This is the cell the session title refers to: blocked, although the evaluator found nothing wrong. Under HighestBlocking that was 57 of 266 pairs, under MediumBlocking 16, and under LowestBlocking 8.
Second, blocked correctly, the top-right cell.
Blocked and failed, the intended protection, holds only 5 pairs under the strictest setting and 0 under the other two.
Third, allowed correctly, the bottom-left cell.
Allowed with no harm found: 179, 222 and 232.
Fourth, missed risk, the bottom-right cell.
This is the opposite failure: allowed, but the evaluator recorded a failure. It stays almost flat at 25, 28 and 26 across the three settings.
Two cautions apply. The top-left cell is a proxy for over-blocking, not proof. It is a strong signal without hand-labelling, but not a measurement of a wrong block, because the evaluator scored a separate generation of the same question: the replay and the evaluation run each called the model independently. And the counts come from one run per configuration; replay is not deterministic, so small differences are within noise.
A common question is whether the answers should be labelled by hand. For the final decision they should; the matrix identifies which few dozen cases deserve that human review.
The key takeaway is that relaxing the guardrail sharply reduced the over-blocking proxy, from 57 to 16 to 8, while missed risk stayed almost flat.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compares the results by guardrail configuration, against the same 266 question-and-model pairs. Read the three cards at the top, then the bar chart, then the table by deployment.
The core idea is that relaxing the guardrail removed most of the blocks, while the share of responses that failed evaluation barely moved.
First, HighestBlocking.
The guardrail blocked 62 of 266 pairs, 23.3 per cent, and 57 of those blocks were pairs where the evaluator found nothing wrong. Missed risk was 25, and 30 responses failed evaluation.
Second, MediumBlocking.
Blocks dropped to 16, or 6.0 per cent, with 16 blocked unnecessarily, 28 missed risk and 28 failed evaluations.
Third, LowestBlocking.
Blocks dropped to 8, or 3.0 per cent, with 8 blocked unnecessarily, 26 missed risk and 26 failed evaluations.
Fourth, the bar chart.
The important comparison is the second bar in each group, the failed evaluations, at 11.3, 10.5 and 9.8 per cent of 266 pairs, against blocks at 23.3, 6.0 and 3.0 per cent. Relaxing from highest to medium removed 46 of 62 blocks while failed evaluations moved only from 30 to 28, so the measured residual risk stayed essentially where it was.
Fifth, the split by deployment, with 133 pairs per deployment.
Both models were blocked at similar rates under each configuration: 29, 8 and 4 for gpt-5.4-mini, and 33, 8 and 4 for gpt-5.6-sol. However, gpt-5.6-sol produced more responses that failed evaluation, 17, 17 and 14, than gpt-5.4-mini, at 13, 11 and 12, so model choice moved residual risk more than the guardrail setting did.
The caveats are one run per configuration, synthetic questions, and replay that varies between runs by a few percentage points. These results are a method and an order of magnitude, not a benchmark.
A common question is whether every customer should therefore use MediumBlocking. Not by default: the same measurement should be run on the customer's own questions, and the next slide shows why the answer is per category.
The key takeaway is that a stricter guardrail mostly added blocks, not protection, in this test.</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shows the results by harm category: which category caused the blocks and at what severity. Read the table first, then the figures and findings. The counts combine both deployments.
The core idea is that most blocks under HighestBlocking were triggered at low severity, and a few categories account for most of them.
First, the table.
Under HighestBlocking there were 62 blocks: 41 at low severity, 9 at medium and 12 at high. Under MediumBlocking there were 16. Self-harm produced 33 blocks, 26 low, 7 medium and 0 high, and 5 under MediumBlocking. Sexual produced 19, with 6 low, 1 medium and 12 high, and 10 under MediumBlocking. Hate produced 5, all low, and 0 under MediumBlocking. Violence produced 5, with 4 low and 1 medium, and 1 under MediumBlocking.
Second, the three figures.
41 of the 62 blocks were triggered at low severity, and MediumBlocking, which does not block low severity, removed all of them. 58 of 62 blocks happened on the model output, not on the user input; output blocks come back with category detail, input blocks as an HTTP 400 without it. And under MediumBlocking, 49 non-safe detections were annotated but not blocked, a reminder that detection and blocking are separate outcomes.
Third, the four findings.
Hate produced five blocks, all at low severity and none under MediumBlocking, so it is the clearest candidate for a threshold change. Sexual produced twelve high-severity blocks that persist under MediumBlocking; that is content the guardrail is meant to stop. Self-harm produced more than half of all blocks, 33 of 62, mostly at low severity, so a change there has the largest effect. And whichever category changes, the change should cover one category at one checkpoint, with every other threshold held fixed, because a per-category change can be attributed and a change to all categories at once cannot.
A common question is why self-harm is so dominant. In this question set, low-severity self-harm language appeared in supportive answers; the reason fields on the customer's own data should be checked before generalising.
The key takeaway is that tuning should be done per category, starting where blocks are driven by low severity.</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tuning guidance on the left and the limitations of these results on the right.
The core idea is that the goal is the least restrictive setting that still keeps measured risk within what the workload accepts, confirmed with evidence from both layers.
First, start from a measured baseline.
In this test, MediumBlocking blocked 16 of 266 pairs instead of 62, while failed evaluations went from 30 to 28.
Second, change one category at a time.
Self-harm and hate accounted for 38 of the 62 blocks under HighestBlocking, 31 of them at low severity.
Third, measure before enforcing.
Annotate-only returns the annotations without blocking, so operators can see what a setting would stop before it stops anything. For completions, this needs approval for modified guardrails.
Fourth, keep a configuration record.
The full configuration is recorded with every result: the guardrail name, the thresholds per category and checkpoint, the evaluator threshold, the dataset version, the deployment and the run date.
Fifth, rerun the same question set after each change.
The same versioned question set is rerun after every change, because results from different question sets or dataset versions are not comparable.
The documented best practice is to start restrictive, test before production and measure after every change; this procedure is how to relax with evidence.
The limitations on the right are real. Synthetic questions and answers need human review before they drive a configuration decision. Data generation and evaluation run only in supported regions. The two layers judged separate answers, so an evaluator result does not measure whether a blocked answer was safe. And replay is not deterministic, so small differences between settings are inconclusive.
A common question is who owns this decision. It belongs to the workload owner together with the responsible AI reviewer; the measurement makes it a product decision instead of a guess.
The key takeaway is to relax a guardrail one category at a time, with the same question set and a full configuration record behind every change.</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lists the references behind the deck and the feature status at the edition date.
The core idea is that every statement in the deck traces to an official documentation page or to the reference implementation that produced the numbers.
First, the official documentation.
These are the pages behind every statement in the deck, all fetched on 11 October 2026: the guardrails overview, configuring guardrails and controls, harm categories and severity levels, guardrails in the Responses API, the risk and safety evaluators, cloud evaluation, and the synthetic evaluation dataset.
Second, the reference implementation.
The foundry-content-safety-eval repository on GitHub produced the numbers. It contains the notebook, the configuration and the exported results tagged by guardrail name, so the measurement can be rerun on a customer's own question set.
Third, the status at edition date.
Guardrails for models, the content-harm controls, Prompt Shields, the risk and safety evaluators and the content_filters field in the Responses API are generally available. Agent guardrails, including the tool call and tool response intervention points, are in preview, as are spotlighting, groundedness, personally identifiable information and task adherence controls, and the synthetic data source used inside a cloud evaluation run. Preview items carry no service level agreement.
Two status points remain open. The synthetic evaluation dataset generation page lost its preview label on 8 October 2026, while the evaluation data source type still carries a preview name, so whether standalone generation is still labelled preview should be confirmed before presenting. The severity table and the portal also describe the blocking direction differently, so the portal blocking labels should be confirmed before presenting.
A common question is where to start with a customer. The starting point is step one of the tuning procedure, on the customer's own fifty to one hundred representative questions, run in a non-production project.
The key takeaway is that the method and the code are public, so the measurement can be repeated on customer data rather than taken from this test.</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789920" cy="658368"/>
          </a:xfrm>
          <a:prstGeom prst="rect">
            <a:avLst/>
          </a:prstGeom>
          <a:noFill/>
        </p:spPr>
        <p:txBody>
          <a:bodyPr wrap="none" lIns="0" tIns="0" rIns="0" bIns="0" anchor="t">
            <a:spAutoFit/>
          </a:bodyPr>
          <a:lstStyle/>
          <a:p>
            <a:pPr algn="l">
              <a:lnSpc>
                <a:spcPct val="100000"/>
              </a:lnSpc>
            </a:pPr>
            <a:r>
              <a:rPr sz="3600" b="1" i="0" dirty="0">
                <a:solidFill>
                  <a:srgbClr val="FFFFFF"/>
                </a:solidFill>
                <a:latin typeface="Segoe UI"/>
                <a:cs typeface="Segoe UI"/>
              </a:rPr>
              <a:t>Guardrail tuning without over-blocking</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Runtime guardrails and risk and safety evaluators measured against one question set,</a:t>
            </a:r>
          </a:p>
          <a:p>
            <a:pPr algn="l">
              <a:lnSpc>
                <a:spcPct val="132000"/>
              </a:lnSpc>
            </a:pPr>
            <a:r>
              <a:rPr sz="1450" b="0" i="0" dirty="0">
                <a:solidFill>
                  <a:srgbClr val="B9C2D6"/>
                </a:solidFill>
                <a:latin typeface="Segoe UI"/>
                <a:cs typeface="Segoe UI"/>
              </a:rPr>
              <a:t>to separate unnecessary blocking from missed risk</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developers,</a:t>
            </a:r>
          </a:p>
          <a:p>
            <a:pPr algn="l">
              <a:lnSpc>
                <a:spcPct val="128000"/>
              </a:lnSpc>
            </a:pPr>
            <a:r>
              <a:rPr sz="950" b="0" i="0" dirty="0">
                <a:solidFill>
                  <a:srgbClr val="B9C2D6"/>
                </a:solidFill>
                <a:latin typeface="Segoe UI"/>
                <a:cs typeface="Segoe UI"/>
              </a:rPr>
              <a:t>responsible AI and security teams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Content-harm guardrails on model deployments</a:t>
            </a:r>
          </a:p>
          <a:p>
            <a:pPr algn="l">
              <a:lnSpc>
                <a:spcPct val="128000"/>
              </a:lnSpc>
            </a:pPr>
            <a:r>
              <a:rPr sz="950" b="0" i="0" dirty="0">
                <a:solidFill>
                  <a:srgbClr val="B9C2D6"/>
                </a:solidFill>
                <a:latin typeface="Segoe UI"/>
                <a:cs typeface="Segoe UI"/>
              </a:rPr>
              <a:t>and built-in content safety evaluators</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11 October 2026 — official Microsoft</a:t>
            </a:r>
          </a:p>
          <a:p>
            <a:pPr algn="l">
              <a:lnSpc>
                <a:spcPct val="128000"/>
              </a:lnSpc>
            </a:pPr>
            <a:r>
              <a:rPr sz="950" b="0" i="0" dirty="0">
                <a:solidFill>
                  <a:srgbClr val="B9C2D6"/>
                </a:solidFill>
                <a:latin typeface="Segoe UI"/>
                <a:cs typeface="Segoe UI"/>
              </a:rPr>
              <a:t>documentation and a measured test run</a:t>
            </a:r>
          </a:p>
        </p:txBody>
      </p:sp>
      <p:sp>
        <p:nvSpPr>
          <p:cNvPr id="15" name="TextBox 14"/>
          <p:cNvSpPr txBox="1"/>
          <p:nvPr/>
        </p:nvSpPr>
        <p:spPr>
          <a:xfrm>
            <a:off x="8412480" y="5897880"/>
            <a:ext cx="2864815" cy="182880"/>
          </a:xfrm>
          <a:prstGeom prst="rect">
            <a:avLst/>
          </a:prstGeom>
          <a:noFill/>
        </p:spPr>
        <p:txBody>
          <a:bodyPr wrap="square" lIns="0" tIns="0" rIns="0" bIns="0" anchor="t">
            <a:spAutoFit/>
          </a:bodyPr>
          <a:lstStyle/>
          <a:p>
            <a:pPr algn="r">
              <a:lnSpc>
                <a:spcPct val="100000"/>
              </a:lnSpc>
            </a:pPr>
            <a:r>
              <a:rPr sz="950" b="0" i="0" dirty="0">
                <a:solidFill>
                  <a:srgbClr val="B9C2D6"/>
                </a:solidFill>
                <a:latin typeface="Segoe UI"/>
                <a:cs typeface="Segoe UI"/>
              </a:rPr>
              <a:t>October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AGENDA</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Session structure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Five parts, from the two safety layers to measured tuning guidance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learn.microsoft.com/azure/foundry/guardrails/guardrails-overview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2</a:t>
            </a:r>
          </a:p>
        </p:txBody>
      </p:sp>
      <p:sp>
        <p:nvSpPr>
          <p:cNvPr id="7" name="Rectangle 6"/>
          <p:cNvSpPr/>
          <p:nvPr/>
        </p:nvSpPr>
        <p:spPr>
          <a:xfrm>
            <a:off x="457200" y="1600200"/>
            <a:ext cx="2112264" cy="283464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600200"/>
            <a:ext cx="2112264" cy="45720"/>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58368" y="1874519"/>
            <a:ext cx="1746504" cy="548640"/>
          </a:xfrm>
          <a:prstGeom prst="rect">
            <a:avLst/>
          </a:prstGeom>
          <a:noFill/>
        </p:spPr>
        <p:txBody>
          <a:bodyPr wrap="square" lIns="0" tIns="0" rIns="0" bIns="0" anchor="t">
            <a:spAutoFit/>
          </a:bodyPr>
          <a:lstStyle/>
          <a:p>
            <a:pPr algn="l">
              <a:lnSpc>
                <a:spcPct val="100000"/>
              </a:lnSpc>
            </a:pPr>
            <a:r>
              <a:rPr sz="3000" b="1" i="0" dirty="0">
                <a:solidFill>
                  <a:srgbClr val="00B39F"/>
                </a:solidFill>
                <a:latin typeface="Segoe UI"/>
                <a:cs typeface="Segoe UI"/>
              </a:rPr>
              <a:t>01</a:t>
            </a:r>
          </a:p>
        </p:txBody>
      </p:sp>
      <p:sp>
        <p:nvSpPr>
          <p:cNvPr id="10" name="TextBox 9"/>
          <p:cNvSpPr txBox="1"/>
          <p:nvPr/>
        </p:nvSpPr>
        <p:spPr>
          <a:xfrm>
            <a:off x="658368" y="2651760"/>
            <a:ext cx="1746504" cy="274320"/>
          </a:xfrm>
          <a:prstGeom prst="rect">
            <a:avLst/>
          </a:prstGeom>
          <a:noFill/>
        </p:spPr>
        <p:txBody>
          <a:bodyPr wrap="square" lIns="0" tIns="0" rIns="0" bIns="0" anchor="t">
            <a:spAutoFit/>
          </a:bodyPr>
          <a:lstStyle/>
          <a:p>
            <a:pPr algn="l">
              <a:lnSpc>
                <a:spcPct val="100000"/>
              </a:lnSpc>
            </a:pPr>
            <a:r>
              <a:rPr sz="1300" b="1" i="0" dirty="0">
                <a:solidFill>
                  <a:srgbClr val="101A3C"/>
                </a:solidFill>
                <a:latin typeface="Segoe UI"/>
                <a:cs typeface="Segoe UI"/>
              </a:rPr>
              <a:t>Two safety layers</a:t>
            </a:r>
          </a:p>
        </p:txBody>
      </p:sp>
      <p:sp>
        <p:nvSpPr>
          <p:cNvPr id="11" name="TextBox 10"/>
          <p:cNvSpPr txBox="1"/>
          <p:nvPr/>
        </p:nvSpPr>
        <p:spPr>
          <a:xfrm>
            <a:off x="658368" y="3063240"/>
            <a:ext cx="1709928" cy="822960"/>
          </a:xfrm>
          <a:prstGeom prst="rect">
            <a:avLst/>
          </a:prstGeom>
          <a:noFill/>
        </p:spPr>
        <p:txBody>
          <a:bodyPr wrap="square" lIns="0" tIns="0" rIns="0" bIns="0" anchor="t">
            <a:spAutoFit/>
          </a:bodyPr>
          <a:lstStyle/>
          <a:p>
            <a:pPr algn="l">
              <a:lnSpc>
                <a:spcPct val="120000"/>
              </a:lnSpc>
            </a:pPr>
            <a:r>
              <a:rPr sz="950" b="0" i="0" dirty="0">
                <a:solidFill>
                  <a:srgbClr val="44495B"/>
                </a:solidFill>
                <a:latin typeface="Segoe UI"/>
                <a:cs typeface="Segoe UI"/>
              </a:rPr>
              <a:t>Where each layer runs and what it can see</a:t>
            </a:r>
          </a:p>
        </p:txBody>
      </p:sp>
      <p:cxnSp>
        <p:nvCxnSpPr>
          <p:cNvPr id="12" name="Connector 11"/>
          <p:cNvCxnSpPr/>
          <p:nvPr/>
        </p:nvCxnSpPr>
        <p:spPr>
          <a:xfrm>
            <a:off x="658368" y="3886200"/>
            <a:ext cx="1709928" cy="0"/>
          </a:xfrm>
          <a:prstGeom prst="line">
            <a:avLst/>
          </a:prstGeom>
          <a:ln w="9525">
            <a:solidFill>
              <a:srgbClr val="E1E7F4"/>
            </a:solidFill>
          </a:ln>
        </p:spPr>
      </p:cxnSp>
      <p:sp>
        <p:nvSpPr>
          <p:cNvPr id="13" name="TextBox 12"/>
          <p:cNvSpPr txBox="1"/>
          <p:nvPr/>
        </p:nvSpPr>
        <p:spPr>
          <a:xfrm>
            <a:off x="658368" y="3995928"/>
            <a:ext cx="1746504" cy="201168"/>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Slide 3</a:t>
            </a:r>
          </a:p>
        </p:txBody>
      </p:sp>
      <p:sp>
        <p:nvSpPr>
          <p:cNvPr id="14" name="Rectangle 13"/>
          <p:cNvSpPr/>
          <p:nvPr/>
        </p:nvSpPr>
        <p:spPr>
          <a:xfrm>
            <a:off x="2747772" y="1600200"/>
            <a:ext cx="2112264" cy="2834640"/>
          </a:xfrm>
          <a:prstGeom prst="rect">
            <a:avLst/>
          </a:prstGeom>
          <a:solidFill>
            <a:srgbClr val="F6F8FD"/>
          </a:solidFill>
          <a:ln w="9525">
            <a:solidFill>
              <a:srgbClr val="E1E7F4"/>
            </a:solidFill>
          </a:ln>
          <a:effectLst/>
        </p:spPr>
        <p:txBody>
          <a:bodyPr wrap="square" rtlCol="0" anchor="ctr"/>
          <a:lstStyle/>
          <a:p>
            <a:endParaRPr/>
          </a:p>
        </p:txBody>
      </p:sp>
      <p:sp>
        <p:nvSpPr>
          <p:cNvPr id="15" name="Rectangle 14"/>
          <p:cNvSpPr/>
          <p:nvPr/>
        </p:nvSpPr>
        <p:spPr>
          <a:xfrm>
            <a:off x="2747772" y="1600200"/>
            <a:ext cx="2112264" cy="45720"/>
          </a:xfrm>
          <a:prstGeom prst="rect">
            <a:avLst/>
          </a:prstGeom>
          <a:solidFill>
            <a:srgbClr val="00B39F"/>
          </a:solidFill>
          <a:ln>
            <a:noFill/>
          </a:ln>
          <a:effectLst/>
        </p:spPr>
        <p:txBody>
          <a:bodyPr wrap="square" rtlCol="0" anchor="ctr"/>
          <a:lstStyle/>
          <a:p>
            <a:endParaRPr/>
          </a:p>
        </p:txBody>
      </p:sp>
      <p:sp>
        <p:nvSpPr>
          <p:cNvPr id="16" name="TextBox 15"/>
          <p:cNvSpPr txBox="1"/>
          <p:nvPr/>
        </p:nvSpPr>
        <p:spPr>
          <a:xfrm>
            <a:off x="2948940" y="1874519"/>
            <a:ext cx="1746504" cy="548640"/>
          </a:xfrm>
          <a:prstGeom prst="rect">
            <a:avLst/>
          </a:prstGeom>
          <a:noFill/>
        </p:spPr>
        <p:txBody>
          <a:bodyPr wrap="square" lIns="0" tIns="0" rIns="0" bIns="0" anchor="t">
            <a:spAutoFit/>
          </a:bodyPr>
          <a:lstStyle/>
          <a:p>
            <a:pPr algn="l">
              <a:lnSpc>
                <a:spcPct val="100000"/>
              </a:lnSpc>
            </a:pPr>
            <a:r>
              <a:rPr sz="3000" b="1" i="0" dirty="0">
                <a:solidFill>
                  <a:srgbClr val="00B39F"/>
                </a:solidFill>
                <a:latin typeface="Segoe UI"/>
                <a:cs typeface="Segoe UI"/>
              </a:rPr>
              <a:t>02</a:t>
            </a:r>
          </a:p>
        </p:txBody>
      </p:sp>
      <p:sp>
        <p:nvSpPr>
          <p:cNvPr id="17" name="TextBox 16"/>
          <p:cNvSpPr txBox="1"/>
          <p:nvPr/>
        </p:nvSpPr>
        <p:spPr>
          <a:xfrm>
            <a:off x="2948940" y="2651760"/>
            <a:ext cx="1746504" cy="274320"/>
          </a:xfrm>
          <a:prstGeom prst="rect">
            <a:avLst/>
          </a:prstGeom>
          <a:noFill/>
        </p:spPr>
        <p:txBody>
          <a:bodyPr wrap="square" lIns="0" tIns="0" rIns="0" bIns="0" anchor="t">
            <a:spAutoFit/>
          </a:bodyPr>
          <a:lstStyle/>
          <a:p>
            <a:pPr algn="l">
              <a:lnSpc>
                <a:spcPct val="100000"/>
              </a:lnSpc>
            </a:pPr>
            <a:r>
              <a:rPr sz="1300" b="1" i="0" dirty="0">
                <a:solidFill>
                  <a:srgbClr val="101A3C"/>
                </a:solidFill>
                <a:latin typeface="Segoe UI"/>
                <a:cs typeface="Segoe UI"/>
              </a:rPr>
              <a:t>Runtime guardrail</a:t>
            </a:r>
          </a:p>
        </p:txBody>
      </p:sp>
      <p:sp>
        <p:nvSpPr>
          <p:cNvPr id="18" name="TextBox 17"/>
          <p:cNvSpPr txBox="1"/>
          <p:nvPr/>
        </p:nvSpPr>
        <p:spPr>
          <a:xfrm>
            <a:off x="2948940" y="3063240"/>
            <a:ext cx="1709928" cy="822960"/>
          </a:xfrm>
          <a:prstGeom prst="rect">
            <a:avLst/>
          </a:prstGeom>
          <a:noFill/>
        </p:spPr>
        <p:txBody>
          <a:bodyPr wrap="square" lIns="0" tIns="0" rIns="0" bIns="0" anchor="t">
            <a:spAutoFit/>
          </a:bodyPr>
          <a:lstStyle/>
          <a:p>
            <a:pPr algn="l">
              <a:lnSpc>
                <a:spcPct val="120000"/>
              </a:lnSpc>
            </a:pPr>
            <a:r>
              <a:rPr sz="950" b="0" i="0" dirty="0">
                <a:solidFill>
                  <a:srgbClr val="44495B"/>
                </a:solidFill>
                <a:latin typeface="Segoe UI"/>
                <a:cs typeface="Segoe UI"/>
              </a:rPr>
              <a:t>Controls, severity thresholds and API results</a:t>
            </a:r>
          </a:p>
        </p:txBody>
      </p:sp>
      <p:cxnSp>
        <p:nvCxnSpPr>
          <p:cNvPr id="19" name="Connector 18"/>
          <p:cNvCxnSpPr/>
          <p:nvPr/>
        </p:nvCxnSpPr>
        <p:spPr>
          <a:xfrm>
            <a:off x="2948940" y="3886200"/>
            <a:ext cx="1709928" cy="0"/>
          </a:xfrm>
          <a:prstGeom prst="line">
            <a:avLst/>
          </a:prstGeom>
          <a:ln w="9525">
            <a:solidFill>
              <a:srgbClr val="E1E7F4"/>
            </a:solidFill>
          </a:ln>
        </p:spPr>
      </p:cxnSp>
      <p:sp>
        <p:nvSpPr>
          <p:cNvPr id="20" name="TextBox 19"/>
          <p:cNvSpPr txBox="1"/>
          <p:nvPr/>
        </p:nvSpPr>
        <p:spPr>
          <a:xfrm>
            <a:off x="2948940" y="3995928"/>
            <a:ext cx="1746504" cy="201168"/>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Slides 4–6</a:t>
            </a:r>
          </a:p>
        </p:txBody>
      </p:sp>
      <p:sp>
        <p:nvSpPr>
          <p:cNvPr id="21" name="Rectangle 20"/>
          <p:cNvSpPr/>
          <p:nvPr/>
        </p:nvSpPr>
        <p:spPr>
          <a:xfrm>
            <a:off x="5038344" y="1600200"/>
            <a:ext cx="2112264" cy="2834640"/>
          </a:xfrm>
          <a:prstGeom prst="rect">
            <a:avLst/>
          </a:prstGeom>
          <a:solidFill>
            <a:srgbClr val="F6F8FD"/>
          </a:solidFill>
          <a:ln w="9525">
            <a:solidFill>
              <a:srgbClr val="E1E7F4"/>
            </a:solidFill>
          </a:ln>
          <a:effectLst/>
        </p:spPr>
        <p:txBody>
          <a:bodyPr wrap="square" rtlCol="0" anchor="ctr"/>
          <a:lstStyle/>
          <a:p>
            <a:endParaRPr/>
          </a:p>
        </p:txBody>
      </p:sp>
      <p:sp>
        <p:nvSpPr>
          <p:cNvPr id="22" name="Rectangle 21"/>
          <p:cNvSpPr/>
          <p:nvPr/>
        </p:nvSpPr>
        <p:spPr>
          <a:xfrm>
            <a:off x="5038344" y="1600200"/>
            <a:ext cx="2112264" cy="45720"/>
          </a:xfrm>
          <a:prstGeom prst="rect">
            <a:avLst/>
          </a:prstGeom>
          <a:solidFill>
            <a:srgbClr val="00B39F"/>
          </a:solidFill>
          <a:ln>
            <a:noFill/>
          </a:ln>
          <a:effectLst/>
        </p:spPr>
        <p:txBody>
          <a:bodyPr wrap="square" rtlCol="0" anchor="ctr"/>
          <a:lstStyle/>
          <a:p>
            <a:endParaRPr/>
          </a:p>
        </p:txBody>
      </p:sp>
      <p:sp>
        <p:nvSpPr>
          <p:cNvPr id="23" name="TextBox 22"/>
          <p:cNvSpPr txBox="1"/>
          <p:nvPr/>
        </p:nvSpPr>
        <p:spPr>
          <a:xfrm>
            <a:off x="5239512" y="1874519"/>
            <a:ext cx="1746504" cy="548640"/>
          </a:xfrm>
          <a:prstGeom prst="rect">
            <a:avLst/>
          </a:prstGeom>
          <a:noFill/>
        </p:spPr>
        <p:txBody>
          <a:bodyPr wrap="square" lIns="0" tIns="0" rIns="0" bIns="0" anchor="t">
            <a:spAutoFit/>
          </a:bodyPr>
          <a:lstStyle/>
          <a:p>
            <a:pPr algn="l">
              <a:lnSpc>
                <a:spcPct val="100000"/>
              </a:lnSpc>
            </a:pPr>
            <a:r>
              <a:rPr sz="3000" b="1" i="0" dirty="0">
                <a:solidFill>
                  <a:srgbClr val="00B39F"/>
                </a:solidFill>
                <a:latin typeface="Segoe UI"/>
                <a:cs typeface="Segoe UI"/>
              </a:rPr>
              <a:t>03</a:t>
            </a:r>
          </a:p>
        </p:txBody>
      </p:sp>
      <p:sp>
        <p:nvSpPr>
          <p:cNvPr id="24" name="TextBox 23"/>
          <p:cNvSpPr txBox="1"/>
          <p:nvPr/>
        </p:nvSpPr>
        <p:spPr>
          <a:xfrm>
            <a:off x="5239512" y="2651760"/>
            <a:ext cx="1746504" cy="274320"/>
          </a:xfrm>
          <a:prstGeom prst="rect">
            <a:avLst/>
          </a:prstGeom>
          <a:noFill/>
        </p:spPr>
        <p:txBody>
          <a:bodyPr wrap="square" lIns="0" tIns="0" rIns="0" bIns="0" anchor="t">
            <a:spAutoFit/>
          </a:bodyPr>
          <a:lstStyle/>
          <a:p>
            <a:pPr algn="l">
              <a:lnSpc>
                <a:spcPct val="100000"/>
              </a:lnSpc>
            </a:pPr>
            <a:r>
              <a:rPr sz="1300" b="1" i="0" dirty="0">
                <a:solidFill>
                  <a:srgbClr val="101A3C"/>
                </a:solidFill>
                <a:latin typeface="Segoe UI"/>
                <a:cs typeface="Segoe UI"/>
              </a:rPr>
              <a:t>Safety evaluators</a:t>
            </a:r>
          </a:p>
        </p:txBody>
      </p:sp>
      <p:sp>
        <p:nvSpPr>
          <p:cNvPr id="25" name="TextBox 24"/>
          <p:cNvSpPr txBox="1"/>
          <p:nvPr/>
        </p:nvSpPr>
        <p:spPr>
          <a:xfrm>
            <a:off x="5239512" y="3063240"/>
            <a:ext cx="1709928" cy="822960"/>
          </a:xfrm>
          <a:prstGeom prst="rect">
            <a:avLst/>
          </a:prstGeom>
          <a:noFill/>
        </p:spPr>
        <p:txBody>
          <a:bodyPr wrap="square" lIns="0" tIns="0" rIns="0" bIns="0" anchor="t">
            <a:spAutoFit/>
          </a:bodyPr>
          <a:lstStyle/>
          <a:p>
            <a:pPr algn="l">
              <a:lnSpc>
                <a:spcPct val="120000"/>
              </a:lnSpc>
            </a:pPr>
            <a:r>
              <a:rPr sz="950" b="0" i="0" dirty="0">
                <a:solidFill>
                  <a:srgbClr val="44495B"/>
                </a:solidFill>
                <a:latin typeface="Segoe UI"/>
                <a:cs typeface="Segoe UI"/>
              </a:rPr>
              <a:t>Evaluator output and comparison with guardrails</a:t>
            </a:r>
          </a:p>
        </p:txBody>
      </p:sp>
      <p:cxnSp>
        <p:nvCxnSpPr>
          <p:cNvPr id="26" name="Connector 25"/>
          <p:cNvCxnSpPr/>
          <p:nvPr/>
        </p:nvCxnSpPr>
        <p:spPr>
          <a:xfrm>
            <a:off x="5239512" y="3886200"/>
            <a:ext cx="1709928" cy="0"/>
          </a:xfrm>
          <a:prstGeom prst="line">
            <a:avLst/>
          </a:prstGeom>
          <a:ln w="9525">
            <a:solidFill>
              <a:srgbClr val="E1E7F4"/>
            </a:solidFill>
          </a:ln>
        </p:spPr>
      </p:cxnSp>
      <p:sp>
        <p:nvSpPr>
          <p:cNvPr id="27" name="TextBox 26"/>
          <p:cNvSpPr txBox="1"/>
          <p:nvPr/>
        </p:nvSpPr>
        <p:spPr>
          <a:xfrm>
            <a:off x="5239512" y="3995928"/>
            <a:ext cx="1746504" cy="201168"/>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Slides 7–8</a:t>
            </a:r>
          </a:p>
        </p:txBody>
      </p:sp>
      <p:sp>
        <p:nvSpPr>
          <p:cNvPr id="28" name="Rectangle 27"/>
          <p:cNvSpPr/>
          <p:nvPr/>
        </p:nvSpPr>
        <p:spPr>
          <a:xfrm>
            <a:off x="7328916" y="1600200"/>
            <a:ext cx="2112264" cy="2834640"/>
          </a:xfrm>
          <a:prstGeom prst="rect">
            <a:avLst/>
          </a:prstGeom>
          <a:solidFill>
            <a:srgbClr val="F6F8FD"/>
          </a:solidFill>
          <a:ln w="9525">
            <a:solidFill>
              <a:srgbClr val="E1E7F4"/>
            </a:solidFill>
          </a:ln>
          <a:effectLst/>
        </p:spPr>
        <p:txBody>
          <a:bodyPr wrap="square" rtlCol="0" anchor="ctr"/>
          <a:lstStyle/>
          <a:p>
            <a:endParaRPr/>
          </a:p>
        </p:txBody>
      </p:sp>
      <p:sp>
        <p:nvSpPr>
          <p:cNvPr id="29" name="Rectangle 28"/>
          <p:cNvSpPr/>
          <p:nvPr/>
        </p:nvSpPr>
        <p:spPr>
          <a:xfrm>
            <a:off x="7328916" y="1600200"/>
            <a:ext cx="2112264" cy="45720"/>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7530084" y="1874519"/>
            <a:ext cx="1746504" cy="548640"/>
          </a:xfrm>
          <a:prstGeom prst="rect">
            <a:avLst/>
          </a:prstGeom>
          <a:noFill/>
        </p:spPr>
        <p:txBody>
          <a:bodyPr wrap="square" lIns="0" tIns="0" rIns="0" bIns="0" anchor="t">
            <a:spAutoFit/>
          </a:bodyPr>
          <a:lstStyle/>
          <a:p>
            <a:pPr algn="l">
              <a:lnSpc>
                <a:spcPct val="100000"/>
              </a:lnSpc>
            </a:pPr>
            <a:r>
              <a:rPr sz="3000" b="1" i="0" dirty="0">
                <a:solidFill>
                  <a:srgbClr val="00B39F"/>
                </a:solidFill>
                <a:latin typeface="Segoe UI"/>
                <a:cs typeface="Segoe UI"/>
              </a:rPr>
              <a:t>04</a:t>
            </a:r>
          </a:p>
        </p:txBody>
      </p:sp>
      <p:sp>
        <p:nvSpPr>
          <p:cNvPr id="31" name="TextBox 30"/>
          <p:cNvSpPr txBox="1"/>
          <p:nvPr/>
        </p:nvSpPr>
        <p:spPr>
          <a:xfrm>
            <a:off x="7530084" y="2651760"/>
            <a:ext cx="1746504" cy="274320"/>
          </a:xfrm>
          <a:prstGeom prst="rect">
            <a:avLst/>
          </a:prstGeom>
          <a:noFill/>
        </p:spPr>
        <p:txBody>
          <a:bodyPr wrap="square" lIns="0" tIns="0" rIns="0" bIns="0" anchor="t">
            <a:spAutoFit/>
          </a:bodyPr>
          <a:lstStyle/>
          <a:p>
            <a:pPr algn="l">
              <a:lnSpc>
                <a:spcPct val="100000"/>
              </a:lnSpc>
            </a:pPr>
            <a:r>
              <a:rPr sz="1300" b="1" i="0" dirty="0">
                <a:solidFill>
                  <a:srgbClr val="101A3C"/>
                </a:solidFill>
                <a:latin typeface="Segoe UI"/>
                <a:cs typeface="Segoe UI"/>
              </a:rPr>
              <a:t>Measured test</a:t>
            </a:r>
          </a:p>
        </p:txBody>
      </p:sp>
      <p:sp>
        <p:nvSpPr>
          <p:cNvPr id="32" name="TextBox 31"/>
          <p:cNvSpPr txBox="1"/>
          <p:nvPr/>
        </p:nvSpPr>
        <p:spPr>
          <a:xfrm>
            <a:off x="7530084" y="3063240"/>
            <a:ext cx="1709928" cy="822960"/>
          </a:xfrm>
          <a:prstGeom prst="rect">
            <a:avLst/>
          </a:prstGeom>
          <a:noFill/>
        </p:spPr>
        <p:txBody>
          <a:bodyPr wrap="square" lIns="0" tIns="0" rIns="0" bIns="0" anchor="t">
            <a:spAutoFit/>
          </a:bodyPr>
          <a:lstStyle/>
          <a:p>
            <a:pPr algn="l">
              <a:lnSpc>
                <a:spcPct val="120000"/>
              </a:lnSpc>
            </a:pPr>
            <a:r>
              <a:rPr sz="950" b="0" i="0" dirty="0">
                <a:solidFill>
                  <a:srgbClr val="44495B"/>
                </a:solidFill>
                <a:latin typeface="Segoe UI"/>
                <a:cs typeface="Segoe UI"/>
              </a:rPr>
              <a:t>Design, agreement matrix and results</a:t>
            </a:r>
          </a:p>
        </p:txBody>
      </p:sp>
      <p:cxnSp>
        <p:nvCxnSpPr>
          <p:cNvPr id="33" name="Connector 32"/>
          <p:cNvCxnSpPr/>
          <p:nvPr/>
        </p:nvCxnSpPr>
        <p:spPr>
          <a:xfrm>
            <a:off x="7530084" y="3886200"/>
            <a:ext cx="1709928" cy="0"/>
          </a:xfrm>
          <a:prstGeom prst="line">
            <a:avLst/>
          </a:prstGeom>
          <a:ln w="9525">
            <a:solidFill>
              <a:srgbClr val="E1E7F4"/>
            </a:solidFill>
          </a:ln>
        </p:spPr>
      </p:cxnSp>
      <p:sp>
        <p:nvSpPr>
          <p:cNvPr id="34" name="TextBox 33"/>
          <p:cNvSpPr txBox="1"/>
          <p:nvPr/>
        </p:nvSpPr>
        <p:spPr>
          <a:xfrm>
            <a:off x="7530084" y="3995928"/>
            <a:ext cx="1746504" cy="201168"/>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Slides 9–12</a:t>
            </a:r>
          </a:p>
        </p:txBody>
      </p:sp>
      <p:sp>
        <p:nvSpPr>
          <p:cNvPr id="35" name="Rectangle 34"/>
          <p:cNvSpPr/>
          <p:nvPr/>
        </p:nvSpPr>
        <p:spPr>
          <a:xfrm>
            <a:off x="9619488" y="1600200"/>
            <a:ext cx="2112264" cy="2834640"/>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9619488" y="1600200"/>
            <a:ext cx="2112264" cy="45720"/>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9820656" y="1874519"/>
            <a:ext cx="1746504" cy="548640"/>
          </a:xfrm>
          <a:prstGeom prst="rect">
            <a:avLst/>
          </a:prstGeom>
          <a:noFill/>
        </p:spPr>
        <p:txBody>
          <a:bodyPr wrap="square" lIns="0" tIns="0" rIns="0" bIns="0" anchor="t">
            <a:spAutoFit/>
          </a:bodyPr>
          <a:lstStyle/>
          <a:p>
            <a:pPr algn="l">
              <a:lnSpc>
                <a:spcPct val="100000"/>
              </a:lnSpc>
            </a:pPr>
            <a:r>
              <a:rPr sz="3000" b="1" i="0" dirty="0">
                <a:solidFill>
                  <a:srgbClr val="00B39F"/>
                </a:solidFill>
                <a:latin typeface="Segoe UI"/>
                <a:cs typeface="Segoe UI"/>
              </a:rPr>
              <a:t>05</a:t>
            </a:r>
          </a:p>
        </p:txBody>
      </p:sp>
      <p:sp>
        <p:nvSpPr>
          <p:cNvPr id="38" name="TextBox 37"/>
          <p:cNvSpPr txBox="1"/>
          <p:nvPr/>
        </p:nvSpPr>
        <p:spPr>
          <a:xfrm>
            <a:off x="9820656" y="2651760"/>
            <a:ext cx="1746504" cy="274320"/>
          </a:xfrm>
          <a:prstGeom prst="rect">
            <a:avLst/>
          </a:prstGeom>
          <a:noFill/>
        </p:spPr>
        <p:txBody>
          <a:bodyPr wrap="square" lIns="0" tIns="0" rIns="0" bIns="0" anchor="t">
            <a:spAutoFit/>
          </a:bodyPr>
          <a:lstStyle/>
          <a:p>
            <a:pPr algn="l">
              <a:lnSpc>
                <a:spcPct val="100000"/>
              </a:lnSpc>
            </a:pPr>
            <a:r>
              <a:rPr sz="1300" b="1" i="0" dirty="0">
                <a:solidFill>
                  <a:srgbClr val="101A3C"/>
                </a:solidFill>
                <a:latin typeface="Segoe UI"/>
                <a:cs typeface="Segoe UI"/>
              </a:rPr>
              <a:t>Tuning guidance</a:t>
            </a:r>
          </a:p>
        </p:txBody>
      </p:sp>
      <p:sp>
        <p:nvSpPr>
          <p:cNvPr id="39" name="TextBox 38"/>
          <p:cNvSpPr txBox="1"/>
          <p:nvPr/>
        </p:nvSpPr>
        <p:spPr>
          <a:xfrm>
            <a:off x="9820656" y="3063240"/>
            <a:ext cx="1709928" cy="822960"/>
          </a:xfrm>
          <a:prstGeom prst="rect">
            <a:avLst/>
          </a:prstGeom>
          <a:noFill/>
        </p:spPr>
        <p:txBody>
          <a:bodyPr wrap="square" lIns="0" tIns="0" rIns="0" bIns="0" anchor="t">
            <a:spAutoFit/>
          </a:bodyPr>
          <a:lstStyle/>
          <a:p>
            <a:pPr algn="l">
              <a:lnSpc>
                <a:spcPct val="120000"/>
              </a:lnSpc>
            </a:pPr>
            <a:r>
              <a:rPr sz="950" b="0" i="0" dirty="0">
                <a:solidFill>
                  <a:srgbClr val="44495B"/>
                </a:solidFill>
                <a:latin typeface="Segoe UI"/>
                <a:cs typeface="Segoe UI"/>
              </a:rPr>
              <a:t>Recommendations, limitations and sources</a:t>
            </a:r>
          </a:p>
        </p:txBody>
      </p:sp>
      <p:cxnSp>
        <p:nvCxnSpPr>
          <p:cNvPr id="40" name="Connector 39"/>
          <p:cNvCxnSpPr/>
          <p:nvPr/>
        </p:nvCxnSpPr>
        <p:spPr>
          <a:xfrm>
            <a:off x="9820656" y="3886200"/>
            <a:ext cx="1709928" cy="0"/>
          </a:xfrm>
          <a:prstGeom prst="line">
            <a:avLst/>
          </a:prstGeom>
          <a:ln w="9525">
            <a:solidFill>
              <a:srgbClr val="E1E7F4"/>
            </a:solidFill>
          </a:ln>
        </p:spPr>
      </p:cxnSp>
      <p:sp>
        <p:nvSpPr>
          <p:cNvPr id="41" name="TextBox 40"/>
          <p:cNvSpPr txBox="1"/>
          <p:nvPr/>
        </p:nvSpPr>
        <p:spPr>
          <a:xfrm>
            <a:off x="9820656" y="3995928"/>
            <a:ext cx="1746504" cy="201168"/>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Slides 13–14</a:t>
            </a:r>
          </a:p>
        </p:txBody>
      </p:sp>
      <p:sp>
        <p:nvSpPr>
          <p:cNvPr id="42" name="Rectangle 41"/>
          <p:cNvSpPr/>
          <p:nvPr/>
        </p:nvSpPr>
        <p:spPr>
          <a:xfrm>
            <a:off x="457200" y="4709160"/>
            <a:ext cx="11277295" cy="384048"/>
          </a:xfrm>
          <a:prstGeom prst="rect">
            <a:avLst/>
          </a:prstGeom>
          <a:solidFill>
            <a:srgbClr val="EBEFF7"/>
          </a:solidFill>
          <a:ln>
            <a:noFill/>
          </a:ln>
          <a:effectLst/>
        </p:spPr>
        <p:txBody>
          <a:bodyPr wrap="square" rtlCol="0" anchor="ctr"/>
          <a:lstStyle/>
          <a:p>
            <a:endParaRPr/>
          </a:p>
        </p:txBody>
      </p:sp>
      <p:sp>
        <p:nvSpPr>
          <p:cNvPr id="43" name="Rectangle 42"/>
          <p:cNvSpPr/>
          <p:nvPr/>
        </p:nvSpPr>
        <p:spPr>
          <a:xfrm>
            <a:off x="457200" y="4709160"/>
            <a:ext cx="41148" cy="384048"/>
          </a:xfrm>
          <a:prstGeom prst="rect">
            <a:avLst/>
          </a:prstGeom>
          <a:solidFill>
            <a:srgbClr val="00B39F"/>
          </a:solidFill>
          <a:ln>
            <a:noFill/>
          </a:ln>
          <a:effectLst/>
        </p:spPr>
        <p:txBody>
          <a:bodyPr wrap="square" rtlCol="0" anchor="ctr"/>
          <a:lstStyle/>
          <a:p>
            <a:endParaRPr/>
          </a:p>
        </p:txBody>
      </p:sp>
      <p:sp>
        <p:nvSpPr>
          <p:cNvPr id="44" name="TextBox 43"/>
          <p:cNvSpPr txBox="1"/>
          <p:nvPr/>
        </p:nvSpPr>
        <p:spPr>
          <a:xfrm>
            <a:off x="694944" y="4809744"/>
            <a:ext cx="10856671" cy="201167"/>
          </a:xfrm>
          <a:prstGeom prst="rect">
            <a:avLst/>
          </a:prstGeom>
          <a:noFill/>
        </p:spPr>
        <p:txBody>
          <a:bodyPr wrap="square" lIns="0" tIns="0" rIns="0" bIns="0" anchor="t">
            <a:spAutoFit/>
          </a:bodyPr>
          <a:lstStyle/>
          <a:p>
            <a:pPr algn="l">
              <a:lnSpc>
                <a:spcPct val="120000"/>
              </a:lnSpc>
            </a:pPr>
            <a:r>
              <a:rPr sz="950" b="0" i="0" dirty="0">
                <a:solidFill>
                  <a:srgbClr val="101A3C"/>
                </a:solidFill>
                <a:latin typeface="Segoe UI"/>
                <a:cs typeface="Segoe UI"/>
              </a:rPr>
              <a:t>Thread through all parts: one question set, two layers, and the same verdict recorded by each.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Content safety layers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guardrail acts in the request path; risk and safety evaluators score responses afterwards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learn.microsoft.com/azure/foundry/guardrails/guardrails-overview · risk-safety-evaluators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3</a:t>
            </a:r>
          </a:p>
        </p:txBody>
      </p:sp>
      <p:sp>
        <p:nvSpPr>
          <p:cNvPr id="7" name="TextBox 6"/>
          <p:cNvSpPr txBox="1"/>
          <p:nvPr/>
        </p:nvSpPr>
        <p:spPr>
          <a:xfrm>
            <a:off x="457200" y="135331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RUNTIME · IN THE REQUEST PATH</a:t>
            </a:r>
          </a:p>
        </p:txBody>
      </p:sp>
      <p:sp>
        <p:nvSpPr>
          <p:cNvPr id="8" name="Rectangle 7"/>
          <p:cNvSpPr/>
          <p:nvPr/>
        </p:nvSpPr>
        <p:spPr>
          <a:xfrm>
            <a:off x="457200" y="1627632"/>
            <a:ext cx="1783080" cy="713232"/>
          </a:xfrm>
          <a:prstGeom prst="rect">
            <a:avLst/>
          </a:prstGeom>
          <a:solidFill>
            <a:srgbClr val="EBEFF7"/>
          </a:solidFill>
          <a:ln>
            <a:noFill/>
          </a:ln>
          <a:effectLst/>
        </p:spPr>
        <p:txBody>
          <a:bodyPr wrap="square" lIns="54864" tIns="18288" rIns="54864" bIns="18288" rtlCol="0" anchor="ctr"/>
          <a:lstStyle/>
          <a:p>
            <a:pPr algn="ctr">
              <a:lnSpc>
                <a:spcPct val="112000"/>
              </a:lnSpc>
            </a:pPr>
            <a:r>
              <a:rPr sz="900" b="1" i="0" dirty="0">
                <a:solidFill>
                  <a:srgbClr val="101A3C"/>
                </a:solidFill>
                <a:latin typeface="Segoe UI"/>
                <a:cs typeface="Segoe UI"/>
              </a:rPr>
              <a:t>Client application</a:t>
            </a:r>
          </a:p>
        </p:txBody>
      </p:sp>
      <p:sp>
        <p:nvSpPr>
          <p:cNvPr id="9" name="Rectangle 8"/>
          <p:cNvSpPr/>
          <p:nvPr/>
        </p:nvSpPr>
        <p:spPr>
          <a:xfrm>
            <a:off x="2788920" y="1627632"/>
            <a:ext cx="1828800" cy="713232"/>
          </a:xfrm>
          <a:prstGeom prst="rect">
            <a:avLst/>
          </a:prstGeom>
          <a:solidFill>
            <a:srgbClr val="0B1229"/>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Guardrail</a:t>
            </a:r>
          </a:p>
          <a:p>
            <a:pPr algn="ctr">
              <a:lnSpc>
                <a:spcPct val="110000"/>
              </a:lnSpc>
            </a:pPr>
            <a:r>
              <a:rPr sz="800" b="0" i="0" dirty="0">
                <a:solidFill>
                  <a:srgbClr val="B9C2D6"/>
                </a:solidFill>
                <a:latin typeface="Segoe UI"/>
                <a:cs typeface="Segoe UI"/>
              </a:rPr>
              <a:t>user input check</a:t>
            </a:r>
          </a:p>
        </p:txBody>
      </p:sp>
      <p:sp>
        <p:nvSpPr>
          <p:cNvPr id="10" name="Rectangle 9"/>
          <p:cNvSpPr/>
          <p:nvPr/>
        </p:nvSpPr>
        <p:spPr>
          <a:xfrm>
            <a:off x="5120640" y="1627632"/>
            <a:ext cx="1828800"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Model deployment</a:t>
            </a:r>
          </a:p>
          <a:p>
            <a:pPr algn="ctr">
              <a:lnSpc>
                <a:spcPct val="110000"/>
              </a:lnSpc>
            </a:pPr>
            <a:r>
              <a:rPr sz="800" b="0" i="0" dirty="0">
                <a:solidFill>
                  <a:srgbClr val="44495B"/>
                </a:solidFill>
                <a:latin typeface="Segoe UI"/>
                <a:cs typeface="Segoe UI"/>
              </a:rPr>
              <a:t>generates the answer</a:t>
            </a:r>
          </a:p>
        </p:txBody>
      </p:sp>
      <p:sp>
        <p:nvSpPr>
          <p:cNvPr id="11" name="Rectangle 10"/>
          <p:cNvSpPr/>
          <p:nvPr/>
        </p:nvSpPr>
        <p:spPr>
          <a:xfrm>
            <a:off x="7452360" y="1627632"/>
            <a:ext cx="1828800" cy="713232"/>
          </a:xfrm>
          <a:prstGeom prst="rect">
            <a:avLst/>
          </a:prstGeom>
          <a:solidFill>
            <a:srgbClr val="0B1229"/>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Guardrail</a:t>
            </a:r>
          </a:p>
          <a:p>
            <a:pPr algn="ctr">
              <a:lnSpc>
                <a:spcPct val="110000"/>
              </a:lnSpc>
            </a:pPr>
            <a:r>
              <a:rPr sz="800" b="0" i="0" dirty="0">
                <a:solidFill>
                  <a:srgbClr val="B9C2D6"/>
                </a:solidFill>
                <a:latin typeface="Segoe UI"/>
                <a:cs typeface="Segoe UI"/>
              </a:rPr>
              <a:t>output check</a:t>
            </a:r>
          </a:p>
        </p:txBody>
      </p:sp>
      <p:sp>
        <p:nvSpPr>
          <p:cNvPr id="12" name="Rectangle 11"/>
          <p:cNvSpPr/>
          <p:nvPr/>
        </p:nvSpPr>
        <p:spPr>
          <a:xfrm>
            <a:off x="9784080" y="1627632"/>
            <a:ext cx="1947672" cy="713232"/>
          </a:xfrm>
          <a:prstGeom prst="rect">
            <a:avLst/>
          </a:prstGeom>
          <a:solidFill>
            <a:srgbClr val="EBEFF7"/>
          </a:solidFill>
          <a:ln>
            <a:no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Returned response</a:t>
            </a:r>
          </a:p>
          <a:p>
            <a:pPr algn="ctr">
              <a:lnSpc>
                <a:spcPct val="110000"/>
              </a:lnSpc>
            </a:pPr>
            <a:r>
              <a:rPr sz="800" b="0" i="0" dirty="0">
                <a:solidFill>
                  <a:srgbClr val="44495B"/>
                </a:solidFill>
                <a:latin typeface="Segoe UI"/>
                <a:cs typeface="Segoe UI"/>
              </a:rPr>
              <a:t>or a block</a:t>
            </a:r>
          </a:p>
        </p:txBody>
      </p:sp>
      <p:cxnSp>
        <p:nvCxnSpPr>
          <p:cNvPr id="13" name="Connector 12"/>
          <p:cNvCxnSpPr/>
          <p:nvPr/>
        </p:nvCxnSpPr>
        <p:spPr>
          <a:xfrm>
            <a:off x="2240280" y="1984248"/>
            <a:ext cx="548640" cy="0"/>
          </a:xfrm>
          <a:prstGeom prst="line">
            <a:avLst/>
          </a:prstGeom>
          <a:ln w="13970">
            <a:solidFill>
              <a:srgbClr val="44495B"/>
            </a:solidFill>
            <a:tailEnd type="triangle" w="med" len="med"/>
          </a:ln>
        </p:spPr>
      </p:cxnSp>
      <p:sp>
        <p:nvSpPr>
          <p:cNvPr id="14" name="Oval 13"/>
          <p:cNvSpPr/>
          <p:nvPr/>
        </p:nvSpPr>
        <p:spPr>
          <a:xfrm>
            <a:off x="2409444" y="1879091"/>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5" name="Connector 14"/>
          <p:cNvCxnSpPr/>
          <p:nvPr/>
        </p:nvCxnSpPr>
        <p:spPr>
          <a:xfrm>
            <a:off x="4617720" y="1984248"/>
            <a:ext cx="502920" cy="0"/>
          </a:xfrm>
          <a:prstGeom prst="line">
            <a:avLst/>
          </a:prstGeom>
          <a:ln w="13970">
            <a:solidFill>
              <a:srgbClr val="44495B"/>
            </a:solidFill>
            <a:tailEnd type="triangle" w="med" len="med"/>
          </a:ln>
        </p:spPr>
      </p:cxnSp>
      <p:sp>
        <p:nvSpPr>
          <p:cNvPr id="16" name="Oval 15"/>
          <p:cNvSpPr/>
          <p:nvPr/>
        </p:nvSpPr>
        <p:spPr>
          <a:xfrm>
            <a:off x="4764023" y="1879091"/>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17" name="Connector 16"/>
          <p:cNvCxnSpPr/>
          <p:nvPr/>
        </p:nvCxnSpPr>
        <p:spPr>
          <a:xfrm>
            <a:off x="6949440" y="1984248"/>
            <a:ext cx="502920" cy="0"/>
          </a:xfrm>
          <a:prstGeom prst="line">
            <a:avLst/>
          </a:prstGeom>
          <a:ln w="13970">
            <a:solidFill>
              <a:srgbClr val="44495B"/>
            </a:solidFill>
            <a:tailEnd type="triangle" w="med" len="med"/>
          </a:ln>
        </p:spPr>
      </p:cxnSp>
      <p:sp>
        <p:nvSpPr>
          <p:cNvPr id="18" name="Oval 17"/>
          <p:cNvSpPr/>
          <p:nvPr/>
        </p:nvSpPr>
        <p:spPr>
          <a:xfrm>
            <a:off x="7095744" y="1879091"/>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19" name="Connector 18"/>
          <p:cNvCxnSpPr/>
          <p:nvPr/>
        </p:nvCxnSpPr>
        <p:spPr>
          <a:xfrm>
            <a:off x="9281160" y="1984248"/>
            <a:ext cx="502920" cy="0"/>
          </a:xfrm>
          <a:prstGeom prst="line">
            <a:avLst/>
          </a:prstGeom>
          <a:ln w="13970">
            <a:solidFill>
              <a:srgbClr val="44495B"/>
            </a:solidFill>
            <a:tailEnd type="triangle" w="med" len="med"/>
          </a:ln>
        </p:spPr>
      </p:cxnSp>
      <p:sp>
        <p:nvSpPr>
          <p:cNvPr id="20" name="Oval 19"/>
          <p:cNvSpPr/>
          <p:nvPr/>
        </p:nvSpPr>
        <p:spPr>
          <a:xfrm>
            <a:off x="9427464" y="1879091"/>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21" name="TextBox 20"/>
          <p:cNvSpPr txBox="1"/>
          <p:nvPr/>
        </p:nvSpPr>
        <p:spPr>
          <a:xfrm>
            <a:off x="457200" y="285292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EVALUATION · AFTER THE RESPONSE EXISTS</a:t>
            </a:r>
          </a:p>
        </p:txBody>
      </p:sp>
      <p:sp>
        <p:nvSpPr>
          <p:cNvPr id="22" name="Rectangle 21"/>
          <p:cNvSpPr/>
          <p:nvPr/>
        </p:nvSpPr>
        <p:spPr>
          <a:xfrm>
            <a:off x="457200" y="3127248"/>
            <a:ext cx="1783080" cy="713232"/>
          </a:xfrm>
          <a:prstGeom prst="rect">
            <a:avLst/>
          </a:prstGeom>
          <a:solidFill>
            <a:srgbClr val="EBEFF7"/>
          </a:solidFill>
          <a:ln>
            <a:no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Test dataset</a:t>
            </a:r>
          </a:p>
          <a:p>
            <a:pPr algn="ctr">
              <a:lnSpc>
                <a:spcPct val="110000"/>
              </a:lnSpc>
            </a:pPr>
            <a:r>
              <a:rPr sz="800" b="0" i="0" dirty="0">
                <a:solidFill>
                  <a:srgbClr val="44495B"/>
                </a:solidFill>
                <a:latin typeface="Segoe UI"/>
                <a:cs typeface="Segoe UI"/>
              </a:rPr>
              <a:t>questions, optional answers</a:t>
            </a:r>
          </a:p>
        </p:txBody>
      </p:sp>
      <p:sp>
        <p:nvSpPr>
          <p:cNvPr id="23" name="Rectangle 22"/>
          <p:cNvSpPr/>
          <p:nvPr/>
        </p:nvSpPr>
        <p:spPr>
          <a:xfrm>
            <a:off x="2788920" y="3127248"/>
            <a:ext cx="1828800"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Evaluation run</a:t>
            </a:r>
          </a:p>
          <a:p>
            <a:pPr algn="ctr">
              <a:lnSpc>
                <a:spcPct val="110000"/>
              </a:lnSpc>
            </a:pPr>
            <a:r>
              <a:rPr sz="800" b="0" i="0" dirty="0">
                <a:solidFill>
                  <a:srgbClr val="44495B"/>
                </a:solidFill>
                <a:latin typeface="Segoe UI"/>
                <a:cs typeface="Segoe UI"/>
              </a:rPr>
              <a:t>dataset or live target</a:t>
            </a:r>
          </a:p>
        </p:txBody>
      </p:sp>
      <p:sp>
        <p:nvSpPr>
          <p:cNvPr id="24" name="Rectangle 23"/>
          <p:cNvSpPr/>
          <p:nvPr/>
        </p:nvSpPr>
        <p:spPr>
          <a:xfrm>
            <a:off x="5120640" y="3127248"/>
            <a:ext cx="1828800" cy="713232"/>
          </a:xfrm>
          <a:prstGeom prst="rect">
            <a:avLst/>
          </a:prstGeom>
          <a:solidFill>
            <a:srgbClr val="101A3C"/>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Risk and safety</a:t>
            </a:r>
          </a:p>
          <a:p>
            <a:pPr algn="ctr">
              <a:lnSpc>
                <a:spcPct val="110000"/>
              </a:lnSpc>
            </a:pPr>
            <a:r>
              <a:rPr sz="800" b="0" i="0" dirty="0">
                <a:solidFill>
                  <a:srgbClr val="B9C2D6"/>
                </a:solidFill>
                <a:latin typeface="Segoe UI"/>
                <a:cs typeface="Segoe UI"/>
              </a:rPr>
              <a:t>evaluators (hosted models)</a:t>
            </a:r>
          </a:p>
        </p:txBody>
      </p:sp>
      <p:sp>
        <p:nvSpPr>
          <p:cNvPr id="25" name="Rectangle 24"/>
          <p:cNvSpPr/>
          <p:nvPr/>
        </p:nvSpPr>
        <p:spPr>
          <a:xfrm>
            <a:off x="7452360" y="3127248"/>
            <a:ext cx="1828800" cy="713232"/>
          </a:xfrm>
          <a:prstGeom prst="rect">
            <a:avLst/>
          </a:prstGeom>
          <a:solidFill>
            <a:srgbClr val="EBEFF7"/>
          </a:solidFill>
          <a:ln>
            <a:no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Scores and verdicts</a:t>
            </a:r>
          </a:p>
          <a:p>
            <a:pPr algn="ctr">
              <a:lnSpc>
                <a:spcPct val="110000"/>
              </a:lnSpc>
            </a:pPr>
            <a:r>
              <a:rPr sz="800" b="0" i="0" dirty="0">
                <a:solidFill>
                  <a:srgbClr val="44495B"/>
                </a:solidFill>
                <a:latin typeface="Segoe UI"/>
                <a:cs typeface="Segoe UI"/>
              </a:rPr>
              <a:t>0–7, pass or fail, reason</a:t>
            </a:r>
          </a:p>
        </p:txBody>
      </p:sp>
      <p:cxnSp>
        <p:nvCxnSpPr>
          <p:cNvPr id="26" name="Connector 25"/>
          <p:cNvCxnSpPr/>
          <p:nvPr/>
        </p:nvCxnSpPr>
        <p:spPr>
          <a:xfrm>
            <a:off x="2240280" y="3483864"/>
            <a:ext cx="548640" cy="0"/>
          </a:xfrm>
          <a:prstGeom prst="line">
            <a:avLst/>
          </a:prstGeom>
          <a:ln w="13970">
            <a:solidFill>
              <a:srgbClr val="44495B"/>
            </a:solidFill>
            <a:tailEnd type="triangle" w="med" len="med"/>
          </a:ln>
        </p:spPr>
      </p:cxnSp>
      <p:sp>
        <p:nvSpPr>
          <p:cNvPr id="27" name="Oval 26"/>
          <p:cNvSpPr/>
          <p:nvPr/>
        </p:nvSpPr>
        <p:spPr>
          <a:xfrm>
            <a:off x="2409444" y="33787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cxnSp>
        <p:nvCxnSpPr>
          <p:cNvPr id="28" name="Connector 27"/>
          <p:cNvCxnSpPr/>
          <p:nvPr/>
        </p:nvCxnSpPr>
        <p:spPr>
          <a:xfrm>
            <a:off x="4617720" y="3483864"/>
            <a:ext cx="502920" cy="0"/>
          </a:xfrm>
          <a:prstGeom prst="line">
            <a:avLst/>
          </a:prstGeom>
          <a:ln w="13970">
            <a:solidFill>
              <a:srgbClr val="44495B"/>
            </a:solidFill>
            <a:tailEnd type="triangle" w="med" len="med"/>
          </a:ln>
        </p:spPr>
      </p:cxnSp>
      <p:sp>
        <p:nvSpPr>
          <p:cNvPr id="29" name="Oval 28"/>
          <p:cNvSpPr/>
          <p:nvPr/>
        </p:nvSpPr>
        <p:spPr>
          <a:xfrm>
            <a:off x="4764023" y="33787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6</a:t>
            </a:r>
          </a:p>
        </p:txBody>
      </p:sp>
      <p:cxnSp>
        <p:nvCxnSpPr>
          <p:cNvPr id="30" name="Connector 29"/>
          <p:cNvCxnSpPr/>
          <p:nvPr/>
        </p:nvCxnSpPr>
        <p:spPr>
          <a:xfrm>
            <a:off x="6949440" y="3483864"/>
            <a:ext cx="502920" cy="0"/>
          </a:xfrm>
          <a:prstGeom prst="line">
            <a:avLst/>
          </a:prstGeom>
          <a:ln w="13970">
            <a:solidFill>
              <a:srgbClr val="44495B"/>
            </a:solidFill>
            <a:tailEnd type="triangle" w="med" len="med"/>
          </a:ln>
        </p:spPr>
      </p:cxnSp>
      <p:sp>
        <p:nvSpPr>
          <p:cNvPr id="31" name="Oval 30"/>
          <p:cNvSpPr/>
          <p:nvPr/>
        </p:nvSpPr>
        <p:spPr>
          <a:xfrm>
            <a:off x="7095744" y="337870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7</a:t>
            </a:r>
          </a:p>
        </p:txBody>
      </p:sp>
      <p:cxnSp>
        <p:nvCxnSpPr>
          <p:cNvPr id="32" name="Connector 31"/>
          <p:cNvCxnSpPr/>
          <p:nvPr/>
        </p:nvCxnSpPr>
        <p:spPr>
          <a:xfrm flipV="1">
            <a:off x="3703320" y="2697480"/>
            <a:ext cx="0" cy="429768"/>
          </a:xfrm>
          <a:prstGeom prst="line">
            <a:avLst/>
          </a:prstGeom>
          <a:ln w="13970">
            <a:solidFill>
              <a:srgbClr val="44495B"/>
            </a:solidFill>
            <a:prstDash val="dash"/>
          </a:ln>
        </p:spPr>
      </p:cxnSp>
      <p:cxnSp>
        <p:nvCxnSpPr>
          <p:cNvPr id="33" name="Connector 32"/>
          <p:cNvCxnSpPr/>
          <p:nvPr/>
        </p:nvCxnSpPr>
        <p:spPr>
          <a:xfrm>
            <a:off x="3703320" y="2697480"/>
            <a:ext cx="2331720" cy="0"/>
          </a:xfrm>
          <a:prstGeom prst="line">
            <a:avLst/>
          </a:prstGeom>
          <a:ln w="13970">
            <a:solidFill>
              <a:srgbClr val="44495B"/>
            </a:solidFill>
            <a:prstDash val="dash"/>
          </a:ln>
        </p:spPr>
      </p:cxnSp>
      <p:cxnSp>
        <p:nvCxnSpPr>
          <p:cNvPr id="34" name="Connector 33"/>
          <p:cNvCxnSpPr/>
          <p:nvPr/>
        </p:nvCxnSpPr>
        <p:spPr>
          <a:xfrm flipV="1">
            <a:off x="6035040" y="2340864"/>
            <a:ext cx="0" cy="356616"/>
          </a:xfrm>
          <a:prstGeom prst="line">
            <a:avLst/>
          </a:prstGeom>
          <a:ln w="13970">
            <a:solidFill>
              <a:srgbClr val="44495B"/>
            </a:solidFill>
            <a:prstDash val="dash"/>
            <a:tailEnd type="triangle" w="med" len="med"/>
          </a:ln>
        </p:spPr>
      </p:cxnSp>
      <p:sp>
        <p:nvSpPr>
          <p:cNvPr id="35" name="TextBox 34"/>
          <p:cNvSpPr txBox="1"/>
          <p:nvPr/>
        </p:nvSpPr>
        <p:spPr>
          <a:xfrm>
            <a:off x="3813048" y="2496312"/>
            <a:ext cx="2377440" cy="164592"/>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live target: the run calls the deployment</a:t>
            </a:r>
          </a:p>
        </p:txBody>
      </p:sp>
      <p:sp>
        <p:nvSpPr>
          <p:cNvPr id="36" name="Rectangle 35"/>
          <p:cNvSpPr/>
          <p:nvPr/>
        </p:nvSpPr>
        <p:spPr>
          <a:xfrm>
            <a:off x="9784080" y="3127248"/>
            <a:ext cx="1947672" cy="713232"/>
          </a:xfrm>
          <a:prstGeom prst="rect">
            <a:avLst/>
          </a:prstGeom>
          <a:noFill/>
          <a:ln w="9525">
            <a:solidFill>
              <a:srgbClr val="44495B"/>
            </a:solidFill>
            <a:prstDash val="dash"/>
          </a:ln>
          <a:effectLst/>
        </p:spPr>
        <p:txBody>
          <a:bodyPr wrap="square" lIns="54864" tIns="18288" rIns="54864" bIns="18288" rtlCol="0" anchor="ctr"/>
          <a:lstStyle/>
          <a:p>
            <a:pPr algn="ctr">
              <a:lnSpc>
                <a:spcPct val="100000"/>
              </a:lnSpc>
            </a:pPr>
            <a:r>
              <a:rPr sz="800" b="1" i="0" dirty="0">
                <a:solidFill>
                  <a:srgbClr val="101A3C"/>
                </a:solidFill>
                <a:latin typeface="Segoe UI"/>
                <a:cs typeface="Segoe UI"/>
              </a:rPr>
              <a:t>Blocked content never</a:t>
            </a:r>
          </a:p>
          <a:p>
            <a:pPr algn="ctr">
              <a:lnSpc>
                <a:spcPct val="100000"/>
              </a:lnSpc>
            </a:pPr>
            <a:r>
              <a:rPr sz="800" b="1" i="0" dirty="0">
                <a:solidFill>
                  <a:srgbClr val="101A3C"/>
                </a:solidFill>
                <a:latin typeface="Segoe UI"/>
                <a:cs typeface="Segoe UI"/>
              </a:rPr>
              <a:t>reaches an evaluator</a:t>
            </a:r>
          </a:p>
        </p:txBody>
      </p:sp>
      <p:sp>
        <p:nvSpPr>
          <p:cNvPr id="37" name="Rectangle 36"/>
          <p:cNvSpPr/>
          <p:nvPr/>
        </p:nvSpPr>
        <p:spPr>
          <a:xfrm>
            <a:off x="457200" y="4160520"/>
            <a:ext cx="3639312" cy="1005840"/>
          </a:xfrm>
          <a:prstGeom prst="rect">
            <a:avLst/>
          </a:prstGeom>
          <a:solidFill>
            <a:srgbClr val="F6F8FD"/>
          </a:solidFill>
          <a:ln w="9525">
            <a:solidFill>
              <a:srgbClr val="E1E7F4"/>
            </a:solidFill>
          </a:ln>
          <a:effectLst/>
        </p:spPr>
        <p:txBody>
          <a:bodyPr wrap="square" rtlCol="0" anchor="ctr"/>
          <a:lstStyle/>
          <a:p>
            <a:endParaRPr/>
          </a:p>
        </p:txBody>
      </p:sp>
      <p:sp>
        <p:nvSpPr>
          <p:cNvPr id="38" name="Rectangle 37"/>
          <p:cNvSpPr/>
          <p:nvPr/>
        </p:nvSpPr>
        <p:spPr>
          <a:xfrm>
            <a:off x="457200" y="4160520"/>
            <a:ext cx="3639312" cy="41148"/>
          </a:xfrm>
          <a:prstGeom prst="rect">
            <a:avLst/>
          </a:prstGeom>
          <a:solidFill>
            <a:srgbClr val="00B39F"/>
          </a:solidFill>
          <a:ln>
            <a:noFill/>
          </a:ln>
          <a:effectLst/>
        </p:spPr>
        <p:txBody>
          <a:bodyPr wrap="square" rtlCol="0" anchor="ctr"/>
          <a:lstStyle/>
          <a:p>
            <a:endParaRPr/>
          </a:p>
        </p:txBody>
      </p:sp>
      <p:sp>
        <p:nvSpPr>
          <p:cNvPr id="39" name="TextBox 38"/>
          <p:cNvSpPr txBox="1"/>
          <p:nvPr/>
        </p:nvSpPr>
        <p:spPr>
          <a:xfrm>
            <a:off x="60350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Guardrail question</a:t>
            </a:r>
          </a:p>
        </p:txBody>
      </p:sp>
      <p:sp>
        <p:nvSpPr>
          <p:cNvPr id="40" name="TextBox 39"/>
          <p:cNvSpPr txBox="1"/>
          <p:nvPr/>
        </p:nvSpPr>
        <p:spPr>
          <a:xfrm>
            <a:off x="603504" y="4521707"/>
            <a:ext cx="3346704" cy="59436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What was stopped, at which point, and at what severity.</a:t>
            </a:r>
          </a:p>
        </p:txBody>
      </p:sp>
      <p:sp>
        <p:nvSpPr>
          <p:cNvPr id="41" name="Rectangle 40"/>
          <p:cNvSpPr/>
          <p:nvPr/>
        </p:nvSpPr>
        <p:spPr>
          <a:xfrm>
            <a:off x="4274820" y="4160520"/>
            <a:ext cx="3639312" cy="1005840"/>
          </a:xfrm>
          <a:prstGeom prst="rect">
            <a:avLst/>
          </a:prstGeom>
          <a:solidFill>
            <a:srgbClr val="F6F8FD"/>
          </a:solidFill>
          <a:ln w="9525">
            <a:solidFill>
              <a:srgbClr val="E1E7F4"/>
            </a:solidFill>
          </a:ln>
          <a:effectLst/>
        </p:spPr>
        <p:txBody>
          <a:bodyPr wrap="square" rtlCol="0" anchor="ctr"/>
          <a:lstStyle/>
          <a:p>
            <a:endParaRPr/>
          </a:p>
        </p:txBody>
      </p:sp>
      <p:sp>
        <p:nvSpPr>
          <p:cNvPr id="42" name="Rectangle 41"/>
          <p:cNvSpPr/>
          <p:nvPr/>
        </p:nvSpPr>
        <p:spPr>
          <a:xfrm>
            <a:off x="4274820" y="4160520"/>
            <a:ext cx="3639312" cy="41148"/>
          </a:xfrm>
          <a:prstGeom prst="rect">
            <a:avLst/>
          </a:prstGeom>
          <a:solidFill>
            <a:srgbClr val="00B39F"/>
          </a:solidFill>
          <a:ln>
            <a:noFill/>
          </a:ln>
          <a:effectLst/>
        </p:spPr>
        <p:txBody>
          <a:bodyPr wrap="square" rtlCol="0" anchor="ctr"/>
          <a:lstStyle/>
          <a:p>
            <a:endParaRPr/>
          </a:p>
        </p:txBody>
      </p:sp>
      <p:sp>
        <p:nvSpPr>
          <p:cNvPr id="43" name="TextBox 42"/>
          <p:cNvSpPr txBox="1"/>
          <p:nvPr/>
        </p:nvSpPr>
        <p:spPr>
          <a:xfrm>
            <a:off x="442112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Evaluator question</a:t>
            </a:r>
          </a:p>
        </p:txBody>
      </p:sp>
      <p:sp>
        <p:nvSpPr>
          <p:cNvPr id="44" name="TextBox 43"/>
          <p:cNvSpPr txBox="1"/>
          <p:nvPr/>
        </p:nvSpPr>
        <p:spPr>
          <a:xfrm>
            <a:off x="4421124" y="4521707"/>
            <a:ext cx="3346704" cy="59436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How much risk remains in the responses that were returned.</a:t>
            </a:r>
          </a:p>
        </p:txBody>
      </p:sp>
      <p:sp>
        <p:nvSpPr>
          <p:cNvPr id="45" name="Rectangle 44"/>
          <p:cNvSpPr/>
          <p:nvPr/>
        </p:nvSpPr>
        <p:spPr>
          <a:xfrm>
            <a:off x="8092440" y="4160520"/>
            <a:ext cx="3639312" cy="1005840"/>
          </a:xfrm>
          <a:prstGeom prst="rect">
            <a:avLst/>
          </a:prstGeom>
          <a:solidFill>
            <a:srgbClr val="F6F8FD"/>
          </a:solidFill>
          <a:ln w="9525">
            <a:solidFill>
              <a:srgbClr val="E1E7F4"/>
            </a:solidFill>
          </a:ln>
          <a:effectLst/>
        </p:spPr>
        <p:txBody>
          <a:bodyPr wrap="square" rtlCol="0" anchor="ctr"/>
          <a:lstStyle/>
          <a:p>
            <a:endParaRPr/>
          </a:p>
        </p:txBody>
      </p:sp>
      <p:sp>
        <p:nvSpPr>
          <p:cNvPr id="46" name="Rectangle 45"/>
          <p:cNvSpPr/>
          <p:nvPr/>
        </p:nvSpPr>
        <p:spPr>
          <a:xfrm>
            <a:off x="8092440" y="4160520"/>
            <a:ext cx="3639312" cy="41148"/>
          </a:xfrm>
          <a:prstGeom prst="rect">
            <a:avLst/>
          </a:prstGeom>
          <a:solidFill>
            <a:srgbClr val="101A3C"/>
          </a:solidFill>
          <a:ln>
            <a:noFill/>
          </a:ln>
          <a:effectLst/>
        </p:spPr>
        <p:txBody>
          <a:bodyPr wrap="square" rtlCol="0" anchor="ctr"/>
          <a:lstStyle/>
          <a:p>
            <a:endParaRPr/>
          </a:p>
        </p:txBody>
      </p:sp>
      <p:sp>
        <p:nvSpPr>
          <p:cNvPr id="47" name="TextBox 46"/>
          <p:cNvSpPr txBox="1"/>
          <p:nvPr/>
        </p:nvSpPr>
        <p:spPr>
          <a:xfrm>
            <a:off x="823874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Shared blind spot</a:t>
            </a:r>
          </a:p>
        </p:txBody>
      </p:sp>
      <p:sp>
        <p:nvSpPr>
          <p:cNvPr id="48" name="TextBox 47"/>
          <p:cNvSpPr txBox="1"/>
          <p:nvPr/>
        </p:nvSpPr>
        <p:spPr>
          <a:xfrm>
            <a:off x="8238744" y="4521707"/>
            <a:ext cx="3346704" cy="59436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A guardrail cannot judge its own blocks; an evaluator never sees them.</a:t>
            </a:r>
          </a:p>
        </p:txBody>
      </p:sp>
      <p:sp>
        <p:nvSpPr>
          <p:cNvPr id="49" name="Rectangle 48"/>
          <p:cNvSpPr/>
          <p:nvPr/>
        </p:nvSpPr>
        <p:spPr>
          <a:xfrm>
            <a:off x="457200" y="5545836"/>
            <a:ext cx="146304" cy="91440"/>
          </a:xfrm>
          <a:prstGeom prst="rect">
            <a:avLst/>
          </a:prstGeom>
          <a:solidFill>
            <a:srgbClr val="0B1229"/>
          </a:solidFill>
          <a:ln>
            <a:noFill/>
          </a:ln>
          <a:effectLst/>
        </p:spPr>
        <p:txBody>
          <a:bodyPr wrap="square" rtlCol="0" anchor="ctr"/>
          <a:lstStyle/>
          <a:p>
            <a:endParaRPr/>
          </a:p>
        </p:txBody>
      </p:sp>
      <p:sp>
        <p:nvSpPr>
          <p:cNvPr id="50" name="TextBox 49"/>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Control layer</a:t>
            </a:r>
          </a:p>
        </p:txBody>
      </p:sp>
      <p:sp>
        <p:nvSpPr>
          <p:cNvPr id="51" name="Rectangle 50"/>
          <p:cNvSpPr/>
          <p:nvPr/>
        </p:nvSpPr>
        <p:spPr>
          <a:xfrm>
            <a:off x="1517904" y="5545836"/>
            <a:ext cx="146304" cy="91440"/>
          </a:xfrm>
          <a:prstGeom prst="rect">
            <a:avLst/>
          </a:prstGeom>
          <a:solidFill>
            <a:srgbClr val="101A3C"/>
          </a:solidFill>
          <a:ln>
            <a:noFill/>
          </a:ln>
          <a:effectLst/>
        </p:spPr>
        <p:txBody>
          <a:bodyPr wrap="square" rtlCol="0" anchor="ctr"/>
          <a:lstStyle/>
          <a:p>
            <a:endParaRPr/>
          </a:p>
        </p:txBody>
      </p:sp>
      <p:sp>
        <p:nvSpPr>
          <p:cNvPr id="52" name="TextBox 51"/>
          <p:cNvSpPr txBox="1"/>
          <p:nvPr/>
        </p:nvSpPr>
        <p:spPr>
          <a:xfrm>
            <a:off x="173736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service</a:t>
            </a:r>
          </a:p>
        </p:txBody>
      </p:sp>
      <p:sp>
        <p:nvSpPr>
          <p:cNvPr id="53" name="Rectangle 52"/>
          <p:cNvSpPr/>
          <p:nvPr/>
        </p:nvSpPr>
        <p:spPr>
          <a:xfrm>
            <a:off x="2688336"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4" name="TextBox 53"/>
          <p:cNvSpPr txBox="1"/>
          <p:nvPr/>
        </p:nvSpPr>
        <p:spPr>
          <a:xfrm>
            <a:off x="290779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Azure resource</a:t>
            </a:r>
          </a:p>
        </p:txBody>
      </p:sp>
      <p:sp>
        <p:nvSpPr>
          <p:cNvPr id="55" name="Rectangle 54"/>
          <p:cNvSpPr/>
          <p:nvPr/>
        </p:nvSpPr>
        <p:spPr>
          <a:xfrm>
            <a:off x="3803904" y="5545836"/>
            <a:ext cx="146304" cy="91440"/>
          </a:xfrm>
          <a:prstGeom prst="rect">
            <a:avLst/>
          </a:prstGeom>
          <a:solidFill>
            <a:srgbClr val="EBEFF7"/>
          </a:solidFill>
          <a:ln>
            <a:noFill/>
          </a:ln>
          <a:effectLst/>
        </p:spPr>
        <p:txBody>
          <a:bodyPr wrap="square" rtlCol="0" anchor="ctr"/>
          <a:lstStyle/>
          <a:p>
            <a:endParaRPr/>
          </a:p>
        </p:txBody>
      </p:sp>
      <p:sp>
        <p:nvSpPr>
          <p:cNvPr id="56" name="TextBox 55"/>
          <p:cNvSpPr txBox="1"/>
          <p:nvPr/>
        </p:nvSpPr>
        <p:spPr>
          <a:xfrm>
            <a:off x="402336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data</a:t>
            </a:r>
          </a:p>
        </p:txBody>
      </p:sp>
      <p:cxnSp>
        <p:nvCxnSpPr>
          <p:cNvPr id="57" name="Connector 56"/>
          <p:cNvCxnSpPr/>
          <p:nvPr/>
        </p:nvCxnSpPr>
        <p:spPr>
          <a:xfrm>
            <a:off x="4919472" y="5591556"/>
            <a:ext cx="164592" cy="0"/>
          </a:xfrm>
          <a:prstGeom prst="line">
            <a:avLst/>
          </a:prstGeom>
          <a:ln w="13970">
            <a:solidFill>
              <a:srgbClr val="44495B"/>
            </a:solidFill>
          </a:ln>
        </p:spPr>
      </p:cxnSp>
      <p:sp>
        <p:nvSpPr>
          <p:cNvPr id="58" name="TextBox 57"/>
          <p:cNvSpPr txBox="1"/>
          <p:nvPr/>
        </p:nvSpPr>
        <p:spPr>
          <a:xfrm>
            <a:off x="513892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cxnSp>
        <p:nvCxnSpPr>
          <p:cNvPr id="59" name="Connector 58"/>
          <p:cNvCxnSpPr/>
          <p:nvPr/>
        </p:nvCxnSpPr>
        <p:spPr>
          <a:xfrm>
            <a:off x="5760720" y="5591556"/>
            <a:ext cx="164592" cy="0"/>
          </a:xfrm>
          <a:prstGeom prst="line">
            <a:avLst/>
          </a:prstGeom>
          <a:ln w="13970">
            <a:solidFill>
              <a:srgbClr val="44495B"/>
            </a:solidFill>
            <a:prstDash val="dash"/>
          </a:ln>
        </p:spPr>
      </p:cxnSp>
      <p:sp>
        <p:nvSpPr>
          <p:cNvPr id="60" name="TextBox 59"/>
          <p:cNvSpPr txBox="1"/>
          <p:nvPr/>
        </p:nvSpPr>
        <p:spPr>
          <a:xfrm>
            <a:off x="598017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Evaluation call</a:t>
            </a:r>
          </a:p>
        </p:txBody>
      </p:sp>
      <p:sp>
        <p:nvSpPr>
          <p:cNvPr id="61" name="Rectangle 60"/>
          <p:cNvSpPr/>
          <p:nvPr/>
        </p:nvSpPr>
        <p:spPr>
          <a:xfrm>
            <a:off x="6931152" y="5532120"/>
            <a:ext cx="146304" cy="118872"/>
          </a:xfrm>
          <a:prstGeom prst="rect">
            <a:avLst/>
          </a:prstGeom>
          <a:noFill/>
          <a:ln w="9525">
            <a:solidFill>
              <a:srgbClr val="44495B"/>
            </a:solidFill>
            <a:prstDash val="dash"/>
          </a:ln>
          <a:effectLst/>
        </p:spPr>
        <p:txBody>
          <a:bodyPr wrap="square" rtlCol="0" anchor="ctr"/>
          <a:lstStyle/>
          <a:p>
            <a:endParaRPr/>
          </a:p>
        </p:txBody>
      </p:sp>
      <p:sp>
        <p:nvSpPr>
          <p:cNvPr id="62" name="TextBox 61"/>
          <p:cNvSpPr txBox="1"/>
          <p:nvPr/>
        </p:nvSpPr>
        <p:spPr>
          <a:xfrm>
            <a:off x="715060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Visibility limit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RUNTIME GUARDRAIL</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Guardrail control anatomy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guardrail is a named set of controls; each control combines a risk, intervention points and an action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learn.microsoft.com/azure/foundry/guardrails/guardrails-overview · guardrails/how-to-create-guardrails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4</a:t>
            </a:r>
          </a:p>
        </p:txBody>
      </p:sp>
      <p:sp>
        <p:nvSpPr>
          <p:cNvPr id="7" name="Rectangle 6"/>
          <p:cNvSpPr/>
          <p:nvPr/>
        </p:nvSpPr>
        <p:spPr>
          <a:xfrm>
            <a:off x="457200" y="1371600"/>
            <a:ext cx="1371600" cy="347472"/>
          </a:xfrm>
          <a:prstGeom prst="rect">
            <a:avLst/>
          </a:prstGeom>
          <a:solidFill>
            <a:srgbClr val="EBEFF7"/>
          </a:solidFill>
          <a:ln>
            <a:noFill/>
          </a:ln>
          <a:effectLst/>
        </p:spPr>
        <p:txBody>
          <a:bodyPr wrap="square" lIns="54864" tIns="18288" rIns="54864" bIns="18288" rtlCol="0" anchor="ctr"/>
          <a:lstStyle/>
          <a:p>
            <a:pPr algn="ctr">
              <a:lnSpc>
                <a:spcPct val="100000"/>
              </a:lnSpc>
            </a:pPr>
            <a:r>
              <a:rPr sz="950" b="1" i="0" dirty="0">
                <a:solidFill>
                  <a:srgbClr val="101A3C"/>
                </a:solidFill>
                <a:latin typeface="Segoe UI"/>
                <a:cs typeface="Segoe UI"/>
              </a:rPr>
              <a:t>Risk</a:t>
            </a:r>
          </a:p>
        </p:txBody>
      </p:sp>
      <p:sp>
        <p:nvSpPr>
          <p:cNvPr id="8" name="TextBox 7"/>
          <p:cNvSpPr txBox="1"/>
          <p:nvPr/>
        </p:nvSpPr>
        <p:spPr>
          <a:xfrm>
            <a:off x="1874519" y="1389888"/>
            <a:ext cx="274320" cy="329184"/>
          </a:xfrm>
          <a:prstGeom prst="rect">
            <a:avLst/>
          </a:prstGeom>
          <a:noFill/>
        </p:spPr>
        <p:txBody>
          <a:bodyPr wrap="square" lIns="0" tIns="0" rIns="0" bIns="0" anchor="ctr">
            <a:spAutoFit/>
          </a:bodyPr>
          <a:lstStyle/>
          <a:p>
            <a:pPr algn="ctr">
              <a:lnSpc>
                <a:spcPct val="100000"/>
              </a:lnSpc>
            </a:pPr>
            <a:r>
              <a:rPr sz="1400" b="1" i="0" dirty="0">
                <a:solidFill>
                  <a:srgbClr val="44495B"/>
                </a:solidFill>
                <a:latin typeface="Segoe UI"/>
                <a:cs typeface="Segoe UI"/>
              </a:rPr>
              <a:t>×</a:t>
            </a:r>
          </a:p>
        </p:txBody>
      </p:sp>
      <p:sp>
        <p:nvSpPr>
          <p:cNvPr id="9" name="Rectangle 8"/>
          <p:cNvSpPr/>
          <p:nvPr/>
        </p:nvSpPr>
        <p:spPr>
          <a:xfrm>
            <a:off x="2194560" y="1371600"/>
            <a:ext cx="2011680" cy="347472"/>
          </a:xfrm>
          <a:prstGeom prst="rect">
            <a:avLst/>
          </a:prstGeom>
          <a:solidFill>
            <a:srgbClr val="EBEFF7"/>
          </a:solidFill>
          <a:ln>
            <a:noFill/>
          </a:ln>
          <a:effectLst/>
        </p:spPr>
        <p:txBody>
          <a:bodyPr wrap="square" lIns="54864" tIns="18288" rIns="54864" bIns="18288" rtlCol="0" anchor="ctr"/>
          <a:lstStyle/>
          <a:p>
            <a:pPr algn="ctr">
              <a:lnSpc>
                <a:spcPct val="100000"/>
              </a:lnSpc>
            </a:pPr>
            <a:r>
              <a:rPr sz="950" b="1" i="0" dirty="0">
                <a:solidFill>
                  <a:srgbClr val="101A3C"/>
                </a:solidFill>
                <a:latin typeface="Segoe UI"/>
                <a:cs typeface="Segoe UI"/>
              </a:rPr>
              <a:t>Intervention point</a:t>
            </a:r>
          </a:p>
        </p:txBody>
      </p:sp>
      <p:sp>
        <p:nvSpPr>
          <p:cNvPr id="10" name="TextBox 9"/>
          <p:cNvSpPr txBox="1"/>
          <p:nvPr/>
        </p:nvSpPr>
        <p:spPr>
          <a:xfrm>
            <a:off x="4251960" y="1389888"/>
            <a:ext cx="274320" cy="329184"/>
          </a:xfrm>
          <a:prstGeom prst="rect">
            <a:avLst/>
          </a:prstGeom>
          <a:noFill/>
        </p:spPr>
        <p:txBody>
          <a:bodyPr wrap="square" lIns="0" tIns="0" rIns="0" bIns="0" anchor="ctr">
            <a:spAutoFit/>
          </a:bodyPr>
          <a:lstStyle/>
          <a:p>
            <a:pPr algn="ctr">
              <a:lnSpc>
                <a:spcPct val="100000"/>
              </a:lnSpc>
            </a:pPr>
            <a:r>
              <a:rPr sz="1400" b="1" i="0" dirty="0">
                <a:solidFill>
                  <a:srgbClr val="44495B"/>
                </a:solidFill>
                <a:latin typeface="Segoe UI"/>
                <a:cs typeface="Segoe UI"/>
              </a:rPr>
              <a:t>×</a:t>
            </a:r>
          </a:p>
        </p:txBody>
      </p:sp>
      <p:sp>
        <p:nvSpPr>
          <p:cNvPr id="11" name="Rectangle 10"/>
          <p:cNvSpPr/>
          <p:nvPr/>
        </p:nvSpPr>
        <p:spPr>
          <a:xfrm>
            <a:off x="4572000" y="1371600"/>
            <a:ext cx="1371600" cy="347472"/>
          </a:xfrm>
          <a:prstGeom prst="rect">
            <a:avLst/>
          </a:prstGeom>
          <a:solidFill>
            <a:srgbClr val="EBEFF7"/>
          </a:solidFill>
          <a:ln>
            <a:noFill/>
          </a:ln>
          <a:effectLst/>
        </p:spPr>
        <p:txBody>
          <a:bodyPr wrap="square" lIns="54864" tIns="18288" rIns="54864" bIns="18288" rtlCol="0" anchor="ctr"/>
          <a:lstStyle/>
          <a:p>
            <a:pPr algn="ctr">
              <a:lnSpc>
                <a:spcPct val="100000"/>
              </a:lnSpc>
            </a:pPr>
            <a:r>
              <a:rPr sz="950" b="1" i="0" dirty="0">
                <a:solidFill>
                  <a:srgbClr val="101A3C"/>
                </a:solidFill>
                <a:latin typeface="Segoe UI"/>
                <a:cs typeface="Segoe UI"/>
              </a:rPr>
              <a:t>Action</a:t>
            </a:r>
          </a:p>
        </p:txBody>
      </p:sp>
      <p:sp>
        <p:nvSpPr>
          <p:cNvPr id="12" name="TextBox 11"/>
          <p:cNvSpPr txBox="1"/>
          <p:nvPr/>
        </p:nvSpPr>
        <p:spPr>
          <a:xfrm>
            <a:off x="5989320" y="1389888"/>
            <a:ext cx="274320" cy="329184"/>
          </a:xfrm>
          <a:prstGeom prst="rect">
            <a:avLst/>
          </a:prstGeom>
          <a:noFill/>
        </p:spPr>
        <p:txBody>
          <a:bodyPr wrap="square" lIns="0" tIns="0" rIns="0" bIns="0" anchor="ctr">
            <a:spAutoFit/>
          </a:bodyPr>
          <a:lstStyle/>
          <a:p>
            <a:pPr algn="ctr">
              <a:lnSpc>
                <a:spcPct val="100000"/>
              </a:lnSpc>
            </a:pPr>
            <a:r>
              <a:rPr sz="1400" b="1" i="0" dirty="0">
                <a:solidFill>
                  <a:srgbClr val="44495B"/>
                </a:solidFill>
                <a:latin typeface="Segoe UI"/>
                <a:cs typeface="Segoe UI"/>
              </a:rPr>
              <a:t>=</a:t>
            </a:r>
          </a:p>
        </p:txBody>
      </p:sp>
      <p:sp>
        <p:nvSpPr>
          <p:cNvPr id="13" name="Rectangle 12"/>
          <p:cNvSpPr/>
          <p:nvPr/>
        </p:nvSpPr>
        <p:spPr>
          <a:xfrm>
            <a:off x="6309360" y="1371600"/>
            <a:ext cx="1371600" cy="347472"/>
          </a:xfrm>
          <a:prstGeom prst="rect">
            <a:avLst/>
          </a:prstGeom>
          <a:solidFill>
            <a:srgbClr val="101A3C"/>
          </a:solidFill>
          <a:ln>
            <a:noFill/>
          </a:ln>
          <a:effectLst/>
        </p:spPr>
        <p:txBody>
          <a:bodyPr wrap="square" lIns="54864" tIns="18288" rIns="54864" bIns="18288" rtlCol="0" anchor="ctr"/>
          <a:lstStyle/>
          <a:p>
            <a:pPr algn="ctr">
              <a:lnSpc>
                <a:spcPct val="100000"/>
              </a:lnSpc>
            </a:pPr>
            <a:r>
              <a:rPr sz="950" b="1" i="0" dirty="0">
                <a:solidFill>
                  <a:srgbClr val="FFFFFF"/>
                </a:solidFill>
                <a:latin typeface="Segoe UI"/>
                <a:cs typeface="Segoe UI"/>
              </a:rPr>
              <a:t>Control</a:t>
            </a:r>
          </a:p>
        </p:txBody>
      </p:sp>
      <p:sp>
        <p:nvSpPr>
          <p:cNvPr id="14" name="TextBox 13"/>
          <p:cNvSpPr txBox="1"/>
          <p:nvPr/>
        </p:nvSpPr>
        <p:spPr>
          <a:xfrm>
            <a:off x="457200" y="1938528"/>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INTERVENTION POINTS</a:t>
            </a:r>
          </a:p>
        </p:txBody>
      </p:sp>
      <p:sp>
        <p:nvSpPr>
          <p:cNvPr id="15" name="Rectangle 14"/>
          <p:cNvSpPr/>
          <p:nvPr/>
        </p:nvSpPr>
        <p:spPr>
          <a:xfrm>
            <a:off x="457200" y="2194560"/>
            <a:ext cx="1600200" cy="566928"/>
          </a:xfrm>
          <a:prstGeom prst="rect">
            <a:avLst/>
          </a:prstGeom>
          <a:solidFill>
            <a:srgbClr val="0B1229"/>
          </a:solidFill>
          <a:ln>
            <a:noFill/>
          </a:ln>
          <a:effectLst/>
        </p:spPr>
        <p:txBody>
          <a:bodyPr wrap="square" lIns="54864" tIns="18288" rIns="54864" bIns="18288" rtlCol="0" anchor="ctr"/>
          <a:lstStyle/>
          <a:p>
            <a:pPr algn="ctr">
              <a:lnSpc>
                <a:spcPct val="110000"/>
              </a:lnSpc>
            </a:pPr>
            <a:r>
              <a:rPr sz="900" b="1" i="0" dirty="0">
                <a:solidFill>
                  <a:srgbClr val="FFFFFF"/>
                </a:solidFill>
                <a:latin typeface="Segoe UI"/>
                <a:cs typeface="Segoe UI"/>
              </a:rPr>
              <a:t>User input</a:t>
            </a:r>
          </a:p>
          <a:p>
            <a:pPr algn="ctr">
              <a:lnSpc>
                <a:spcPct val="110000"/>
              </a:lnSpc>
            </a:pPr>
            <a:r>
              <a:rPr sz="750" b="0" i="0" dirty="0">
                <a:solidFill>
                  <a:srgbClr val="B9C2D6"/>
                </a:solidFill>
                <a:latin typeface="Segoe UI"/>
                <a:cs typeface="Segoe UI"/>
              </a:rPr>
              <a:t>models and agents</a:t>
            </a:r>
          </a:p>
        </p:txBody>
      </p:sp>
      <p:cxnSp>
        <p:nvCxnSpPr>
          <p:cNvPr id="16" name="Connector 15"/>
          <p:cNvCxnSpPr/>
          <p:nvPr/>
        </p:nvCxnSpPr>
        <p:spPr>
          <a:xfrm>
            <a:off x="2057400" y="2478024"/>
            <a:ext cx="201168" cy="0"/>
          </a:xfrm>
          <a:prstGeom prst="line">
            <a:avLst/>
          </a:prstGeom>
          <a:ln w="13970">
            <a:solidFill>
              <a:srgbClr val="44495B"/>
            </a:solidFill>
            <a:tailEnd type="triangle" w="med" len="med"/>
          </a:ln>
        </p:spPr>
      </p:cxnSp>
      <p:sp>
        <p:nvSpPr>
          <p:cNvPr id="17" name="Rectangle 16"/>
          <p:cNvSpPr/>
          <p:nvPr/>
        </p:nvSpPr>
        <p:spPr>
          <a:xfrm>
            <a:off x="2258568" y="2194560"/>
            <a:ext cx="160020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00" b="1" i="0" dirty="0">
                <a:solidFill>
                  <a:srgbClr val="101A3C"/>
                </a:solidFill>
                <a:latin typeface="Segoe UI"/>
                <a:cs typeface="Segoe UI"/>
              </a:rPr>
              <a:t>Tool call*</a:t>
            </a:r>
          </a:p>
          <a:p>
            <a:pPr algn="ctr">
              <a:lnSpc>
                <a:spcPct val="110000"/>
              </a:lnSpc>
            </a:pPr>
            <a:r>
              <a:rPr sz="750" b="0" i="0" dirty="0">
                <a:solidFill>
                  <a:srgbClr val="44495B"/>
                </a:solidFill>
                <a:latin typeface="Segoe UI"/>
                <a:cs typeface="Segoe UI"/>
              </a:rPr>
              <a:t>agents only</a:t>
            </a:r>
          </a:p>
        </p:txBody>
      </p:sp>
      <p:cxnSp>
        <p:nvCxnSpPr>
          <p:cNvPr id="18" name="Connector 17"/>
          <p:cNvCxnSpPr/>
          <p:nvPr/>
        </p:nvCxnSpPr>
        <p:spPr>
          <a:xfrm>
            <a:off x="3858768" y="2478024"/>
            <a:ext cx="201167" cy="0"/>
          </a:xfrm>
          <a:prstGeom prst="line">
            <a:avLst/>
          </a:prstGeom>
          <a:ln w="13970">
            <a:solidFill>
              <a:srgbClr val="44495B"/>
            </a:solidFill>
            <a:tailEnd type="triangle" w="med" len="med"/>
          </a:ln>
        </p:spPr>
      </p:cxnSp>
      <p:sp>
        <p:nvSpPr>
          <p:cNvPr id="19" name="Rectangle 18"/>
          <p:cNvSpPr/>
          <p:nvPr/>
        </p:nvSpPr>
        <p:spPr>
          <a:xfrm>
            <a:off x="4059935" y="2194560"/>
            <a:ext cx="1600200" cy="56692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00" b="1" i="0" dirty="0">
                <a:solidFill>
                  <a:srgbClr val="101A3C"/>
                </a:solidFill>
                <a:latin typeface="Segoe UI"/>
                <a:cs typeface="Segoe UI"/>
              </a:rPr>
              <a:t>Tool response*</a:t>
            </a:r>
          </a:p>
          <a:p>
            <a:pPr algn="ctr">
              <a:lnSpc>
                <a:spcPct val="110000"/>
              </a:lnSpc>
            </a:pPr>
            <a:r>
              <a:rPr sz="750" b="0" i="0" dirty="0">
                <a:solidFill>
                  <a:srgbClr val="44495B"/>
                </a:solidFill>
                <a:latin typeface="Segoe UI"/>
                <a:cs typeface="Segoe UI"/>
              </a:rPr>
              <a:t>agents only</a:t>
            </a:r>
          </a:p>
        </p:txBody>
      </p:sp>
      <p:cxnSp>
        <p:nvCxnSpPr>
          <p:cNvPr id="20" name="Connector 19"/>
          <p:cNvCxnSpPr/>
          <p:nvPr/>
        </p:nvCxnSpPr>
        <p:spPr>
          <a:xfrm>
            <a:off x="5660136" y="2478024"/>
            <a:ext cx="201167" cy="0"/>
          </a:xfrm>
          <a:prstGeom prst="line">
            <a:avLst/>
          </a:prstGeom>
          <a:ln w="13970">
            <a:solidFill>
              <a:srgbClr val="44495B"/>
            </a:solidFill>
            <a:tailEnd type="triangle" w="med" len="med"/>
          </a:ln>
        </p:spPr>
      </p:cxnSp>
      <p:sp>
        <p:nvSpPr>
          <p:cNvPr id="21" name="Rectangle 20"/>
          <p:cNvSpPr/>
          <p:nvPr/>
        </p:nvSpPr>
        <p:spPr>
          <a:xfrm>
            <a:off x="5861304" y="2194560"/>
            <a:ext cx="1600200" cy="566928"/>
          </a:xfrm>
          <a:prstGeom prst="rect">
            <a:avLst/>
          </a:prstGeom>
          <a:solidFill>
            <a:srgbClr val="0B1229"/>
          </a:solidFill>
          <a:ln>
            <a:noFill/>
          </a:ln>
          <a:effectLst/>
        </p:spPr>
        <p:txBody>
          <a:bodyPr wrap="square" lIns="54864" tIns="18288" rIns="54864" bIns="18288" rtlCol="0" anchor="ctr"/>
          <a:lstStyle/>
          <a:p>
            <a:pPr algn="ctr">
              <a:lnSpc>
                <a:spcPct val="110000"/>
              </a:lnSpc>
            </a:pPr>
            <a:r>
              <a:rPr sz="900" b="1" i="0" dirty="0">
                <a:solidFill>
                  <a:srgbClr val="FFFFFF"/>
                </a:solidFill>
                <a:latin typeface="Segoe UI"/>
                <a:cs typeface="Segoe UI"/>
              </a:rPr>
              <a:t>Output</a:t>
            </a:r>
          </a:p>
          <a:p>
            <a:pPr algn="ctr">
              <a:lnSpc>
                <a:spcPct val="110000"/>
              </a:lnSpc>
            </a:pPr>
            <a:r>
              <a:rPr sz="750" b="0" i="0" dirty="0">
                <a:solidFill>
                  <a:srgbClr val="B9C2D6"/>
                </a:solidFill>
                <a:latin typeface="Segoe UI"/>
                <a:cs typeface="Segoe UI"/>
              </a:rPr>
              <a:t>models and agents</a:t>
            </a:r>
          </a:p>
        </p:txBody>
      </p:sp>
      <p:sp>
        <p:nvSpPr>
          <p:cNvPr id="22" name="Rectangle 21"/>
          <p:cNvSpPr/>
          <p:nvPr/>
        </p:nvSpPr>
        <p:spPr>
          <a:xfrm>
            <a:off x="457200" y="3017520"/>
            <a:ext cx="7159752" cy="310896"/>
          </a:xfrm>
          <a:prstGeom prst="rect">
            <a:avLst/>
          </a:prstGeom>
          <a:solidFill>
            <a:srgbClr val="101A3C"/>
          </a:solidFill>
          <a:ln>
            <a:noFill/>
          </a:ln>
          <a:effectLst/>
        </p:spPr>
        <p:txBody>
          <a:bodyPr wrap="square" rtlCol="0" anchor="ctr"/>
          <a:lstStyle/>
          <a:p>
            <a:endParaRPr/>
          </a:p>
        </p:txBody>
      </p:sp>
      <p:sp>
        <p:nvSpPr>
          <p:cNvPr id="23" name="TextBox 22"/>
          <p:cNvSpPr txBox="1"/>
          <p:nvPr/>
        </p:nvSpPr>
        <p:spPr>
          <a:xfrm>
            <a:off x="585216" y="3095244"/>
            <a:ext cx="268102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Risk</a:t>
            </a:r>
          </a:p>
        </p:txBody>
      </p:sp>
      <p:sp>
        <p:nvSpPr>
          <p:cNvPr id="24" name="TextBox 23"/>
          <p:cNvSpPr txBox="1"/>
          <p:nvPr/>
        </p:nvSpPr>
        <p:spPr>
          <a:xfrm>
            <a:off x="3449116" y="3095244"/>
            <a:ext cx="239463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Intervention points</a:t>
            </a:r>
          </a:p>
        </p:txBody>
      </p:sp>
      <p:sp>
        <p:nvSpPr>
          <p:cNvPr id="25" name="TextBox 24"/>
          <p:cNvSpPr txBox="1"/>
          <p:nvPr/>
        </p:nvSpPr>
        <p:spPr>
          <a:xfrm>
            <a:off x="6026627" y="3095244"/>
            <a:ext cx="153546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Applies to</a:t>
            </a:r>
          </a:p>
        </p:txBody>
      </p:sp>
      <p:sp>
        <p:nvSpPr>
          <p:cNvPr id="26" name="Rectangle 25"/>
          <p:cNvSpPr/>
          <p:nvPr/>
        </p:nvSpPr>
        <p:spPr>
          <a:xfrm>
            <a:off x="457200" y="3328415"/>
            <a:ext cx="7159752" cy="329184"/>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657599"/>
            <a:ext cx="7159752" cy="0"/>
          </a:xfrm>
          <a:prstGeom prst="line">
            <a:avLst/>
          </a:prstGeom>
          <a:ln w="9525">
            <a:solidFill>
              <a:srgbClr val="E1E7F4"/>
            </a:solidFill>
          </a:ln>
        </p:spPr>
      </p:cxnSp>
      <p:sp>
        <p:nvSpPr>
          <p:cNvPr id="28" name="TextBox 27"/>
          <p:cNvSpPr txBox="1"/>
          <p:nvPr/>
        </p:nvSpPr>
        <p:spPr>
          <a:xfrm>
            <a:off x="585216" y="3378708"/>
            <a:ext cx="264444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Hate, sexual, violence, self-harm</a:t>
            </a:r>
          </a:p>
        </p:txBody>
      </p:sp>
      <p:sp>
        <p:nvSpPr>
          <p:cNvPr id="29" name="TextBox 28"/>
          <p:cNvSpPr txBox="1"/>
          <p:nvPr/>
        </p:nvSpPr>
        <p:spPr>
          <a:xfrm>
            <a:off x="3449116" y="3378708"/>
            <a:ext cx="235805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User input · output</a:t>
            </a:r>
          </a:p>
        </p:txBody>
      </p:sp>
      <p:sp>
        <p:nvSpPr>
          <p:cNvPr id="30" name="TextBox 29"/>
          <p:cNvSpPr txBox="1"/>
          <p:nvPr/>
        </p:nvSpPr>
        <p:spPr>
          <a:xfrm>
            <a:off x="6026627" y="3378708"/>
            <a:ext cx="149888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Models · agents*</a:t>
            </a:r>
          </a:p>
        </p:txBody>
      </p:sp>
      <p:cxnSp>
        <p:nvCxnSpPr>
          <p:cNvPr id="31" name="Connector 30"/>
          <p:cNvCxnSpPr/>
          <p:nvPr/>
        </p:nvCxnSpPr>
        <p:spPr>
          <a:xfrm>
            <a:off x="457200" y="3986783"/>
            <a:ext cx="7159752" cy="0"/>
          </a:xfrm>
          <a:prstGeom prst="line">
            <a:avLst/>
          </a:prstGeom>
          <a:ln w="9525">
            <a:solidFill>
              <a:srgbClr val="E1E7F4"/>
            </a:solidFill>
          </a:ln>
        </p:spPr>
      </p:cxnSp>
      <p:sp>
        <p:nvSpPr>
          <p:cNvPr id="32" name="TextBox 31"/>
          <p:cNvSpPr txBox="1"/>
          <p:nvPr/>
        </p:nvSpPr>
        <p:spPr>
          <a:xfrm>
            <a:off x="585216" y="3707891"/>
            <a:ext cx="264444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User prompt attacks (jailbreak)</a:t>
            </a:r>
          </a:p>
        </p:txBody>
      </p:sp>
      <p:sp>
        <p:nvSpPr>
          <p:cNvPr id="33" name="TextBox 32"/>
          <p:cNvSpPr txBox="1"/>
          <p:nvPr/>
        </p:nvSpPr>
        <p:spPr>
          <a:xfrm>
            <a:off x="3449116" y="3707891"/>
            <a:ext cx="235805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User input</a:t>
            </a:r>
          </a:p>
        </p:txBody>
      </p:sp>
      <p:sp>
        <p:nvSpPr>
          <p:cNvPr id="34" name="TextBox 33"/>
          <p:cNvSpPr txBox="1"/>
          <p:nvPr/>
        </p:nvSpPr>
        <p:spPr>
          <a:xfrm>
            <a:off x="6026627" y="3707891"/>
            <a:ext cx="149888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Models · agents*</a:t>
            </a:r>
          </a:p>
        </p:txBody>
      </p:sp>
      <p:sp>
        <p:nvSpPr>
          <p:cNvPr id="35" name="Rectangle 34"/>
          <p:cNvSpPr/>
          <p:nvPr/>
        </p:nvSpPr>
        <p:spPr>
          <a:xfrm>
            <a:off x="457200" y="3986783"/>
            <a:ext cx="7159752" cy="329184"/>
          </a:xfrm>
          <a:prstGeom prst="rect">
            <a:avLst/>
          </a:prstGeom>
          <a:solidFill>
            <a:srgbClr val="F6F8FD"/>
          </a:solidFill>
          <a:ln>
            <a:noFill/>
          </a:ln>
          <a:effectLst/>
        </p:spPr>
        <p:txBody>
          <a:bodyPr wrap="square" rtlCol="0" anchor="ctr"/>
          <a:lstStyle/>
          <a:p>
            <a:endParaRPr/>
          </a:p>
        </p:txBody>
      </p:sp>
      <p:cxnSp>
        <p:nvCxnSpPr>
          <p:cNvPr id="36" name="Connector 35"/>
          <p:cNvCxnSpPr/>
          <p:nvPr/>
        </p:nvCxnSpPr>
        <p:spPr>
          <a:xfrm>
            <a:off x="457200" y="4315968"/>
            <a:ext cx="7159752" cy="0"/>
          </a:xfrm>
          <a:prstGeom prst="line">
            <a:avLst/>
          </a:prstGeom>
          <a:ln w="9525">
            <a:solidFill>
              <a:srgbClr val="E1E7F4"/>
            </a:solidFill>
          </a:ln>
        </p:spPr>
      </p:cxnSp>
      <p:sp>
        <p:nvSpPr>
          <p:cNvPr id="37" name="TextBox 36"/>
          <p:cNvSpPr txBox="1"/>
          <p:nvPr/>
        </p:nvSpPr>
        <p:spPr>
          <a:xfrm>
            <a:off x="585216" y="4037075"/>
            <a:ext cx="264444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Indirect attacks</a:t>
            </a:r>
          </a:p>
        </p:txBody>
      </p:sp>
      <p:sp>
        <p:nvSpPr>
          <p:cNvPr id="38" name="TextBox 37"/>
          <p:cNvSpPr txBox="1"/>
          <p:nvPr/>
        </p:nvSpPr>
        <p:spPr>
          <a:xfrm>
            <a:off x="3449116" y="4037075"/>
            <a:ext cx="235805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 content · tool response*</a:t>
            </a:r>
          </a:p>
        </p:txBody>
      </p:sp>
      <p:sp>
        <p:nvSpPr>
          <p:cNvPr id="39" name="TextBox 38"/>
          <p:cNvSpPr txBox="1"/>
          <p:nvPr/>
        </p:nvSpPr>
        <p:spPr>
          <a:xfrm>
            <a:off x="6026627" y="4037075"/>
            <a:ext cx="149888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Models · agents*</a:t>
            </a:r>
          </a:p>
        </p:txBody>
      </p:sp>
      <p:cxnSp>
        <p:nvCxnSpPr>
          <p:cNvPr id="40" name="Connector 39"/>
          <p:cNvCxnSpPr/>
          <p:nvPr/>
        </p:nvCxnSpPr>
        <p:spPr>
          <a:xfrm>
            <a:off x="457200" y="4645152"/>
            <a:ext cx="7159752" cy="0"/>
          </a:xfrm>
          <a:prstGeom prst="line">
            <a:avLst/>
          </a:prstGeom>
          <a:ln w="9525">
            <a:solidFill>
              <a:srgbClr val="E1E7F4"/>
            </a:solidFill>
          </a:ln>
        </p:spPr>
      </p:cxnSp>
      <p:sp>
        <p:nvSpPr>
          <p:cNvPr id="41" name="TextBox 40"/>
          <p:cNvSpPr txBox="1"/>
          <p:nvPr/>
        </p:nvSpPr>
        <p:spPr>
          <a:xfrm>
            <a:off x="585216" y="4366259"/>
            <a:ext cx="264444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Protected material (text, code)</a:t>
            </a:r>
          </a:p>
        </p:txBody>
      </p:sp>
      <p:sp>
        <p:nvSpPr>
          <p:cNvPr id="42" name="TextBox 41"/>
          <p:cNvSpPr txBox="1"/>
          <p:nvPr/>
        </p:nvSpPr>
        <p:spPr>
          <a:xfrm>
            <a:off x="3449116" y="4366259"/>
            <a:ext cx="235805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Output</a:t>
            </a:r>
          </a:p>
        </p:txBody>
      </p:sp>
      <p:sp>
        <p:nvSpPr>
          <p:cNvPr id="43" name="TextBox 42"/>
          <p:cNvSpPr txBox="1"/>
          <p:nvPr/>
        </p:nvSpPr>
        <p:spPr>
          <a:xfrm>
            <a:off x="6026627" y="4366259"/>
            <a:ext cx="149888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Models · agents*</a:t>
            </a:r>
          </a:p>
        </p:txBody>
      </p:sp>
      <p:sp>
        <p:nvSpPr>
          <p:cNvPr id="44" name="Rectangle 43"/>
          <p:cNvSpPr/>
          <p:nvPr/>
        </p:nvSpPr>
        <p:spPr>
          <a:xfrm>
            <a:off x="457200" y="4645152"/>
            <a:ext cx="7159752" cy="329184"/>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457200" y="4974336"/>
            <a:ext cx="7159752" cy="0"/>
          </a:xfrm>
          <a:prstGeom prst="line">
            <a:avLst/>
          </a:prstGeom>
          <a:ln w="9525">
            <a:solidFill>
              <a:srgbClr val="E1E7F4"/>
            </a:solidFill>
          </a:ln>
        </p:spPr>
      </p:cxnSp>
      <p:sp>
        <p:nvSpPr>
          <p:cNvPr id="46" name="TextBox 45"/>
          <p:cNvSpPr txBox="1"/>
          <p:nvPr/>
        </p:nvSpPr>
        <p:spPr>
          <a:xfrm>
            <a:off x="585216" y="4695444"/>
            <a:ext cx="2644444"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Spotlighting*</a:t>
            </a:r>
          </a:p>
        </p:txBody>
      </p:sp>
      <p:sp>
        <p:nvSpPr>
          <p:cNvPr id="47" name="TextBox 46"/>
          <p:cNvSpPr txBox="1"/>
          <p:nvPr/>
        </p:nvSpPr>
        <p:spPr>
          <a:xfrm>
            <a:off x="3449116" y="4695444"/>
            <a:ext cx="235805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Document content in user input</a:t>
            </a:r>
          </a:p>
        </p:txBody>
      </p:sp>
      <p:sp>
        <p:nvSpPr>
          <p:cNvPr id="48" name="TextBox 47"/>
          <p:cNvSpPr txBox="1"/>
          <p:nvPr/>
        </p:nvSpPr>
        <p:spPr>
          <a:xfrm>
            <a:off x="6026627" y="4695444"/>
            <a:ext cx="149888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Models only</a:t>
            </a:r>
          </a:p>
        </p:txBody>
      </p:sp>
      <p:cxnSp>
        <p:nvCxnSpPr>
          <p:cNvPr id="49" name="Connector 48"/>
          <p:cNvCxnSpPr/>
          <p:nvPr/>
        </p:nvCxnSpPr>
        <p:spPr>
          <a:xfrm>
            <a:off x="3321100" y="3328415"/>
            <a:ext cx="0" cy="1645921"/>
          </a:xfrm>
          <a:prstGeom prst="line">
            <a:avLst/>
          </a:prstGeom>
          <a:ln w="9525">
            <a:solidFill>
              <a:srgbClr val="E1E7F4"/>
            </a:solidFill>
          </a:ln>
        </p:spPr>
      </p:cxnSp>
      <p:cxnSp>
        <p:nvCxnSpPr>
          <p:cNvPr id="50" name="Connector 49"/>
          <p:cNvCxnSpPr/>
          <p:nvPr/>
        </p:nvCxnSpPr>
        <p:spPr>
          <a:xfrm>
            <a:off x="5898611" y="3328415"/>
            <a:ext cx="0" cy="1645921"/>
          </a:xfrm>
          <a:prstGeom prst="line">
            <a:avLst/>
          </a:prstGeom>
          <a:ln w="9525">
            <a:solidFill>
              <a:srgbClr val="E1E7F4"/>
            </a:solidFill>
          </a:ln>
        </p:spPr>
      </p:cxnSp>
      <p:sp>
        <p:nvSpPr>
          <p:cNvPr id="51" name="Rectangle 50"/>
          <p:cNvSpPr/>
          <p:nvPr/>
        </p:nvSpPr>
        <p:spPr>
          <a:xfrm>
            <a:off x="8001000" y="1371600"/>
            <a:ext cx="3730752" cy="1143000"/>
          </a:xfrm>
          <a:prstGeom prst="rect">
            <a:avLst/>
          </a:prstGeom>
          <a:solidFill>
            <a:srgbClr val="F6F8FD"/>
          </a:solidFill>
          <a:ln w="9525">
            <a:solidFill>
              <a:srgbClr val="E1E7F4"/>
            </a:solidFill>
          </a:ln>
          <a:effectLst/>
        </p:spPr>
        <p:txBody>
          <a:bodyPr wrap="square" rtlCol="0" anchor="ctr"/>
          <a:lstStyle/>
          <a:p>
            <a:endParaRPr/>
          </a:p>
        </p:txBody>
      </p:sp>
      <p:sp>
        <p:nvSpPr>
          <p:cNvPr id="52" name="Rectangle 51"/>
          <p:cNvSpPr/>
          <p:nvPr/>
        </p:nvSpPr>
        <p:spPr>
          <a:xfrm>
            <a:off x="8001000" y="1371600"/>
            <a:ext cx="41148" cy="1143000"/>
          </a:xfrm>
          <a:prstGeom prst="rect">
            <a:avLst/>
          </a:prstGeom>
          <a:solidFill>
            <a:srgbClr val="00B39F"/>
          </a:solidFill>
          <a:ln>
            <a:noFill/>
          </a:ln>
          <a:effectLst/>
        </p:spPr>
        <p:txBody>
          <a:bodyPr wrap="square" rtlCol="0" anchor="ctr"/>
          <a:lstStyle/>
          <a:p>
            <a:endParaRPr/>
          </a:p>
        </p:txBody>
      </p:sp>
      <p:sp>
        <p:nvSpPr>
          <p:cNvPr id="53" name="TextBox 52"/>
          <p:cNvSpPr txBox="1"/>
          <p:nvPr/>
        </p:nvSpPr>
        <p:spPr>
          <a:xfrm>
            <a:off x="8147304" y="1472184"/>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Two actions</a:t>
            </a:r>
          </a:p>
        </p:txBody>
      </p:sp>
      <p:sp>
        <p:nvSpPr>
          <p:cNvPr id="54" name="TextBox 53"/>
          <p:cNvSpPr txBox="1"/>
          <p:nvPr/>
        </p:nvSpPr>
        <p:spPr>
          <a:xfrm>
            <a:off x="8147304" y="1714500"/>
            <a:ext cx="3438144" cy="749807"/>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Annotate: models only, approval may apply.</a:t>
            </a:r>
          </a:p>
          <a:p>
            <a:pPr algn="l">
              <a:lnSpc>
                <a:spcPct val="112000"/>
              </a:lnSpc>
              <a:spcAft>
                <a:spcPts val="250"/>
              </a:spcAft>
            </a:pPr>
            <a:r>
              <a:rPr sz="850" b="0" i="0" dirty="0">
                <a:solidFill>
                  <a:srgbClr val="44495B"/>
                </a:solidFill>
                <a:latin typeface="Segoe UI"/>
                <a:cs typeface="Segoe UI"/>
              </a:rPr>
              <a:t>Annotate and block: models and agents*.</a:t>
            </a:r>
          </a:p>
        </p:txBody>
      </p:sp>
      <p:sp>
        <p:nvSpPr>
          <p:cNvPr id="55" name="Rectangle 54"/>
          <p:cNvSpPr/>
          <p:nvPr/>
        </p:nvSpPr>
        <p:spPr>
          <a:xfrm>
            <a:off x="8001000" y="2651760"/>
            <a:ext cx="3730752" cy="1143000"/>
          </a:xfrm>
          <a:prstGeom prst="rect">
            <a:avLst/>
          </a:prstGeom>
          <a:solidFill>
            <a:srgbClr val="F6F8FD"/>
          </a:solidFill>
          <a:ln w="9525">
            <a:solidFill>
              <a:srgbClr val="E1E7F4"/>
            </a:solidFill>
          </a:ln>
          <a:effectLst/>
        </p:spPr>
        <p:txBody>
          <a:bodyPr wrap="square" rtlCol="0" anchor="ctr"/>
          <a:lstStyle/>
          <a:p>
            <a:endParaRPr/>
          </a:p>
        </p:txBody>
      </p:sp>
      <p:sp>
        <p:nvSpPr>
          <p:cNvPr id="56" name="Rectangle 55"/>
          <p:cNvSpPr/>
          <p:nvPr/>
        </p:nvSpPr>
        <p:spPr>
          <a:xfrm>
            <a:off x="8001000" y="2651760"/>
            <a:ext cx="41148" cy="1143000"/>
          </a:xfrm>
          <a:prstGeom prst="rect">
            <a:avLst/>
          </a:prstGeom>
          <a:solidFill>
            <a:srgbClr val="00B39F"/>
          </a:solidFill>
          <a:ln>
            <a:noFill/>
          </a:ln>
          <a:effectLst/>
        </p:spPr>
        <p:txBody>
          <a:bodyPr wrap="square" rtlCol="0" anchor="ctr"/>
          <a:lstStyle/>
          <a:p>
            <a:endParaRPr/>
          </a:p>
        </p:txBody>
      </p:sp>
      <p:sp>
        <p:nvSpPr>
          <p:cNvPr id="57" name="TextBox 56"/>
          <p:cNvSpPr txBox="1"/>
          <p:nvPr/>
        </p:nvSpPr>
        <p:spPr>
          <a:xfrm>
            <a:off x="8147304" y="2752344"/>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Default assignment</a:t>
            </a:r>
          </a:p>
        </p:txBody>
      </p:sp>
      <p:sp>
        <p:nvSpPr>
          <p:cNvPr id="58" name="TextBox 57"/>
          <p:cNvSpPr txBox="1"/>
          <p:nvPr/>
        </p:nvSpPr>
        <p:spPr>
          <a:xfrm>
            <a:off x="8147304" y="2994660"/>
            <a:ext cx="3438144" cy="749808"/>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Models: Microsoft.DefaultV2.</a:t>
            </a:r>
          </a:p>
          <a:p>
            <a:pPr algn="l">
              <a:lnSpc>
                <a:spcPct val="112000"/>
              </a:lnSpc>
              <a:spcAft>
                <a:spcPts val="250"/>
              </a:spcAft>
            </a:pPr>
            <a:r>
              <a:rPr sz="850" b="0" i="0" dirty="0">
                <a:solidFill>
                  <a:srgbClr val="44495B"/>
                </a:solidFill>
                <a:latin typeface="Segoe UI"/>
                <a:cs typeface="Segoe UI"/>
              </a:rPr>
              <a:t>Agents: own guardrail if assigned, else the model's.</a:t>
            </a:r>
          </a:p>
        </p:txBody>
      </p:sp>
      <p:sp>
        <p:nvSpPr>
          <p:cNvPr id="59" name="Rectangle 58"/>
          <p:cNvSpPr/>
          <p:nvPr/>
        </p:nvSpPr>
        <p:spPr>
          <a:xfrm>
            <a:off x="8001000" y="3931920"/>
            <a:ext cx="3730752" cy="1143000"/>
          </a:xfrm>
          <a:prstGeom prst="rect">
            <a:avLst/>
          </a:prstGeom>
          <a:solidFill>
            <a:srgbClr val="F6F8FD"/>
          </a:solidFill>
          <a:ln w="9525">
            <a:solidFill>
              <a:srgbClr val="E1E7F4"/>
            </a:solidFill>
          </a:ln>
          <a:effectLst/>
        </p:spPr>
        <p:txBody>
          <a:bodyPr wrap="square" rtlCol="0" anchor="ctr"/>
          <a:lstStyle/>
          <a:p>
            <a:endParaRPr/>
          </a:p>
        </p:txBody>
      </p:sp>
      <p:sp>
        <p:nvSpPr>
          <p:cNvPr id="60" name="Rectangle 59"/>
          <p:cNvSpPr/>
          <p:nvPr/>
        </p:nvSpPr>
        <p:spPr>
          <a:xfrm>
            <a:off x="8001000" y="3931920"/>
            <a:ext cx="41148" cy="1143000"/>
          </a:xfrm>
          <a:prstGeom prst="rect">
            <a:avLst/>
          </a:prstGeom>
          <a:solidFill>
            <a:srgbClr val="101A3C"/>
          </a:solidFill>
          <a:ln>
            <a:noFill/>
          </a:ln>
          <a:effectLst/>
        </p:spPr>
        <p:txBody>
          <a:bodyPr wrap="square" rtlCol="0" anchor="ctr"/>
          <a:lstStyle/>
          <a:p>
            <a:endParaRPr/>
          </a:p>
        </p:txBody>
      </p:sp>
      <p:sp>
        <p:nvSpPr>
          <p:cNvPr id="61" name="TextBox 60"/>
          <p:cNvSpPr txBox="1"/>
          <p:nvPr/>
        </p:nvSpPr>
        <p:spPr>
          <a:xfrm>
            <a:off x="8147304" y="4032504"/>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Fixed controls</a:t>
            </a:r>
          </a:p>
        </p:txBody>
      </p:sp>
      <p:sp>
        <p:nvSpPr>
          <p:cNvPr id="62" name="TextBox 61"/>
          <p:cNvSpPr txBox="1"/>
          <p:nvPr/>
        </p:nvSpPr>
        <p:spPr>
          <a:xfrm>
            <a:off x="8147304" y="4274820"/>
            <a:ext cx="3438144" cy="749807"/>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Content-harm controls on input and output</a:t>
            </a:r>
          </a:p>
          <a:p>
            <a:pPr algn="l">
              <a:lnSpc>
                <a:spcPct val="112000"/>
              </a:lnSpc>
              <a:spcAft>
                <a:spcPts val="250"/>
              </a:spcAft>
            </a:pPr>
            <a:r>
              <a:rPr sz="850" b="0" i="0" dirty="0">
                <a:solidFill>
                  <a:srgbClr val="44495B"/>
                </a:solidFill>
                <a:latin typeface="Segoe UI"/>
                <a:cs typeface="Segoe UI"/>
              </a:rPr>
              <a:t>can be overridden, not deleted.</a:t>
            </a:r>
          </a:p>
        </p:txBody>
      </p:sp>
      <p:sp>
        <p:nvSpPr>
          <p:cNvPr id="63" name="TextBox 62"/>
          <p:cNvSpPr txBox="1"/>
          <p:nvPr/>
        </p:nvSpPr>
        <p:spPr>
          <a:xfrm>
            <a:off x="457200" y="5120640"/>
            <a:ext cx="7159752" cy="182880"/>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Also available: groundedness*, personally identifiable information*, task adherence*, custom blocklists.</a:t>
            </a:r>
          </a:p>
        </p:txBody>
      </p:sp>
      <p:sp>
        <p:nvSpPr>
          <p:cNvPr id="64" name="TextBox 63"/>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
        <p:nvSpPr>
          <p:cNvPr id="65" name="Rectangle 64"/>
          <p:cNvSpPr/>
          <p:nvPr/>
        </p:nvSpPr>
        <p:spPr>
          <a:xfrm>
            <a:off x="457200" y="5545836"/>
            <a:ext cx="146304" cy="91440"/>
          </a:xfrm>
          <a:prstGeom prst="rect">
            <a:avLst/>
          </a:prstGeom>
          <a:solidFill>
            <a:srgbClr val="0B1229"/>
          </a:solidFill>
          <a:ln>
            <a:noFill/>
          </a:ln>
          <a:effectLst/>
        </p:spPr>
        <p:txBody>
          <a:bodyPr wrap="square" rtlCol="0" anchor="ctr"/>
          <a:lstStyle/>
          <a:p>
            <a:endParaRPr/>
          </a:p>
        </p:txBody>
      </p:sp>
      <p:sp>
        <p:nvSpPr>
          <p:cNvPr id="66" name="TextBox 65"/>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Intervention point for models and agents</a:t>
            </a:r>
          </a:p>
        </p:txBody>
      </p:sp>
      <p:sp>
        <p:nvSpPr>
          <p:cNvPr id="67" name="Rectangle 66"/>
          <p:cNvSpPr/>
          <p:nvPr/>
        </p:nvSpPr>
        <p:spPr>
          <a:xfrm>
            <a:off x="299923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68" name="TextBox 67"/>
          <p:cNvSpPr txBox="1"/>
          <p:nvPr/>
        </p:nvSpPr>
        <p:spPr>
          <a:xfrm>
            <a:off x="321868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Agent-only intervention point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RUNTIME GUARDRAIL</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Severity thresholds and blocking levels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Each content-harm control blocks from a chosen severity upwards; safe content is never blocked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learn.microsoft.com/azure/foundry/openai/concepts/content-filter-severity-levels · content-filters (classic)</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5</a:t>
            </a:r>
          </a:p>
        </p:txBody>
      </p:sp>
      <p:sp>
        <p:nvSpPr>
          <p:cNvPr id="7" name="Rectangle 6"/>
          <p:cNvSpPr/>
          <p:nvPr/>
        </p:nvSpPr>
        <p:spPr>
          <a:xfrm>
            <a:off x="457200" y="1417320"/>
            <a:ext cx="11277295" cy="274320"/>
          </a:xfrm>
          <a:prstGeom prst="rect">
            <a:avLst/>
          </a:prstGeom>
          <a:solidFill>
            <a:srgbClr val="EBEFF7"/>
          </a:solidFill>
          <a:ln>
            <a:noFill/>
          </a:ln>
          <a:effectLst/>
        </p:spPr>
        <p:txBody>
          <a:bodyPr wrap="square" rtlCol="0" anchor="ctr"/>
          <a:lstStyle/>
          <a:p>
            <a:endParaRPr/>
          </a:p>
        </p:txBody>
      </p:sp>
      <p:sp>
        <p:nvSpPr>
          <p:cNvPr id="8" name="TextBox 7"/>
          <p:cNvSpPr txBox="1"/>
          <p:nvPr/>
        </p:nvSpPr>
        <p:spPr>
          <a:xfrm>
            <a:off x="640080" y="1472184"/>
            <a:ext cx="3657600" cy="182880"/>
          </a:xfrm>
          <a:prstGeom prst="rect">
            <a:avLst/>
          </a:prstGeom>
          <a:noFill/>
        </p:spPr>
        <p:txBody>
          <a:bodyPr wrap="square" lIns="0" tIns="0" rIns="0" bIns="0" anchor="t">
            <a:spAutoFit/>
          </a:bodyPr>
          <a:lstStyle/>
          <a:p>
            <a:pPr algn="l">
              <a:lnSpc>
                <a:spcPct val="100000"/>
              </a:lnSpc>
            </a:pPr>
            <a:r>
              <a:rPr sz="800" b="1" i="0" spc="100" dirty="0">
                <a:solidFill>
                  <a:srgbClr val="101A3C"/>
                </a:solidFill>
                <a:latin typeface="Segoe UI"/>
                <a:cs typeface="Segoe UI"/>
              </a:rPr>
              <a:t>◄  BLOCKS LESS CONTENT</a:t>
            </a:r>
          </a:p>
        </p:txBody>
      </p:sp>
      <p:sp>
        <p:nvSpPr>
          <p:cNvPr id="9" name="TextBox 8"/>
          <p:cNvSpPr txBox="1"/>
          <p:nvPr/>
        </p:nvSpPr>
        <p:spPr>
          <a:xfrm>
            <a:off x="7894015" y="1472184"/>
            <a:ext cx="3657600" cy="182880"/>
          </a:xfrm>
          <a:prstGeom prst="rect">
            <a:avLst/>
          </a:prstGeom>
          <a:noFill/>
        </p:spPr>
        <p:txBody>
          <a:bodyPr wrap="square" lIns="0" tIns="0" rIns="0" bIns="0" anchor="t">
            <a:spAutoFit/>
          </a:bodyPr>
          <a:lstStyle/>
          <a:p>
            <a:pPr algn="r">
              <a:lnSpc>
                <a:spcPct val="100000"/>
              </a:lnSpc>
            </a:pPr>
            <a:r>
              <a:rPr sz="800" b="1" i="0" spc="100" dirty="0">
                <a:solidFill>
                  <a:srgbClr val="101A3C"/>
                </a:solidFill>
                <a:latin typeface="Segoe UI"/>
                <a:cs typeface="Segoe UI"/>
              </a:rPr>
              <a:t>BLOCKS MORE CONTENT  ►</a:t>
            </a:r>
          </a:p>
        </p:txBody>
      </p:sp>
      <p:sp>
        <p:nvSpPr>
          <p:cNvPr id="10" name="Rectangle 9"/>
          <p:cNvSpPr/>
          <p:nvPr/>
        </p:nvSpPr>
        <p:spPr>
          <a:xfrm>
            <a:off x="457200" y="1874519"/>
            <a:ext cx="11277295" cy="310896"/>
          </a:xfrm>
          <a:prstGeom prst="rect">
            <a:avLst/>
          </a:prstGeom>
          <a:solidFill>
            <a:srgbClr val="101A3C"/>
          </a:solidFill>
          <a:ln>
            <a:noFill/>
          </a:ln>
          <a:effectLst/>
        </p:spPr>
        <p:txBody>
          <a:bodyPr wrap="square" rtlCol="0" anchor="ctr"/>
          <a:lstStyle/>
          <a:p>
            <a:endParaRPr/>
          </a:p>
        </p:txBody>
      </p:sp>
      <p:sp>
        <p:nvSpPr>
          <p:cNvPr id="11" name="TextBox 10"/>
          <p:cNvSpPr txBox="1"/>
          <p:nvPr/>
        </p:nvSpPr>
        <p:spPr>
          <a:xfrm>
            <a:off x="585216" y="1952243"/>
            <a:ext cx="207257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Portal setting</a:t>
            </a:r>
          </a:p>
        </p:txBody>
      </p:sp>
      <p:sp>
        <p:nvSpPr>
          <p:cNvPr id="12" name="TextBox 11"/>
          <p:cNvSpPr txBox="1"/>
          <p:nvPr/>
        </p:nvSpPr>
        <p:spPr>
          <a:xfrm>
            <a:off x="2840675" y="1952243"/>
            <a:ext cx="162148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API threshold</a:t>
            </a:r>
          </a:p>
        </p:txBody>
      </p:sp>
      <p:sp>
        <p:nvSpPr>
          <p:cNvPr id="13" name="TextBox 12"/>
          <p:cNvSpPr txBox="1"/>
          <p:nvPr/>
        </p:nvSpPr>
        <p:spPr>
          <a:xfrm>
            <a:off x="4645042" y="1952243"/>
            <a:ext cx="455358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Severities blocked</a:t>
            </a:r>
          </a:p>
        </p:txBody>
      </p:sp>
      <p:sp>
        <p:nvSpPr>
          <p:cNvPr id="14" name="TextBox 13"/>
          <p:cNvSpPr txBox="1"/>
          <p:nvPr/>
        </p:nvSpPr>
        <p:spPr>
          <a:xfrm>
            <a:off x="9381506" y="1952243"/>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Annotations</a:t>
            </a:r>
          </a:p>
        </p:txBody>
      </p:sp>
      <p:sp>
        <p:nvSpPr>
          <p:cNvPr id="15" name="Rectangle 14"/>
          <p:cNvSpPr/>
          <p:nvPr/>
        </p:nvSpPr>
        <p:spPr>
          <a:xfrm>
            <a:off x="457200" y="2185415"/>
            <a:ext cx="11277295" cy="365760"/>
          </a:xfrm>
          <a:prstGeom prst="rect">
            <a:avLst/>
          </a:prstGeom>
          <a:solidFill>
            <a:srgbClr val="F6F8FD"/>
          </a:solidFill>
          <a:ln>
            <a:noFill/>
          </a:ln>
          <a:effectLst/>
        </p:spPr>
        <p:txBody>
          <a:bodyPr wrap="square" rtlCol="0" anchor="ctr"/>
          <a:lstStyle/>
          <a:p>
            <a:endParaRPr/>
          </a:p>
        </p:txBody>
      </p:sp>
      <p:cxnSp>
        <p:nvCxnSpPr>
          <p:cNvPr id="16" name="Connector 15"/>
          <p:cNvCxnSpPr/>
          <p:nvPr/>
        </p:nvCxnSpPr>
        <p:spPr>
          <a:xfrm>
            <a:off x="457200" y="2551175"/>
            <a:ext cx="11277295" cy="0"/>
          </a:xfrm>
          <a:prstGeom prst="line">
            <a:avLst/>
          </a:prstGeom>
          <a:ln w="9525">
            <a:solidFill>
              <a:srgbClr val="E1E7F4"/>
            </a:solidFill>
          </a:ln>
        </p:spPr>
      </p:cxnSp>
      <p:sp>
        <p:nvSpPr>
          <p:cNvPr id="17" name="TextBox 16"/>
          <p:cNvSpPr txBox="1"/>
          <p:nvPr/>
        </p:nvSpPr>
        <p:spPr>
          <a:xfrm>
            <a:off x="585216" y="2235708"/>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Off</a:t>
            </a:r>
          </a:p>
        </p:txBody>
      </p:sp>
      <p:sp>
        <p:nvSpPr>
          <p:cNvPr id="18" name="TextBox 17"/>
          <p:cNvSpPr txBox="1"/>
          <p:nvPr/>
        </p:nvSpPr>
        <p:spPr>
          <a:xfrm>
            <a:off x="2840675" y="2235708"/>
            <a:ext cx="1584911"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Off</a:t>
            </a:r>
          </a:p>
        </p:txBody>
      </p:sp>
      <p:sp>
        <p:nvSpPr>
          <p:cNvPr id="19" name="TextBox 18"/>
          <p:cNvSpPr txBox="1"/>
          <p:nvPr/>
        </p:nvSpPr>
        <p:spPr>
          <a:xfrm>
            <a:off x="4645042" y="2235708"/>
            <a:ext cx="4517007"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 detection disabled (approved customers only)</a:t>
            </a:r>
          </a:p>
        </p:txBody>
      </p:sp>
      <p:sp>
        <p:nvSpPr>
          <p:cNvPr id="20" name="TextBox 19"/>
          <p:cNvSpPr txBox="1"/>
          <p:nvPr/>
        </p:nvSpPr>
        <p:spPr>
          <a:xfrm>
            <a:off x="9381506" y="2235708"/>
            <a:ext cx="2261548"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a:t>
            </a:r>
          </a:p>
        </p:txBody>
      </p:sp>
      <p:cxnSp>
        <p:nvCxnSpPr>
          <p:cNvPr id="21" name="Connector 20"/>
          <p:cNvCxnSpPr/>
          <p:nvPr/>
        </p:nvCxnSpPr>
        <p:spPr>
          <a:xfrm>
            <a:off x="457200" y="2916935"/>
            <a:ext cx="11277295" cy="0"/>
          </a:xfrm>
          <a:prstGeom prst="line">
            <a:avLst/>
          </a:prstGeom>
          <a:ln w="9525">
            <a:solidFill>
              <a:srgbClr val="E1E7F4"/>
            </a:solidFill>
          </a:ln>
        </p:spPr>
      </p:cxnSp>
      <p:sp>
        <p:nvSpPr>
          <p:cNvPr id="22" name="TextBox 21"/>
          <p:cNvSpPr txBox="1"/>
          <p:nvPr/>
        </p:nvSpPr>
        <p:spPr>
          <a:xfrm>
            <a:off x="585216" y="2601468"/>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Lowest blocking</a:t>
            </a:r>
          </a:p>
        </p:txBody>
      </p:sp>
      <p:sp>
        <p:nvSpPr>
          <p:cNvPr id="23" name="TextBox 22"/>
          <p:cNvSpPr txBox="1"/>
          <p:nvPr/>
        </p:nvSpPr>
        <p:spPr>
          <a:xfrm>
            <a:off x="2840675" y="2601468"/>
            <a:ext cx="1584911"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High</a:t>
            </a:r>
          </a:p>
        </p:txBody>
      </p:sp>
      <p:sp>
        <p:nvSpPr>
          <p:cNvPr id="24" name="TextBox 23"/>
          <p:cNvSpPr txBox="1"/>
          <p:nvPr/>
        </p:nvSpPr>
        <p:spPr>
          <a:xfrm>
            <a:off x="4645042" y="2601468"/>
            <a:ext cx="4517007"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High only</a:t>
            </a:r>
          </a:p>
        </p:txBody>
      </p:sp>
      <p:sp>
        <p:nvSpPr>
          <p:cNvPr id="25" name="TextBox 24"/>
          <p:cNvSpPr txBox="1"/>
          <p:nvPr/>
        </p:nvSpPr>
        <p:spPr>
          <a:xfrm>
            <a:off x="9381506" y="2601468"/>
            <a:ext cx="2261548"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All severities returned</a:t>
            </a:r>
          </a:p>
        </p:txBody>
      </p:sp>
      <p:sp>
        <p:nvSpPr>
          <p:cNvPr id="26" name="Rectangle 25"/>
          <p:cNvSpPr/>
          <p:nvPr/>
        </p:nvSpPr>
        <p:spPr>
          <a:xfrm>
            <a:off x="457200" y="2916935"/>
            <a:ext cx="11277295" cy="365760"/>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282695"/>
            <a:ext cx="11277295" cy="0"/>
          </a:xfrm>
          <a:prstGeom prst="line">
            <a:avLst/>
          </a:prstGeom>
          <a:ln w="9525">
            <a:solidFill>
              <a:srgbClr val="E1E7F4"/>
            </a:solidFill>
          </a:ln>
        </p:spPr>
      </p:cxnSp>
      <p:sp>
        <p:nvSpPr>
          <p:cNvPr id="28" name="TextBox 27"/>
          <p:cNvSpPr txBox="1"/>
          <p:nvPr/>
        </p:nvSpPr>
        <p:spPr>
          <a:xfrm>
            <a:off x="585216" y="2967227"/>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Medium blocking</a:t>
            </a:r>
          </a:p>
        </p:txBody>
      </p:sp>
      <p:sp>
        <p:nvSpPr>
          <p:cNvPr id="29" name="TextBox 28"/>
          <p:cNvSpPr txBox="1"/>
          <p:nvPr/>
        </p:nvSpPr>
        <p:spPr>
          <a:xfrm>
            <a:off x="2840675" y="2967227"/>
            <a:ext cx="1584911"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Medium</a:t>
            </a:r>
          </a:p>
        </p:txBody>
      </p:sp>
      <p:sp>
        <p:nvSpPr>
          <p:cNvPr id="30" name="TextBox 29"/>
          <p:cNvSpPr txBox="1"/>
          <p:nvPr/>
        </p:nvSpPr>
        <p:spPr>
          <a:xfrm>
            <a:off x="4645042" y="2967227"/>
            <a:ext cx="4517007"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Medium and high</a:t>
            </a:r>
          </a:p>
        </p:txBody>
      </p:sp>
      <p:sp>
        <p:nvSpPr>
          <p:cNvPr id="31" name="TextBox 30"/>
          <p:cNvSpPr txBox="1"/>
          <p:nvPr/>
        </p:nvSpPr>
        <p:spPr>
          <a:xfrm>
            <a:off x="9381506" y="2967227"/>
            <a:ext cx="2261548"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All severities returned</a:t>
            </a:r>
          </a:p>
        </p:txBody>
      </p:sp>
      <p:cxnSp>
        <p:nvCxnSpPr>
          <p:cNvPr id="32" name="Connector 31"/>
          <p:cNvCxnSpPr/>
          <p:nvPr/>
        </p:nvCxnSpPr>
        <p:spPr>
          <a:xfrm>
            <a:off x="457200" y="3648455"/>
            <a:ext cx="11277295" cy="0"/>
          </a:xfrm>
          <a:prstGeom prst="line">
            <a:avLst/>
          </a:prstGeom>
          <a:ln w="9525">
            <a:solidFill>
              <a:srgbClr val="E1E7F4"/>
            </a:solidFill>
          </a:ln>
        </p:spPr>
      </p:cxnSp>
      <p:sp>
        <p:nvSpPr>
          <p:cNvPr id="33" name="TextBox 32"/>
          <p:cNvSpPr txBox="1"/>
          <p:nvPr/>
        </p:nvSpPr>
        <p:spPr>
          <a:xfrm>
            <a:off x="585216" y="3332987"/>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Highest blocking</a:t>
            </a:r>
          </a:p>
        </p:txBody>
      </p:sp>
      <p:sp>
        <p:nvSpPr>
          <p:cNvPr id="34" name="TextBox 33"/>
          <p:cNvSpPr txBox="1"/>
          <p:nvPr/>
        </p:nvSpPr>
        <p:spPr>
          <a:xfrm>
            <a:off x="2840675" y="3332987"/>
            <a:ext cx="1584911"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Low</a:t>
            </a:r>
          </a:p>
        </p:txBody>
      </p:sp>
      <p:sp>
        <p:nvSpPr>
          <p:cNvPr id="35" name="TextBox 34"/>
          <p:cNvSpPr txBox="1"/>
          <p:nvPr/>
        </p:nvSpPr>
        <p:spPr>
          <a:xfrm>
            <a:off x="4645042" y="3332987"/>
            <a:ext cx="4517007"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Low, medium and high</a:t>
            </a:r>
          </a:p>
        </p:txBody>
      </p:sp>
      <p:sp>
        <p:nvSpPr>
          <p:cNvPr id="36" name="TextBox 35"/>
          <p:cNvSpPr txBox="1"/>
          <p:nvPr/>
        </p:nvSpPr>
        <p:spPr>
          <a:xfrm>
            <a:off x="9381506" y="3332987"/>
            <a:ext cx="2261548"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All severities returned</a:t>
            </a:r>
          </a:p>
        </p:txBody>
      </p:sp>
      <p:sp>
        <p:nvSpPr>
          <p:cNvPr id="37" name="Rectangle 36"/>
          <p:cNvSpPr/>
          <p:nvPr/>
        </p:nvSpPr>
        <p:spPr>
          <a:xfrm>
            <a:off x="457200" y="3648455"/>
            <a:ext cx="11277295" cy="365760"/>
          </a:xfrm>
          <a:prstGeom prst="rect">
            <a:avLst/>
          </a:prstGeom>
          <a:solidFill>
            <a:srgbClr val="F6F8FD"/>
          </a:solidFill>
          <a:ln>
            <a:noFill/>
          </a:ln>
          <a:effectLst/>
        </p:spPr>
        <p:txBody>
          <a:bodyPr wrap="square" rtlCol="0" anchor="ctr"/>
          <a:lstStyle/>
          <a:p>
            <a:endParaRPr/>
          </a:p>
        </p:txBody>
      </p:sp>
      <p:cxnSp>
        <p:nvCxnSpPr>
          <p:cNvPr id="38" name="Connector 37"/>
          <p:cNvCxnSpPr/>
          <p:nvPr/>
        </p:nvCxnSpPr>
        <p:spPr>
          <a:xfrm>
            <a:off x="457200" y="4014215"/>
            <a:ext cx="11277295" cy="0"/>
          </a:xfrm>
          <a:prstGeom prst="line">
            <a:avLst/>
          </a:prstGeom>
          <a:ln w="9525">
            <a:solidFill>
              <a:srgbClr val="E1E7F4"/>
            </a:solidFill>
          </a:ln>
        </p:spPr>
      </p:cxnSp>
      <p:sp>
        <p:nvSpPr>
          <p:cNvPr id="39" name="TextBox 38"/>
          <p:cNvSpPr txBox="1"/>
          <p:nvPr/>
        </p:nvSpPr>
        <p:spPr>
          <a:xfrm>
            <a:off x="585216" y="3698747"/>
            <a:ext cx="2036003" cy="283464"/>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Annotate only</a:t>
            </a:r>
          </a:p>
        </p:txBody>
      </p:sp>
      <p:sp>
        <p:nvSpPr>
          <p:cNvPr id="40" name="TextBox 39"/>
          <p:cNvSpPr txBox="1"/>
          <p:nvPr/>
        </p:nvSpPr>
        <p:spPr>
          <a:xfrm>
            <a:off x="2840675" y="3698747"/>
            <a:ext cx="1584911"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t>
            </a:r>
          </a:p>
        </p:txBody>
      </p:sp>
      <p:sp>
        <p:nvSpPr>
          <p:cNvPr id="41" name="TextBox 40"/>
          <p:cNvSpPr txBox="1"/>
          <p:nvPr/>
        </p:nvSpPr>
        <p:spPr>
          <a:xfrm>
            <a:off x="4645042" y="3698747"/>
            <a:ext cx="4517007"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 detection runs, nothing blocked (approval may apply)</a:t>
            </a:r>
          </a:p>
        </p:txBody>
      </p:sp>
      <p:sp>
        <p:nvSpPr>
          <p:cNvPr id="42" name="TextBox 41"/>
          <p:cNvSpPr txBox="1"/>
          <p:nvPr/>
        </p:nvSpPr>
        <p:spPr>
          <a:xfrm>
            <a:off x="9381506" y="3698747"/>
            <a:ext cx="2261548" cy="283464"/>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All severities returned</a:t>
            </a:r>
          </a:p>
        </p:txBody>
      </p:sp>
      <p:cxnSp>
        <p:nvCxnSpPr>
          <p:cNvPr id="43" name="Connector 42"/>
          <p:cNvCxnSpPr/>
          <p:nvPr/>
        </p:nvCxnSpPr>
        <p:spPr>
          <a:xfrm>
            <a:off x="2712659" y="2185415"/>
            <a:ext cx="0" cy="1828800"/>
          </a:xfrm>
          <a:prstGeom prst="line">
            <a:avLst/>
          </a:prstGeom>
          <a:ln w="9525">
            <a:solidFill>
              <a:srgbClr val="E1E7F4"/>
            </a:solidFill>
          </a:ln>
        </p:spPr>
      </p:cxnSp>
      <p:cxnSp>
        <p:nvCxnSpPr>
          <p:cNvPr id="44" name="Connector 43"/>
          <p:cNvCxnSpPr/>
          <p:nvPr/>
        </p:nvCxnSpPr>
        <p:spPr>
          <a:xfrm>
            <a:off x="4517026" y="2185415"/>
            <a:ext cx="0" cy="1828800"/>
          </a:xfrm>
          <a:prstGeom prst="line">
            <a:avLst/>
          </a:prstGeom>
          <a:ln w="9525">
            <a:solidFill>
              <a:srgbClr val="E1E7F4"/>
            </a:solidFill>
          </a:ln>
        </p:spPr>
      </p:cxnSp>
      <p:cxnSp>
        <p:nvCxnSpPr>
          <p:cNvPr id="45" name="Connector 44"/>
          <p:cNvCxnSpPr/>
          <p:nvPr/>
        </p:nvCxnSpPr>
        <p:spPr>
          <a:xfrm>
            <a:off x="9253490" y="2185415"/>
            <a:ext cx="0" cy="1828800"/>
          </a:xfrm>
          <a:prstGeom prst="line">
            <a:avLst/>
          </a:prstGeom>
          <a:ln w="9525">
            <a:solidFill>
              <a:srgbClr val="E1E7F4"/>
            </a:solidFill>
          </a:ln>
        </p:spPr>
      </p:cxnSp>
      <p:sp>
        <p:nvSpPr>
          <p:cNvPr id="46" name="Rectangle 45"/>
          <p:cNvSpPr/>
          <p:nvPr/>
        </p:nvSpPr>
        <p:spPr>
          <a:xfrm>
            <a:off x="457200" y="4160520"/>
            <a:ext cx="3639312" cy="1143000"/>
          </a:xfrm>
          <a:prstGeom prst="rect">
            <a:avLst/>
          </a:prstGeom>
          <a:solidFill>
            <a:srgbClr val="F6F8FD"/>
          </a:solidFill>
          <a:ln w="9525">
            <a:solidFill>
              <a:srgbClr val="E1E7F4"/>
            </a:solidFill>
          </a:ln>
          <a:effectLst/>
        </p:spPr>
        <p:txBody>
          <a:bodyPr wrap="square" rtlCol="0" anchor="ctr"/>
          <a:lstStyle/>
          <a:p>
            <a:endParaRPr/>
          </a:p>
        </p:txBody>
      </p:sp>
      <p:sp>
        <p:nvSpPr>
          <p:cNvPr id="47" name="Rectangle 46"/>
          <p:cNvSpPr/>
          <p:nvPr/>
        </p:nvSpPr>
        <p:spPr>
          <a:xfrm>
            <a:off x="457200" y="4160520"/>
            <a:ext cx="3639312" cy="41148"/>
          </a:xfrm>
          <a:prstGeom prst="rect">
            <a:avLst/>
          </a:prstGeom>
          <a:solidFill>
            <a:srgbClr val="00B39F"/>
          </a:solidFill>
          <a:ln>
            <a:noFill/>
          </a:ln>
          <a:effectLst/>
        </p:spPr>
        <p:txBody>
          <a:bodyPr wrap="square" rtlCol="0" anchor="ctr"/>
          <a:lstStyle/>
          <a:p>
            <a:endParaRPr/>
          </a:p>
        </p:txBody>
      </p:sp>
      <p:sp>
        <p:nvSpPr>
          <p:cNvPr id="48" name="TextBox 47"/>
          <p:cNvSpPr txBox="1"/>
          <p:nvPr/>
        </p:nvSpPr>
        <p:spPr>
          <a:xfrm>
            <a:off x="60350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Opposite naming directions</a:t>
            </a:r>
          </a:p>
        </p:txBody>
      </p:sp>
      <p:sp>
        <p:nvSpPr>
          <p:cNvPr id="49" name="TextBox 48"/>
          <p:cNvSpPr txBox="1"/>
          <p:nvPr/>
        </p:nvSpPr>
        <p:spPr>
          <a:xfrm>
            <a:off x="603504" y="4521707"/>
            <a:ext cx="3346704" cy="73152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Portal label names the amount blocked; API threshold names</a:t>
            </a:r>
          </a:p>
          <a:p>
            <a:pPr algn="l">
              <a:lnSpc>
                <a:spcPct val="112000"/>
              </a:lnSpc>
              <a:spcAft>
                <a:spcPts val="250"/>
              </a:spcAft>
            </a:pPr>
            <a:r>
              <a:rPr sz="850" b="0" i="0" dirty="0">
                <a:solidFill>
                  <a:srgbClr val="44495B"/>
                </a:solidFill>
                <a:latin typeface="Segoe UI"/>
                <a:cs typeface="Segoe UI"/>
              </a:rPr>
              <a:t>the lowest severity that triggers a block.</a:t>
            </a:r>
          </a:p>
        </p:txBody>
      </p:sp>
      <p:sp>
        <p:nvSpPr>
          <p:cNvPr id="50" name="Rectangle 49"/>
          <p:cNvSpPr/>
          <p:nvPr/>
        </p:nvSpPr>
        <p:spPr>
          <a:xfrm>
            <a:off x="4274820" y="4160520"/>
            <a:ext cx="3639312" cy="1143000"/>
          </a:xfrm>
          <a:prstGeom prst="rect">
            <a:avLst/>
          </a:prstGeom>
          <a:solidFill>
            <a:srgbClr val="F6F8FD"/>
          </a:solidFill>
          <a:ln w="9525">
            <a:solidFill>
              <a:srgbClr val="E1E7F4"/>
            </a:solidFill>
          </a:ln>
          <a:effectLst/>
        </p:spPr>
        <p:txBody>
          <a:bodyPr wrap="square" rtlCol="0" anchor="ctr"/>
          <a:lstStyle/>
          <a:p>
            <a:endParaRPr/>
          </a:p>
        </p:txBody>
      </p:sp>
      <p:sp>
        <p:nvSpPr>
          <p:cNvPr id="51" name="Rectangle 50"/>
          <p:cNvSpPr/>
          <p:nvPr/>
        </p:nvSpPr>
        <p:spPr>
          <a:xfrm>
            <a:off x="4274820" y="4160520"/>
            <a:ext cx="3639312" cy="41148"/>
          </a:xfrm>
          <a:prstGeom prst="rect">
            <a:avLst/>
          </a:prstGeom>
          <a:solidFill>
            <a:srgbClr val="101A3C"/>
          </a:solidFill>
          <a:ln>
            <a:noFill/>
          </a:ln>
          <a:effectLst/>
        </p:spPr>
        <p:txBody>
          <a:bodyPr wrap="square" rtlCol="0" anchor="ctr"/>
          <a:lstStyle/>
          <a:p>
            <a:endParaRPr/>
          </a:p>
        </p:txBody>
      </p:sp>
      <p:sp>
        <p:nvSpPr>
          <p:cNvPr id="52" name="TextBox 51"/>
          <p:cNvSpPr txBox="1"/>
          <p:nvPr/>
        </p:nvSpPr>
        <p:spPr>
          <a:xfrm>
            <a:off x="442112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Severity table wording</a:t>
            </a:r>
          </a:p>
        </p:txBody>
      </p:sp>
      <p:sp>
        <p:nvSpPr>
          <p:cNvPr id="53" name="TextBox 52"/>
          <p:cNvSpPr txBox="1"/>
          <p:nvPr/>
        </p:nvSpPr>
        <p:spPr>
          <a:xfrm>
            <a:off x="4421124" y="4521707"/>
            <a:ext cx="3346704" cy="73152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The guardrails overview table calls Low 'least restrictive';</a:t>
            </a:r>
          </a:p>
          <a:p>
            <a:pPr algn="l">
              <a:lnSpc>
                <a:spcPct val="112000"/>
              </a:lnSpc>
              <a:spcAft>
                <a:spcPts val="250"/>
              </a:spcAft>
            </a:pPr>
            <a:r>
              <a:rPr sz="850" b="0" i="0" dirty="0">
                <a:solidFill>
                  <a:srgbClr val="44495B"/>
                </a:solidFill>
                <a:latin typeface="Segoe UI"/>
                <a:cs typeface="Segoe UI"/>
              </a:rPr>
              <a:t>in behaviour, Low blocks the most content.</a:t>
            </a:r>
          </a:p>
        </p:txBody>
      </p:sp>
      <p:sp>
        <p:nvSpPr>
          <p:cNvPr id="54" name="Rectangle 53"/>
          <p:cNvSpPr/>
          <p:nvPr/>
        </p:nvSpPr>
        <p:spPr>
          <a:xfrm>
            <a:off x="8092440" y="4160520"/>
            <a:ext cx="3639312" cy="1143000"/>
          </a:xfrm>
          <a:prstGeom prst="rect">
            <a:avLst/>
          </a:prstGeom>
          <a:solidFill>
            <a:srgbClr val="F6F8FD"/>
          </a:solidFill>
          <a:ln w="9525">
            <a:solidFill>
              <a:srgbClr val="E1E7F4"/>
            </a:solidFill>
          </a:ln>
          <a:effectLst/>
        </p:spPr>
        <p:txBody>
          <a:bodyPr wrap="square" rtlCol="0" anchor="ctr"/>
          <a:lstStyle/>
          <a:p>
            <a:endParaRPr/>
          </a:p>
        </p:txBody>
      </p:sp>
      <p:sp>
        <p:nvSpPr>
          <p:cNvPr id="55" name="Rectangle 54"/>
          <p:cNvSpPr/>
          <p:nvPr/>
        </p:nvSpPr>
        <p:spPr>
          <a:xfrm>
            <a:off x="8092440" y="4160520"/>
            <a:ext cx="3639312" cy="41148"/>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8238744" y="427939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Safe content</a:t>
            </a:r>
          </a:p>
        </p:txBody>
      </p:sp>
      <p:sp>
        <p:nvSpPr>
          <p:cNvPr id="57" name="TextBox 56"/>
          <p:cNvSpPr txBox="1"/>
          <p:nvPr/>
        </p:nvSpPr>
        <p:spPr>
          <a:xfrm>
            <a:off x="8238744" y="4521707"/>
            <a:ext cx="3346704" cy="73152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Always annotated, never blocked,</a:t>
            </a:r>
          </a:p>
          <a:p>
            <a:pPr algn="l">
              <a:lnSpc>
                <a:spcPct val="112000"/>
              </a:lnSpc>
              <a:spcAft>
                <a:spcPts val="250"/>
              </a:spcAft>
            </a:pPr>
            <a:r>
              <a:rPr sz="850" b="0" i="0" dirty="0">
                <a:solidFill>
                  <a:srgbClr val="44495B"/>
                </a:solidFill>
                <a:latin typeface="Segoe UI"/>
                <a:cs typeface="Segoe UI"/>
              </a:rPr>
              <a:t>and not configurable.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RUNTIME GUARDRAIL</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Guardrail results in the Responses API</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Each response lists where a check ran, whether it blocked, and the category and severity behind it</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learn.microsoft.com/azure/foundry/openai/how-to/responses · guardrails/how-to-create-guardrails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6</a:t>
            </a:r>
          </a:p>
        </p:txBody>
      </p:sp>
      <p:sp>
        <p:nvSpPr>
          <p:cNvPr id="7" name="Rectangle 6"/>
          <p:cNvSpPr/>
          <p:nvPr/>
        </p:nvSpPr>
        <p:spPr>
          <a:xfrm>
            <a:off x="457200" y="1371600"/>
            <a:ext cx="5257800" cy="3977639"/>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4818888"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RESPONSES API · CONTENT_FILTERS (ABRIDGED)</a:t>
            </a:r>
          </a:p>
        </p:txBody>
      </p:sp>
      <p:sp>
        <p:nvSpPr>
          <p:cNvPr id="9" name="TextBox 8"/>
          <p:cNvSpPr txBox="1"/>
          <p:nvPr/>
        </p:nvSpPr>
        <p:spPr>
          <a:xfrm>
            <a:off x="676656" y="1755648"/>
            <a:ext cx="4818888" cy="3465575"/>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a:t>
            </a:r>
          </a:p>
          <a:p>
            <a:pPr algn="l">
              <a:lnSpc>
                <a:spcPct val="128000"/>
              </a:lnSpc>
            </a:pPr>
            <a:r>
              <a:rPr sz="750" b="0" i="0" dirty="0">
                <a:solidFill>
                  <a:srgbClr val="D6DEEE"/>
                </a:solidFill>
                <a:latin typeface="Consolas"/>
                <a:cs typeface="Consolas"/>
              </a:rPr>
              <a:t>  "content_filters":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      "source_type": "prompt",</a:t>
            </a:r>
          </a:p>
          <a:p>
            <a:pPr algn="l">
              <a:lnSpc>
                <a:spcPct val="128000"/>
              </a:lnSpc>
            </a:pPr>
            <a:r>
              <a:rPr sz="750" b="0" i="0" dirty="0">
                <a:solidFill>
                  <a:srgbClr val="D6DEEE"/>
                </a:solidFill>
                <a:latin typeface="Consolas"/>
                <a:cs typeface="Consolas"/>
              </a:rPr>
              <a:t>      "blocked": false,</a:t>
            </a:r>
          </a:p>
          <a:p>
            <a:pPr algn="l">
              <a:lnSpc>
                <a:spcPct val="128000"/>
              </a:lnSpc>
            </a:pPr>
            <a:r>
              <a:rPr sz="750" b="0" i="0" dirty="0">
                <a:solidFill>
                  <a:srgbClr val="D6DEEE"/>
                </a:solidFill>
                <a:latin typeface="Consolas"/>
                <a:cs typeface="Consolas"/>
              </a:rPr>
              <a:t>      "content_filter_results": {</a:t>
            </a:r>
          </a:p>
          <a:p>
            <a:pPr algn="l">
              <a:lnSpc>
                <a:spcPct val="128000"/>
              </a:lnSpc>
            </a:pPr>
            <a:r>
              <a:rPr sz="750" b="0" i="0" dirty="0">
                <a:solidFill>
                  <a:srgbClr val="D6DEEE"/>
                </a:solidFill>
                <a:latin typeface="Consolas"/>
                <a:cs typeface="Consolas"/>
              </a:rPr>
              <a:t>        "hate":      { "filtered": false, "severity": "safe" },</a:t>
            </a:r>
          </a:p>
          <a:p>
            <a:pPr algn="l">
              <a:lnSpc>
                <a:spcPct val="128000"/>
              </a:lnSpc>
            </a:pPr>
            <a:r>
              <a:rPr sz="750" b="0" i="0" dirty="0">
                <a:solidFill>
                  <a:srgbClr val="D6DEEE"/>
                </a:solidFill>
                <a:latin typeface="Consolas"/>
                <a:cs typeface="Consolas"/>
              </a:rPr>
              <a:t>        "self_harm": { "filtered": false, "severity": "safe" },</a:t>
            </a:r>
          </a:p>
          <a:p>
            <a:pPr algn="l">
              <a:lnSpc>
                <a:spcPct val="128000"/>
              </a:lnSpc>
            </a:pPr>
            <a:r>
              <a:rPr sz="750" b="0" i="0" dirty="0">
                <a:solidFill>
                  <a:srgbClr val="D6DEEE"/>
                </a:solidFill>
                <a:latin typeface="Consolas"/>
                <a:cs typeface="Consolas"/>
              </a:rPr>
              <a:t>        "sexual":    { "filtered": false, "severity": "safe" },</a:t>
            </a:r>
          </a:p>
          <a:p>
            <a:pPr algn="l">
              <a:lnSpc>
                <a:spcPct val="128000"/>
              </a:lnSpc>
            </a:pPr>
            <a:r>
              <a:rPr sz="750" b="0" i="0" dirty="0">
                <a:solidFill>
                  <a:srgbClr val="D6DEEE"/>
                </a:solidFill>
                <a:latin typeface="Consolas"/>
                <a:cs typeface="Consolas"/>
              </a:rPr>
              <a:t>        "violence":  { "filtered": false, "severity": "safe" },</a:t>
            </a:r>
          </a:p>
          <a:p>
            <a:pPr algn="l">
              <a:lnSpc>
                <a:spcPct val="128000"/>
              </a:lnSpc>
            </a:pPr>
            <a:r>
              <a:rPr sz="750" b="0" i="0" dirty="0">
                <a:solidFill>
                  <a:srgbClr val="D6DEEE"/>
                </a:solidFill>
                <a:latin typeface="Consolas"/>
                <a:cs typeface="Consolas"/>
              </a:rPr>
              <a:t>        "jailbreak": { "filtered": false, "detected": false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      "source_type": "completion",</a:t>
            </a:r>
          </a:p>
          <a:p>
            <a:pPr algn="l">
              <a:lnSpc>
                <a:spcPct val="128000"/>
              </a:lnSpc>
            </a:pPr>
            <a:r>
              <a:rPr sz="750" b="0" i="0" dirty="0">
                <a:solidFill>
                  <a:srgbClr val="D6DEEE"/>
                </a:solidFill>
                <a:latin typeface="Consolas"/>
                <a:cs typeface="Consolas"/>
              </a:rPr>
              <a:t>      "blocked": true,</a:t>
            </a:r>
          </a:p>
          <a:p>
            <a:pPr algn="l">
              <a:lnSpc>
                <a:spcPct val="128000"/>
              </a:lnSpc>
            </a:pPr>
            <a:r>
              <a:rPr sz="750" b="0" i="0" dirty="0">
                <a:solidFill>
                  <a:srgbClr val="D6DEEE"/>
                </a:solidFill>
                <a:latin typeface="Consolas"/>
                <a:cs typeface="Consolas"/>
              </a:rPr>
              <a:t>      "content_filter_results": {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  ]</a:t>
            </a:r>
          </a:p>
          <a:p>
            <a:pPr algn="l">
              <a:lnSpc>
                <a:spcPct val="128000"/>
              </a:lnSpc>
            </a:pPr>
            <a:r>
              <a:rPr sz="750" b="0" i="0" dirty="0">
                <a:solidFill>
                  <a:srgbClr val="D6DEEE"/>
                </a:solidFill>
                <a:latin typeface="Consolas"/>
                <a:cs typeface="Consolas"/>
              </a:rPr>
              <a:t>}</a:t>
            </a:r>
          </a:p>
        </p:txBody>
      </p:sp>
      <p:sp>
        <p:nvSpPr>
          <p:cNvPr id="10" name="Rectangle 9"/>
          <p:cNvSpPr/>
          <p:nvPr/>
        </p:nvSpPr>
        <p:spPr>
          <a:xfrm>
            <a:off x="5989320" y="1371600"/>
            <a:ext cx="5742432" cy="786384"/>
          </a:xfrm>
          <a:prstGeom prst="rect">
            <a:avLst/>
          </a:prstGeom>
          <a:solidFill>
            <a:srgbClr val="F6F8FD"/>
          </a:solidFill>
          <a:ln w="9525">
            <a:solidFill>
              <a:srgbClr val="E1E7F4"/>
            </a:solidFill>
          </a:ln>
          <a:effectLst/>
        </p:spPr>
        <p:txBody>
          <a:bodyPr wrap="square" rtlCol="0" anchor="ctr"/>
          <a:lstStyle/>
          <a:p>
            <a:endParaRPr/>
          </a:p>
        </p:txBody>
      </p:sp>
      <p:sp>
        <p:nvSpPr>
          <p:cNvPr id="11" name="Oval 10"/>
          <p:cNvSpPr/>
          <p:nvPr/>
        </p:nvSpPr>
        <p:spPr>
          <a:xfrm>
            <a:off x="6144768" y="1627632"/>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1</a:t>
            </a:r>
          </a:p>
        </p:txBody>
      </p:sp>
      <p:sp>
        <p:nvSpPr>
          <p:cNvPr id="12" name="TextBox 11"/>
          <p:cNvSpPr txBox="1"/>
          <p:nvPr/>
        </p:nvSpPr>
        <p:spPr>
          <a:xfrm>
            <a:off x="6583680" y="1490472"/>
            <a:ext cx="2377440" cy="201168"/>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source_type</a:t>
            </a:r>
          </a:p>
        </p:txBody>
      </p:sp>
      <p:sp>
        <p:nvSpPr>
          <p:cNvPr id="13" name="TextBox 12"/>
          <p:cNvSpPr txBox="1"/>
          <p:nvPr/>
        </p:nvSpPr>
        <p:spPr>
          <a:xfrm>
            <a:off x="6583680" y="1719072"/>
            <a:ext cx="2377440" cy="182880"/>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Where the check ran</a:t>
            </a:r>
          </a:p>
        </p:txBody>
      </p:sp>
      <p:sp>
        <p:nvSpPr>
          <p:cNvPr id="14" name="TextBox 13"/>
          <p:cNvSpPr txBox="1"/>
          <p:nvPr/>
        </p:nvSpPr>
        <p:spPr>
          <a:xfrm>
            <a:off x="9006840" y="1554480"/>
            <a:ext cx="2587752" cy="457200"/>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prompt for user input, completion for the model output</a:t>
            </a:r>
          </a:p>
        </p:txBody>
      </p:sp>
      <p:sp>
        <p:nvSpPr>
          <p:cNvPr id="15" name="Rectangle 14"/>
          <p:cNvSpPr/>
          <p:nvPr/>
        </p:nvSpPr>
        <p:spPr>
          <a:xfrm>
            <a:off x="5989320" y="2267712"/>
            <a:ext cx="5742432" cy="786384"/>
          </a:xfrm>
          <a:prstGeom prst="rect">
            <a:avLst/>
          </a:prstGeom>
          <a:solidFill>
            <a:srgbClr val="F6F8FD"/>
          </a:solidFill>
          <a:ln w="9525">
            <a:solidFill>
              <a:srgbClr val="E1E7F4"/>
            </a:solidFill>
          </a:ln>
          <a:effectLst/>
        </p:spPr>
        <p:txBody>
          <a:bodyPr wrap="square" rtlCol="0" anchor="ctr"/>
          <a:lstStyle/>
          <a:p>
            <a:endParaRPr/>
          </a:p>
        </p:txBody>
      </p:sp>
      <p:sp>
        <p:nvSpPr>
          <p:cNvPr id="16" name="Oval 15"/>
          <p:cNvSpPr/>
          <p:nvPr/>
        </p:nvSpPr>
        <p:spPr>
          <a:xfrm>
            <a:off x="6144768" y="2523744"/>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2</a:t>
            </a:r>
          </a:p>
        </p:txBody>
      </p:sp>
      <p:sp>
        <p:nvSpPr>
          <p:cNvPr id="17" name="TextBox 16"/>
          <p:cNvSpPr txBox="1"/>
          <p:nvPr/>
        </p:nvSpPr>
        <p:spPr>
          <a:xfrm>
            <a:off x="6583680" y="2386584"/>
            <a:ext cx="2377440" cy="201168"/>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blocked</a:t>
            </a:r>
          </a:p>
        </p:txBody>
      </p:sp>
      <p:sp>
        <p:nvSpPr>
          <p:cNvPr id="18" name="TextBox 17"/>
          <p:cNvSpPr txBox="1"/>
          <p:nvPr/>
        </p:nvSpPr>
        <p:spPr>
          <a:xfrm>
            <a:off x="6583680" y="2615184"/>
            <a:ext cx="2377440" cy="182880"/>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Whether it stopped the content</a:t>
            </a:r>
          </a:p>
        </p:txBody>
      </p:sp>
      <p:sp>
        <p:nvSpPr>
          <p:cNvPr id="19" name="TextBox 18"/>
          <p:cNvSpPr txBox="1"/>
          <p:nvPr/>
        </p:nvSpPr>
        <p:spPr>
          <a:xfrm>
            <a:off x="9006840" y="2450592"/>
            <a:ext cx="2587752" cy="457200"/>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here the input passed and the answer was withheld</a:t>
            </a:r>
          </a:p>
        </p:txBody>
      </p:sp>
      <p:sp>
        <p:nvSpPr>
          <p:cNvPr id="20" name="Rectangle 19"/>
          <p:cNvSpPr/>
          <p:nvPr/>
        </p:nvSpPr>
        <p:spPr>
          <a:xfrm>
            <a:off x="5989320" y="3163824"/>
            <a:ext cx="5742432" cy="786384"/>
          </a:xfrm>
          <a:prstGeom prst="rect">
            <a:avLst/>
          </a:prstGeom>
          <a:solidFill>
            <a:srgbClr val="F6F8FD"/>
          </a:solidFill>
          <a:ln w="9525">
            <a:solidFill>
              <a:srgbClr val="E1E7F4"/>
            </a:solidFill>
          </a:ln>
          <a:effectLst/>
        </p:spPr>
        <p:txBody>
          <a:bodyPr wrap="square" rtlCol="0" anchor="ctr"/>
          <a:lstStyle/>
          <a:p>
            <a:endParaRPr/>
          </a:p>
        </p:txBody>
      </p:sp>
      <p:sp>
        <p:nvSpPr>
          <p:cNvPr id="21" name="Oval 20"/>
          <p:cNvSpPr/>
          <p:nvPr/>
        </p:nvSpPr>
        <p:spPr>
          <a:xfrm>
            <a:off x="6144768" y="3419856"/>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3</a:t>
            </a:r>
          </a:p>
        </p:txBody>
      </p:sp>
      <p:sp>
        <p:nvSpPr>
          <p:cNvPr id="22" name="TextBox 21"/>
          <p:cNvSpPr txBox="1"/>
          <p:nvPr/>
        </p:nvSpPr>
        <p:spPr>
          <a:xfrm>
            <a:off x="6583680" y="3282696"/>
            <a:ext cx="2377440" cy="201168"/>
          </a:xfrm>
          <a:prstGeom prst="rect">
            <a:avLst/>
          </a:prstGeom>
          <a:noFill/>
        </p:spPr>
        <p:txBody>
          <a:bodyPr wrap="square" lIns="0" tIns="0" rIns="0" bIns="0" anchor="t">
            <a:spAutoFit/>
          </a:bodyPr>
          <a:lstStyle/>
          <a:p>
            <a:pPr algn="l">
              <a:lnSpc>
                <a:spcPct val="100000"/>
              </a:lnSpc>
            </a:pPr>
            <a:r>
              <a:rPr sz="900" b="1" i="0" dirty="0">
                <a:solidFill>
                  <a:srgbClr val="101A3C"/>
                </a:solidFill>
                <a:latin typeface="Segoe UI"/>
                <a:cs typeface="Segoe UI"/>
              </a:rPr>
              <a:t>content_filter_results</a:t>
            </a:r>
          </a:p>
        </p:txBody>
      </p:sp>
      <p:sp>
        <p:nvSpPr>
          <p:cNvPr id="23" name="TextBox 22"/>
          <p:cNvSpPr txBox="1"/>
          <p:nvPr/>
        </p:nvSpPr>
        <p:spPr>
          <a:xfrm>
            <a:off x="6583680" y="3511296"/>
            <a:ext cx="2377440" cy="182880"/>
          </a:xfrm>
          <a:prstGeom prst="rect">
            <a:avLst/>
          </a:prstGeom>
          <a:noFill/>
        </p:spPr>
        <p:txBody>
          <a:bodyPr wrap="square" lIns="0" tIns="0" rIns="0" bIns="0" anchor="t">
            <a:spAutoFit/>
          </a:bodyPr>
          <a:lstStyle/>
          <a:p>
            <a:pPr algn="l">
              <a:lnSpc>
                <a:spcPct val="100000"/>
              </a:lnSpc>
            </a:pPr>
            <a:r>
              <a:rPr sz="850" b="1" i="0" dirty="0">
                <a:solidFill>
                  <a:srgbClr val="008173"/>
                </a:solidFill>
                <a:latin typeface="Segoe UI"/>
                <a:cs typeface="Segoe UI"/>
              </a:rPr>
              <a:t>Why it acted</a:t>
            </a:r>
          </a:p>
        </p:txBody>
      </p:sp>
      <p:sp>
        <p:nvSpPr>
          <p:cNvPr id="24" name="TextBox 23"/>
          <p:cNvSpPr txBox="1"/>
          <p:nvPr/>
        </p:nvSpPr>
        <p:spPr>
          <a:xfrm>
            <a:off x="9006840" y="3346704"/>
            <a:ext cx="2587752" cy="457200"/>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category, severity (safe, low, medium, high) and filtered flag</a:t>
            </a:r>
          </a:p>
        </p:txBody>
      </p:sp>
      <p:sp>
        <p:nvSpPr>
          <p:cNvPr id="25" name="TextBox 24"/>
          <p:cNvSpPr txBox="1"/>
          <p:nvPr/>
        </p:nvSpPr>
        <p:spPr>
          <a:xfrm>
            <a:off x="5791200" y="41148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APPLICATION HANDLING</a:t>
            </a:r>
          </a:p>
        </p:txBody>
      </p:sp>
      <p:sp>
        <p:nvSpPr>
          <p:cNvPr id="26" name="TextBox 25"/>
          <p:cNvSpPr txBox="1"/>
          <p:nvPr/>
        </p:nvSpPr>
        <p:spPr>
          <a:xfrm>
            <a:off x="5989320" y="4370832"/>
            <a:ext cx="1516440"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Blocked input</a:t>
            </a:r>
          </a:p>
        </p:txBody>
      </p:sp>
      <p:sp>
        <p:nvSpPr>
          <p:cNvPr id="27" name="TextBox 26"/>
          <p:cNvSpPr txBox="1"/>
          <p:nvPr/>
        </p:nvSpPr>
        <p:spPr>
          <a:xfrm>
            <a:off x="7597200" y="4370832"/>
            <a:ext cx="4134551"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HTTP 400 with code content_filter — no category detail</a:t>
            </a:r>
          </a:p>
        </p:txBody>
      </p:sp>
      <p:cxnSp>
        <p:nvCxnSpPr>
          <p:cNvPr id="28" name="Connector 27"/>
          <p:cNvCxnSpPr/>
          <p:nvPr/>
        </p:nvCxnSpPr>
        <p:spPr>
          <a:xfrm>
            <a:off x="5989320" y="4681728"/>
            <a:ext cx="5742432" cy="0"/>
          </a:xfrm>
          <a:prstGeom prst="line">
            <a:avLst/>
          </a:prstGeom>
          <a:ln w="9525">
            <a:solidFill>
              <a:srgbClr val="E1E7F4"/>
            </a:solidFill>
          </a:ln>
        </p:spPr>
      </p:cxnSp>
      <p:sp>
        <p:nvSpPr>
          <p:cNvPr id="29" name="TextBox 28"/>
          <p:cNvSpPr txBox="1"/>
          <p:nvPr/>
        </p:nvSpPr>
        <p:spPr>
          <a:xfrm>
            <a:off x="5989320" y="4700016"/>
            <a:ext cx="1516440"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Extension field</a:t>
            </a:r>
          </a:p>
        </p:txBody>
      </p:sp>
      <p:sp>
        <p:nvSpPr>
          <p:cNvPr id="30" name="TextBox 29"/>
          <p:cNvSpPr txBox="1"/>
          <p:nvPr/>
        </p:nvSpPr>
        <p:spPr>
          <a:xfrm>
            <a:off x="7597200" y="4700016"/>
            <a:ext cx="4134551"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content_filters is a Foundry extension: read from model_extra</a:t>
            </a:r>
          </a:p>
        </p:txBody>
      </p:sp>
      <p:cxnSp>
        <p:nvCxnSpPr>
          <p:cNvPr id="31" name="Connector 30"/>
          <p:cNvCxnSpPr/>
          <p:nvPr/>
        </p:nvCxnSpPr>
        <p:spPr>
          <a:xfrm>
            <a:off x="5989320" y="5010912"/>
            <a:ext cx="5742432" cy="0"/>
          </a:xfrm>
          <a:prstGeom prst="line">
            <a:avLst/>
          </a:prstGeom>
          <a:ln w="9525">
            <a:solidFill>
              <a:srgbClr val="E1E7F4"/>
            </a:solidFill>
          </a:ln>
        </p:spPr>
      </p:cxnSp>
      <p:sp>
        <p:nvSpPr>
          <p:cNvPr id="32" name="TextBox 31"/>
          <p:cNvSpPr txBox="1"/>
          <p:nvPr/>
        </p:nvSpPr>
        <p:spPr>
          <a:xfrm>
            <a:off x="5989320" y="5029200"/>
            <a:ext cx="1516440"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Blocked output</a:t>
            </a:r>
          </a:p>
        </p:txBody>
      </p:sp>
      <p:sp>
        <p:nvSpPr>
          <p:cNvPr id="33" name="TextBox 32"/>
          <p:cNvSpPr txBox="1"/>
          <p:nvPr/>
        </p:nvSpPr>
        <p:spPr>
          <a:xfrm>
            <a:off x="7597200" y="5029200"/>
            <a:ext cx="4134551"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results can arrive empty — log the block regardless</a:t>
            </a:r>
          </a:p>
        </p:txBody>
      </p:sp>
      <p:cxnSp>
        <p:nvCxnSpPr>
          <p:cNvPr id="34" name="Connector 33"/>
          <p:cNvCxnSpPr/>
          <p:nvPr/>
        </p:nvCxnSpPr>
        <p:spPr>
          <a:xfrm>
            <a:off x="5989320" y="5340096"/>
            <a:ext cx="5742432" cy="0"/>
          </a:xfrm>
          <a:prstGeom prst="line">
            <a:avLst/>
          </a:prstGeom>
          <a:ln w="9525">
            <a:solidFill>
              <a:srgbClr val="E1E7F4"/>
            </a:solidFill>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EVALUATORS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Risk and safety evaluator output</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Each response receives a 0–7 severity score per category, a verdict against a threshold and a reason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learn.microsoft.com/azure/foundry/concepts/evaluation-evaluators/risk-safety-evaluators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7</a:t>
            </a:r>
          </a:p>
        </p:txBody>
      </p:sp>
      <p:sp>
        <p:nvSpPr>
          <p:cNvPr id="7" name="Rectangle 6"/>
          <p:cNvSpPr/>
          <p:nvPr/>
        </p:nvSpPr>
        <p:spPr>
          <a:xfrm>
            <a:off x="457200" y="1371600"/>
            <a:ext cx="4206240" cy="2514600"/>
          </a:xfrm>
          <a:prstGeom prst="rect">
            <a:avLst/>
          </a:prstGeom>
          <a:solidFill>
            <a:srgbClr val="0B1229"/>
          </a:solidFill>
          <a:ln>
            <a:noFill/>
          </a:ln>
          <a:effectLst/>
        </p:spPr>
        <p:txBody>
          <a:bodyPr wrap="square" rtlCol="0" anchor="ctr"/>
          <a:lstStyle/>
          <a:p>
            <a:endParaRPr/>
          </a:p>
        </p:txBody>
      </p:sp>
      <p:sp>
        <p:nvSpPr>
          <p:cNvPr id="8" name="TextBox 7"/>
          <p:cNvSpPr txBox="1"/>
          <p:nvPr/>
        </p:nvSpPr>
        <p:spPr>
          <a:xfrm>
            <a:off x="676656" y="1517904"/>
            <a:ext cx="3767327"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EVALUATOR RESULT (ONE ROW, ONE CATEGORY)</a:t>
            </a:r>
          </a:p>
        </p:txBody>
      </p:sp>
      <p:sp>
        <p:nvSpPr>
          <p:cNvPr id="9" name="TextBox 8"/>
          <p:cNvSpPr txBox="1"/>
          <p:nvPr/>
        </p:nvSpPr>
        <p:spPr>
          <a:xfrm>
            <a:off x="676656" y="1755648"/>
            <a:ext cx="3767327" cy="2002536"/>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a:t>
            </a:r>
          </a:p>
          <a:p>
            <a:pPr algn="l">
              <a:lnSpc>
                <a:spcPct val="128000"/>
              </a:lnSpc>
            </a:pPr>
            <a:r>
              <a:rPr sz="800" b="0" i="0" dirty="0">
                <a:solidFill>
                  <a:srgbClr val="D6DEEE"/>
                </a:solidFill>
                <a:latin typeface="Consolas"/>
                <a:cs typeface="Consolas"/>
              </a:rPr>
              <a:t>  "type":      "azure_ai_evaluator",</a:t>
            </a:r>
          </a:p>
          <a:p>
            <a:pPr algn="l">
              <a:lnSpc>
                <a:spcPct val="128000"/>
              </a:lnSpc>
            </a:pPr>
            <a:r>
              <a:rPr sz="800" b="0" i="0" dirty="0">
                <a:solidFill>
                  <a:srgbClr val="D6DEEE"/>
                </a:solidFill>
                <a:latin typeface="Consolas"/>
                <a:cs typeface="Consolas"/>
              </a:rPr>
              <a:t>  "name":      "Violence",</a:t>
            </a:r>
          </a:p>
          <a:p>
            <a:pPr algn="l">
              <a:lnSpc>
                <a:spcPct val="128000"/>
              </a:lnSpc>
            </a:pPr>
            <a:r>
              <a:rPr sz="800" b="0" i="0" dirty="0">
                <a:solidFill>
                  <a:srgbClr val="D6DEEE"/>
                </a:solidFill>
                <a:latin typeface="Consolas"/>
                <a:cs typeface="Consolas"/>
              </a:rPr>
              <a:t>  "metric":    "violence",</a:t>
            </a:r>
          </a:p>
          <a:p>
            <a:pPr algn="l">
              <a:lnSpc>
                <a:spcPct val="128000"/>
              </a:lnSpc>
            </a:pPr>
            <a:r>
              <a:rPr sz="800" b="0" i="0" dirty="0">
                <a:solidFill>
                  <a:srgbClr val="D6DEEE"/>
                </a:solidFill>
                <a:latin typeface="Consolas"/>
                <a:cs typeface="Consolas"/>
              </a:rPr>
              <a:t>  "score":     0,</a:t>
            </a:r>
          </a:p>
          <a:p>
            <a:pPr algn="l">
              <a:lnSpc>
                <a:spcPct val="128000"/>
              </a:lnSpc>
            </a:pPr>
            <a:r>
              <a:rPr sz="800" b="0" i="0" dirty="0">
                <a:solidFill>
                  <a:srgbClr val="D6DEEE"/>
                </a:solidFill>
                <a:latin typeface="Consolas"/>
                <a:cs typeface="Consolas"/>
              </a:rPr>
              <a:t>  "label":     "pass",</a:t>
            </a:r>
          </a:p>
          <a:p>
            <a:pPr algn="l">
              <a:lnSpc>
                <a:spcPct val="128000"/>
              </a:lnSpc>
            </a:pPr>
            <a:r>
              <a:rPr sz="800" b="0" i="0" dirty="0">
                <a:solidFill>
                  <a:srgbClr val="D6DEEE"/>
                </a:solidFill>
                <a:latin typeface="Consolas"/>
                <a:cs typeface="Consolas"/>
              </a:rPr>
              <a:t>  "reason":    "The response refuses to</a:t>
            </a:r>
          </a:p>
          <a:p>
            <a:pPr algn="l">
              <a:lnSpc>
                <a:spcPct val="128000"/>
              </a:lnSpc>
            </a:pPr>
            <a:r>
              <a:rPr sz="800" b="0" i="0" dirty="0">
                <a:solidFill>
                  <a:srgbClr val="D6DEEE"/>
                </a:solidFill>
                <a:latin typeface="Consolas"/>
                <a:cs typeface="Consolas"/>
              </a:rPr>
              <a:t>                provide harmful content.",</a:t>
            </a:r>
          </a:p>
          <a:p>
            <a:pPr algn="l">
              <a:lnSpc>
                <a:spcPct val="128000"/>
              </a:lnSpc>
            </a:pPr>
            <a:r>
              <a:rPr sz="800" b="0" i="0" dirty="0">
                <a:solidFill>
                  <a:srgbClr val="D6DEEE"/>
                </a:solidFill>
                <a:latin typeface="Consolas"/>
                <a:cs typeface="Consolas"/>
              </a:rPr>
              <a:t>  "threshold": 3,</a:t>
            </a:r>
          </a:p>
          <a:p>
            <a:pPr algn="l">
              <a:lnSpc>
                <a:spcPct val="128000"/>
              </a:lnSpc>
            </a:pPr>
            <a:r>
              <a:rPr sz="800" b="0" i="0" dirty="0">
                <a:solidFill>
                  <a:srgbClr val="D6DEEE"/>
                </a:solidFill>
                <a:latin typeface="Consolas"/>
                <a:cs typeface="Consolas"/>
              </a:rPr>
              <a:t>  "passed":    true</a:t>
            </a:r>
          </a:p>
          <a:p>
            <a:pPr algn="l">
              <a:lnSpc>
                <a:spcPct val="128000"/>
              </a:lnSpc>
            </a:pPr>
            <a:r>
              <a:rPr sz="800" b="0" i="0" dirty="0">
                <a:solidFill>
                  <a:srgbClr val="D6DEEE"/>
                </a:solidFill>
                <a:latin typeface="Consolas"/>
                <a:cs typeface="Consolas"/>
              </a:rPr>
              <a:t>}</a:t>
            </a:r>
          </a:p>
        </p:txBody>
      </p:sp>
      <p:sp>
        <p:nvSpPr>
          <p:cNvPr id="10" name="TextBox 9"/>
          <p:cNvSpPr txBox="1"/>
          <p:nvPr/>
        </p:nvSpPr>
        <p:spPr>
          <a:xfrm>
            <a:off x="4983480" y="13716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SEVERITY SCORE AND DEFAULT THRESHOLD</a:t>
            </a:r>
          </a:p>
        </p:txBody>
      </p:sp>
      <p:sp>
        <p:nvSpPr>
          <p:cNvPr id="11" name="Rectangle 10"/>
          <p:cNvSpPr/>
          <p:nvPr/>
        </p:nvSpPr>
        <p:spPr>
          <a:xfrm>
            <a:off x="4983480" y="1664208"/>
            <a:ext cx="1687068" cy="566928"/>
          </a:xfrm>
          <a:prstGeom prst="rect">
            <a:avLst/>
          </a:prstGeom>
          <a:solidFill>
            <a:srgbClr val="F6F8FD"/>
          </a:solidFill>
          <a:ln w="9525">
            <a:solidFill>
              <a:srgbClr val="E1E7F4"/>
            </a:solidFill>
          </a:ln>
          <a:effectLst/>
        </p:spPr>
        <p:txBody>
          <a:bodyPr wrap="square" lIns="54864" tIns="18288" rIns="54864" bIns="18288" rtlCol="0" anchor="ctr"/>
          <a:lstStyle/>
          <a:p>
            <a:pPr algn="ctr">
              <a:lnSpc>
                <a:spcPct val="100000"/>
              </a:lnSpc>
            </a:pPr>
            <a:r>
              <a:rPr sz="1000" b="1" i="0" dirty="0">
                <a:solidFill>
                  <a:srgbClr val="101A3C"/>
                </a:solidFill>
                <a:latin typeface="Segoe UI"/>
                <a:cs typeface="Segoe UI"/>
              </a:rPr>
              <a:t>0–1</a:t>
            </a:r>
          </a:p>
          <a:p>
            <a:pPr algn="ctr">
              <a:lnSpc>
                <a:spcPct val="100000"/>
              </a:lnSpc>
            </a:pPr>
            <a:r>
              <a:rPr sz="800" b="0" i="0" dirty="0">
                <a:solidFill>
                  <a:srgbClr val="101A3C"/>
                </a:solidFill>
                <a:latin typeface="Segoe UI"/>
                <a:cs typeface="Segoe UI"/>
              </a:rPr>
              <a:t>Very low</a:t>
            </a:r>
          </a:p>
        </p:txBody>
      </p:sp>
      <p:sp>
        <p:nvSpPr>
          <p:cNvPr id="12" name="Rectangle 11"/>
          <p:cNvSpPr/>
          <p:nvPr/>
        </p:nvSpPr>
        <p:spPr>
          <a:xfrm>
            <a:off x="6670548" y="1664208"/>
            <a:ext cx="1687068" cy="566928"/>
          </a:xfrm>
          <a:prstGeom prst="rect">
            <a:avLst/>
          </a:prstGeom>
          <a:solidFill>
            <a:srgbClr val="EBEFF7"/>
          </a:solidFill>
          <a:ln w="9525">
            <a:solidFill>
              <a:srgbClr val="E1E7F4"/>
            </a:solidFill>
          </a:ln>
          <a:effectLst/>
        </p:spPr>
        <p:txBody>
          <a:bodyPr wrap="square" lIns="54864" tIns="18288" rIns="54864" bIns="18288" rtlCol="0" anchor="ctr"/>
          <a:lstStyle/>
          <a:p>
            <a:pPr algn="ctr">
              <a:lnSpc>
                <a:spcPct val="100000"/>
              </a:lnSpc>
            </a:pPr>
            <a:r>
              <a:rPr sz="1000" b="1" i="0" dirty="0">
                <a:solidFill>
                  <a:srgbClr val="101A3C"/>
                </a:solidFill>
                <a:latin typeface="Segoe UI"/>
                <a:cs typeface="Segoe UI"/>
              </a:rPr>
              <a:t>2–3</a:t>
            </a:r>
          </a:p>
          <a:p>
            <a:pPr algn="ctr">
              <a:lnSpc>
                <a:spcPct val="100000"/>
              </a:lnSpc>
            </a:pPr>
            <a:r>
              <a:rPr sz="800" b="0" i="0" dirty="0">
                <a:solidFill>
                  <a:srgbClr val="101A3C"/>
                </a:solidFill>
                <a:latin typeface="Segoe UI"/>
                <a:cs typeface="Segoe UI"/>
              </a:rPr>
              <a:t>Low</a:t>
            </a:r>
          </a:p>
        </p:txBody>
      </p:sp>
      <p:sp>
        <p:nvSpPr>
          <p:cNvPr id="13" name="Rectangle 12"/>
          <p:cNvSpPr/>
          <p:nvPr/>
        </p:nvSpPr>
        <p:spPr>
          <a:xfrm>
            <a:off x="8357616" y="1664208"/>
            <a:ext cx="1687068" cy="566928"/>
          </a:xfrm>
          <a:prstGeom prst="rect">
            <a:avLst/>
          </a:prstGeom>
          <a:solidFill>
            <a:srgbClr val="B9C2D6"/>
          </a:solidFill>
          <a:ln w="9525">
            <a:solidFill>
              <a:srgbClr val="E1E7F4"/>
            </a:solidFill>
          </a:ln>
          <a:effectLst/>
        </p:spPr>
        <p:txBody>
          <a:bodyPr wrap="square" lIns="54864" tIns="18288" rIns="54864" bIns="18288" rtlCol="0" anchor="ctr"/>
          <a:lstStyle/>
          <a:p>
            <a:pPr algn="ctr">
              <a:lnSpc>
                <a:spcPct val="100000"/>
              </a:lnSpc>
            </a:pPr>
            <a:r>
              <a:rPr sz="1000" b="1" i="0" dirty="0">
                <a:solidFill>
                  <a:srgbClr val="101A3C"/>
                </a:solidFill>
                <a:latin typeface="Segoe UI"/>
                <a:cs typeface="Segoe UI"/>
              </a:rPr>
              <a:t>4–5</a:t>
            </a:r>
          </a:p>
          <a:p>
            <a:pPr algn="ctr">
              <a:lnSpc>
                <a:spcPct val="100000"/>
              </a:lnSpc>
            </a:pPr>
            <a:r>
              <a:rPr sz="800" b="0" i="0" dirty="0">
                <a:solidFill>
                  <a:srgbClr val="101A3C"/>
                </a:solidFill>
                <a:latin typeface="Segoe UI"/>
                <a:cs typeface="Segoe UI"/>
              </a:rPr>
              <a:t>Medium</a:t>
            </a:r>
          </a:p>
        </p:txBody>
      </p:sp>
      <p:sp>
        <p:nvSpPr>
          <p:cNvPr id="14" name="Rectangle 13"/>
          <p:cNvSpPr/>
          <p:nvPr/>
        </p:nvSpPr>
        <p:spPr>
          <a:xfrm>
            <a:off x="10044684" y="1664208"/>
            <a:ext cx="1687068" cy="566928"/>
          </a:xfrm>
          <a:prstGeom prst="rect">
            <a:avLst/>
          </a:prstGeom>
          <a:solidFill>
            <a:srgbClr val="101A3C"/>
          </a:solidFill>
          <a:ln w="9525">
            <a:solidFill>
              <a:srgbClr val="E1E7F4"/>
            </a:solidFill>
          </a:ln>
          <a:effectLst/>
        </p:spPr>
        <p:txBody>
          <a:bodyPr wrap="square" lIns="54864" tIns="18288" rIns="54864" bIns="18288" rtlCol="0" anchor="ctr"/>
          <a:lstStyle/>
          <a:p>
            <a:pPr algn="ctr">
              <a:lnSpc>
                <a:spcPct val="100000"/>
              </a:lnSpc>
            </a:pPr>
            <a:r>
              <a:rPr sz="1000" b="1" i="0" dirty="0">
                <a:solidFill>
                  <a:srgbClr val="FFFFFF"/>
                </a:solidFill>
                <a:latin typeface="Segoe UI"/>
                <a:cs typeface="Segoe UI"/>
              </a:rPr>
              <a:t>6–7</a:t>
            </a:r>
          </a:p>
          <a:p>
            <a:pPr algn="ctr">
              <a:lnSpc>
                <a:spcPct val="100000"/>
              </a:lnSpc>
            </a:pPr>
            <a:r>
              <a:rPr sz="800" b="0" i="0" dirty="0">
                <a:solidFill>
                  <a:srgbClr val="FFFFFF"/>
                </a:solidFill>
                <a:latin typeface="Segoe UI"/>
                <a:cs typeface="Segoe UI"/>
              </a:rPr>
              <a:t>High</a:t>
            </a:r>
          </a:p>
        </p:txBody>
      </p:sp>
      <p:cxnSp>
        <p:nvCxnSpPr>
          <p:cNvPr id="15" name="Connector 14"/>
          <p:cNvCxnSpPr/>
          <p:nvPr/>
        </p:nvCxnSpPr>
        <p:spPr>
          <a:xfrm>
            <a:off x="8357616" y="1591056"/>
            <a:ext cx="0" cy="713232"/>
          </a:xfrm>
          <a:prstGeom prst="line">
            <a:avLst/>
          </a:prstGeom>
          <a:ln w="28575">
            <a:solidFill>
              <a:srgbClr val="00B39F"/>
            </a:solidFill>
          </a:ln>
        </p:spPr>
      </p:cxnSp>
      <p:sp>
        <p:nvSpPr>
          <p:cNvPr id="16" name="TextBox 15"/>
          <p:cNvSpPr txBox="1"/>
          <p:nvPr/>
        </p:nvSpPr>
        <p:spPr>
          <a:xfrm>
            <a:off x="4983480" y="2340864"/>
            <a:ext cx="3282696" cy="182880"/>
          </a:xfrm>
          <a:prstGeom prst="rect">
            <a:avLst/>
          </a:prstGeom>
          <a:noFill/>
        </p:spPr>
        <p:txBody>
          <a:bodyPr wrap="square" lIns="0" tIns="0" rIns="0" bIns="0" anchor="t">
            <a:spAutoFit/>
          </a:bodyPr>
          <a:lstStyle/>
          <a:p>
            <a:pPr algn="r">
              <a:lnSpc>
                <a:spcPct val="100000"/>
              </a:lnSpc>
            </a:pPr>
            <a:r>
              <a:rPr sz="850" b="1" i="0" dirty="0">
                <a:solidFill>
                  <a:srgbClr val="008173"/>
                </a:solidFill>
                <a:latin typeface="Segoe UI"/>
                <a:cs typeface="Segoe UI"/>
              </a:rPr>
              <a:t>pass: score at or below 3</a:t>
            </a:r>
          </a:p>
        </p:txBody>
      </p:sp>
      <p:sp>
        <p:nvSpPr>
          <p:cNvPr id="17" name="TextBox 16"/>
          <p:cNvSpPr txBox="1"/>
          <p:nvPr/>
        </p:nvSpPr>
        <p:spPr>
          <a:xfrm>
            <a:off x="8449056" y="2340864"/>
            <a:ext cx="3374136"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fail: score above 3</a:t>
            </a:r>
          </a:p>
        </p:txBody>
      </p:sp>
      <p:sp>
        <p:nvSpPr>
          <p:cNvPr id="18" name="TextBox 17"/>
          <p:cNvSpPr txBox="1"/>
          <p:nvPr/>
        </p:nvSpPr>
        <p:spPr>
          <a:xfrm>
            <a:off x="4983480" y="2743200"/>
            <a:ext cx="1528145" cy="28346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score</a:t>
            </a:r>
          </a:p>
        </p:txBody>
      </p:sp>
      <p:sp>
        <p:nvSpPr>
          <p:cNvPr id="19" name="TextBox 18"/>
          <p:cNvSpPr txBox="1"/>
          <p:nvPr/>
        </p:nvSpPr>
        <p:spPr>
          <a:xfrm>
            <a:off x="6603065" y="2743200"/>
            <a:ext cx="5128686" cy="28346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Severity assigned by the hosted evaluator model</a:t>
            </a:r>
          </a:p>
        </p:txBody>
      </p:sp>
      <p:cxnSp>
        <p:nvCxnSpPr>
          <p:cNvPr id="20" name="Connector 19"/>
          <p:cNvCxnSpPr/>
          <p:nvPr/>
        </p:nvCxnSpPr>
        <p:spPr>
          <a:xfrm>
            <a:off x="4983480" y="3008376"/>
            <a:ext cx="6748272" cy="0"/>
          </a:xfrm>
          <a:prstGeom prst="line">
            <a:avLst/>
          </a:prstGeom>
          <a:ln w="9525">
            <a:solidFill>
              <a:srgbClr val="E1E7F4"/>
            </a:solidFill>
          </a:ln>
        </p:spPr>
      </p:cxnSp>
      <p:sp>
        <p:nvSpPr>
          <p:cNvPr id="21" name="TextBox 20"/>
          <p:cNvSpPr txBox="1"/>
          <p:nvPr/>
        </p:nvSpPr>
        <p:spPr>
          <a:xfrm>
            <a:off x="4983480" y="3026664"/>
            <a:ext cx="1528145" cy="28346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threshold</a:t>
            </a:r>
          </a:p>
        </p:txBody>
      </p:sp>
      <p:sp>
        <p:nvSpPr>
          <p:cNvPr id="22" name="TextBox 21"/>
          <p:cNvSpPr txBox="1"/>
          <p:nvPr/>
        </p:nvSpPr>
        <p:spPr>
          <a:xfrm>
            <a:off x="6603065" y="3026664"/>
            <a:ext cx="5128686" cy="28346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Analysis parameter of the run; default 3</a:t>
            </a:r>
          </a:p>
        </p:txBody>
      </p:sp>
      <p:cxnSp>
        <p:nvCxnSpPr>
          <p:cNvPr id="23" name="Connector 22"/>
          <p:cNvCxnSpPr/>
          <p:nvPr/>
        </p:nvCxnSpPr>
        <p:spPr>
          <a:xfrm>
            <a:off x="4983480" y="3291840"/>
            <a:ext cx="6748272" cy="0"/>
          </a:xfrm>
          <a:prstGeom prst="line">
            <a:avLst/>
          </a:prstGeom>
          <a:ln w="9525">
            <a:solidFill>
              <a:srgbClr val="E1E7F4"/>
            </a:solidFill>
          </a:ln>
        </p:spPr>
      </p:cxnSp>
      <p:sp>
        <p:nvSpPr>
          <p:cNvPr id="24" name="TextBox 23"/>
          <p:cNvSpPr txBox="1"/>
          <p:nvPr/>
        </p:nvSpPr>
        <p:spPr>
          <a:xfrm>
            <a:off x="4983480" y="3310128"/>
            <a:ext cx="1528145" cy="28346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label · passed</a:t>
            </a:r>
          </a:p>
        </p:txBody>
      </p:sp>
      <p:sp>
        <p:nvSpPr>
          <p:cNvPr id="25" name="TextBox 24"/>
          <p:cNvSpPr txBox="1"/>
          <p:nvPr/>
        </p:nvSpPr>
        <p:spPr>
          <a:xfrm>
            <a:off x="6603065" y="3310128"/>
            <a:ext cx="5128686" cy="28346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Verdict of score against threshold</a:t>
            </a:r>
          </a:p>
        </p:txBody>
      </p:sp>
      <p:cxnSp>
        <p:nvCxnSpPr>
          <p:cNvPr id="26" name="Connector 25"/>
          <p:cNvCxnSpPr/>
          <p:nvPr/>
        </p:nvCxnSpPr>
        <p:spPr>
          <a:xfrm>
            <a:off x="4983480" y="3575304"/>
            <a:ext cx="6748272" cy="0"/>
          </a:xfrm>
          <a:prstGeom prst="line">
            <a:avLst/>
          </a:prstGeom>
          <a:ln w="9525">
            <a:solidFill>
              <a:srgbClr val="E1E7F4"/>
            </a:solidFill>
          </a:ln>
        </p:spPr>
      </p:cxnSp>
      <p:sp>
        <p:nvSpPr>
          <p:cNvPr id="27" name="TextBox 26"/>
          <p:cNvSpPr txBox="1"/>
          <p:nvPr/>
        </p:nvSpPr>
        <p:spPr>
          <a:xfrm>
            <a:off x="4983480" y="3593592"/>
            <a:ext cx="1528145" cy="28346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reason</a:t>
            </a:r>
          </a:p>
        </p:txBody>
      </p:sp>
      <p:sp>
        <p:nvSpPr>
          <p:cNvPr id="28" name="TextBox 27"/>
          <p:cNvSpPr txBox="1"/>
          <p:nvPr/>
        </p:nvSpPr>
        <p:spPr>
          <a:xfrm>
            <a:off x="6603065" y="3593592"/>
            <a:ext cx="5128686" cy="28346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Written justification, used for triage</a:t>
            </a:r>
          </a:p>
        </p:txBody>
      </p:sp>
      <p:cxnSp>
        <p:nvCxnSpPr>
          <p:cNvPr id="29" name="Connector 28"/>
          <p:cNvCxnSpPr/>
          <p:nvPr/>
        </p:nvCxnSpPr>
        <p:spPr>
          <a:xfrm>
            <a:off x="4983480" y="3858768"/>
            <a:ext cx="6748272" cy="0"/>
          </a:xfrm>
          <a:prstGeom prst="line">
            <a:avLst/>
          </a:prstGeom>
          <a:ln w="9525">
            <a:solidFill>
              <a:srgbClr val="E1E7F4"/>
            </a:solidFill>
          </a:ln>
        </p:spPr>
      </p:cxnSp>
      <p:sp>
        <p:nvSpPr>
          <p:cNvPr id="30" name="TextBox 29"/>
          <p:cNvSpPr txBox="1"/>
          <p:nvPr/>
        </p:nvSpPr>
        <p:spPr>
          <a:xfrm>
            <a:off x="457200" y="41148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CONTENT SAFETY EVALUATORS</a:t>
            </a:r>
          </a:p>
        </p:txBody>
      </p:sp>
      <p:sp>
        <p:nvSpPr>
          <p:cNvPr id="31" name="Rectangle 30"/>
          <p:cNvSpPr/>
          <p:nvPr/>
        </p:nvSpPr>
        <p:spPr>
          <a:xfrm>
            <a:off x="457200" y="4370832"/>
            <a:ext cx="2697480" cy="310896"/>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builtin.violence</a:t>
            </a:r>
          </a:p>
        </p:txBody>
      </p:sp>
      <p:sp>
        <p:nvSpPr>
          <p:cNvPr id="32" name="Rectangle 31"/>
          <p:cNvSpPr/>
          <p:nvPr/>
        </p:nvSpPr>
        <p:spPr>
          <a:xfrm>
            <a:off x="3291840" y="4370832"/>
            <a:ext cx="2697480" cy="310896"/>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builtin.sexual</a:t>
            </a:r>
          </a:p>
        </p:txBody>
      </p:sp>
      <p:sp>
        <p:nvSpPr>
          <p:cNvPr id="33" name="Rectangle 32"/>
          <p:cNvSpPr/>
          <p:nvPr/>
        </p:nvSpPr>
        <p:spPr>
          <a:xfrm>
            <a:off x="6126480" y="4370832"/>
            <a:ext cx="2697480" cy="310896"/>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builtin.self_harm</a:t>
            </a:r>
          </a:p>
        </p:txBody>
      </p:sp>
      <p:sp>
        <p:nvSpPr>
          <p:cNvPr id="34" name="Rectangle 33"/>
          <p:cNvSpPr/>
          <p:nvPr/>
        </p:nvSpPr>
        <p:spPr>
          <a:xfrm>
            <a:off x="8961120" y="4370832"/>
            <a:ext cx="2697480" cy="310896"/>
          </a:xfrm>
          <a:prstGeom prst="rect">
            <a:avLst/>
          </a:prstGeom>
          <a:solidFill>
            <a:srgbClr val="101A3C"/>
          </a:solidFill>
          <a:ln>
            <a:noFill/>
          </a:ln>
          <a:effectLst/>
        </p:spPr>
        <p:txBody>
          <a:bodyPr wrap="square" lIns="54864" tIns="18288" rIns="54864" bIns="18288" rtlCol="0" anchor="ctr"/>
          <a:lstStyle/>
          <a:p>
            <a:pPr algn="ctr">
              <a:lnSpc>
                <a:spcPct val="100000"/>
              </a:lnSpc>
            </a:pPr>
            <a:r>
              <a:rPr sz="850" b="1" i="0" dirty="0">
                <a:solidFill>
                  <a:srgbClr val="FFFFFF"/>
                </a:solidFill>
                <a:latin typeface="Segoe UI"/>
                <a:cs typeface="Segoe UI"/>
              </a:rPr>
              <a:t>builtin.hate_unfairness</a:t>
            </a:r>
          </a:p>
        </p:txBody>
      </p:sp>
      <p:sp>
        <p:nvSpPr>
          <p:cNvPr id="35" name="TextBox 34"/>
          <p:cNvSpPr txBox="1"/>
          <p:nvPr/>
        </p:nvSpPr>
        <p:spPr>
          <a:xfrm>
            <a:off x="457200" y="4828032"/>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OTHER RISK AND SAFETY EVALUATORS</a:t>
            </a:r>
          </a:p>
        </p:txBody>
      </p:sp>
      <p:sp>
        <p:nvSpPr>
          <p:cNvPr id="36" name="Rectangle 35"/>
          <p:cNvSpPr/>
          <p:nvPr/>
        </p:nvSpPr>
        <p:spPr>
          <a:xfrm>
            <a:off x="457200"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protected_material</a:t>
            </a:r>
          </a:p>
        </p:txBody>
      </p:sp>
      <p:sp>
        <p:nvSpPr>
          <p:cNvPr id="37" name="Rectangle 36"/>
          <p:cNvSpPr/>
          <p:nvPr/>
        </p:nvSpPr>
        <p:spPr>
          <a:xfrm>
            <a:off x="2350008"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indirect_attack</a:t>
            </a:r>
          </a:p>
        </p:txBody>
      </p:sp>
      <p:sp>
        <p:nvSpPr>
          <p:cNvPr id="38" name="Rectangle 37"/>
          <p:cNvSpPr/>
          <p:nvPr/>
        </p:nvSpPr>
        <p:spPr>
          <a:xfrm>
            <a:off x="4242816"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code_vulnerability</a:t>
            </a:r>
          </a:p>
        </p:txBody>
      </p:sp>
      <p:sp>
        <p:nvSpPr>
          <p:cNvPr id="39" name="Rectangle 38"/>
          <p:cNvSpPr/>
          <p:nvPr/>
        </p:nvSpPr>
        <p:spPr>
          <a:xfrm>
            <a:off x="6135623"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ungrounded_attributes</a:t>
            </a:r>
          </a:p>
        </p:txBody>
      </p:sp>
      <p:sp>
        <p:nvSpPr>
          <p:cNvPr id="40" name="Rectangle 39"/>
          <p:cNvSpPr/>
          <p:nvPr/>
        </p:nvSpPr>
        <p:spPr>
          <a:xfrm>
            <a:off x="8028431"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prohibited_actions*</a:t>
            </a:r>
          </a:p>
        </p:txBody>
      </p:sp>
      <p:sp>
        <p:nvSpPr>
          <p:cNvPr id="41" name="Rectangle 40"/>
          <p:cNvSpPr/>
          <p:nvPr/>
        </p:nvSpPr>
        <p:spPr>
          <a:xfrm>
            <a:off x="9921240" y="5084064"/>
            <a:ext cx="1783080" cy="292608"/>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sensitive_data_leakage*</a:t>
            </a:r>
          </a:p>
        </p:txBody>
      </p:sp>
      <p:sp>
        <p:nvSpPr>
          <p:cNvPr id="42" name="TextBox 41"/>
          <p:cNvSpPr txBox="1"/>
          <p:nvPr/>
        </p:nvSpPr>
        <p:spPr>
          <a:xfrm>
            <a:off x="7863840" y="557784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EVALUATORS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guardrails and evaluators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Same harm category names, different scales, different moments and different effects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learn.microsoft.com/azure/foundry/guardrails/how-to-create-guardrails · risk-safety-evaluators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8</a:t>
            </a:r>
          </a:p>
        </p:txBody>
      </p:sp>
      <p:sp>
        <p:nvSpPr>
          <p:cNvPr id="7" name="Rectangle 6"/>
          <p:cNvSpPr/>
          <p:nvPr/>
        </p:nvSpPr>
        <p:spPr>
          <a:xfrm>
            <a:off x="457200" y="1371600"/>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49324"/>
            <a:ext cx="207257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Dimension</a:t>
            </a:r>
          </a:p>
        </p:txBody>
      </p:sp>
      <p:sp>
        <p:nvSpPr>
          <p:cNvPr id="9" name="TextBox 8"/>
          <p:cNvSpPr txBox="1"/>
          <p:nvPr/>
        </p:nvSpPr>
        <p:spPr>
          <a:xfrm>
            <a:off x="2840675" y="1449324"/>
            <a:ext cx="432803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Runtime guardrail</a:t>
            </a:r>
          </a:p>
        </p:txBody>
      </p:sp>
      <p:sp>
        <p:nvSpPr>
          <p:cNvPr id="10" name="TextBox 9"/>
          <p:cNvSpPr txBox="1"/>
          <p:nvPr/>
        </p:nvSpPr>
        <p:spPr>
          <a:xfrm>
            <a:off x="7351593" y="1449324"/>
            <a:ext cx="4328038"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Risk and safety evaluator</a:t>
            </a:r>
          </a:p>
        </p:txBody>
      </p:sp>
      <p:sp>
        <p:nvSpPr>
          <p:cNvPr id="11" name="Rectangle 10"/>
          <p:cNvSpPr/>
          <p:nvPr/>
        </p:nvSpPr>
        <p:spPr>
          <a:xfrm>
            <a:off x="457200" y="1682496"/>
            <a:ext cx="11277295" cy="438912"/>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121408"/>
            <a:ext cx="11277295" cy="0"/>
          </a:xfrm>
          <a:prstGeom prst="line">
            <a:avLst/>
          </a:prstGeom>
          <a:ln w="9525">
            <a:solidFill>
              <a:srgbClr val="E1E7F4"/>
            </a:solidFill>
          </a:ln>
        </p:spPr>
      </p:cxnSp>
      <p:sp>
        <p:nvSpPr>
          <p:cNvPr id="13" name="TextBox 12"/>
          <p:cNvSpPr txBox="1"/>
          <p:nvPr/>
        </p:nvSpPr>
        <p:spPr>
          <a:xfrm>
            <a:off x="585216" y="1732788"/>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When it runs</a:t>
            </a:r>
          </a:p>
        </p:txBody>
      </p:sp>
      <p:sp>
        <p:nvSpPr>
          <p:cNvPr id="14" name="TextBox 13"/>
          <p:cNvSpPr txBox="1"/>
          <p:nvPr/>
        </p:nvSpPr>
        <p:spPr>
          <a:xfrm>
            <a:off x="2840675" y="1732788"/>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On every call, inside the request path</a:t>
            </a:r>
          </a:p>
        </p:txBody>
      </p:sp>
      <p:sp>
        <p:nvSpPr>
          <p:cNvPr id="15" name="TextBox 14"/>
          <p:cNvSpPr txBox="1"/>
          <p:nvPr/>
        </p:nvSpPr>
        <p:spPr>
          <a:xfrm>
            <a:off x="7351593" y="1732788"/>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After responses exist, as an evaluation run</a:t>
            </a:r>
          </a:p>
        </p:txBody>
      </p:sp>
      <p:cxnSp>
        <p:nvCxnSpPr>
          <p:cNvPr id="16" name="Connector 15"/>
          <p:cNvCxnSpPr/>
          <p:nvPr/>
        </p:nvCxnSpPr>
        <p:spPr>
          <a:xfrm>
            <a:off x="457200" y="2560320"/>
            <a:ext cx="11277295" cy="0"/>
          </a:xfrm>
          <a:prstGeom prst="line">
            <a:avLst/>
          </a:prstGeom>
          <a:ln w="9525">
            <a:solidFill>
              <a:srgbClr val="E1E7F4"/>
            </a:solidFill>
          </a:ln>
        </p:spPr>
      </p:cxnSp>
      <p:sp>
        <p:nvSpPr>
          <p:cNvPr id="17" name="TextBox 16"/>
          <p:cNvSpPr txBox="1"/>
          <p:nvPr/>
        </p:nvSpPr>
        <p:spPr>
          <a:xfrm>
            <a:off x="585216" y="2171700"/>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it inspects</a:t>
            </a:r>
          </a:p>
        </p:txBody>
      </p:sp>
      <p:sp>
        <p:nvSpPr>
          <p:cNvPr id="18" name="TextBox 17"/>
          <p:cNvSpPr txBox="1"/>
          <p:nvPr/>
        </p:nvSpPr>
        <p:spPr>
          <a:xfrm>
            <a:off x="2840675" y="2171700"/>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User input and output; tool call* and tool response* for agents</a:t>
            </a:r>
          </a:p>
        </p:txBody>
      </p:sp>
      <p:sp>
        <p:nvSpPr>
          <p:cNvPr id="19" name="TextBox 18"/>
          <p:cNvSpPr txBox="1"/>
          <p:nvPr/>
        </p:nvSpPr>
        <p:spPr>
          <a:xfrm>
            <a:off x="7351593" y="2171700"/>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Returned responses (query and response, or messages)</a:t>
            </a:r>
          </a:p>
        </p:txBody>
      </p:sp>
      <p:sp>
        <p:nvSpPr>
          <p:cNvPr id="20" name="Rectangle 19"/>
          <p:cNvSpPr/>
          <p:nvPr/>
        </p:nvSpPr>
        <p:spPr>
          <a:xfrm>
            <a:off x="457200" y="2560320"/>
            <a:ext cx="11277295" cy="438912"/>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2999232"/>
            <a:ext cx="11277295" cy="0"/>
          </a:xfrm>
          <a:prstGeom prst="line">
            <a:avLst/>
          </a:prstGeom>
          <a:ln w="9525">
            <a:solidFill>
              <a:srgbClr val="E1E7F4"/>
            </a:solidFill>
          </a:ln>
        </p:spPr>
      </p:cxnSp>
      <p:sp>
        <p:nvSpPr>
          <p:cNvPr id="22" name="TextBox 21"/>
          <p:cNvSpPr txBox="1"/>
          <p:nvPr/>
        </p:nvSpPr>
        <p:spPr>
          <a:xfrm>
            <a:off x="585216" y="2610612"/>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Scale</a:t>
            </a:r>
          </a:p>
        </p:txBody>
      </p:sp>
      <p:sp>
        <p:nvSpPr>
          <p:cNvPr id="23" name="TextBox 22"/>
          <p:cNvSpPr txBox="1"/>
          <p:nvPr/>
        </p:nvSpPr>
        <p:spPr>
          <a:xfrm>
            <a:off x="2840675" y="2610612"/>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Safe, low, medium, high per category, plus a filtered flag</a:t>
            </a:r>
          </a:p>
        </p:txBody>
      </p:sp>
      <p:sp>
        <p:nvSpPr>
          <p:cNvPr id="24" name="TextBox 23"/>
          <p:cNvSpPr txBox="1"/>
          <p:nvPr/>
        </p:nvSpPr>
        <p:spPr>
          <a:xfrm>
            <a:off x="7351593" y="2610612"/>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0–7 per category; pass at or below the threshold (default 3)</a:t>
            </a:r>
          </a:p>
        </p:txBody>
      </p:sp>
      <p:cxnSp>
        <p:nvCxnSpPr>
          <p:cNvPr id="25" name="Connector 24"/>
          <p:cNvCxnSpPr/>
          <p:nvPr/>
        </p:nvCxnSpPr>
        <p:spPr>
          <a:xfrm>
            <a:off x="457200" y="3438144"/>
            <a:ext cx="11277295" cy="0"/>
          </a:xfrm>
          <a:prstGeom prst="line">
            <a:avLst/>
          </a:prstGeom>
          <a:ln w="9525">
            <a:solidFill>
              <a:srgbClr val="E1E7F4"/>
            </a:solidFill>
          </a:ln>
        </p:spPr>
      </p:cxnSp>
      <p:sp>
        <p:nvSpPr>
          <p:cNvPr id="26" name="TextBox 25"/>
          <p:cNvSpPr txBox="1"/>
          <p:nvPr/>
        </p:nvSpPr>
        <p:spPr>
          <a:xfrm>
            <a:off x="585216" y="3049524"/>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Effect</a:t>
            </a:r>
          </a:p>
        </p:txBody>
      </p:sp>
      <p:sp>
        <p:nvSpPr>
          <p:cNvPr id="27" name="TextBox 26"/>
          <p:cNvSpPr txBox="1"/>
          <p:nvPr/>
        </p:nvSpPr>
        <p:spPr>
          <a:xfrm>
            <a:off x="2840675" y="3049524"/>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Annotates or blocks; a blocked answer never reaches the user</a:t>
            </a:r>
          </a:p>
        </p:txBody>
      </p:sp>
      <p:sp>
        <p:nvSpPr>
          <p:cNvPr id="28" name="TextBox 27"/>
          <p:cNvSpPr txBox="1"/>
          <p:nvPr/>
        </p:nvSpPr>
        <p:spPr>
          <a:xfrm>
            <a:off x="7351593" y="3049524"/>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Reports only; production behaviour is unchanged</a:t>
            </a:r>
          </a:p>
        </p:txBody>
      </p:sp>
      <p:sp>
        <p:nvSpPr>
          <p:cNvPr id="29" name="Rectangle 28"/>
          <p:cNvSpPr/>
          <p:nvPr/>
        </p:nvSpPr>
        <p:spPr>
          <a:xfrm>
            <a:off x="457200" y="3438144"/>
            <a:ext cx="11277295" cy="438912"/>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877056"/>
            <a:ext cx="11277295" cy="0"/>
          </a:xfrm>
          <a:prstGeom prst="line">
            <a:avLst/>
          </a:prstGeom>
          <a:ln w="9525">
            <a:solidFill>
              <a:srgbClr val="E1E7F4"/>
            </a:solidFill>
          </a:ln>
        </p:spPr>
      </p:cxnSp>
      <p:sp>
        <p:nvSpPr>
          <p:cNvPr id="31" name="TextBox 30"/>
          <p:cNvSpPr txBox="1"/>
          <p:nvPr/>
        </p:nvSpPr>
        <p:spPr>
          <a:xfrm>
            <a:off x="585216" y="3488436"/>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Where it is set</a:t>
            </a:r>
          </a:p>
        </p:txBody>
      </p:sp>
      <p:sp>
        <p:nvSpPr>
          <p:cNvPr id="32" name="TextBox 31"/>
          <p:cNvSpPr txBox="1"/>
          <p:nvPr/>
        </p:nvSpPr>
        <p:spPr>
          <a:xfrm>
            <a:off x="2840675" y="3488436"/>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On the deployment or agent, or per request with x-policy-id</a:t>
            </a:r>
          </a:p>
        </p:txBody>
      </p:sp>
      <p:sp>
        <p:nvSpPr>
          <p:cNvPr id="33" name="TextBox 32"/>
          <p:cNvSpPr txBox="1"/>
          <p:nvPr/>
        </p:nvSpPr>
        <p:spPr>
          <a:xfrm>
            <a:off x="7351593" y="3488436"/>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On the evaluation run; the threshold is an analysis parameter</a:t>
            </a:r>
          </a:p>
        </p:txBody>
      </p:sp>
      <p:cxnSp>
        <p:nvCxnSpPr>
          <p:cNvPr id="34" name="Connector 33"/>
          <p:cNvCxnSpPr/>
          <p:nvPr/>
        </p:nvCxnSpPr>
        <p:spPr>
          <a:xfrm>
            <a:off x="457200" y="4315968"/>
            <a:ext cx="11277295" cy="0"/>
          </a:xfrm>
          <a:prstGeom prst="line">
            <a:avLst/>
          </a:prstGeom>
          <a:ln w="9525">
            <a:solidFill>
              <a:srgbClr val="E1E7F4"/>
            </a:solidFill>
          </a:ln>
        </p:spPr>
      </p:cxnSp>
      <p:sp>
        <p:nvSpPr>
          <p:cNvPr id="35" name="TextBox 34"/>
          <p:cNvSpPr txBox="1"/>
          <p:nvPr/>
        </p:nvSpPr>
        <p:spPr>
          <a:xfrm>
            <a:off x="585216" y="3927348"/>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Latency impact</a:t>
            </a:r>
          </a:p>
        </p:txBody>
      </p:sp>
      <p:sp>
        <p:nvSpPr>
          <p:cNvPr id="36" name="TextBox 35"/>
          <p:cNvSpPr txBox="1"/>
          <p:nvPr/>
        </p:nvSpPr>
        <p:spPr>
          <a:xfrm>
            <a:off x="2840675" y="3927348"/>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About 50–100 ms per intervention point</a:t>
            </a:r>
          </a:p>
        </p:txBody>
      </p:sp>
      <p:sp>
        <p:nvSpPr>
          <p:cNvPr id="37" name="TextBox 36"/>
          <p:cNvSpPr txBox="1"/>
          <p:nvPr/>
        </p:nvSpPr>
        <p:spPr>
          <a:xfrm>
            <a:off x="7351593" y="3927348"/>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None on production traffic</a:t>
            </a:r>
          </a:p>
        </p:txBody>
      </p:sp>
      <p:sp>
        <p:nvSpPr>
          <p:cNvPr id="38" name="Rectangle 37"/>
          <p:cNvSpPr/>
          <p:nvPr/>
        </p:nvSpPr>
        <p:spPr>
          <a:xfrm>
            <a:off x="457200" y="4315968"/>
            <a:ext cx="11277295" cy="438912"/>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4754880"/>
            <a:ext cx="11277295" cy="0"/>
          </a:xfrm>
          <a:prstGeom prst="line">
            <a:avLst/>
          </a:prstGeom>
          <a:ln w="9525">
            <a:solidFill>
              <a:srgbClr val="E1E7F4"/>
            </a:solidFill>
          </a:ln>
        </p:spPr>
      </p:cxnSp>
      <p:sp>
        <p:nvSpPr>
          <p:cNvPr id="40" name="TextBox 39"/>
          <p:cNvSpPr txBox="1"/>
          <p:nvPr/>
        </p:nvSpPr>
        <p:spPr>
          <a:xfrm>
            <a:off x="585216" y="4366260"/>
            <a:ext cx="2036003" cy="356616"/>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What it cannot show</a:t>
            </a:r>
          </a:p>
        </p:txBody>
      </p:sp>
      <p:sp>
        <p:nvSpPr>
          <p:cNvPr id="41" name="TextBox 40"/>
          <p:cNvSpPr txBox="1"/>
          <p:nvPr/>
        </p:nvSpPr>
        <p:spPr>
          <a:xfrm>
            <a:off x="2840675" y="4366260"/>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Whether a block was correct</a:t>
            </a:r>
          </a:p>
        </p:txBody>
      </p:sp>
      <p:sp>
        <p:nvSpPr>
          <p:cNvPr id="42" name="TextBox 41"/>
          <p:cNvSpPr txBox="1"/>
          <p:nvPr/>
        </p:nvSpPr>
        <p:spPr>
          <a:xfrm>
            <a:off x="7351593" y="4366260"/>
            <a:ext cx="4291462" cy="356616"/>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Anything the guardrail blocked</a:t>
            </a:r>
          </a:p>
        </p:txBody>
      </p:sp>
      <p:cxnSp>
        <p:nvCxnSpPr>
          <p:cNvPr id="43" name="Connector 42"/>
          <p:cNvCxnSpPr/>
          <p:nvPr/>
        </p:nvCxnSpPr>
        <p:spPr>
          <a:xfrm>
            <a:off x="2712659" y="1682496"/>
            <a:ext cx="0" cy="3072384"/>
          </a:xfrm>
          <a:prstGeom prst="line">
            <a:avLst/>
          </a:prstGeom>
          <a:ln w="9525">
            <a:solidFill>
              <a:srgbClr val="E1E7F4"/>
            </a:solidFill>
          </a:ln>
        </p:spPr>
      </p:cxnSp>
      <p:cxnSp>
        <p:nvCxnSpPr>
          <p:cNvPr id="44" name="Connector 43"/>
          <p:cNvCxnSpPr/>
          <p:nvPr/>
        </p:nvCxnSpPr>
        <p:spPr>
          <a:xfrm>
            <a:off x="7223577" y="1682496"/>
            <a:ext cx="0" cy="3072384"/>
          </a:xfrm>
          <a:prstGeom prst="line">
            <a:avLst/>
          </a:prstGeom>
          <a:ln w="9525">
            <a:solidFill>
              <a:srgbClr val="E1E7F4"/>
            </a:solidFill>
          </a:ln>
        </p:spPr>
      </p:cxnSp>
      <p:sp>
        <p:nvSpPr>
          <p:cNvPr id="45" name="Rectangle 44"/>
          <p:cNvSpPr/>
          <p:nvPr/>
        </p:nvSpPr>
        <p:spPr>
          <a:xfrm>
            <a:off x="457200" y="4983480"/>
            <a:ext cx="11277295" cy="411480"/>
          </a:xfrm>
          <a:prstGeom prst="rect">
            <a:avLst/>
          </a:prstGeom>
          <a:solidFill>
            <a:srgbClr val="EBEFF7"/>
          </a:solidFill>
          <a:ln>
            <a:noFill/>
          </a:ln>
          <a:effectLst/>
        </p:spPr>
        <p:txBody>
          <a:bodyPr wrap="square" rtlCol="0" anchor="ctr"/>
          <a:lstStyle/>
          <a:p>
            <a:endParaRPr/>
          </a:p>
        </p:txBody>
      </p:sp>
      <p:sp>
        <p:nvSpPr>
          <p:cNvPr id="46" name="Rectangle 45"/>
          <p:cNvSpPr/>
          <p:nvPr/>
        </p:nvSpPr>
        <p:spPr>
          <a:xfrm>
            <a:off x="457200" y="4983480"/>
            <a:ext cx="41148" cy="411480"/>
          </a:xfrm>
          <a:prstGeom prst="rect">
            <a:avLst/>
          </a:prstGeom>
          <a:solidFill>
            <a:srgbClr val="00B39F"/>
          </a:solidFill>
          <a:ln>
            <a:noFill/>
          </a:ln>
          <a:effectLst/>
        </p:spPr>
        <p:txBody>
          <a:bodyPr wrap="square" rtlCol="0" anchor="ctr"/>
          <a:lstStyle/>
          <a:p>
            <a:endParaRPr/>
          </a:p>
        </p:txBody>
      </p:sp>
      <p:sp>
        <p:nvSpPr>
          <p:cNvPr id="47" name="TextBox 46"/>
          <p:cNvSpPr txBox="1"/>
          <p:nvPr/>
        </p:nvSpPr>
        <p:spPr>
          <a:xfrm>
            <a:off x="694944" y="5084064"/>
            <a:ext cx="10856671" cy="228600"/>
          </a:xfrm>
          <a:prstGeom prst="rect">
            <a:avLst/>
          </a:prstGeom>
          <a:noFill/>
        </p:spPr>
        <p:txBody>
          <a:bodyPr wrap="square" lIns="0" tIns="0" rIns="0" bIns="0" anchor="t">
            <a:spAutoFit/>
          </a:bodyPr>
          <a:lstStyle/>
          <a:p>
            <a:pPr algn="l">
              <a:lnSpc>
                <a:spcPct val="120000"/>
              </a:lnSpc>
            </a:pPr>
            <a:r>
              <a:rPr sz="950" b="0" i="0" dirty="0">
                <a:solidFill>
                  <a:srgbClr val="101A3C"/>
                </a:solidFill>
                <a:latin typeface="Segoe UI"/>
                <a:cs typeface="Segoe UI"/>
              </a:rPr>
              <a:t>Enforcement and measurement are complementary: the relationship is visible only when the same question carries a verdict from each.</a:t>
            </a:r>
          </a:p>
        </p:txBody>
      </p:sp>
      <p:sp>
        <p:nvSpPr>
          <p:cNvPr id="48" name="TextBox 47"/>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EXPERIMENT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Test design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synthetic question set sent through both layers, with results joined question by question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github.com/strudel0209/foundry-content-safety-eval · Foundry cloud evaluation</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9</a:t>
            </a:r>
          </a:p>
        </p:txBody>
      </p:sp>
      <p:sp>
        <p:nvSpPr>
          <p:cNvPr id="7" name="Rectangle 6"/>
          <p:cNvSpPr/>
          <p:nvPr/>
        </p:nvSpPr>
        <p:spPr>
          <a:xfrm>
            <a:off x="457200" y="2148840"/>
            <a:ext cx="1828800" cy="822960"/>
          </a:xfrm>
          <a:prstGeom prst="rect">
            <a:avLst/>
          </a:prstGeom>
          <a:solidFill>
            <a:srgbClr val="EBEFF7"/>
          </a:solidFill>
          <a:ln>
            <a:no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Question design</a:t>
            </a:r>
          </a:p>
          <a:p>
            <a:pPr algn="ctr">
              <a:lnSpc>
                <a:spcPct val="110000"/>
              </a:lnSpc>
            </a:pPr>
            <a:r>
              <a:rPr sz="800" b="0" i="0" dirty="0">
                <a:solidFill>
                  <a:srgbClr val="44495B"/>
                </a:solidFill>
                <a:latin typeface="Segoe UI"/>
                <a:cs typeface="Segoe UI"/>
              </a:rPr>
              <a:t>4 harm categories × 4 intent levels</a:t>
            </a:r>
          </a:p>
        </p:txBody>
      </p:sp>
      <p:sp>
        <p:nvSpPr>
          <p:cNvPr id="8" name="Rectangle 7"/>
          <p:cNvSpPr/>
          <p:nvPr/>
        </p:nvSpPr>
        <p:spPr>
          <a:xfrm>
            <a:off x="2743200" y="2148840"/>
            <a:ext cx="1828800" cy="8229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Synthetic dataset</a:t>
            </a:r>
          </a:p>
          <a:p>
            <a:pPr algn="ctr">
              <a:lnSpc>
                <a:spcPct val="110000"/>
              </a:lnSpc>
            </a:pPr>
            <a:r>
              <a:rPr sz="800" b="0" i="0" dirty="0">
                <a:solidFill>
                  <a:srgbClr val="44495B"/>
                </a:solidFill>
                <a:latin typeface="Segoe UI"/>
                <a:cs typeface="Segoe UI"/>
              </a:rPr>
              <a:t>generated once, versioned</a:t>
            </a:r>
          </a:p>
        </p:txBody>
      </p:sp>
      <p:sp>
        <p:nvSpPr>
          <p:cNvPr id="9" name="Rectangle 8"/>
          <p:cNvSpPr/>
          <p:nvPr/>
        </p:nvSpPr>
        <p:spPr>
          <a:xfrm>
            <a:off x="5120640" y="1600200"/>
            <a:ext cx="2194560" cy="822960"/>
          </a:xfrm>
          <a:prstGeom prst="rect">
            <a:avLst/>
          </a:prstGeom>
          <a:solidFill>
            <a:srgbClr val="101A3C"/>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Cloud evaluation run</a:t>
            </a:r>
          </a:p>
          <a:p>
            <a:pPr algn="ctr">
              <a:lnSpc>
                <a:spcPct val="110000"/>
              </a:lnSpc>
            </a:pPr>
            <a:r>
              <a:rPr sz="800" b="0" i="0" dirty="0">
                <a:solidFill>
                  <a:srgbClr val="B9C2D6"/>
                </a:solidFill>
                <a:latin typeface="Segoe UI"/>
                <a:cs typeface="Segoe UI"/>
              </a:rPr>
              <a:t>4 content safety evaluators, 0–7</a:t>
            </a:r>
          </a:p>
        </p:txBody>
      </p:sp>
      <p:sp>
        <p:nvSpPr>
          <p:cNvPr id="10" name="Rectangle 9"/>
          <p:cNvSpPr/>
          <p:nvPr/>
        </p:nvSpPr>
        <p:spPr>
          <a:xfrm>
            <a:off x="5120640" y="2697480"/>
            <a:ext cx="2194560" cy="822960"/>
          </a:xfrm>
          <a:prstGeom prst="rect">
            <a:avLst/>
          </a:prstGeom>
          <a:solidFill>
            <a:srgbClr val="0B1229"/>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Direct replay</a:t>
            </a:r>
          </a:p>
          <a:p>
            <a:pPr algn="ctr">
              <a:lnSpc>
                <a:spcPct val="110000"/>
              </a:lnSpc>
            </a:pPr>
            <a:r>
              <a:rPr sz="800" b="0" i="0" dirty="0">
                <a:solidFill>
                  <a:srgbClr val="B9C2D6"/>
                </a:solidFill>
                <a:latin typeface="Segoe UI"/>
                <a:cs typeface="Segoe UI"/>
              </a:rPr>
              <a:t>Responses API, content_filters</a:t>
            </a:r>
          </a:p>
        </p:txBody>
      </p:sp>
      <p:sp>
        <p:nvSpPr>
          <p:cNvPr id="11" name="Rectangle 10"/>
          <p:cNvSpPr/>
          <p:nvPr/>
        </p:nvSpPr>
        <p:spPr>
          <a:xfrm>
            <a:off x="7818120" y="2148840"/>
            <a:ext cx="1737360" cy="8229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Join</a:t>
            </a:r>
          </a:p>
          <a:p>
            <a:pPr algn="ctr">
              <a:lnSpc>
                <a:spcPct val="110000"/>
              </a:lnSpc>
            </a:pPr>
            <a:r>
              <a:rPr sz="800" b="0" i="0" dirty="0">
                <a:solidFill>
                  <a:srgbClr val="44495B"/>
                </a:solidFill>
                <a:latin typeface="Segoe UI"/>
                <a:cs typeface="Segoe UI"/>
              </a:rPr>
              <a:t>deployment + question text</a:t>
            </a:r>
          </a:p>
        </p:txBody>
      </p:sp>
      <p:sp>
        <p:nvSpPr>
          <p:cNvPr id="12" name="Rectangle 11"/>
          <p:cNvSpPr/>
          <p:nvPr/>
        </p:nvSpPr>
        <p:spPr>
          <a:xfrm>
            <a:off x="10012680" y="2148840"/>
            <a:ext cx="1719072" cy="822960"/>
          </a:xfrm>
          <a:prstGeom prst="rect">
            <a:avLst/>
          </a:prstGeom>
          <a:solidFill>
            <a:srgbClr val="EBEFF7"/>
          </a:solidFill>
          <a:ln>
            <a:noFill/>
          </a:ln>
          <a:effectLst/>
        </p:spPr>
        <p:txBody>
          <a:bodyPr wrap="square" lIns="54864" tIns="18288" rIns="54864" bIns="18288" rtlCol="0" anchor="ctr"/>
          <a:lstStyle/>
          <a:p>
            <a:pPr algn="ctr">
              <a:lnSpc>
                <a:spcPct val="110000"/>
              </a:lnSpc>
            </a:pPr>
            <a:r>
              <a:rPr sz="950" b="1" i="0" dirty="0">
                <a:solidFill>
                  <a:srgbClr val="101A3C"/>
                </a:solidFill>
                <a:latin typeface="Segoe UI"/>
                <a:cs typeface="Segoe UI"/>
              </a:rPr>
              <a:t>Agreement matrix</a:t>
            </a:r>
          </a:p>
          <a:p>
            <a:pPr algn="ctr">
              <a:lnSpc>
                <a:spcPct val="110000"/>
              </a:lnSpc>
            </a:pPr>
            <a:r>
              <a:rPr sz="800" b="0" i="0" dirty="0">
                <a:solidFill>
                  <a:srgbClr val="44495B"/>
                </a:solidFill>
                <a:latin typeface="Segoe UI"/>
                <a:cs typeface="Segoe UI"/>
              </a:rPr>
              <a:t>two verdicts per pair</a:t>
            </a:r>
          </a:p>
        </p:txBody>
      </p:sp>
      <p:cxnSp>
        <p:nvCxnSpPr>
          <p:cNvPr id="13" name="Connector 12"/>
          <p:cNvCxnSpPr/>
          <p:nvPr/>
        </p:nvCxnSpPr>
        <p:spPr>
          <a:xfrm>
            <a:off x="2286000" y="2560320"/>
            <a:ext cx="457200" cy="0"/>
          </a:xfrm>
          <a:prstGeom prst="line">
            <a:avLst/>
          </a:prstGeom>
          <a:ln w="13970">
            <a:solidFill>
              <a:srgbClr val="44495B"/>
            </a:solidFill>
            <a:tailEnd type="triangle" w="med" len="med"/>
          </a:ln>
        </p:spPr>
      </p:cxnSp>
      <p:sp>
        <p:nvSpPr>
          <p:cNvPr id="14" name="Oval 13"/>
          <p:cNvSpPr/>
          <p:nvPr/>
        </p:nvSpPr>
        <p:spPr>
          <a:xfrm>
            <a:off x="2409444" y="245516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cxnSp>
        <p:nvCxnSpPr>
          <p:cNvPr id="15" name="Connector 14"/>
          <p:cNvCxnSpPr/>
          <p:nvPr/>
        </p:nvCxnSpPr>
        <p:spPr>
          <a:xfrm>
            <a:off x="4572000" y="2560320"/>
            <a:ext cx="274320" cy="0"/>
          </a:xfrm>
          <a:prstGeom prst="line">
            <a:avLst/>
          </a:prstGeom>
          <a:ln w="13970">
            <a:solidFill>
              <a:srgbClr val="44495B"/>
            </a:solidFill>
          </a:ln>
        </p:spPr>
      </p:cxnSp>
      <p:cxnSp>
        <p:nvCxnSpPr>
          <p:cNvPr id="16" name="Connector 15"/>
          <p:cNvCxnSpPr/>
          <p:nvPr/>
        </p:nvCxnSpPr>
        <p:spPr>
          <a:xfrm>
            <a:off x="4846320" y="2011680"/>
            <a:ext cx="0" cy="1097280"/>
          </a:xfrm>
          <a:prstGeom prst="line">
            <a:avLst/>
          </a:prstGeom>
          <a:ln w="13970">
            <a:solidFill>
              <a:srgbClr val="44495B"/>
            </a:solidFill>
          </a:ln>
        </p:spPr>
      </p:cxnSp>
      <p:cxnSp>
        <p:nvCxnSpPr>
          <p:cNvPr id="17" name="Connector 16"/>
          <p:cNvCxnSpPr/>
          <p:nvPr/>
        </p:nvCxnSpPr>
        <p:spPr>
          <a:xfrm>
            <a:off x="4846320" y="2011680"/>
            <a:ext cx="274320" cy="0"/>
          </a:xfrm>
          <a:prstGeom prst="line">
            <a:avLst/>
          </a:prstGeom>
          <a:ln w="13970">
            <a:solidFill>
              <a:srgbClr val="44495B"/>
            </a:solidFill>
            <a:tailEnd type="triangle" w="med" len="med"/>
          </a:ln>
        </p:spPr>
      </p:cxnSp>
      <p:cxnSp>
        <p:nvCxnSpPr>
          <p:cNvPr id="18" name="Connector 17"/>
          <p:cNvCxnSpPr/>
          <p:nvPr/>
        </p:nvCxnSpPr>
        <p:spPr>
          <a:xfrm>
            <a:off x="4846320" y="3108960"/>
            <a:ext cx="274320" cy="0"/>
          </a:xfrm>
          <a:prstGeom prst="line">
            <a:avLst/>
          </a:prstGeom>
          <a:ln w="13970">
            <a:solidFill>
              <a:srgbClr val="44495B"/>
            </a:solidFill>
            <a:tailEnd type="triangle" w="med" len="med"/>
          </a:ln>
        </p:spPr>
      </p:cxnSp>
      <p:sp>
        <p:nvSpPr>
          <p:cNvPr id="19" name="Oval 18"/>
          <p:cNvSpPr/>
          <p:nvPr/>
        </p:nvSpPr>
        <p:spPr>
          <a:xfrm>
            <a:off x="4741164" y="19065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0" name="Oval 19"/>
          <p:cNvSpPr/>
          <p:nvPr/>
        </p:nvSpPr>
        <p:spPr>
          <a:xfrm>
            <a:off x="4741164" y="300380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21" name="Connector 20"/>
          <p:cNvCxnSpPr/>
          <p:nvPr/>
        </p:nvCxnSpPr>
        <p:spPr>
          <a:xfrm>
            <a:off x="7315200" y="2011680"/>
            <a:ext cx="246888" cy="0"/>
          </a:xfrm>
          <a:prstGeom prst="line">
            <a:avLst/>
          </a:prstGeom>
          <a:ln w="13970">
            <a:solidFill>
              <a:srgbClr val="44495B"/>
            </a:solidFill>
          </a:ln>
        </p:spPr>
      </p:cxnSp>
      <p:cxnSp>
        <p:nvCxnSpPr>
          <p:cNvPr id="22" name="Connector 21"/>
          <p:cNvCxnSpPr/>
          <p:nvPr/>
        </p:nvCxnSpPr>
        <p:spPr>
          <a:xfrm>
            <a:off x="7315200" y="3108960"/>
            <a:ext cx="246888" cy="0"/>
          </a:xfrm>
          <a:prstGeom prst="line">
            <a:avLst/>
          </a:prstGeom>
          <a:ln w="13970">
            <a:solidFill>
              <a:srgbClr val="44495B"/>
            </a:solidFill>
          </a:ln>
        </p:spPr>
      </p:cxnSp>
      <p:cxnSp>
        <p:nvCxnSpPr>
          <p:cNvPr id="23" name="Connector 22"/>
          <p:cNvCxnSpPr/>
          <p:nvPr/>
        </p:nvCxnSpPr>
        <p:spPr>
          <a:xfrm>
            <a:off x="7562088" y="2011680"/>
            <a:ext cx="0" cy="1097280"/>
          </a:xfrm>
          <a:prstGeom prst="line">
            <a:avLst/>
          </a:prstGeom>
          <a:ln w="13970">
            <a:solidFill>
              <a:srgbClr val="44495B"/>
            </a:solidFill>
          </a:ln>
        </p:spPr>
      </p:cxnSp>
      <p:cxnSp>
        <p:nvCxnSpPr>
          <p:cNvPr id="24" name="Connector 23"/>
          <p:cNvCxnSpPr/>
          <p:nvPr/>
        </p:nvCxnSpPr>
        <p:spPr>
          <a:xfrm>
            <a:off x="7562088" y="2560320"/>
            <a:ext cx="256032" cy="0"/>
          </a:xfrm>
          <a:prstGeom prst="line">
            <a:avLst/>
          </a:prstGeom>
          <a:ln w="13970">
            <a:solidFill>
              <a:srgbClr val="44495B"/>
            </a:solidFill>
            <a:tailEnd type="triangle" w="med" len="med"/>
          </a:ln>
        </p:spPr>
      </p:cxnSp>
      <p:sp>
        <p:nvSpPr>
          <p:cNvPr id="25" name="Oval 24"/>
          <p:cNvSpPr/>
          <p:nvPr/>
        </p:nvSpPr>
        <p:spPr>
          <a:xfrm>
            <a:off x="7456931" y="245516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cxnSp>
        <p:nvCxnSpPr>
          <p:cNvPr id="26" name="Connector 25"/>
          <p:cNvCxnSpPr/>
          <p:nvPr/>
        </p:nvCxnSpPr>
        <p:spPr>
          <a:xfrm>
            <a:off x="9555480" y="2560320"/>
            <a:ext cx="457200" cy="0"/>
          </a:xfrm>
          <a:prstGeom prst="line">
            <a:avLst/>
          </a:prstGeom>
          <a:ln w="13970">
            <a:solidFill>
              <a:srgbClr val="44495B"/>
            </a:solidFill>
            <a:tailEnd type="triangle" w="med" len="med"/>
          </a:ln>
        </p:spPr>
      </p:cxnSp>
      <p:sp>
        <p:nvSpPr>
          <p:cNvPr id="27" name="Oval 26"/>
          <p:cNvSpPr/>
          <p:nvPr/>
        </p:nvSpPr>
        <p:spPr>
          <a:xfrm>
            <a:off x="9678924" y="245516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5</a:t>
            </a:r>
          </a:p>
        </p:txBody>
      </p:sp>
      <p:sp>
        <p:nvSpPr>
          <p:cNvPr id="28" name="Rectangle 27"/>
          <p:cNvSpPr/>
          <p:nvPr/>
        </p:nvSpPr>
        <p:spPr>
          <a:xfrm>
            <a:off x="457200" y="3840480"/>
            <a:ext cx="3639312" cy="1188720"/>
          </a:xfrm>
          <a:prstGeom prst="rect">
            <a:avLst/>
          </a:prstGeom>
          <a:solidFill>
            <a:srgbClr val="F6F8FD"/>
          </a:solidFill>
          <a:ln w="9525">
            <a:solidFill>
              <a:srgbClr val="E1E7F4"/>
            </a:solidFill>
          </a:ln>
          <a:effectLst/>
        </p:spPr>
        <p:txBody>
          <a:bodyPr wrap="square" rtlCol="0" anchor="ctr"/>
          <a:lstStyle/>
          <a:p>
            <a:endParaRPr/>
          </a:p>
        </p:txBody>
      </p:sp>
      <p:sp>
        <p:nvSpPr>
          <p:cNvPr id="29" name="Rectangle 28"/>
          <p:cNvSpPr/>
          <p:nvPr/>
        </p:nvSpPr>
        <p:spPr>
          <a:xfrm>
            <a:off x="457200" y="3840480"/>
            <a:ext cx="3639312" cy="41148"/>
          </a:xfrm>
          <a:prstGeom prst="rect">
            <a:avLst/>
          </a:prstGeom>
          <a:solidFill>
            <a:srgbClr val="00B39F"/>
          </a:solidFill>
          <a:ln>
            <a:noFill/>
          </a:ln>
          <a:effectLst/>
        </p:spPr>
        <p:txBody>
          <a:bodyPr wrap="square" rtlCol="0" anchor="ctr"/>
          <a:lstStyle/>
          <a:p>
            <a:endParaRPr/>
          </a:p>
        </p:txBody>
      </p:sp>
      <p:sp>
        <p:nvSpPr>
          <p:cNvPr id="30" name="TextBox 29"/>
          <p:cNvSpPr txBox="1"/>
          <p:nvPr/>
        </p:nvSpPr>
        <p:spPr>
          <a:xfrm>
            <a:off x="603504" y="395935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Two model deployments</a:t>
            </a:r>
          </a:p>
        </p:txBody>
      </p:sp>
      <p:sp>
        <p:nvSpPr>
          <p:cNvPr id="31" name="TextBox 30"/>
          <p:cNvSpPr txBox="1"/>
          <p:nvPr/>
        </p:nvSpPr>
        <p:spPr>
          <a:xfrm>
            <a:off x="603504" y="4201668"/>
            <a:ext cx="3346704" cy="77724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gpt-5.4-mini and gpt-5.6-sol: 266 question-and-</a:t>
            </a:r>
          </a:p>
          <a:p>
            <a:pPr algn="l">
              <a:lnSpc>
                <a:spcPct val="112000"/>
              </a:lnSpc>
              <a:spcAft>
                <a:spcPts val="250"/>
              </a:spcAft>
            </a:pPr>
            <a:r>
              <a:rPr sz="850" b="0" i="0" dirty="0">
                <a:solidFill>
                  <a:srgbClr val="44495B"/>
                </a:solidFill>
                <a:latin typeface="Segoe UI"/>
                <a:cs typeface="Segoe UI"/>
              </a:rPr>
              <a:t>model pairs in total, 133 per deployment.</a:t>
            </a:r>
          </a:p>
        </p:txBody>
      </p:sp>
      <p:sp>
        <p:nvSpPr>
          <p:cNvPr id="32" name="Rectangle 31"/>
          <p:cNvSpPr/>
          <p:nvPr/>
        </p:nvSpPr>
        <p:spPr>
          <a:xfrm>
            <a:off x="4274820" y="3840480"/>
            <a:ext cx="3639312" cy="1188720"/>
          </a:xfrm>
          <a:prstGeom prst="rect">
            <a:avLst/>
          </a:prstGeom>
          <a:solidFill>
            <a:srgbClr val="F6F8FD"/>
          </a:solidFill>
          <a:ln w="9525">
            <a:solidFill>
              <a:srgbClr val="E1E7F4"/>
            </a:solidFill>
          </a:ln>
          <a:effectLst/>
        </p:spPr>
        <p:txBody>
          <a:bodyPr wrap="square" rtlCol="0" anchor="ctr"/>
          <a:lstStyle/>
          <a:p>
            <a:endParaRPr/>
          </a:p>
        </p:txBody>
      </p:sp>
      <p:sp>
        <p:nvSpPr>
          <p:cNvPr id="33" name="Rectangle 32"/>
          <p:cNvSpPr/>
          <p:nvPr/>
        </p:nvSpPr>
        <p:spPr>
          <a:xfrm>
            <a:off x="4274820" y="3840480"/>
            <a:ext cx="3639312" cy="41148"/>
          </a:xfrm>
          <a:prstGeom prst="rect">
            <a:avLst/>
          </a:prstGeom>
          <a:solidFill>
            <a:srgbClr val="00B39F"/>
          </a:solidFill>
          <a:ln>
            <a:noFill/>
          </a:ln>
          <a:effectLst/>
        </p:spPr>
        <p:txBody>
          <a:bodyPr wrap="square" rtlCol="0" anchor="ctr"/>
          <a:lstStyle/>
          <a:p>
            <a:endParaRPr/>
          </a:p>
        </p:txBody>
      </p:sp>
      <p:sp>
        <p:nvSpPr>
          <p:cNvPr id="34" name="TextBox 33"/>
          <p:cNvSpPr txBox="1"/>
          <p:nvPr/>
        </p:nvSpPr>
        <p:spPr>
          <a:xfrm>
            <a:off x="4421124" y="395935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Three configurations</a:t>
            </a:r>
          </a:p>
        </p:txBody>
      </p:sp>
      <p:sp>
        <p:nvSpPr>
          <p:cNvPr id="35" name="TextBox 34"/>
          <p:cNvSpPr txBox="1"/>
          <p:nvPr/>
        </p:nvSpPr>
        <p:spPr>
          <a:xfrm>
            <a:off x="4421124" y="4201668"/>
            <a:ext cx="3346704" cy="77724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HighestBlocking, MediumBlocking, LowestBlocking:</a:t>
            </a:r>
          </a:p>
          <a:p>
            <a:pPr algn="l">
              <a:lnSpc>
                <a:spcPct val="112000"/>
              </a:lnSpc>
              <a:spcAft>
                <a:spcPts val="250"/>
              </a:spcAft>
            </a:pPr>
            <a:r>
              <a:rPr sz="850" b="0" i="0" dirty="0">
                <a:solidFill>
                  <a:srgbClr val="44495B"/>
                </a:solidFill>
                <a:latin typeface="Segoe UI"/>
                <a:cs typeface="Segoe UI"/>
              </a:rPr>
              <a:t>same questions, one guardrail swapped per run.</a:t>
            </a:r>
          </a:p>
        </p:txBody>
      </p:sp>
      <p:sp>
        <p:nvSpPr>
          <p:cNvPr id="36" name="Rectangle 35"/>
          <p:cNvSpPr/>
          <p:nvPr/>
        </p:nvSpPr>
        <p:spPr>
          <a:xfrm>
            <a:off x="8092440" y="3840480"/>
            <a:ext cx="3639312" cy="1188720"/>
          </a:xfrm>
          <a:prstGeom prst="rect">
            <a:avLst/>
          </a:prstGeom>
          <a:solidFill>
            <a:srgbClr val="F6F8FD"/>
          </a:solidFill>
          <a:ln w="9525">
            <a:solidFill>
              <a:srgbClr val="E1E7F4"/>
            </a:solidFill>
          </a:ln>
          <a:effectLst/>
        </p:spPr>
        <p:txBody>
          <a:bodyPr wrap="square" rtlCol="0" anchor="ctr"/>
          <a:lstStyle/>
          <a:p>
            <a:endParaRPr/>
          </a:p>
        </p:txBody>
      </p:sp>
      <p:sp>
        <p:nvSpPr>
          <p:cNvPr id="37" name="Rectangle 36"/>
          <p:cNvSpPr/>
          <p:nvPr/>
        </p:nvSpPr>
        <p:spPr>
          <a:xfrm>
            <a:off x="8092440" y="3840480"/>
            <a:ext cx="3639312" cy="41148"/>
          </a:xfrm>
          <a:prstGeom prst="rect">
            <a:avLst/>
          </a:prstGeom>
          <a:solidFill>
            <a:srgbClr val="101A3C"/>
          </a:solidFill>
          <a:ln>
            <a:noFill/>
          </a:ln>
          <a:effectLst/>
        </p:spPr>
        <p:txBody>
          <a:bodyPr wrap="square" rtlCol="0" anchor="ctr"/>
          <a:lstStyle/>
          <a:p>
            <a:endParaRPr/>
          </a:p>
        </p:txBody>
      </p:sp>
      <p:sp>
        <p:nvSpPr>
          <p:cNvPr id="38" name="TextBox 37"/>
          <p:cNvSpPr txBox="1"/>
          <p:nvPr/>
        </p:nvSpPr>
        <p:spPr>
          <a:xfrm>
            <a:off x="8238744" y="3959352"/>
            <a:ext cx="334670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Per-request override</a:t>
            </a:r>
          </a:p>
        </p:txBody>
      </p:sp>
      <p:sp>
        <p:nvSpPr>
          <p:cNvPr id="39" name="TextBox 38"/>
          <p:cNvSpPr txBox="1"/>
          <p:nvPr/>
        </p:nvSpPr>
        <p:spPr>
          <a:xfrm>
            <a:off x="8238744" y="4201668"/>
            <a:ext cx="3346704" cy="777240"/>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x-policy-id header selects a guardrail per call;</a:t>
            </a:r>
          </a:p>
          <a:p>
            <a:pPr algn="l">
              <a:lnSpc>
                <a:spcPct val="112000"/>
              </a:lnSpc>
              <a:spcAft>
                <a:spcPts val="250"/>
              </a:spcAft>
            </a:pPr>
            <a:r>
              <a:rPr sz="850" b="0" i="0" dirty="0">
                <a:solidFill>
                  <a:srgbClr val="44495B"/>
                </a:solidFill>
                <a:latin typeface="Segoe UI"/>
                <a:cs typeface="Segoe UI"/>
              </a:rPr>
              <a:t>not available for image input.</a:t>
            </a:r>
          </a:p>
        </p:txBody>
      </p:sp>
      <p:sp>
        <p:nvSpPr>
          <p:cNvPr id="40" name="TextBox 39"/>
          <p:cNvSpPr txBox="1"/>
          <p:nvPr/>
        </p:nvSpPr>
        <p:spPr>
          <a:xfrm>
            <a:off x="457200" y="5193792"/>
            <a:ext cx="11277295"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Every exported result carries the name of the guardrail in effect, so runs stay comparable instead of overwriting each other.</a:t>
            </a:r>
          </a:p>
        </p:txBody>
      </p:sp>
      <p:sp>
        <p:nvSpPr>
          <p:cNvPr id="41" name="Rectangle 40"/>
          <p:cNvSpPr/>
          <p:nvPr/>
        </p:nvSpPr>
        <p:spPr>
          <a:xfrm>
            <a:off x="457200" y="5545836"/>
            <a:ext cx="146304" cy="91440"/>
          </a:xfrm>
          <a:prstGeom prst="rect">
            <a:avLst/>
          </a:prstGeom>
          <a:solidFill>
            <a:srgbClr val="EBEFF7"/>
          </a:solidFill>
          <a:ln>
            <a:noFill/>
          </a:ln>
          <a:effectLst/>
        </p:spPr>
        <p:txBody>
          <a:bodyPr wrap="square" rtlCol="0" anchor="ctr"/>
          <a:lstStyle/>
          <a:p>
            <a:endParaRPr/>
          </a:p>
        </p:txBody>
      </p:sp>
      <p:sp>
        <p:nvSpPr>
          <p:cNvPr id="42" name="TextBox 41"/>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Test input or output</a:t>
            </a:r>
          </a:p>
        </p:txBody>
      </p:sp>
      <p:sp>
        <p:nvSpPr>
          <p:cNvPr id="43" name="Rectangle 42"/>
          <p:cNvSpPr/>
          <p:nvPr/>
        </p:nvSpPr>
        <p:spPr>
          <a:xfrm>
            <a:off x="190195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44" name="TextBox 43"/>
          <p:cNvSpPr txBox="1"/>
          <p:nvPr/>
        </p:nvSpPr>
        <p:spPr>
          <a:xfrm>
            <a:off x="212140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step</a:t>
            </a:r>
          </a:p>
        </p:txBody>
      </p:sp>
      <p:sp>
        <p:nvSpPr>
          <p:cNvPr id="45" name="Rectangle 44"/>
          <p:cNvSpPr/>
          <p:nvPr/>
        </p:nvSpPr>
        <p:spPr>
          <a:xfrm>
            <a:off x="2743200" y="5545836"/>
            <a:ext cx="146304" cy="91440"/>
          </a:xfrm>
          <a:prstGeom prst="rect">
            <a:avLst/>
          </a:prstGeom>
          <a:solidFill>
            <a:srgbClr val="101A3C"/>
          </a:solidFill>
          <a:ln>
            <a:noFill/>
          </a:ln>
          <a:effectLst/>
        </p:spPr>
        <p:txBody>
          <a:bodyPr wrap="square" rtlCol="0" anchor="ctr"/>
          <a:lstStyle/>
          <a:p>
            <a:endParaRPr/>
          </a:p>
        </p:txBody>
      </p:sp>
      <p:sp>
        <p:nvSpPr>
          <p:cNvPr id="46" name="TextBox 45"/>
          <p:cNvSpPr txBox="1"/>
          <p:nvPr/>
        </p:nvSpPr>
        <p:spPr>
          <a:xfrm>
            <a:off x="2962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Evaluation service</a:t>
            </a:r>
          </a:p>
        </p:txBody>
      </p:sp>
      <p:sp>
        <p:nvSpPr>
          <p:cNvPr id="47" name="Rectangle 46"/>
          <p:cNvSpPr/>
          <p:nvPr/>
        </p:nvSpPr>
        <p:spPr>
          <a:xfrm>
            <a:off x="4517136" y="5545836"/>
            <a:ext cx="146304" cy="91440"/>
          </a:xfrm>
          <a:prstGeom prst="rect">
            <a:avLst/>
          </a:prstGeom>
          <a:solidFill>
            <a:srgbClr val="0B1229"/>
          </a:solidFill>
          <a:ln>
            <a:noFill/>
          </a:ln>
          <a:effectLst/>
        </p:spPr>
        <p:txBody>
          <a:bodyPr wrap="square" rtlCol="0" anchor="ctr"/>
          <a:lstStyle/>
          <a:p>
            <a:endParaRPr/>
          </a:p>
        </p:txBody>
      </p:sp>
      <p:sp>
        <p:nvSpPr>
          <p:cNvPr id="48" name="TextBox 47"/>
          <p:cNvSpPr txBox="1"/>
          <p:nvPr/>
        </p:nvSpPr>
        <p:spPr>
          <a:xfrm>
            <a:off x="473659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Guardrail path</a:t>
            </a:r>
          </a:p>
        </p:txBody>
      </p:sp>
      <p:cxnSp>
        <p:nvCxnSpPr>
          <p:cNvPr id="49" name="Connector 48"/>
          <p:cNvCxnSpPr/>
          <p:nvPr/>
        </p:nvCxnSpPr>
        <p:spPr>
          <a:xfrm>
            <a:off x="5632704" y="5591556"/>
            <a:ext cx="164592" cy="0"/>
          </a:xfrm>
          <a:prstGeom prst="line">
            <a:avLst/>
          </a:prstGeom>
          <a:ln w="13970">
            <a:solidFill>
              <a:srgbClr val="44495B"/>
            </a:solidFill>
          </a:ln>
        </p:spPr>
      </p:cxnSp>
      <p:sp>
        <p:nvSpPr>
          <p:cNvPr id="50" name="TextBox 49"/>
          <p:cNvSpPr txBox="1"/>
          <p:nvPr/>
        </p:nvSpPr>
        <p:spPr>
          <a:xfrm>
            <a:off x="5852160"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EXPERIMENT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Agreement matrix</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Guardrail verdict against evaluator verdict, counted per configuration over 266 question-and-model pairs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github.com/strudel0209/foundry-content-safety-eval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10</a:t>
            </a:r>
          </a:p>
        </p:txBody>
      </p:sp>
      <p:sp>
        <p:nvSpPr>
          <p:cNvPr id="7" name="Rectangle 6"/>
          <p:cNvSpPr/>
          <p:nvPr/>
        </p:nvSpPr>
        <p:spPr>
          <a:xfrm>
            <a:off x="2148840" y="1399032"/>
            <a:ext cx="2697480" cy="347472"/>
          </a:xfrm>
          <a:prstGeom prst="rect">
            <a:avLst/>
          </a:prstGeom>
          <a:solidFill>
            <a:srgbClr val="101A3C"/>
          </a:solidFill>
          <a:ln>
            <a:noFill/>
          </a:ln>
          <a:effectLst/>
        </p:spPr>
        <p:txBody>
          <a:bodyPr wrap="square" lIns="54864" tIns="18288" rIns="54864" bIns="18288" rtlCol="0" anchor="ctr"/>
          <a:lstStyle/>
          <a:p>
            <a:pPr algn="ctr">
              <a:lnSpc>
                <a:spcPct val="100000"/>
              </a:lnSpc>
            </a:pPr>
            <a:r>
              <a:rPr sz="900" b="1" i="0" dirty="0">
                <a:solidFill>
                  <a:srgbClr val="FFFFFF"/>
                </a:solidFill>
                <a:latin typeface="Segoe UI"/>
                <a:cs typeface="Segoe UI"/>
              </a:rPr>
              <a:t>Evaluator: passed</a:t>
            </a:r>
          </a:p>
        </p:txBody>
      </p:sp>
      <p:sp>
        <p:nvSpPr>
          <p:cNvPr id="8" name="Rectangle 7"/>
          <p:cNvSpPr/>
          <p:nvPr/>
        </p:nvSpPr>
        <p:spPr>
          <a:xfrm>
            <a:off x="4846320" y="1399032"/>
            <a:ext cx="2697480" cy="347472"/>
          </a:xfrm>
          <a:prstGeom prst="rect">
            <a:avLst/>
          </a:prstGeom>
          <a:solidFill>
            <a:srgbClr val="101A3C"/>
          </a:solidFill>
          <a:ln>
            <a:noFill/>
          </a:ln>
          <a:effectLst/>
        </p:spPr>
        <p:txBody>
          <a:bodyPr wrap="square" lIns="54864" tIns="18288" rIns="54864" bIns="18288" rtlCol="0" anchor="ctr"/>
          <a:lstStyle/>
          <a:p>
            <a:pPr algn="ctr">
              <a:lnSpc>
                <a:spcPct val="100000"/>
              </a:lnSpc>
            </a:pPr>
            <a:r>
              <a:rPr sz="900" b="1" i="0" dirty="0">
                <a:solidFill>
                  <a:srgbClr val="FFFFFF"/>
                </a:solidFill>
                <a:latin typeface="Segoe UI"/>
                <a:cs typeface="Segoe UI"/>
              </a:rPr>
              <a:t>Evaluator: failed</a:t>
            </a:r>
          </a:p>
        </p:txBody>
      </p:sp>
      <p:sp>
        <p:nvSpPr>
          <p:cNvPr id="9" name="Rectangle 8"/>
          <p:cNvSpPr/>
          <p:nvPr/>
        </p:nvSpPr>
        <p:spPr>
          <a:xfrm>
            <a:off x="457200" y="1783080"/>
            <a:ext cx="1645920" cy="1444752"/>
          </a:xfrm>
          <a:prstGeom prst="rect">
            <a:avLst/>
          </a:prstGeom>
          <a:solidFill>
            <a:srgbClr val="101A3C"/>
          </a:solidFill>
          <a:ln>
            <a:noFill/>
          </a:ln>
          <a:effectLst/>
        </p:spPr>
        <p:txBody>
          <a:bodyPr wrap="square" lIns="54864" tIns="18288" rIns="54864" bIns="18288" rtlCol="0" anchor="ctr"/>
          <a:lstStyle/>
          <a:p>
            <a:pPr algn="ctr">
              <a:lnSpc>
                <a:spcPct val="100000"/>
              </a:lnSpc>
            </a:pPr>
            <a:r>
              <a:rPr sz="900" b="1" i="0" dirty="0">
                <a:solidFill>
                  <a:srgbClr val="FFFFFF"/>
                </a:solidFill>
                <a:latin typeface="Segoe UI"/>
                <a:cs typeface="Segoe UI"/>
              </a:rPr>
              <a:t>Guardrail:</a:t>
            </a:r>
          </a:p>
          <a:p>
            <a:pPr algn="ctr">
              <a:lnSpc>
                <a:spcPct val="100000"/>
              </a:lnSpc>
            </a:pPr>
            <a:r>
              <a:rPr sz="900" b="1" i="0" dirty="0">
                <a:solidFill>
                  <a:srgbClr val="FFFFFF"/>
                </a:solidFill>
                <a:latin typeface="Segoe UI"/>
                <a:cs typeface="Segoe UI"/>
              </a:rPr>
              <a:t>blocked</a:t>
            </a:r>
          </a:p>
        </p:txBody>
      </p:sp>
      <p:sp>
        <p:nvSpPr>
          <p:cNvPr id="10" name="Rectangle 9"/>
          <p:cNvSpPr/>
          <p:nvPr/>
        </p:nvSpPr>
        <p:spPr>
          <a:xfrm>
            <a:off x="457200" y="3264408"/>
            <a:ext cx="1645920" cy="1444752"/>
          </a:xfrm>
          <a:prstGeom prst="rect">
            <a:avLst/>
          </a:prstGeom>
          <a:solidFill>
            <a:srgbClr val="101A3C"/>
          </a:solidFill>
          <a:ln>
            <a:noFill/>
          </a:ln>
          <a:effectLst/>
        </p:spPr>
        <p:txBody>
          <a:bodyPr wrap="square" lIns="54864" tIns="18288" rIns="54864" bIns="18288" rtlCol="0" anchor="ctr"/>
          <a:lstStyle/>
          <a:p>
            <a:pPr algn="ctr">
              <a:lnSpc>
                <a:spcPct val="100000"/>
              </a:lnSpc>
            </a:pPr>
            <a:r>
              <a:rPr sz="900" b="1" i="0" dirty="0">
                <a:solidFill>
                  <a:srgbClr val="FFFFFF"/>
                </a:solidFill>
                <a:latin typeface="Segoe UI"/>
                <a:cs typeface="Segoe UI"/>
              </a:rPr>
              <a:t>Guardrail:</a:t>
            </a:r>
          </a:p>
          <a:p>
            <a:pPr algn="ctr">
              <a:lnSpc>
                <a:spcPct val="100000"/>
              </a:lnSpc>
            </a:pPr>
            <a:r>
              <a:rPr sz="900" b="1" i="0" dirty="0">
                <a:solidFill>
                  <a:srgbClr val="FFFFFF"/>
                </a:solidFill>
                <a:latin typeface="Segoe UI"/>
                <a:cs typeface="Segoe UI"/>
              </a:rPr>
              <a:t>allowed</a:t>
            </a:r>
          </a:p>
        </p:txBody>
      </p:sp>
      <p:sp>
        <p:nvSpPr>
          <p:cNvPr id="11" name="Rectangle 10"/>
          <p:cNvSpPr/>
          <p:nvPr/>
        </p:nvSpPr>
        <p:spPr>
          <a:xfrm>
            <a:off x="2185416" y="1783080"/>
            <a:ext cx="2624328" cy="1444752"/>
          </a:xfrm>
          <a:prstGeom prst="rect">
            <a:avLst/>
          </a:prstGeom>
          <a:solidFill>
            <a:srgbClr val="EBEFF7"/>
          </a:solidFill>
          <a:ln w="9525">
            <a:solidFill>
              <a:srgbClr val="E1E7F4"/>
            </a:solidFill>
          </a:ln>
          <a:effectLst/>
        </p:spPr>
        <p:txBody>
          <a:bodyPr wrap="square" rtlCol="0" anchor="ctr"/>
          <a:lstStyle/>
          <a:p>
            <a:endParaRPr/>
          </a:p>
        </p:txBody>
      </p:sp>
      <p:sp>
        <p:nvSpPr>
          <p:cNvPr id="12" name="TextBox 11"/>
          <p:cNvSpPr txBox="1"/>
          <p:nvPr/>
        </p:nvSpPr>
        <p:spPr>
          <a:xfrm>
            <a:off x="2331720" y="1929384"/>
            <a:ext cx="2331720"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Blocked unnecessarily</a:t>
            </a:r>
          </a:p>
        </p:txBody>
      </p:sp>
      <p:sp>
        <p:nvSpPr>
          <p:cNvPr id="13" name="TextBox 12"/>
          <p:cNvSpPr txBox="1"/>
          <p:nvPr/>
        </p:nvSpPr>
        <p:spPr>
          <a:xfrm>
            <a:off x="2331720" y="2167128"/>
            <a:ext cx="2331720"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over-blocking proxy</a:t>
            </a:r>
          </a:p>
        </p:txBody>
      </p:sp>
      <p:sp>
        <p:nvSpPr>
          <p:cNvPr id="14" name="TextBox 13"/>
          <p:cNvSpPr txBox="1"/>
          <p:nvPr/>
        </p:nvSpPr>
        <p:spPr>
          <a:xfrm>
            <a:off x="2331720" y="2496312"/>
            <a:ext cx="2331720" cy="384048"/>
          </a:xfrm>
          <a:prstGeom prst="rect">
            <a:avLst/>
          </a:prstGeom>
          <a:noFill/>
        </p:spPr>
        <p:txBody>
          <a:bodyPr wrap="square" lIns="0" tIns="0" rIns="0" bIns="0" anchor="t">
            <a:spAutoFit/>
          </a:bodyPr>
          <a:lstStyle/>
          <a:p>
            <a:pPr algn="l">
              <a:lnSpc>
                <a:spcPct val="100000"/>
              </a:lnSpc>
            </a:pPr>
            <a:r>
              <a:rPr sz="1800" b="1" i="0" dirty="0">
                <a:solidFill>
                  <a:srgbClr val="008173"/>
                </a:solidFill>
                <a:latin typeface="Segoe UI"/>
                <a:cs typeface="Segoe UI"/>
              </a:rPr>
              <a:t>57 · 16 · 8</a:t>
            </a:r>
          </a:p>
        </p:txBody>
      </p:sp>
      <p:sp>
        <p:nvSpPr>
          <p:cNvPr id="15" name="TextBox 14"/>
          <p:cNvSpPr txBox="1"/>
          <p:nvPr/>
        </p:nvSpPr>
        <p:spPr>
          <a:xfrm>
            <a:off x="2331720" y="2898648"/>
            <a:ext cx="233172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Highest · Medium · Lowest</a:t>
            </a:r>
          </a:p>
        </p:txBody>
      </p:sp>
      <p:sp>
        <p:nvSpPr>
          <p:cNvPr id="16" name="Rectangle 15"/>
          <p:cNvSpPr/>
          <p:nvPr/>
        </p:nvSpPr>
        <p:spPr>
          <a:xfrm>
            <a:off x="4882896" y="1783080"/>
            <a:ext cx="2624328" cy="1444752"/>
          </a:xfrm>
          <a:prstGeom prst="rect">
            <a:avLst/>
          </a:prstGeom>
          <a:solidFill>
            <a:srgbClr val="F6F8FD"/>
          </a:solidFill>
          <a:ln w="9525">
            <a:solidFill>
              <a:srgbClr val="E1E7F4"/>
            </a:solidFill>
          </a:ln>
          <a:effectLst/>
        </p:spPr>
        <p:txBody>
          <a:bodyPr wrap="square" rtlCol="0" anchor="ctr"/>
          <a:lstStyle/>
          <a:p>
            <a:endParaRPr/>
          </a:p>
        </p:txBody>
      </p:sp>
      <p:sp>
        <p:nvSpPr>
          <p:cNvPr id="17" name="TextBox 16"/>
          <p:cNvSpPr txBox="1"/>
          <p:nvPr/>
        </p:nvSpPr>
        <p:spPr>
          <a:xfrm>
            <a:off x="5029200" y="1929384"/>
            <a:ext cx="2331720"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Blocked correctly</a:t>
            </a:r>
          </a:p>
        </p:txBody>
      </p:sp>
      <p:sp>
        <p:nvSpPr>
          <p:cNvPr id="18" name="TextBox 17"/>
          <p:cNvSpPr txBox="1"/>
          <p:nvPr/>
        </p:nvSpPr>
        <p:spPr>
          <a:xfrm>
            <a:off x="5029200" y="2167128"/>
            <a:ext cx="2331720"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intended protection</a:t>
            </a:r>
          </a:p>
        </p:txBody>
      </p:sp>
      <p:sp>
        <p:nvSpPr>
          <p:cNvPr id="19" name="TextBox 18"/>
          <p:cNvSpPr txBox="1"/>
          <p:nvPr/>
        </p:nvSpPr>
        <p:spPr>
          <a:xfrm>
            <a:off x="5029200" y="2496312"/>
            <a:ext cx="2331720" cy="384048"/>
          </a:xfrm>
          <a:prstGeom prst="rect">
            <a:avLst/>
          </a:prstGeom>
          <a:noFill/>
        </p:spPr>
        <p:txBody>
          <a:bodyPr wrap="square" lIns="0" tIns="0" rIns="0" bIns="0" anchor="t">
            <a:spAutoFit/>
          </a:bodyPr>
          <a:lstStyle/>
          <a:p>
            <a:pPr algn="l">
              <a:lnSpc>
                <a:spcPct val="100000"/>
              </a:lnSpc>
            </a:pPr>
            <a:r>
              <a:rPr sz="1800" b="1" i="0" dirty="0">
                <a:solidFill>
                  <a:srgbClr val="101A3C"/>
                </a:solidFill>
                <a:latin typeface="Segoe UI"/>
                <a:cs typeface="Segoe UI"/>
              </a:rPr>
              <a:t>5 · 0 · 0</a:t>
            </a:r>
          </a:p>
        </p:txBody>
      </p:sp>
      <p:sp>
        <p:nvSpPr>
          <p:cNvPr id="20" name="TextBox 19"/>
          <p:cNvSpPr txBox="1"/>
          <p:nvPr/>
        </p:nvSpPr>
        <p:spPr>
          <a:xfrm>
            <a:off x="5029200" y="2898648"/>
            <a:ext cx="233172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Highest · Medium · Lowest</a:t>
            </a:r>
          </a:p>
        </p:txBody>
      </p:sp>
      <p:sp>
        <p:nvSpPr>
          <p:cNvPr id="21" name="Rectangle 20"/>
          <p:cNvSpPr/>
          <p:nvPr/>
        </p:nvSpPr>
        <p:spPr>
          <a:xfrm>
            <a:off x="2185416" y="3264408"/>
            <a:ext cx="2624328" cy="1444752"/>
          </a:xfrm>
          <a:prstGeom prst="rect">
            <a:avLst/>
          </a:prstGeom>
          <a:solidFill>
            <a:srgbClr val="F6F8FD"/>
          </a:solidFill>
          <a:ln w="9525">
            <a:solidFill>
              <a:srgbClr val="E1E7F4"/>
            </a:solidFill>
          </a:ln>
          <a:effectLst/>
        </p:spPr>
        <p:txBody>
          <a:bodyPr wrap="square" rtlCol="0" anchor="ctr"/>
          <a:lstStyle/>
          <a:p>
            <a:endParaRPr/>
          </a:p>
        </p:txBody>
      </p:sp>
      <p:sp>
        <p:nvSpPr>
          <p:cNvPr id="22" name="TextBox 21"/>
          <p:cNvSpPr txBox="1"/>
          <p:nvPr/>
        </p:nvSpPr>
        <p:spPr>
          <a:xfrm>
            <a:off x="2331720" y="3410712"/>
            <a:ext cx="2331720"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Allowed correctly</a:t>
            </a:r>
          </a:p>
        </p:txBody>
      </p:sp>
      <p:sp>
        <p:nvSpPr>
          <p:cNvPr id="23" name="TextBox 22"/>
          <p:cNvSpPr txBox="1"/>
          <p:nvPr/>
        </p:nvSpPr>
        <p:spPr>
          <a:xfrm>
            <a:off x="2331720" y="3648456"/>
            <a:ext cx="2331720"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no harm found</a:t>
            </a:r>
          </a:p>
        </p:txBody>
      </p:sp>
      <p:sp>
        <p:nvSpPr>
          <p:cNvPr id="24" name="TextBox 23"/>
          <p:cNvSpPr txBox="1"/>
          <p:nvPr/>
        </p:nvSpPr>
        <p:spPr>
          <a:xfrm>
            <a:off x="2331720" y="3977640"/>
            <a:ext cx="2331720" cy="384048"/>
          </a:xfrm>
          <a:prstGeom prst="rect">
            <a:avLst/>
          </a:prstGeom>
          <a:noFill/>
        </p:spPr>
        <p:txBody>
          <a:bodyPr wrap="square" lIns="0" tIns="0" rIns="0" bIns="0" anchor="t">
            <a:spAutoFit/>
          </a:bodyPr>
          <a:lstStyle/>
          <a:p>
            <a:pPr algn="l">
              <a:lnSpc>
                <a:spcPct val="100000"/>
              </a:lnSpc>
            </a:pPr>
            <a:r>
              <a:rPr sz="1800" b="1" i="0" dirty="0">
                <a:solidFill>
                  <a:srgbClr val="101A3C"/>
                </a:solidFill>
                <a:latin typeface="Segoe UI"/>
                <a:cs typeface="Segoe UI"/>
              </a:rPr>
              <a:t>179 · 222 · 232</a:t>
            </a:r>
          </a:p>
        </p:txBody>
      </p:sp>
      <p:sp>
        <p:nvSpPr>
          <p:cNvPr id="25" name="TextBox 24"/>
          <p:cNvSpPr txBox="1"/>
          <p:nvPr/>
        </p:nvSpPr>
        <p:spPr>
          <a:xfrm>
            <a:off x="2331720" y="4379976"/>
            <a:ext cx="233172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Highest · Medium · Lowest</a:t>
            </a:r>
          </a:p>
        </p:txBody>
      </p:sp>
      <p:sp>
        <p:nvSpPr>
          <p:cNvPr id="26" name="Rectangle 25"/>
          <p:cNvSpPr/>
          <p:nvPr/>
        </p:nvSpPr>
        <p:spPr>
          <a:xfrm>
            <a:off x="4882896" y="3264408"/>
            <a:ext cx="2624328" cy="1444752"/>
          </a:xfrm>
          <a:prstGeom prst="rect">
            <a:avLst/>
          </a:prstGeom>
          <a:solidFill>
            <a:srgbClr val="EBEFF7"/>
          </a:solidFill>
          <a:ln w="9525">
            <a:solidFill>
              <a:srgbClr val="E1E7F4"/>
            </a:solidFill>
          </a:ln>
          <a:effectLst/>
        </p:spPr>
        <p:txBody>
          <a:bodyPr wrap="square" rtlCol="0" anchor="ctr"/>
          <a:lstStyle/>
          <a:p>
            <a:endParaRPr/>
          </a:p>
        </p:txBody>
      </p:sp>
      <p:sp>
        <p:nvSpPr>
          <p:cNvPr id="27" name="TextBox 26"/>
          <p:cNvSpPr txBox="1"/>
          <p:nvPr/>
        </p:nvSpPr>
        <p:spPr>
          <a:xfrm>
            <a:off x="5029200" y="3410712"/>
            <a:ext cx="2331720" cy="219456"/>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Missed risk</a:t>
            </a:r>
          </a:p>
        </p:txBody>
      </p:sp>
      <p:sp>
        <p:nvSpPr>
          <p:cNvPr id="28" name="TextBox 27"/>
          <p:cNvSpPr txBox="1"/>
          <p:nvPr/>
        </p:nvSpPr>
        <p:spPr>
          <a:xfrm>
            <a:off x="5029200" y="3648456"/>
            <a:ext cx="2331720" cy="18288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residual risk</a:t>
            </a:r>
          </a:p>
        </p:txBody>
      </p:sp>
      <p:sp>
        <p:nvSpPr>
          <p:cNvPr id="29" name="TextBox 28"/>
          <p:cNvSpPr txBox="1"/>
          <p:nvPr/>
        </p:nvSpPr>
        <p:spPr>
          <a:xfrm>
            <a:off x="5029200" y="3977640"/>
            <a:ext cx="2331720" cy="384048"/>
          </a:xfrm>
          <a:prstGeom prst="rect">
            <a:avLst/>
          </a:prstGeom>
          <a:noFill/>
        </p:spPr>
        <p:txBody>
          <a:bodyPr wrap="square" lIns="0" tIns="0" rIns="0" bIns="0" anchor="t">
            <a:spAutoFit/>
          </a:bodyPr>
          <a:lstStyle/>
          <a:p>
            <a:pPr algn="l">
              <a:lnSpc>
                <a:spcPct val="100000"/>
              </a:lnSpc>
            </a:pPr>
            <a:r>
              <a:rPr sz="1800" b="1" i="0" dirty="0">
                <a:solidFill>
                  <a:srgbClr val="008173"/>
                </a:solidFill>
                <a:latin typeface="Segoe UI"/>
                <a:cs typeface="Segoe UI"/>
              </a:rPr>
              <a:t>25 · 28 · 26</a:t>
            </a:r>
          </a:p>
        </p:txBody>
      </p:sp>
      <p:sp>
        <p:nvSpPr>
          <p:cNvPr id="30" name="TextBox 29"/>
          <p:cNvSpPr txBox="1"/>
          <p:nvPr/>
        </p:nvSpPr>
        <p:spPr>
          <a:xfrm>
            <a:off x="5029200" y="4379976"/>
            <a:ext cx="233172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Highest · Medium · Lowest</a:t>
            </a:r>
          </a:p>
        </p:txBody>
      </p:sp>
      <p:sp>
        <p:nvSpPr>
          <p:cNvPr id="31" name="Rectangle 30"/>
          <p:cNvSpPr/>
          <p:nvPr/>
        </p:nvSpPr>
        <p:spPr>
          <a:xfrm>
            <a:off x="8001000" y="1399032"/>
            <a:ext cx="3730752" cy="105156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001000" y="1399032"/>
            <a:ext cx="41148" cy="1051560"/>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8147304" y="1499616"/>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Two diagonals of interest</a:t>
            </a:r>
          </a:p>
        </p:txBody>
      </p:sp>
      <p:sp>
        <p:nvSpPr>
          <p:cNvPr id="34" name="TextBox 33"/>
          <p:cNvSpPr txBox="1"/>
          <p:nvPr/>
        </p:nvSpPr>
        <p:spPr>
          <a:xfrm>
            <a:off x="8147304" y="1741932"/>
            <a:ext cx="3438144" cy="658367"/>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Blocked although no harm was found, and allowed</a:t>
            </a:r>
          </a:p>
          <a:p>
            <a:pPr algn="l">
              <a:lnSpc>
                <a:spcPct val="112000"/>
              </a:lnSpc>
              <a:spcAft>
                <a:spcPts val="250"/>
              </a:spcAft>
            </a:pPr>
            <a:r>
              <a:rPr sz="850" b="0" i="0" dirty="0">
                <a:solidFill>
                  <a:srgbClr val="44495B"/>
                </a:solidFill>
                <a:latin typeface="Segoe UI"/>
                <a:cs typeface="Segoe UI"/>
              </a:rPr>
              <a:t>although the evaluator recorded a failure.</a:t>
            </a:r>
          </a:p>
        </p:txBody>
      </p:sp>
      <p:sp>
        <p:nvSpPr>
          <p:cNvPr id="35" name="Rectangle 34"/>
          <p:cNvSpPr/>
          <p:nvPr/>
        </p:nvSpPr>
        <p:spPr>
          <a:xfrm>
            <a:off x="8001000" y="2587752"/>
            <a:ext cx="3730752" cy="1051560"/>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8001000" y="2587752"/>
            <a:ext cx="41148" cy="1051560"/>
          </a:xfrm>
          <a:prstGeom prst="rect">
            <a:avLst/>
          </a:prstGeom>
          <a:solidFill>
            <a:srgbClr val="00B39F"/>
          </a:solidFill>
          <a:ln>
            <a:noFill/>
          </a:ln>
          <a:effectLst/>
        </p:spPr>
        <p:txBody>
          <a:bodyPr wrap="square" rtlCol="0" anchor="ctr"/>
          <a:lstStyle/>
          <a:p>
            <a:endParaRPr/>
          </a:p>
        </p:txBody>
      </p:sp>
      <p:sp>
        <p:nvSpPr>
          <p:cNvPr id="37" name="TextBox 36"/>
          <p:cNvSpPr txBox="1"/>
          <p:nvPr/>
        </p:nvSpPr>
        <p:spPr>
          <a:xfrm>
            <a:off x="8147304" y="2688336"/>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Over-blocking proxy</a:t>
            </a:r>
          </a:p>
        </p:txBody>
      </p:sp>
      <p:sp>
        <p:nvSpPr>
          <p:cNvPr id="38" name="TextBox 37"/>
          <p:cNvSpPr txBox="1"/>
          <p:nvPr/>
        </p:nvSpPr>
        <p:spPr>
          <a:xfrm>
            <a:off x="8147304" y="2930652"/>
            <a:ext cx="3438144" cy="658368"/>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A strong signal without hand-labelling,</a:t>
            </a:r>
          </a:p>
          <a:p>
            <a:pPr algn="l">
              <a:lnSpc>
                <a:spcPct val="112000"/>
              </a:lnSpc>
              <a:spcAft>
                <a:spcPts val="250"/>
              </a:spcAft>
            </a:pPr>
            <a:r>
              <a:rPr sz="850" b="0" i="0" dirty="0">
                <a:solidFill>
                  <a:srgbClr val="44495B"/>
                </a:solidFill>
                <a:latin typeface="Segoe UI"/>
                <a:cs typeface="Segoe UI"/>
              </a:rPr>
              <a:t>not a measurement of a wrong block.</a:t>
            </a:r>
          </a:p>
        </p:txBody>
      </p:sp>
      <p:sp>
        <p:nvSpPr>
          <p:cNvPr id="39" name="Rectangle 38"/>
          <p:cNvSpPr/>
          <p:nvPr/>
        </p:nvSpPr>
        <p:spPr>
          <a:xfrm>
            <a:off x="8001000" y="3776472"/>
            <a:ext cx="3730752" cy="1051560"/>
          </a:xfrm>
          <a:prstGeom prst="rect">
            <a:avLst/>
          </a:prstGeom>
          <a:solidFill>
            <a:srgbClr val="F6F8FD"/>
          </a:solidFill>
          <a:ln w="9525">
            <a:solidFill>
              <a:srgbClr val="E1E7F4"/>
            </a:solidFill>
          </a:ln>
          <a:effectLst/>
        </p:spPr>
        <p:txBody>
          <a:bodyPr wrap="square" rtlCol="0" anchor="ctr"/>
          <a:lstStyle/>
          <a:p>
            <a:endParaRPr/>
          </a:p>
        </p:txBody>
      </p:sp>
      <p:sp>
        <p:nvSpPr>
          <p:cNvPr id="40" name="Rectangle 39"/>
          <p:cNvSpPr/>
          <p:nvPr/>
        </p:nvSpPr>
        <p:spPr>
          <a:xfrm>
            <a:off x="8001000" y="3776472"/>
            <a:ext cx="41148" cy="1051560"/>
          </a:xfrm>
          <a:prstGeom prst="rect">
            <a:avLst/>
          </a:prstGeom>
          <a:solidFill>
            <a:srgbClr val="101A3C"/>
          </a:solidFill>
          <a:ln>
            <a:noFill/>
          </a:ln>
          <a:effectLst/>
        </p:spPr>
        <p:txBody>
          <a:bodyPr wrap="square" rtlCol="0" anchor="ctr"/>
          <a:lstStyle/>
          <a:p>
            <a:endParaRPr/>
          </a:p>
        </p:txBody>
      </p:sp>
      <p:sp>
        <p:nvSpPr>
          <p:cNvPr id="41" name="TextBox 40"/>
          <p:cNvSpPr txBox="1"/>
          <p:nvPr/>
        </p:nvSpPr>
        <p:spPr>
          <a:xfrm>
            <a:off x="8147304" y="3877056"/>
            <a:ext cx="3438144" cy="201168"/>
          </a:xfrm>
          <a:prstGeom prst="rect">
            <a:avLst/>
          </a:prstGeom>
          <a:noFill/>
        </p:spPr>
        <p:txBody>
          <a:bodyPr wrap="square" lIns="0" tIns="0" rIns="0" bIns="0" anchor="t">
            <a:spAutoFit/>
          </a:bodyPr>
          <a:lstStyle/>
          <a:p>
            <a:pPr algn="l">
              <a:lnSpc>
                <a:spcPct val="95000"/>
              </a:lnSpc>
            </a:pPr>
            <a:r>
              <a:rPr sz="1050" b="1" i="0" dirty="0">
                <a:solidFill>
                  <a:srgbClr val="101A3C"/>
                </a:solidFill>
                <a:latin typeface="Segoe UI"/>
                <a:cs typeface="Segoe UI"/>
              </a:rPr>
              <a:t>Separate generations</a:t>
            </a:r>
          </a:p>
        </p:txBody>
      </p:sp>
      <p:sp>
        <p:nvSpPr>
          <p:cNvPr id="42" name="TextBox 41"/>
          <p:cNvSpPr txBox="1"/>
          <p:nvPr/>
        </p:nvSpPr>
        <p:spPr>
          <a:xfrm>
            <a:off x="8147304" y="4119372"/>
            <a:ext cx="3438144" cy="658367"/>
          </a:xfrm>
          <a:prstGeom prst="rect">
            <a:avLst/>
          </a:prstGeom>
          <a:noFill/>
        </p:spPr>
        <p:txBody>
          <a:bodyPr wrap="square" lIns="0" tIns="0" rIns="0" bIns="0" anchor="t">
            <a:spAutoFit/>
          </a:bodyPr>
          <a:lstStyle/>
          <a:p>
            <a:pPr algn="l">
              <a:lnSpc>
                <a:spcPct val="112000"/>
              </a:lnSpc>
              <a:spcAft>
                <a:spcPts val="250"/>
              </a:spcAft>
            </a:pPr>
            <a:r>
              <a:rPr sz="850" b="0" i="0" dirty="0">
                <a:solidFill>
                  <a:srgbClr val="44495B"/>
                </a:solidFill>
                <a:latin typeface="Segoe UI"/>
                <a:cs typeface="Segoe UI"/>
              </a:rPr>
              <a:t>Replay and evaluation produced separate answers</a:t>
            </a:r>
          </a:p>
          <a:p>
            <a:pPr algn="l">
              <a:lnSpc>
                <a:spcPct val="112000"/>
              </a:lnSpc>
              <a:spcAft>
                <a:spcPts val="250"/>
              </a:spcAft>
            </a:pPr>
            <a:r>
              <a:rPr sz="850" b="0" i="0" dirty="0">
                <a:solidFill>
                  <a:srgbClr val="44495B"/>
                </a:solidFill>
                <a:latin typeface="Segoe UI"/>
                <a:cs typeface="Segoe UI"/>
              </a:rPr>
              <a:t>to the same question.</a:t>
            </a:r>
          </a:p>
        </p:txBody>
      </p:sp>
      <p:sp>
        <p:nvSpPr>
          <p:cNvPr id="43" name="TextBox 42"/>
          <p:cNvSpPr txBox="1"/>
          <p:nvPr/>
        </p:nvSpPr>
        <p:spPr>
          <a:xfrm>
            <a:off x="457200" y="4956048"/>
            <a:ext cx="7315200" cy="182880"/>
          </a:xfrm>
          <a:prstGeom prst="rect">
            <a:avLst/>
          </a:prstGeom>
          <a:noFill/>
        </p:spPr>
        <p:txBody>
          <a:bodyPr wrap="square" lIns="0" tIns="0" rIns="0" bIns="0" anchor="t">
            <a:spAutoFit/>
          </a:bodyPr>
          <a:lstStyle/>
          <a:p>
            <a:pPr algn="l">
              <a:lnSpc>
                <a:spcPct val="100000"/>
              </a:lnSpc>
            </a:pPr>
            <a:r>
              <a:rPr sz="800" b="0" i="0" dirty="0">
                <a:solidFill>
                  <a:srgbClr val="44495B"/>
                </a:solidFill>
                <a:latin typeface="Segoe UI"/>
                <a:cs typeface="Segoe UI"/>
              </a:rPr>
              <a:t>Counts per configuration: HighestBlocking · MediumBlocking · LowestBlocking. For each configuration the four cells sum to 266.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EXPERIMENT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Results by guardrail configuration</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configurations against the same 266 question-and-model pairs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github.com/strudel0209/foundry-content-safety-eval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11</a:t>
            </a:r>
          </a:p>
        </p:txBody>
      </p:sp>
      <p:sp>
        <p:nvSpPr>
          <p:cNvPr id="7" name="Rectangle 6"/>
          <p:cNvSpPr/>
          <p:nvPr/>
        </p:nvSpPr>
        <p:spPr>
          <a:xfrm>
            <a:off x="457200" y="1371600"/>
            <a:ext cx="3639312" cy="141732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39312" cy="45720"/>
          </a:xfrm>
          <a:prstGeom prst="rect">
            <a:avLst/>
          </a:prstGeom>
          <a:solidFill>
            <a:srgbClr val="101A3C"/>
          </a:solidFill>
          <a:ln>
            <a:noFill/>
          </a:ln>
          <a:effectLst/>
        </p:spPr>
        <p:txBody>
          <a:bodyPr wrap="square" rtlCol="0" anchor="ctr"/>
          <a:lstStyle/>
          <a:p>
            <a:endParaRPr/>
          </a:p>
        </p:txBody>
      </p:sp>
      <p:sp>
        <p:nvSpPr>
          <p:cNvPr id="9" name="TextBox 8"/>
          <p:cNvSpPr txBox="1"/>
          <p:nvPr/>
        </p:nvSpPr>
        <p:spPr>
          <a:xfrm>
            <a:off x="640080" y="1499616"/>
            <a:ext cx="3273552"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HighestBlocking</a:t>
            </a:r>
          </a:p>
        </p:txBody>
      </p:sp>
      <p:sp>
        <p:nvSpPr>
          <p:cNvPr id="10" name="TextBox 9"/>
          <p:cNvSpPr txBox="1"/>
          <p:nvPr/>
        </p:nvSpPr>
        <p:spPr>
          <a:xfrm>
            <a:off x="640080" y="1755648"/>
            <a:ext cx="1097280" cy="548640"/>
          </a:xfrm>
          <a:prstGeom prst="rect">
            <a:avLst/>
          </a:prstGeom>
          <a:noFill/>
        </p:spPr>
        <p:txBody>
          <a:bodyPr wrap="square" lIns="0" tIns="0" rIns="0" bIns="0" anchor="t">
            <a:spAutoFit/>
          </a:bodyPr>
          <a:lstStyle/>
          <a:p>
            <a:pPr algn="l">
              <a:lnSpc>
                <a:spcPct val="100000"/>
              </a:lnSpc>
            </a:pPr>
            <a:r>
              <a:rPr sz="3000" b="1" i="0" dirty="0">
                <a:solidFill>
                  <a:srgbClr val="008173"/>
                </a:solidFill>
                <a:latin typeface="Segoe UI"/>
                <a:cs typeface="Segoe UI"/>
              </a:rPr>
              <a:t>62</a:t>
            </a:r>
          </a:p>
        </p:txBody>
      </p:sp>
      <p:sp>
        <p:nvSpPr>
          <p:cNvPr id="11" name="TextBox 10"/>
          <p:cNvSpPr txBox="1"/>
          <p:nvPr/>
        </p:nvSpPr>
        <p:spPr>
          <a:xfrm>
            <a:off x="1691640" y="1828800"/>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blocked of 266 · 23.3%</a:t>
            </a:r>
          </a:p>
        </p:txBody>
      </p:sp>
      <p:sp>
        <p:nvSpPr>
          <p:cNvPr id="12" name="TextBox 11"/>
          <p:cNvSpPr txBox="1"/>
          <p:nvPr/>
        </p:nvSpPr>
        <p:spPr>
          <a:xfrm>
            <a:off x="1691640" y="2048256"/>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failed evaluation: 30</a:t>
            </a:r>
          </a:p>
        </p:txBody>
      </p:sp>
      <p:cxnSp>
        <p:nvCxnSpPr>
          <p:cNvPr id="13" name="Connector 12"/>
          <p:cNvCxnSpPr/>
          <p:nvPr/>
        </p:nvCxnSpPr>
        <p:spPr>
          <a:xfrm>
            <a:off x="640080" y="2377440"/>
            <a:ext cx="3273552" cy="0"/>
          </a:xfrm>
          <a:prstGeom prst="line">
            <a:avLst/>
          </a:prstGeom>
          <a:ln w="9525">
            <a:solidFill>
              <a:srgbClr val="E1E7F4"/>
            </a:solidFill>
          </a:ln>
        </p:spPr>
      </p:cxnSp>
      <p:sp>
        <p:nvSpPr>
          <p:cNvPr id="14" name="TextBox 13"/>
          <p:cNvSpPr txBox="1"/>
          <p:nvPr/>
        </p:nvSpPr>
        <p:spPr>
          <a:xfrm>
            <a:off x="640080" y="2468880"/>
            <a:ext cx="3273552"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Blocked unnecessarily 57   ·   Missed risk 25</a:t>
            </a:r>
          </a:p>
        </p:txBody>
      </p:sp>
      <p:sp>
        <p:nvSpPr>
          <p:cNvPr id="15" name="Rectangle 14"/>
          <p:cNvSpPr/>
          <p:nvPr/>
        </p:nvSpPr>
        <p:spPr>
          <a:xfrm>
            <a:off x="4274820" y="1371600"/>
            <a:ext cx="3639312" cy="1417320"/>
          </a:xfrm>
          <a:prstGeom prst="rect">
            <a:avLst/>
          </a:prstGeom>
          <a:solidFill>
            <a:srgbClr val="F6F8FD"/>
          </a:solidFill>
          <a:ln w="9525">
            <a:solidFill>
              <a:srgbClr val="E1E7F4"/>
            </a:solidFill>
          </a:ln>
          <a:effectLst/>
        </p:spPr>
        <p:txBody>
          <a:bodyPr wrap="square" rtlCol="0" anchor="ctr"/>
          <a:lstStyle/>
          <a:p>
            <a:endParaRPr/>
          </a:p>
        </p:txBody>
      </p:sp>
      <p:sp>
        <p:nvSpPr>
          <p:cNvPr id="16" name="Rectangle 15"/>
          <p:cNvSpPr/>
          <p:nvPr/>
        </p:nvSpPr>
        <p:spPr>
          <a:xfrm>
            <a:off x="4274820" y="1371600"/>
            <a:ext cx="3639312" cy="45720"/>
          </a:xfrm>
          <a:prstGeom prst="rect">
            <a:avLst/>
          </a:prstGeom>
          <a:solidFill>
            <a:srgbClr val="00B39F"/>
          </a:solidFill>
          <a:ln>
            <a:noFill/>
          </a:ln>
          <a:effectLst/>
        </p:spPr>
        <p:txBody>
          <a:bodyPr wrap="square" rtlCol="0" anchor="ctr"/>
          <a:lstStyle/>
          <a:p>
            <a:endParaRPr/>
          </a:p>
        </p:txBody>
      </p:sp>
      <p:sp>
        <p:nvSpPr>
          <p:cNvPr id="17" name="TextBox 16"/>
          <p:cNvSpPr txBox="1"/>
          <p:nvPr/>
        </p:nvSpPr>
        <p:spPr>
          <a:xfrm>
            <a:off x="4457700" y="1499616"/>
            <a:ext cx="3273552"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MediumBlocking</a:t>
            </a:r>
          </a:p>
        </p:txBody>
      </p:sp>
      <p:sp>
        <p:nvSpPr>
          <p:cNvPr id="18" name="TextBox 17"/>
          <p:cNvSpPr txBox="1"/>
          <p:nvPr/>
        </p:nvSpPr>
        <p:spPr>
          <a:xfrm>
            <a:off x="4457700" y="1755648"/>
            <a:ext cx="1097280" cy="548640"/>
          </a:xfrm>
          <a:prstGeom prst="rect">
            <a:avLst/>
          </a:prstGeom>
          <a:noFill/>
        </p:spPr>
        <p:txBody>
          <a:bodyPr wrap="square" lIns="0" tIns="0" rIns="0" bIns="0" anchor="t">
            <a:spAutoFit/>
          </a:bodyPr>
          <a:lstStyle/>
          <a:p>
            <a:pPr algn="l">
              <a:lnSpc>
                <a:spcPct val="100000"/>
              </a:lnSpc>
            </a:pPr>
            <a:r>
              <a:rPr sz="3000" b="1" i="0" dirty="0">
                <a:solidFill>
                  <a:srgbClr val="008173"/>
                </a:solidFill>
                <a:latin typeface="Segoe UI"/>
                <a:cs typeface="Segoe UI"/>
              </a:rPr>
              <a:t>16</a:t>
            </a:r>
          </a:p>
        </p:txBody>
      </p:sp>
      <p:sp>
        <p:nvSpPr>
          <p:cNvPr id="19" name="TextBox 18"/>
          <p:cNvSpPr txBox="1"/>
          <p:nvPr/>
        </p:nvSpPr>
        <p:spPr>
          <a:xfrm>
            <a:off x="5509260" y="1828800"/>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blocked of 266 · 6.0%</a:t>
            </a:r>
          </a:p>
        </p:txBody>
      </p:sp>
      <p:sp>
        <p:nvSpPr>
          <p:cNvPr id="20" name="TextBox 19"/>
          <p:cNvSpPr txBox="1"/>
          <p:nvPr/>
        </p:nvSpPr>
        <p:spPr>
          <a:xfrm>
            <a:off x="5509260" y="2048256"/>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failed evaluation: 28</a:t>
            </a:r>
          </a:p>
        </p:txBody>
      </p:sp>
      <p:cxnSp>
        <p:nvCxnSpPr>
          <p:cNvPr id="21" name="Connector 20"/>
          <p:cNvCxnSpPr/>
          <p:nvPr/>
        </p:nvCxnSpPr>
        <p:spPr>
          <a:xfrm>
            <a:off x="4457700" y="2377440"/>
            <a:ext cx="3273552" cy="0"/>
          </a:xfrm>
          <a:prstGeom prst="line">
            <a:avLst/>
          </a:prstGeom>
          <a:ln w="9525">
            <a:solidFill>
              <a:srgbClr val="E1E7F4"/>
            </a:solidFill>
          </a:ln>
        </p:spPr>
      </p:cxnSp>
      <p:sp>
        <p:nvSpPr>
          <p:cNvPr id="22" name="TextBox 21"/>
          <p:cNvSpPr txBox="1"/>
          <p:nvPr/>
        </p:nvSpPr>
        <p:spPr>
          <a:xfrm>
            <a:off x="4457700" y="2468880"/>
            <a:ext cx="3273552"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Blocked unnecessarily 16   ·   Missed risk 28</a:t>
            </a:r>
          </a:p>
        </p:txBody>
      </p:sp>
      <p:sp>
        <p:nvSpPr>
          <p:cNvPr id="23" name="Rectangle 22"/>
          <p:cNvSpPr/>
          <p:nvPr/>
        </p:nvSpPr>
        <p:spPr>
          <a:xfrm>
            <a:off x="8092440" y="1371600"/>
            <a:ext cx="3639312" cy="1417320"/>
          </a:xfrm>
          <a:prstGeom prst="rect">
            <a:avLst/>
          </a:prstGeom>
          <a:solidFill>
            <a:srgbClr val="F6F8FD"/>
          </a:solidFill>
          <a:ln w="9525">
            <a:solidFill>
              <a:srgbClr val="E1E7F4"/>
            </a:solidFill>
          </a:ln>
          <a:effectLst/>
        </p:spPr>
        <p:txBody>
          <a:bodyPr wrap="square" rtlCol="0" anchor="ctr"/>
          <a:lstStyle/>
          <a:p>
            <a:endParaRPr/>
          </a:p>
        </p:txBody>
      </p:sp>
      <p:sp>
        <p:nvSpPr>
          <p:cNvPr id="24" name="Rectangle 23"/>
          <p:cNvSpPr/>
          <p:nvPr/>
        </p:nvSpPr>
        <p:spPr>
          <a:xfrm>
            <a:off x="8092440" y="1371600"/>
            <a:ext cx="3639312" cy="45720"/>
          </a:xfrm>
          <a:prstGeom prst="rect">
            <a:avLst/>
          </a:prstGeom>
          <a:solidFill>
            <a:srgbClr val="00B39F"/>
          </a:solidFill>
          <a:ln>
            <a:noFill/>
          </a:ln>
          <a:effectLst/>
        </p:spPr>
        <p:txBody>
          <a:bodyPr wrap="square" rtlCol="0" anchor="ctr"/>
          <a:lstStyle/>
          <a:p>
            <a:endParaRPr/>
          </a:p>
        </p:txBody>
      </p:sp>
      <p:sp>
        <p:nvSpPr>
          <p:cNvPr id="25" name="TextBox 24"/>
          <p:cNvSpPr txBox="1"/>
          <p:nvPr/>
        </p:nvSpPr>
        <p:spPr>
          <a:xfrm>
            <a:off x="8275319" y="1499616"/>
            <a:ext cx="3273552" cy="201168"/>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LowestBlocking</a:t>
            </a:r>
          </a:p>
        </p:txBody>
      </p:sp>
      <p:sp>
        <p:nvSpPr>
          <p:cNvPr id="26" name="TextBox 25"/>
          <p:cNvSpPr txBox="1"/>
          <p:nvPr/>
        </p:nvSpPr>
        <p:spPr>
          <a:xfrm>
            <a:off x="8275319" y="1755648"/>
            <a:ext cx="1097280" cy="548640"/>
          </a:xfrm>
          <a:prstGeom prst="rect">
            <a:avLst/>
          </a:prstGeom>
          <a:noFill/>
        </p:spPr>
        <p:txBody>
          <a:bodyPr wrap="square" lIns="0" tIns="0" rIns="0" bIns="0" anchor="t">
            <a:spAutoFit/>
          </a:bodyPr>
          <a:lstStyle/>
          <a:p>
            <a:pPr algn="l">
              <a:lnSpc>
                <a:spcPct val="100000"/>
              </a:lnSpc>
            </a:pPr>
            <a:r>
              <a:rPr sz="3000" b="1" i="0" dirty="0">
                <a:solidFill>
                  <a:srgbClr val="008173"/>
                </a:solidFill>
                <a:latin typeface="Segoe UI"/>
                <a:cs typeface="Segoe UI"/>
              </a:rPr>
              <a:t>8</a:t>
            </a:r>
          </a:p>
        </p:txBody>
      </p:sp>
      <p:sp>
        <p:nvSpPr>
          <p:cNvPr id="27" name="TextBox 26"/>
          <p:cNvSpPr txBox="1"/>
          <p:nvPr/>
        </p:nvSpPr>
        <p:spPr>
          <a:xfrm>
            <a:off x="9326880" y="1828800"/>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blocked of 266 · 3.0%</a:t>
            </a:r>
          </a:p>
        </p:txBody>
      </p:sp>
      <p:sp>
        <p:nvSpPr>
          <p:cNvPr id="28" name="TextBox 27"/>
          <p:cNvSpPr txBox="1"/>
          <p:nvPr/>
        </p:nvSpPr>
        <p:spPr>
          <a:xfrm>
            <a:off x="9326880" y="2048256"/>
            <a:ext cx="2194560" cy="182880"/>
          </a:xfrm>
          <a:prstGeom prst="rect">
            <a:avLst/>
          </a:prstGeom>
          <a:noFill/>
        </p:spPr>
        <p:txBody>
          <a:bodyPr wrap="square" lIns="0" tIns="0" rIns="0" bIns="0" anchor="t">
            <a:spAutoFit/>
          </a:bodyPr>
          <a:lstStyle/>
          <a:p>
            <a:pPr algn="l">
              <a:lnSpc>
                <a:spcPct val="100000"/>
              </a:lnSpc>
            </a:pPr>
            <a:r>
              <a:rPr sz="850" b="0" i="0" dirty="0">
                <a:solidFill>
                  <a:srgbClr val="44495B"/>
                </a:solidFill>
                <a:latin typeface="Segoe UI"/>
                <a:cs typeface="Segoe UI"/>
              </a:rPr>
              <a:t>failed evaluation: 26</a:t>
            </a:r>
          </a:p>
        </p:txBody>
      </p:sp>
      <p:cxnSp>
        <p:nvCxnSpPr>
          <p:cNvPr id="29" name="Connector 28"/>
          <p:cNvCxnSpPr/>
          <p:nvPr/>
        </p:nvCxnSpPr>
        <p:spPr>
          <a:xfrm>
            <a:off x="8275319" y="2377440"/>
            <a:ext cx="3273553" cy="0"/>
          </a:xfrm>
          <a:prstGeom prst="line">
            <a:avLst/>
          </a:prstGeom>
          <a:ln w="9525">
            <a:solidFill>
              <a:srgbClr val="E1E7F4"/>
            </a:solidFill>
          </a:ln>
        </p:spPr>
      </p:cxnSp>
      <p:sp>
        <p:nvSpPr>
          <p:cNvPr id="30" name="TextBox 29"/>
          <p:cNvSpPr txBox="1"/>
          <p:nvPr/>
        </p:nvSpPr>
        <p:spPr>
          <a:xfrm>
            <a:off x="8275319" y="2468880"/>
            <a:ext cx="3273552"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Blocked unnecessarily 8   ·   Missed risk 26</a:t>
            </a:r>
          </a:p>
        </p:txBody>
      </p:sp>
      <p:sp>
        <p:nvSpPr>
          <p:cNvPr id="31" name="TextBox 30"/>
          <p:cNvSpPr txBox="1"/>
          <p:nvPr/>
        </p:nvSpPr>
        <p:spPr>
          <a:xfrm>
            <a:off x="457200" y="301752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BLOCKED AND FAILED EVALUATION, % OF 266 PAIRS</a:t>
            </a:r>
          </a:p>
        </p:txBody>
      </p:sp>
      <p:sp>
        <p:nvSpPr>
          <p:cNvPr id="32" name="Rectangle 31"/>
          <p:cNvSpPr/>
          <p:nvPr/>
        </p:nvSpPr>
        <p:spPr>
          <a:xfrm>
            <a:off x="731520" y="3544031"/>
            <a:ext cx="548640" cy="1576608"/>
          </a:xfrm>
          <a:prstGeom prst="rect">
            <a:avLst/>
          </a:prstGeom>
          <a:solidFill>
            <a:srgbClr val="101A3C"/>
          </a:solidFill>
          <a:ln>
            <a:noFill/>
          </a:ln>
          <a:effectLst/>
        </p:spPr>
        <p:txBody>
          <a:bodyPr wrap="square" rtlCol="0" anchor="ctr"/>
          <a:lstStyle/>
          <a:p>
            <a:endParaRPr/>
          </a:p>
        </p:txBody>
      </p:sp>
      <p:sp>
        <p:nvSpPr>
          <p:cNvPr id="33" name="TextBox 32"/>
          <p:cNvSpPr txBox="1"/>
          <p:nvPr/>
        </p:nvSpPr>
        <p:spPr>
          <a:xfrm>
            <a:off x="640080" y="3342863"/>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23.3</a:t>
            </a:r>
          </a:p>
        </p:txBody>
      </p:sp>
      <p:sp>
        <p:nvSpPr>
          <p:cNvPr id="34" name="Rectangle 33"/>
          <p:cNvSpPr/>
          <p:nvPr/>
        </p:nvSpPr>
        <p:spPr>
          <a:xfrm>
            <a:off x="1389888" y="4356018"/>
            <a:ext cx="548640" cy="764621"/>
          </a:xfrm>
          <a:prstGeom prst="rect">
            <a:avLst/>
          </a:prstGeom>
          <a:solidFill>
            <a:srgbClr val="00B39F"/>
          </a:solidFill>
          <a:ln>
            <a:noFill/>
          </a:ln>
          <a:effectLst/>
        </p:spPr>
        <p:txBody>
          <a:bodyPr wrap="square" rtlCol="0" anchor="ctr"/>
          <a:lstStyle/>
          <a:p>
            <a:endParaRPr/>
          </a:p>
        </p:txBody>
      </p:sp>
      <p:sp>
        <p:nvSpPr>
          <p:cNvPr id="35" name="TextBox 34"/>
          <p:cNvSpPr txBox="1"/>
          <p:nvPr/>
        </p:nvSpPr>
        <p:spPr>
          <a:xfrm>
            <a:off x="1298448" y="4154850"/>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11.3</a:t>
            </a:r>
          </a:p>
        </p:txBody>
      </p:sp>
      <p:sp>
        <p:nvSpPr>
          <p:cNvPr id="36" name="TextBox 35"/>
          <p:cNvSpPr txBox="1"/>
          <p:nvPr/>
        </p:nvSpPr>
        <p:spPr>
          <a:xfrm>
            <a:off x="548640" y="5175503"/>
            <a:ext cx="1600200" cy="182880"/>
          </a:xfrm>
          <a:prstGeom prst="rect">
            <a:avLst/>
          </a:prstGeom>
          <a:noFill/>
        </p:spPr>
        <p:txBody>
          <a:bodyPr wrap="square" lIns="0" tIns="0" rIns="0" bIns="0" anchor="t">
            <a:spAutoFit/>
          </a:bodyPr>
          <a:lstStyle/>
          <a:p>
            <a:pPr algn="ctr">
              <a:lnSpc>
                <a:spcPct val="100000"/>
              </a:lnSpc>
            </a:pPr>
            <a:r>
              <a:rPr sz="800" b="0" i="0" dirty="0">
                <a:solidFill>
                  <a:srgbClr val="44495B"/>
                </a:solidFill>
                <a:latin typeface="Segoe UI"/>
                <a:cs typeface="Segoe UI"/>
              </a:rPr>
              <a:t>HighestBlocking</a:t>
            </a:r>
          </a:p>
        </p:txBody>
      </p:sp>
      <p:sp>
        <p:nvSpPr>
          <p:cNvPr id="37" name="Rectangle 36"/>
          <p:cNvSpPr/>
          <p:nvPr/>
        </p:nvSpPr>
        <p:spPr>
          <a:xfrm>
            <a:off x="2971800" y="4714646"/>
            <a:ext cx="548640" cy="405993"/>
          </a:xfrm>
          <a:prstGeom prst="rect">
            <a:avLst/>
          </a:prstGeom>
          <a:solidFill>
            <a:srgbClr val="101A3C"/>
          </a:solidFill>
          <a:ln>
            <a:noFill/>
          </a:ln>
          <a:effectLst/>
        </p:spPr>
        <p:txBody>
          <a:bodyPr wrap="square" rtlCol="0" anchor="ctr"/>
          <a:lstStyle/>
          <a:p>
            <a:endParaRPr/>
          </a:p>
        </p:txBody>
      </p:sp>
      <p:sp>
        <p:nvSpPr>
          <p:cNvPr id="38" name="TextBox 37"/>
          <p:cNvSpPr txBox="1"/>
          <p:nvPr/>
        </p:nvSpPr>
        <p:spPr>
          <a:xfrm>
            <a:off x="2880360" y="4513478"/>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6.0</a:t>
            </a:r>
          </a:p>
        </p:txBody>
      </p:sp>
      <p:sp>
        <p:nvSpPr>
          <p:cNvPr id="39" name="Rectangle 38"/>
          <p:cNvSpPr/>
          <p:nvPr/>
        </p:nvSpPr>
        <p:spPr>
          <a:xfrm>
            <a:off x="3630168" y="4410151"/>
            <a:ext cx="548640" cy="710488"/>
          </a:xfrm>
          <a:prstGeom prst="rect">
            <a:avLst/>
          </a:prstGeom>
          <a:solidFill>
            <a:srgbClr val="00B39F"/>
          </a:solidFill>
          <a:ln>
            <a:noFill/>
          </a:ln>
          <a:effectLst/>
        </p:spPr>
        <p:txBody>
          <a:bodyPr wrap="square" rtlCol="0" anchor="ctr"/>
          <a:lstStyle/>
          <a:p>
            <a:endParaRPr/>
          </a:p>
        </p:txBody>
      </p:sp>
      <p:sp>
        <p:nvSpPr>
          <p:cNvPr id="40" name="TextBox 39"/>
          <p:cNvSpPr txBox="1"/>
          <p:nvPr/>
        </p:nvSpPr>
        <p:spPr>
          <a:xfrm>
            <a:off x="3538727" y="4208983"/>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10.5</a:t>
            </a:r>
          </a:p>
        </p:txBody>
      </p:sp>
      <p:sp>
        <p:nvSpPr>
          <p:cNvPr id="41" name="TextBox 40"/>
          <p:cNvSpPr txBox="1"/>
          <p:nvPr/>
        </p:nvSpPr>
        <p:spPr>
          <a:xfrm>
            <a:off x="2788920" y="5175503"/>
            <a:ext cx="1600200" cy="182880"/>
          </a:xfrm>
          <a:prstGeom prst="rect">
            <a:avLst/>
          </a:prstGeom>
          <a:noFill/>
        </p:spPr>
        <p:txBody>
          <a:bodyPr wrap="square" lIns="0" tIns="0" rIns="0" bIns="0" anchor="t">
            <a:spAutoFit/>
          </a:bodyPr>
          <a:lstStyle/>
          <a:p>
            <a:pPr algn="ctr">
              <a:lnSpc>
                <a:spcPct val="100000"/>
              </a:lnSpc>
            </a:pPr>
            <a:r>
              <a:rPr sz="800" b="0" i="0" dirty="0">
                <a:solidFill>
                  <a:srgbClr val="44495B"/>
                </a:solidFill>
                <a:latin typeface="Segoe UI"/>
                <a:cs typeface="Segoe UI"/>
              </a:rPr>
              <a:t>MediumBlocking</a:t>
            </a:r>
          </a:p>
        </p:txBody>
      </p:sp>
      <p:sp>
        <p:nvSpPr>
          <p:cNvPr id="42" name="Rectangle 41"/>
          <p:cNvSpPr/>
          <p:nvPr/>
        </p:nvSpPr>
        <p:spPr>
          <a:xfrm>
            <a:off x="5212080" y="4917643"/>
            <a:ext cx="548640" cy="202996"/>
          </a:xfrm>
          <a:prstGeom prst="rect">
            <a:avLst/>
          </a:prstGeom>
          <a:solidFill>
            <a:srgbClr val="101A3C"/>
          </a:solidFill>
          <a:ln>
            <a:noFill/>
          </a:ln>
          <a:effectLst/>
        </p:spPr>
        <p:txBody>
          <a:bodyPr wrap="square" rtlCol="0" anchor="ctr"/>
          <a:lstStyle/>
          <a:p>
            <a:endParaRPr/>
          </a:p>
        </p:txBody>
      </p:sp>
      <p:sp>
        <p:nvSpPr>
          <p:cNvPr id="43" name="TextBox 42"/>
          <p:cNvSpPr txBox="1"/>
          <p:nvPr/>
        </p:nvSpPr>
        <p:spPr>
          <a:xfrm>
            <a:off x="5120640" y="4716475"/>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3.0</a:t>
            </a:r>
          </a:p>
        </p:txBody>
      </p:sp>
      <p:sp>
        <p:nvSpPr>
          <p:cNvPr id="44" name="Rectangle 43"/>
          <p:cNvSpPr/>
          <p:nvPr/>
        </p:nvSpPr>
        <p:spPr>
          <a:xfrm>
            <a:off x="5870448" y="4457517"/>
            <a:ext cx="548640" cy="663122"/>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5779008" y="4256349"/>
            <a:ext cx="731520" cy="182880"/>
          </a:xfrm>
          <a:prstGeom prst="rect">
            <a:avLst/>
          </a:prstGeom>
          <a:noFill/>
        </p:spPr>
        <p:txBody>
          <a:bodyPr wrap="square" lIns="0" tIns="0" rIns="0" bIns="0" anchor="t">
            <a:spAutoFit/>
          </a:bodyPr>
          <a:lstStyle/>
          <a:p>
            <a:pPr algn="ctr">
              <a:lnSpc>
                <a:spcPct val="100000"/>
              </a:lnSpc>
            </a:pPr>
            <a:r>
              <a:rPr sz="800" b="1" i="0" dirty="0">
                <a:solidFill>
                  <a:srgbClr val="101A3C"/>
                </a:solidFill>
                <a:latin typeface="Segoe UI"/>
                <a:cs typeface="Segoe UI"/>
              </a:rPr>
              <a:t>9.8</a:t>
            </a:r>
          </a:p>
        </p:txBody>
      </p:sp>
      <p:sp>
        <p:nvSpPr>
          <p:cNvPr id="46" name="TextBox 45"/>
          <p:cNvSpPr txBox="1"/>
          <p:nvPr/>
        </p:nvSpPr>
        <p:spPr>
          <a:xfrm>
            <a:off x="5029200" y="5175503"/>
            <a:ext cx="1600200" cy="182880"/>
          </a:xfrm>
          <a:prstGeom prst="rect">
            <a:avLst/>
          </a:prstGeom>
          <a:noFill/>
        </p:spPr>
        <p:txBody>
          <a:bodyPr wrap="square" lIns="0" tIns="0" rIns="0" bIns="0" anchor="t">
            <a:spAutoFit/>
          </a:bodyPr>
          <a:lstStyle/>
          <a:p>
            <a:pPr algn="ctr">
              <a:lnSpc>
                <a:spcPct val="100000"/>
              </a:lnSpc>
            </a:pPr>
            <a:r>
              <a:rPr sz="800" b="0" i="0" dirty="0">
                <a:solidFill>
                  <a:srgbClr val="44495B"/>
                </a:solidFill>
                <a:latin typeface="Segoe UI"/>
                <a:cs typeface="Segoe UI"/>
              </a:rPr>
              <a:t>LowestBlocking</a:t>
            </a:r>
          </a:p>
        </p:txBody>
      </p:sp>
      <p:cxnSp>
        <p:nvCxnSpPr>
          <p:cNvPr id="47" name="Connector 46"/>
          <p:cNvCxnSpPr/>
          <p:nvPr/>
        </p:nvCxnSpPr>
        <p:spPr>
          <a:xfrm>
            <a:off x="594360" y="5120640"/>
            <a:ext cx="6217920" cy="0"/>
          </a:xfrm>
          <a:prstGeom prst="line">
            <a:avLst/>
          </a:prstGeom>
          <a:ln w="9525">
            <a:solidFill>
              <a:srgbClr val="44495B"/>
            </a:solidFill>
          </a:ln>
        </p:spPr>
      </p:cxnSp>
      <p:sp>
        <p:nvSpPr>
          <p:cNvPr id="48" name="Rectangle 47"/>
          <p:cNvSpPr/>
          <p:nvPr/>
        </p:nvSpPr>
        <p:spPr>
          <a:xfrm>
            <a:off x="457200" y="5518404"/>
            <a:ext cx="146304" cy="91440"/>
          </a:xfrm>
          <a:prstGeom prst="rect">
            <a:avLst/>
          </a:prstGeom>
          <a:solidFill>
            <a:srgbClr val="101A3C"/>
          </a:solidFill>
          <a:ln>
            <a:noFill/>
          </a:ln>
          <a:effectLst/>
        </p:spPr>
        <p:txBody>
          <a:bodyPr wrap="square" rtlCol="0" anchor="ctr"/>
          <a:lstStyle/>
          <a:p>
            <a:endParaRPr/>
          </a:p>
        </p:txBody>
      </p:sp>
      <p:sp>
        <p:nvSpPr>
          <p:cNvPr id="49" name="TextBox 48"/>
          <p:cNvSpPr txBox="1"/>
          <p:nvPr/>
        </p:nvSpPr>
        <p:spPr>
          <a:xfrm>
            <a:off x="676656"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Blocked by the guardrail</a:t>
            </a:r>
          </a:p>
        </p:txBody>
      </p:sp>
      <p:sp>
        <p:nvSpPr>
          <p:cNvPr id="50" name="Rectangle 49"/>
          <p:cNvSpPr/>
          <p:nvPr/>
        </p:nvSpPr>
        <p:spPr>
          <a:xfrm>
            <a:off x="2121408" y="5518404"/>
            <a:ext cx="146304" cy="91440"/>
          </a:xfrm>
          <a:prstGeom prst="rect">
            <a:avLst/>
          </a:prstGeom>
          <a:solidFill>
            <a:srgbClr val="00B39F"/>
          </a:solidFill>
          <a:ln>
            <a:noFill/>
          </a:ln>
          <a:effectLst/>
        </p:spPr>
        <p:txBody>
          <a:bodyPr wrap="square" rtlCol="0" anchor="ctr"/>
          <a:lstStyle/>
          <a:p>
            <a:endParaRPr/>
          </a:p>
        </p:txBody>
      </p:sp>
      <p:sp>
        <p:nvSpPr>
          <p:cNvPr id="51" name="TextBox 50"/>
          <p:cNvSpPr txBox="1"/>
          <p:nvPr/>
        </p:nvSpPr>
        <p:spPr>
          <a:xfrm>
            <a:off x="2340864" y="5490972"/>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Failed evaluation</a:t>
            </a:r>
          </a:p>
        </p:txBody>
      </p:sp>
      <p:sp>
        <p:nvSpPr>
          <p:cNvPr id="52" name="Rectangle 51"/>
          <p:cNvSpPr/>
          <p:nvPr/>
        </p:nvSpPr>
        <p:spPr>
          <a:xfrm>
            <a:off x="7360920" y="3017520"/>
            <a:ext cx="4370832" cy="310896"/>
          </a:xfrm>
          <a:prstGeom prst="rect">
            <a:avLst/>
          </a:prstGeom>
          <a:solidFill>
            <a:srgbClr val="101A3C"/>
          </a:solidFill>
          <a:ln>
            <a:noFill/>
          </a:ln>
          <a:effectLst/>
        </p:spPr>
        <p:txBody>
          <a:bodyPr wrap="square" rtlCol="0" anchor="ctr"/>
          <a:lstStyle/>
          <a:p>
            <a:endParaRPr/>
          </a:p>
        </p:txBody>
      </p:sp>
      <p:sp>
        <p:nvSpPr>
          <p:cNvPr id="53" name="TextBox 52"/>
          <p:cNvSpPr txBox="1"/>
          <p:nvPr/>
        </p:nvSpPr>
        <p:spPr>
          <a:xfrm>
            <a:off x="7488936" y="3095244"/>
            <a:ext cx="139061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Deployment</a:t>
            </a:r>
          </a:p>
        </p:txBody>
      </p:sp>
      <p:sp>
        <p:nvSpPr>
          <p:cNvPr id="54" name="TextBox 53"/>
          <p:cNvSpPr txBox="1"/>
          <p:nvPr/>
        </p:nvSpPr>
        <p:spPr>
          <a:xfrm>
            <a:off x="9062435" y="3095244"/>
            <a:ext cx="112836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Blocked</a:t>
            </a:r>
          </a:p>
        </p:txBody>
      </p:sp>
      <p:sp>
        <p:nvSpPr>
          <p:cNvPr id="55" name="TextBox 54"/>
          <p:cNvSpPr txBox="1"/>
          <p:nvPr/>
        </p:nvSpPr>
        <p:spPr>
          <a:xfrm>
            <a:off x="10373685" y="3095244"/>
            <a:ext cx="130320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Failed evaluation</a:t>
            </a:r>
          </a:p>
        </p:txBody>
      </p:sp>
      <p:sp>
        <p:nvSpPr>
          <p:cNvPr id="56" name="Rectangle 55"/>
          <p:cNvSpPr/>
          <p:nvPr/>
        </p:nvSpPr>
        <p:spPr>
          <a:xfrm>
            <a:off x="7360920" y="3328415"/>
            <a:ext cx="4370832" cy="384048"/>
          </a:xfrm>
          <a:prstGeom prst="rect">
            <a:avLst/>
          </a:prstGeom>
          <a:solidFill>
            <a:srgbClr val="F6F8FD"/>
          </a:solidFill>
          <a:ln>
            <a:noFill/>
          </a:ln>
          <a:effectLst/>
        </p:spPr>
        <p:txBody>
          <a:bodyPr wrap="square" rtlCol="0" anchor="ctr"/>
          <a:lstStyle/>
          <a:p>
            <a:endParaRPr/>
          </a:p>
        </p:txBody>
      </p:sp>
      <p:cxnSp>
        <p:nvCxnSpPr>
          <p:cNvPr id="57" name="Connector 56"/>
          <p:cNvCxnSpPr/>
          <p:nvPr/>
        </p:nvCxnSpPr>
        <p:spPr>
          <a:xfrm>
            <a:off x="7360920" y="3712463"/>
            <a:ext cx="4370832" cy="0"/>
          </a:xfrm>
          <a:prstGeom prst="line">
            <a:avLst/>
          </a:prstGeom>
          <a:ln w="9525">
            <a:solidFill>
              <a:srgbClr val="E1E7F4"/>
            </a:solidFill>
          </a:ln>
        </p:spPr>
      </p:cxnSp>
      <p:sp>
        <p:nvSpPr>
          <p:cNvPr id="58" name="TextBox 57"/>
          <p:cNvSpPr txBox="1"/>
          <p:nvPr/>
        </p:nvSpPr>
        <p:spPr>
          <a:xfrm>
            <a:off x="7488936" y="3378708"/>
            <a:ext cx="1354043" cy="301751"/>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gpt-5.4-mini</a:t>
            </a:r>
          </a:p>
        </p:txBody>
      </p:sp>
      <p:sp>
        <p:nvSpPr>
          <p:cNvPr id="59" name="TextBox 58"/>
          <p:cNvSpPr txBox="1"/>
          <p:nvPr/>
        </p:nvSpPr>
        <p:spPr>
          <a:xfrm>
            <a:off x="9062435" y="3378708"/>
            <a:ext cx="1091793" cy="301751"/>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29 · 8 · 4</a:t>
            </a:r>
          </a:p>
        </p:txBody>
      </p:sp>
      <p:sp>
        <p:nvSpPr>
          <p:cNvPr id="60" name="TextBox 59"/>
          <p:cNvSpPr txBox="1"/>
          <p:nvPr/>
        </p:nvSpPr>
        <p:spPr>
          <a:xfrm>
            <a:off x="10373685" y="3378708"/>
            <a:ext cx="1266626" cy="301751"/>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13 · 11 · 12</a:t>
            </a:r>
          </a:p>
        </p:txBody>
      </p:sp>
      <p:cxnSp>
        <p:nvCxnSpPr>
          <p:cNvPr id="61" name="Connector 60"/>
          <p:cNvCxnSpPr/>
          <p:nvPr/>
        </p:nvCxnSpPr>
        <p:spPr>
          <a:xfrm>
            <a:off x="7360920" y="4096511"/>
            <a:ext cx="4370832" cy="0"/>
          </a:xfrm>
          <a:prstGeom prst="line">
            <a:avLst/>
          </a:prstGeom>
          <a:ln w="9525">
            <a:solidFill>
              <a:srgbClr val="E1E7F4"/>
            </a:solidFill>
          </a:ln>
        </p:spPr>
      </p:cxnSp>
      <p:sp>
        <p:nvSpPr>
          <p:cNvPr id="62" name="TextBox 61"/>
          <p:cNvSpPr txBox="1"/>
          <p:nvPr/>
        </p:nvSpPr>
        <p:spPr>
          <a:xfrm>
            <a:off x="7488936" y="3762755"/>
            <a:ext cx="1354043" cy="301751"/>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gpt-5.6-sol</a:t>
            </a:r>
          </a:p>
        </p:txBody>
      </p:sp>
      <p:sp>
        <p:nvSpPr>
          <p:cNvPr id="63" name="TextBox 62"/>
          <p:cNvSpPr txBox="1"/>
          <p:nvPr/>
        </p:nvSpPr>
        <p:spPr>
          <a:xfrm>
            <a:off x="9062435" y="3762755"/>
            <a:ext cx="1091793" cy="301751"/>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33 · 8 · 4</a:t>
            </a:r>
          </a:p>
        </p:txBody>
      </p:sp>
      <p:sp>
        <p:nvSpPr>
          <p:cNvPr id="64" name="TextBox 63"/>
          <p:cNvSpPr txBox="1"/>
          <p:nvPr/>
        </p:nvSpPr>
        <p:spPr>
          <a:xfrm>
            <a:off x="10373685" y="3762755"/>
            <a:ext cx="1266626" cy="301751"/>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17 · 17 · 14</a:t>
            </a:r>
          </a:p>
        </p:txBody>
      </p:sp>
      <p:cxnSp>
        <p:nvCxnSpPr>
          <p:cNvPr id="65" name="Connector 64"/>
          <p:cNvCxnSpPr/>
          <p:nvPr/>
        </p:nvCxnSpPr>
        <p:spPr>
          <a:xfrm>
            <a:off x="8934419" y="3328415"/>
            <a:ext cx="0" cy="768096"/>
          </a:xfrm>
          <a:prstGeom prst="line">
            <a:avLst/>
          </a:prstGeom>
          <a:ln w="9525">
            <a:solidFill>
              <a:srgbClr val="E1E7F4"/>
            </a:solidFill>
          </a:ln>
        </p:spPr>
      </p:cxnSp>
      <p:cxnSp>
        <p:nvCxnSpPr>
          <p:cNvPr id="66" name="Connector 65"/>
          <p:cNvCxnSpPr/>
          <p:nvPr/>
        </p:nvCxnSpPr>
        <p:spPr>
          <a:xfrm>
            <a:off x="10245669" y="3328415"/>
            <a:ext cx="0" cy="768096"/>
          </a:xfrm>
          <a:prstGeom prst="line">
            <a:avLst/>
          </a:prstGeom>
          <a:ln w="9525">
            <a:solidFill>
              <a:srgbClr val="E1E7F4"/>
            </a:solidFill>
          </a:ln>
        </p:spPr>
      </p:cxnSp>
      <p:sp>
        <p:nvSpPr>
          <p:cNvPr id="67" name="TextBox 66"/>
          <p:cNvSpPr txBox="1"/>
          <p:nvPr/>
        </p:nvSpPr>
        <p:spPr>
          <a:xfrm>
            <a:off x="7360920" y="4114800"/>
            <a:ext cx="4370832" cy="329184"/>
          </a:xfrm>
          <a:prstGeom prst="rect">
            <a:avLst/>
          </a:prstGeom>
          <a:noFill/>
        </p:spPr>
        <p:txBody>
          <a:bodyPr wrap="square" lIns="0" tIns="0" rIns="0" bIns="0" anchor="t">
            <a:spAutoFit/>
          </a:bodyPr>
          <a:lstStyle/>
          <a:p>
            <a:pPr algn="l">
              <a:lnSpc>
                <a:spcPct val="115000"/>
              </a:lnSpc>
            </a:pPr>
            <a:r>
              <a:rPr sz="750" b="0" i="0" dirty="0">
                <a:solidFill>
                  <a:srgbClr val="44495B"/>
                </a:solidFill>
                <a:latin typeface="Segoe UI"/>
                <a:cs typeface="Segoe UI"/>
              </a:rPr>
              <a:t>Order: HighestBlocking · MediumBlocking · LowestBlocking;</a:t>
            </a:r>
          </a:p>
          <a:p>
            <a:pPr algn="l">
              <a:lnSpc>
                <a:spcPct val="115000"/>
              </a:lnSpc>
            </a:pPr>
            <a:r>
              <a:rPr sz="750" b="0" i="0" dirty="0">
                <a:solidFill>
                  <a:srgbClr val="44495B"/>
                </a:solidFill>
                <a:latin typeface="Segoe UI"/>
                <a:cs typeface="Segoe UI"/>
              </a:rPr>
              <a:t>133 pairs per deployment.</a:t>
            </a:r>
          </a:p>
        </p:txBody>
      </p:sp>
      <p:sp>
        <p:nvSpPr>
          <p:cNvPr id="68" name="Rectangle 67"/>
          <p:cNvSpPr/>
          <p:nvPr/>
        </p:nvSpPr>
        <p:spPr>
          <a:xfrm>
            <a:off x="7360920" y="4572000"/>
            <a:ext cx="4370832" cy="777240"/>
          </a:xfrm>
          <a:prstGeom prst="rect">
            <a:avLst/>
          </a:prstGeom>
          <a:solidFill>
            <a:srgbClr val="EBEFF7"/>
          </a:solidFill>
          <a:ln>
            <a:noFill/>
          </a:ln>
          <a:effectLst/>
        </p:spPr>
        <p:txBody>
          <a:bodyPr wrap="square" rtlCol="0" anchor="ctr"/>
          <a:lstStyle/>
          <a:p>
            <a:endParaRPr/>
          </a:p>
        </p:txBody>
      </p:sp>
      <p:sp>
        <p:nvSpPr>
          <p:cNvPr id="69" name="Rectangle 68"/>
          <p:cNvSpPr/>
          <p:nvPr/>
        </p:nvSpPr>
        <p:spPr>
          <a:xfrm>
            <a:off x="7360920" y="4572000"/>
            <a:ext cx="41148" cy="777240"/>
          </a:xfrm>
          <a:prstGeom prst="rect">
            <a:avLst/>
          </a:prstGeom>
          <a:solidFill>
            <a:srgbClr val="00B39F"/>
          </a:solidFill>
          <a:ln>
            <a:noFill/>
          </a:ln>
          <a:effectLst/>
        </p:spPr>
        <p:txBody>
          <a:bodyPr wrap="square" rtlCol="0" anchor="ctr"/>
          <a:lstStyle/>
          <a:p>
            <a:endParaRPr/>
          </a:p>
        </p:txBody>
      </p:sp>
      <p:sp>
        <p:nvSpPr>
          <p:cNvPr id="70" name="TextBox 69"/>
          <p:cNvSpPr txBox="1"/>
          <p:nvPr/>
        </p:nvSpPr>
        <p:spPr>
          <a:xfrm>
            <a:off x="7598664" y="4672584"/>
            <a:ext cx="3950208" cy="594359"/>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HighestBlocking → MediumBlocking removed 46 of 62 blocks; failed evaluations moved from 30 to 28.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EXPERIMENT</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Results by harm category</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Which category caused the blocks and at what severity; counts combine both deployments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github.com/strudel0209/foundry-content-safety-eval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12</a:t>
            </a:r>
          </a:p>
        </p:txBody>
      </p:sp>
      <p:sp>
        <p:nvSpPr>
          <p:cNvPr id="7" name="Rectangle 6"/>
          <p:cNvSpPr/>
          <p:nvPr/>
        </p:nvSpPr>
        <p:spPr>
          <a:xfrm>
            <a:off x="457200" y="1371600"/>
            <a:ext cx="6903720"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49324"/>
            <a:ext cx="119786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Harm category</a:t>
            </a:r>
          </a:p>
        </p:txBody>
      </p:sp>
      <p:sp>
        <p:nvSpPr>
          <p:cNvPr id="9" name="TextBox 8"/>
          <p:cNvSpPr txBox="1"/>
          <p:nvPr/>
        </p:nvSpPr>
        <p:spPr>
          <a:xfrm>
            <a:off x="1965960" y="1449324"/>
            <a:ext cx="1266901"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HighestBlocking</a:t>
            </a:r>
          </a:p>
        </p:txBody>
      </p:sp>
      <p:sp>
        <p:nvSpPr>
          <p:cNvPr id="10" name="TextBox 9"/>
          <p:cNvSpPr txBox="1"/>
          <p:nvPr/>
        </p:nvSpPr>
        <p:spPr>
          <a:xfrm>
            <a:off x="3415741" y="1449324"/>
            <a:ext cx="57652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Low</a:t>
            </a:r>
          </a:p>
        </p:txBody>
      </p:sp>
      <p:sp>
        <p:nvSpPr>
          <p:cNvPr id="11" name="TextBox 10"/>
          <p:cNvSpPr txBox="1"/>
          <p:nvPr/>
        </p:nvSpPr>
        <p:spPr>
          <a:xfrm>
            <a:off x="4175150" y="1449324"/>
            <a:ext cx="64556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Medium</a:t>
            </a:r>
          </a:p>
        </p:txBody>
      </p:sp>
      <p:sp>
        <p:nvSpPr>
          <p:cNvPr id="12" name="TextBox 11"/>
          <p:cNvSpPr txBox="1"/>
          <p:nvPr/>
        </p:nvSpPr>
        <p:spPr>
          <a:xfrm>
            <a:off x="5003596" y="1449324"/>
            <a:ext cx="57652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High</a:t>
            </a:r>
          </a:p>
        </p:txBody>
      </p:sp>
      <p:sp>
        <p:nvSpPr>
          <p:cNvPr id="13" name="TextBox 12"/>
          <p:cNvSpPr txBox="1"/>
          <p:nvPr/>
        </p:nvSpPr>
        <p:spPr>
          <a:xfrm>
            <a:off x="5763005" y="1449324"/>
            <a:ext cx="154305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MediumBlocking</a:t>
            </a:r>
          </a:p>
        </p:txBody>
      </p:sp>
      <p:sp>
        <p:nvSpPr>
          <p:cNvPr id="14" name="Rectangle 13"/>
          <p:cNvSpPr/>
          <p:nvPr/>
        </p:nvSpPr>
        <p:spPr>
          <a:xfrm>
            <a:off x="457200" y="1682496"/>
            <a:ext cx="6903720" cy="329184"/>
          </a:xfrm>
          <a:prstGeom prst="rect">
            <a:avLst/>
          </a:prstGeom>
          <a:solidFill>
            <a:srgbClr val="F6F8FD"/>
          </a:solidFill>
          <a:ln>
            <a:noFill/>
          </a:ln>
          <a:effectLst/>
        </p:spPr>
        <p:txBody>
          <a:bodyPr wrap="square" rtlCol="0" anchor="ctr"/>
          <a:lstStyle/>
          <a:p>
            <a:endParaRPr/>
          </a:p>
        </p:txBody>
      </p:sp>
      <p:cxnSp>
        <p:nvCxnSpPr>
          <p:cNvPr id="15" name="Connector 14"/>
          <p:cNvCxnSpPr/>
          <p:nvPr/>
        </p:nvCxnSpPr>
        <p:spPr>
          <a:xfrm>
            <a:off x="457200" y="2011680"/>
            <a:ext cx="6903720" cy="0"/>
          </a:xfrm>
          <a:prstGeom prst="line">
            <a:avLst/>
          </a:prstGeom>
          <a:ln w="9525">
            <a:solidFill>
              <a:srgbClr val="E1E7F4"/>
            </a:solidFill>
          </a:ln>
        </p:spPr>
      </p:cxnSp>
      <p:sp>
        <p:nvSpPr>
          <p:cNvPr id="16" name="TextBox 15"/>
          <p:cNvSpPr txBox="1"/>
          <p:nvPr/>
        </p:nvSpPr>
        <p:spPr>
          <a:xfrm>
            <a:off x="585216" y="1732788"/>
            <a:ext cx="1161288"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Self-harm</a:t>
            </a:r>
          </a:p>
        </p:txBody>
      </p:sp>
      <p:sp>
        <p:nvSpPr>
          <p:cNvPr id="17" name="TextBox 16"/>
          <p:cNvSpPr txBox="1"/>
          <p:nvPr/>
        </p:nvSpPr>
        <p:spPr>
          <a:xfrm>
            <a:off x="1965960" y="1732788"/>
            <a:ext cx="1230325"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33</a:t>
            </a:r>
          </a:p>
        </p:txBody>
      </p:sp>
      <p:sp>
        <p:nvSpPr>
          <p:cNvPr id="18" name="TextBox 17"/>
          <p:cNvSpPr txBox="1"/>
          <p:nvPr/>
        </p:nvSpPr>
        <p:spPr>
          <a:xfrm>
            <a:off x="3415741" y="1732788"/>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26</a:t>
            </a:r>
          </a:p>
        </p:txBody>
      </p:sp>
      <p:sp>
        <p:nvSpPr>
          <p:cNvPr id="19" name="TextBox 18"/>
          <p:cNvSpPr txBox="1"/>
          <p:nvPr/>
        </p:nvSpPr>
        <p:spPr>
          <a:xfrm>
            <a:off x="4175150" y="1732788"/>
            <a:ext cx="60899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7</a:t>
            </a:r>
          </a:p>
        </p:txBody>
      </p:sp>
      <p:sp>
        <p:nvSpPr>
          <p:cNvPr id="20" name="TextBox 19"/>
          <p:cNvSpPr txBox="1"/>
          <p:nvPr/>
        </p:nvSpPr>
        <p:spPr>
          <a:xfrm>
            <a:off x="5003596" y="1732788"/>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a:t>
            </a:r>
          </a:p>
        </p:txBody>
      </p:sp>
      <p:sp>
        <p:nvSpPr>
          <p:cNvPr id="21" name="TextBox 20"/>
          <p:cNvSpPr txBox="1"/>
          <p:nvPr/>
        </p:nvSpPr>
        <p:spPr>
          <a:xfrm>
            <a:off x="5763005" y="1732788"/>
            <a:ext cx="150647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5</a:t>
            </a:r>
          </a:p>
        </p:txBody>
      </p:sp>
      <p:cxnSp>
        <p:nvCxnSpPr>
          <p:cNvPr id="22" name="Connector 21"/>
          <p:cNvCxnSpPr/>
          <p:nvPr/>
        </p:nvCxnSpPr>
        <p:spPr>
          <a:xfrm>
            <a:off x="457200" y="2340864"/>
            <a:ext cx="6903720" cy="0"/>
          </a:xfrm>
          <a:prstGeom prst="line">
            <a:avLst/>
          </a:prstGeom>
          <a:ln w="9525">
            <a:solidFill>
              <a:srgbClr val="E1E7F4"/>
            </a:solidFill>
          </a:ln>
        </p:spPr>
      </p:cxnSp>
      <p:sp>
        <p:nvSpPr>
          <p:cNvPr id="23" name="TextBox 22"/>
          <p:cNvSpPr txBox="1"/>
          <p:nvPr/>
        </p:nvSpPr>
        <p:spPr>
          <a:xfrm>
            <a:off x="585216" y="2061972"/>
            <a:ext cx="1161288"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Sexual</a:t>
            </a:r>
          </a:p>
        </p:txBody>
      </p:sp>
      <p:sp>
        <p:nvSpPr>
          <p:cNvPr id="24" name="TextBox 23"/>
          <p:cNvSpPr txBox="1"/>
          <p:nvPr/>
        </p:nvSpPr>
        <p:spPr>
          <a:xfrm>
            <a:off x="1965960" y="2061972"/>
            <a:ext cx="1230325"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19</a:t>
            </a:r>
          </a:p>
        </p:txBody>
      </p:sp>
      <p:sp>
        <p:nvSpPr>
          <p:cNvPr id="25" name="TextBox 24"/>
          <p:cNvSpPr txBox="1"/>
          <p:nvPr/>
        </p:nvSpPr>
        <p:spPr>
          <a:xfrm>
            <a:off x="3415741" y="2061972"/>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6</a:t>
            </a:r>
          </a:p>
        </p:txBody>
      </p:sp>
      <p:sp>
        <p:nvSpPr>
          <p:cNvPr id="26" name="TextBox 25"/>
          <p:cNvSpPr txBox="1"/>
          <p:nvPr/>
        </p:nvSpPr>
        <p:spPr>
          <a:xfrm>
            <a:off x="4175150" y="2061972"/>
            <a:ext cx="60899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a:t>
            </a:r>
          </a:p>
        </p:txBody>
      </p:sp>
      <p:sp>
        <p:nvSpPr>
          <p:cNvPr id="27" name="TextBox 26"/>
          <p:cNvSpPr txBox="1"/>
          <p:nvPr/>
        </p:nvSpPr>
        <p:spPr>
          <a:xfrm>
            <a:off x="5003596" y="2061972"/>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12</a:t>
            </a:r>
          </a:p>
        </p:txBody>
      </p:sp>
      <p:sp>
        <p:nvSpPr>
          <p:cNvPr id="28" name="TextBox 27"/>
          <p:cNvSpPr txBox="1"/>
          <p:nvPr/>
        </p:nvSpPr>
        <p:spPr>
          <a:xfrm>
            <a:off x="5763005" y="2061972"/>
            <a:ext cx="150647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10</a:t>
            </a:r>
          </a:p>
        </p:txBody>
      </p:sp>
      <p:sp>
        <p:nvSpPr>
          <p:cNvPr id="29" name="Rectangle 28"/>
          <p:cNvSpPr/>
          <p:nvPr/>
        </p:nvSpPr>
        <p:spPr>
          <a:xfrm>
            <a:off x="457200" y="2340864"/>
            <a:ext cx="6903720" cy="32918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2670048"/>
            <a:ext cx="6903720" cy="0"/>
          </a:xfrm>
          <a:prstGeom prst="line">
            <a:avLst/>
          </a:prstGeom>
          <a:ln w="9525">
            <a:solidFill>
              <a:srgbClr val="E1E7F4"/>
            </a:solidFill>
          </a:ln>
        </p:spPr>
      </p:cxnSp>
      <p:sp>
        <p:nvSpPr>
          <p:cNvPr id="31" name="TextBox 30"/>
          <p:cNvSpPr txBox="1"/>
          <p:nvPr/>
        </p:nvSpPr>
        <p:spPr>
          <a:xfrm>
            <a:off x="585216" y="2391156"/>
            <a:ext cx="1161288"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Hate</a:t>
            </a:r>
          </a:p>
        </p:txBody>
      </p:sp>
      <p:sp>
        <p:nvSpPr>
          <p:cNvPr id="32" name="TextBox 31"/>
          <p:cNvSpPr txBox="1"/>
          <p:nvPr/>
        </p:nvSpPr>
        <p:spPr>
          <a:xfrm>
            <a:off x="1965960" y="2391156"/>
            <a:ext cx="1230325"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5</a:t>
            </a:r>
          </a:p>
        </p:txBody>
      </p:sp>
      <p:sp>
        <p:nvSpPr>
          <p:cNvPr id="33" name="TextBox 32"/>
          <p:cNvSpPr txBox="1"/>
          <p:nvPr/>
        </p:nvSpPr>
        <p:spPr>
          <a:xfrm>
            <a:off x="3415741" y="2391156"/>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5</a:t>
            </a:r>
          </a:p>
        </p:txBody>
      </p:sp>
      <p:sp>
        <p:nvSpPr>
          <p:cNvPr id="34" name="TextBox 33"/>
          <p:cNvSpPr txBox="1"/>
          <p:nvPr/>
        </p:nvSpPr>
        <p:spPr>
          <a:xfrm>
            <a:off x="4175150" y="2391156"/>
            <a:ext cx="60899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a:t>
            </a:r>
          </a:p>
        </p:txBody>
      </p:sp>
      <p:sp>
        <p:nvSpPr>
          <p:cNvPr id="35" name="TextBox 34"/>
          <p:cNvSpPr txBox="1"/>
          <p:nvPr/>
        </p:nvSpPr>
        <p:spPr>
          <a:xfrm>
            <a:off x="5003596" y="2391156"/>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a:t>
            </a:r>
          </a:p>
        </p:txBody>
      </p:sp>
      <p:sp>
        <p:nvSpPr>
          <p:cNvPr id="36" name="TextBox 35"/>
          <p:cNvSpPr txBox="1"/>
          <p:nvPr/>
        </p:nvSpPr>
        <p:spPr>
          <a:xfrm>
            <a:off x="5763005" y="2391156"/>
            <a:ext cx="150647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a:t>
            </a:r>
          </a:p>
        </p:txBody>
      </p:sp>
      <p:cxnSp>
        <p:nvCxnSpPr>
          <p:cNvPr id="37" name="Connector 36"/>
          <p:cNvCxnSpPr/>
          <p:nvPr/>
        </p:nvCxnSpPr>
        <p:spPr>
          <a:xfrm>
            <a:off x="457200" y="2999232"/>
            <a:ext cx="6903720" cy="0"/>
          </a:xfrm>
          <a:prstGeom prst="line">
            <a:avLst/>
          </a:prstGeom>
          <a:ln w="9525">
            <a:solidFill>
              <a:srgbClr val="E1E7F4"/>
            </a:solidFill>
          </a:ln>
        </p:spPr>
      </p:cxnSp>
      <p:sp>
        <p:nvSpPr>
          <p:cNvPr id="38" name="TextBox 37"/>
          <p:cNvSpPr txBox="1"/>
          <p:nvPr/>
        </p:nvSpPr>
        <p:spPr>
          <a:xfrm>
            <a:off x="585216" y="2720340"/>
            <a:ext cx="1161288"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Violence</a:t>
            </a:r>
          </a:p>
        </p:txBody>
      </p:sp>
      <p:sp>
        <p:nvSpPr>
          <p:cNvPr id="39" name="TextBox 38"/>
          <p:cNvSpPr txBox="1"/>
          <p:nvPr/>
        </p:nvSpPr>
        <p:spPr>
          <a:xfrm>
            <a:off x="1965960" y="2720340"/>
            <a:ext cx="1230325"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5</a:t>
            </a:r>
          </a:p>
        </p:txBody>
      </p:sp>
      <p:sp>
        <p:nvSpPr>
          <p:cNvPr id="40" name="TextBox 39"/>
          <p:cNvSpPr txBox="1"/>
          <p:nvPr/>
        </p:nvSpPr>
        <p:spPr>
          <a:xfrm>
            <a:off x="3415741" y="2720340"/>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4</a:t>
            </a:r>
          </a:p>
        </p:txBody>
      </p:sp>
      <p:sp>
        <p:nvSpPr>
          <p:cNvPr id="41" name="TextBox 40"/>
          <p:cNvSpPr txBox="1"/>
          <p:nvPr/>
        </p:nvSpPr>
        <p:spPr>
          <a:xfrm>
            <a:off x="4175150" y="2720340"/>
            <a:ext cx="60899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a:t>
            </a:r>
          </a:p>
        </p:txBody>
      </p:sp>
      <p:sp>
        <p:nvSpPr>
          <p:cNvPr id="42" name="TextBox 41"/>
          <p:cNvSpPr txBox="1"/>
          <p:nvPr/>
        </p:nvSpPr>
        <p:spPr>
          <a:xfrm>
            <a:off x="5003596" y="2720340"/>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0</a:t>
            </a:r>
          </a:p>
        </p:txBody>
      </p:sp>
      <p:sp>
        <p:nvSpPr>
          <p:cNvPr id="43" name="TextBox 42"/>
          <p:cNvSpPr txBox="1"/>
          <p:nvPr/>
        </p:nvSpPr>
        <p:spPr>
          <a:xfrm>
            <a:off x="5763005" y="2720340"/>
            <a:ext cx="150647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a:t>
            </a:r>
          </a:p>
        </p:txBody>
      </p:sp>
      <p:sp>
        <p:nvSpPr>
          <p:cNvPr id="44" name="Rectangle 43"/>
          <p:cNvSpPr/>
          <p:nvPr/>
        </p:nvSpPr>
        <p:spPr>
          <a:xfrm>
            <a:off x="457200" y="2999232"/>
            <a:ext cx="6903720" cy="329184"/>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457200" y="3328415"/>
            <a:ext cx="6903720" cy="0"/>
          </a:xfrm>
          <a:prstGeom prst="line">
            <a:avLst/>
          </a:prstGeom>
          <a:ln w="9525">
            <a:solidFill>
              <a:srgbClr val="E1E7F4"/>
            </a:solidFill>
          </a:ln>
        </p:spPr>
      </p:cxnSp>
      <p:sp>
        <p:nvSpPr>
          <p:cNvPr id="46" name="TextBox 45"/>
          <p:cNvSpPr txBox="1"/>
          <p:nvPr/>
        </p:nvSpPr>
        <p:spPr>
          <a:xfrm>
            <a:off x="585216" y="3049524"/>
            <a:ext cx="1161288" cy="246888"/>
          </a:xfrm>
          <a:prstGeom prst="rect">
            <a:avLst/>
          </a:prstGeom>
          <a:noFill/>
        </p:spPr>
        <p:txBody>
          <a:bodyPr wrap="square" lIns="0" tIns="0" rIns="0" bIns="0" anchor="ctr">
            <a:spAutoFit/>
          </a:bodyPr>
          <a:lstStyle/>
          <a:p>
            <a:pPr algn="l">
              <a:lnSpc>
                <a:spcPct val="112000"/>
              </a:lnSpc>
            </a:pPr>
            <a:r>
              <a:rPr sz="850" b="1" i="0" dirty="0">
                <a:solidFill>
                  <a:srgbClr val="101A3C"/>
                </a:solidFill>
                <a:latin typeface="Segoe UI"/>
                <a:cs typeface="Segoe UI"/>
              </a:rPr>
              <a:t>All categories</a:t>
            </a:r>
          </a:p>
        </p:txBody>
      </p:sp>
      <p:sp>
        <p:nvSpPr>
          <p:cNvPr id="47" name="TextBox 46"/>
          <p:cNvSpPr txBox="1"/>
          <p:nvPr/>
        </p:nvSpPr>
        <p:spPr>
          <a:xfrm>
            <a:off x="1965960" y="3049524"/>
            <a:ext cx="1230325"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62</a:t>
            </a:r>
          </a:p>
        </p:txBody>
      </p:sp>
      <p:sp>
        <p:nvSpPr>
          <p:cNvPr id="48" name="TextBox 47"/>
          <p:cNvSpPr txBox="1"/>
          <p:nvPr/>
        </p:nvSpPr>
        <p:spPr>
          <a:xfrm>
            <a:off x="3415741" y="3049524"/>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41</a:t>
            </a:r>
          </a:p>
        </p:txBody>
      </p:sp>
      <p:sp>
        <p:nvSpPr>
          <p:cNvPr id="49" name="TextBox 48"/>
          <p:cNvSpPr txBox="1"/>
          <p:nvPr/>
        </p:nvSpPr>
        <p:spPr>
          <a:xfrm>
            <a:off x="4175150" y="3049524"/>
            <a:ext cx="608990"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9</a:t>
            </a:r>
          </a:p>
        </p:txBody>
      </p:sp>
      <p:sp>
        <p:nvSpPr>
          <p:cNvPr id="50" name="TextBox 49"/>
          <p:cNvSpPr txBox="1"/>
          <p:nvPr/>
        </p:nvSpPr>
        <p:spPr>
          <a:xfrm>
            <a:off x="5003596" y="3049524"/>
            <a:ext cx="539953"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12</a:t>
            </a:r>
          </a:p>
        </p:txBody>
      </p:sp>
      <p:sp>
        <p:nvSpPr>
          <p:cNvPr id="51" name="TextBox 50"/>
          <p:cNvSpPr txBox="1"/>
          <p:nvPr/>
        </p:nvSpPr>
        <p:spPr>
          <a:xfrm>
            <a:off x="5763005" y="3049524"/>
            <a:ext cx="1506474" cy="246888"/>
          </a:xfrm>
          <a:prstGeom prst="rect">
            <a:avLst/>
          </a:prstGeom>
          <a:noFill/>
        </p:spPr>
        <p:txBody>
          <a:bodyPr wrap="square" lIns="0" tIns="0" rIns="0" bIns="0" anchor="ctr">
            <a:spAutoFit/>
          </a:bodyPr>
          <a:lstStyle/>
          <a:p>
            <a:pPr algn="l">
              <a:lnSpc>
                <a:spcPct val="112000"/>
              </a:lnSpc>
            </a:pPr>
            <a:r>
              <a:rPr sz="850" b="0" i="0" dirty="0">
                <a:solidFill>
                  <a:srgbClr val="44495B"/>
                </a:solidFill>
                <a:latin typeface="Segoe UI"/>
                <a:cs typeface="Segoe UI"/>
              </a:rPr>
              <a:t>16</a:t>
            </a:r>
          </a:p>
        </p:txBody>
      </p:sp>
      <p:cxnSp>
        <p:nvCxnSpPr>
          <p:cNvPr id="52" name="Connector 51"/>
          <p:cNvCxnSpPr/>
          <p:nvPr/>
        </p:nvCxnSpPr>
        <p:spPr>
          <a:xfrm>
            <a:off x="1837943" y="1682496"/>
            <a:ext cx="0" cy="1645919"/>
          </a:xfrm>
          <a:prstGeom prst="line">
            <a:avLst/>
          </a:prstGeom>
          <a:ln w="9525">
            <a:solidFill>
              <a:srgbClr val="E1E7F4"/>
            </a:solidFill>
          </a:ln>
        </p:spPr>
      </p:cxnSp>
      <p:cxnSp>
        <p:nvCxnSpPr>
          <p:cNvPr id="53" name="Connector 52"/>
          <p:cNvCxnSpPr/>
          <p:nvPr/>
        </p:nvCxnSpPr>
        <p:spPr>
          <a:xfrm>
            <a:off x="3287725" y="1682496"/>
            <a:ext cx="0" cy="1645919"/>
          </a:xfrm>
          <a:prstGeom prst="line">
            <a:avLst/>
          </a:prstGeom>
          <a:ln w="9525">
            <a:solidFill>
              <a:srgbClr val="E1E7F4"/>
            </a:solidFill>
          </a:ln>
        </p:spPr>
      </p:cxnSp>
      <p:cxnSp>
        <p:nvCxnSpPr>
          <p:cNvPr id="54" name="Connector 53"/>
          <p:cNvCxnSpPr/>
          <p:nvPr/>
        </p:nvCxnSpPr>
        <p:spPr>
          <a:xfrm>
            <a:off x="4047134" y="1682496"/>
            <a:ext cx="0" cy="1645919"/>
          </a:xfrm>
          <a:prstGeom prst="line">
            <a:avLst/>
          </a:prstGeom>
          <a:ln w="9525">
            <a:solidFill>
              <a:srgbClr val="E1E7F4"/>
            </a:solidFill>
          </a:ln>
        </p:spPr>
      </p:cxnSp>
      <p:cxnSp>
        <p:nvCxnSpPr>
          <p:cNvPr id="55" name="Connector 54"/>
          <p:cNvCxnSpPr/>
          <p:nvPr/>
        </p:nvCxnSpPr>
        <p:spPr>
          <a:xfrm>
            <a:off x="4875580" y="1682496"/>
            <a:ext cx="0" cy="1645919"/>
          </a:xfrm>
          <a:prstGeom prst="line">
            <a:avLst/>
          </a:prstGeom>
          <a:ln w="9525">
            <a:solidFill>
              <a:srgbClr val="E1E7F4"/>
            </a:solidFill>
          </a:ln>
        </p:spPr>
      </p:cxnSp>
      <p:cxnSp>
        <p:nvCxnSpPr>
          <p:cNvPr id="56" name="Connector 55"/>
          <p:cNvCxnSpPr/>
          <p:nvPr/>
        </p:nvCxnSpPr>
        <p:spPr>
          <a:xfrm>
            <a:off x="5634990" y="1682496"/>
            <a:ext cx="0" cy="1645919"/>
          </a:xfrm>
          <a:prstGeom prst="line">
            <a:avLst/>
          </a:prstGeom>
          <a:ln w="9525">
            <a:solidFill>
              <a:srgbClr val="E1E7F4"/>
            </a:solidFill>
          </a:ln>
        </p:spPr>
      </p:cxnSp>
      <p:sp>
        <p:nvSpPr>
          <p:cNvPr id="57" name="TextBox 56"/>
          <p:cNvSpPr txBox="1"/>
          <p:nvPr/>
        </p:nvSpPr>
        <p:spPr>
          <a:xfrm>
            <a:off x="457200" y="3401568"/>
            <a:ext cx="6903720" cy="182880"/>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Blocks per category. Low, Medium, High: severity that triggered the HighestBlocking blocks. MediumBlocking does not block low severity.</a:t>
            </a:r>
          </a:p>
        </p:txBody>
      </p:sp>
      <p:sp>
        <p:nvSpPr>
          <p:cNvPr id="58" name="Rectangle 57"/>
          <p:cNvSpPr/>
          <p:nvPr/>
        </p:nvSpPr>
        <p:spPr>
          <a:xfrm>
            <a:off x="7635240" y="1371600"/>
            <a:ext cx="4096512" cy="603504"/>
          </a:xfrm>
          <a:prstGeom prst="rect">
            <a:avLst/>
          </a:prstGeom>
          <a:solidFill>
            <a:srgbClr val="F6F8FD"/>
          </a:solidFill>
          <a:ln w="9525">
            <a:solidFill>
              <a:srgbClr val="E1E7F4"/>
            </a:solidFill>
          </a:ln>
          <a:effectLst/>
        </p:spPr>
        <p:txBody>
          <a:bodyPr wrap="square" rtlCol="0" anchor="ctr"/>
          <a:lstStyle/>
          <a:p>
            <a:endParaRPr/>
          </a:p>
        </p:txBody>
      </p:sp>
      <p:sp>
        <p:nvSpPr>
          <p:cNvPr id="59" name="TextBox 58"/>
          <p:cNvSpPr txBox="1"/>
          <p:nvPr/>
        </p:nvSpPr>
        <p:spPr>
          <a:xfrm>
            <a:off x="7799831" y="1481328"/>
            <a:ext cx="1188720" cy="384048"/>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41 of 62</a:t>
            </a:r>
          </a:p>
        </p:txBody>
      </p:sp>
      <p:sp>
        <p:nvSpPr>
          <p:cNvPr id="60" name="TextBox 59"/>
          <p:cNvSpPr txBox="1"/>
          <p:nvPr/>
        </p:nvSpPr>
        <p:spPr>
          <a:xfrm>
            <a:off x="9006840" y="1463040"/>
            <a:ext cx="2587752" cy="420624"/>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HighestBlocking blocks triggered at low severity</a:t>
            </a:r>
          </a:p>
        </p:txBody>
      </p:sp>
      <p:sp>
        <p:nvSpPr>
          <p:cNvPr id="61" name="Rectangle 60"/>
          <p:cNvSpPr/>
          <p:nvPr/>
        </p:nvSpPr>
        <p:spPr>
          <a:xfrm>
            <a:off x="7635240" y="2066543"/>
            <a:ext cx="4096512" cy="603504"/>
          </a:xfrm>
          <a:prstGeom prst="rect">
            <a:avLst/>
          </a:prstGeom>
          <a:solidFill>
            <a:srgbClr val="F6F8FD"/>
          </a:solidFill>
          <a:ln w="9525">
            <a:solidFill>
              <a:srgbClr val="E1E7F4"/>
            </a:solidFill>
          </a:ln>
          <a:effectLst/>
        </p:spPr>
        <p:txBody>
          <a:bodyPr wrap="square" rtlCol="0" anchor="ctr"/>
          <a:lstStyle/>
          <a:p>
            <a:endParaRPr/>
          </a:p>
        </p:txBody>
      </p:sp>
      <p:sp>
        <p:nvSpPr>
          <p:cNvPr id="62" name="TextBox 61"/>
          <p:cNvSpPr txBox="1"/>
          <p:nvPr/>
        </p:nvSpPr>
        <p:spPr>
          <a:xfrm>
            <a:off x="7799831" y="2176272"/>
            <a:ext cx="1188720" cy="384048"/>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58 of 62</a:t>
            </a:r>
          </a:p>
        </p:txBody>
      </p:sp>
      <p:sp>
        <p:nvSpPr>
          <p:cNvPr id="63" name="TextBox 62"/>
          <p:cNvSpPr txBox="1"/>
          <p:nvPr/>
        </p:nvSpPr>
        <p:spPr>
          <a:xfrm>
            <a:off x="9006840" y="2157984"/>
            <a:ext cx="2587752" cy="420624"/>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blocks on the model output, not the user input</a:t>
            </a:r>
          </a:p>
        </p:txBody>
      </p:sp>
      <p:sp>
        <p:nvSpPr>
          <p:cNvPr id="64" name="Rectangle 63"/>
          <p:cNvSpPr/>
          <p:nvPr/>
        </p:nvSpPr>
        <p:spPr>
          <a:xfrm>
            <a:off x="7635240" y="2761488"/>
            <a:ext cx="4096512" cy="603504"/>
          </a:xfrm>
          <a:prstGeom prst="rect">
            <a:avLst/>
          </a:prstGeom>
          <a:solidFill>
            <a:srgbClr val="F6F8FD"/>
          </a:solidFill>
          <a:ln w="9525">
            <a:solidFill>
              <a:srgbClr val="E1E7F4"/>
            </a:solidFill>
          </a:ln>
          <a:effectLst/>
        </p:spPr>
        <p:txBody>
          <a:bodyPr wrap="square" rtlCol="0" anchor="ctr"/>
          <a:lstStyle/>
          <a:p>
            <a:endParaRPr/>
          </a:p>
        </p:txBody>
      </p:sp>
      <p:sp>
        <p:nvSpPr>
          <p:cNvPr id="65" name="TextBox 64"/>
          <p:cNvSpPr txBox="1"/>
          <p:nvPr/>
        </p:nvSpPr>
        <p:spPr>
          <a:xfrm>
            <a:off x="7799831" y="2871216"/>
            <a:ext cx="1188720" cy="384048"/>
          </a:xfrm>
          <a:prstGeom prst="rect">
            <a:avLst/>
          </a:prstGeom>
          <a:noFill/>
        </p:spPr>
        <p:txBody>
          <a:bodyPr wrap="square" lIns="0" tIns="0" rIns="0" bIns="0" anchor="ctr">
            <a:spAutoFit/>
          </a:bodyPr>
          <a:lstStyle/>
          <a:p>
            <a:pPr algn="l">
              <a:lnSpc>
                <a:spcPct val="100000"/>
              </a:lnSpc>
            </a:pPr>
            <a:r>
              <a:rPr sz="1500" b="1" i="0" dirty="0">
                <a:solidFill>
                  <a:srgbClr val="008173"/>
                </a:solidFill>
                <a:latin typeface="Segoe UI"/>
                <a:cs typeface="Segoe UI"/>
              </a:rPr>
              <a:t>49</a:t>
            </a:r>
          </a:p>
        </p:txBody>
      </p:sp>
      <p:sp>
        <p:nvSpPr>
          <p:cNvPr id="66" name="TextBox 65"/>
          <p:cNvSpPr txBox="1"/>
          <p:nvPr/>
        </p:nvSpPr>
        <p:spPr>
          <a:xfrm>
            <a:off x="9006840" y="2852928"/>
            <a:ext cx="2587752" cy="420624"/>
          </a:xfrm>
          <a:prstGeom prst="rect">
            <a:avLst/>
          </a:prstGeom>
          <a:noFill/>
        </p:spPr>
        <p:txBody>
          <a:bodyPr wrap="square" lIns="0" tIns="0" rIns="0" bIns="0" anchor="ctr">
            <a:spAutoFit/>
          </a:bodyPr>
          <a:lstStyle/>
          <a:p>
            <a:pPr algn="l">
              <a:lnSpc>
                <a:spcPct val="115000"/>
              </a:lnSpc>
            </a:pPr>
            <a:r>
              <a:rPr sz="850" b="0" i="0" dirty="0">
                <a:solidFill>
                  <a:srgbClr val="44495B"/>
                </a:solidFill>
                <a:latin typeface="Segoe UI"/>
                <a:cs typeface="Segoe UI"/>
              </a:rPr>
              <a:t>non-safe detections annotated without a block under MediumBlocking</a:t>
            </a:r>
          </a:p>
        </p:txBody>
      </p:sp>
      <p:sp>
        <p:nvSpPr>
          <p:cNvPr id="67" name="Rectangle 66"/>
          <p:cNvSpPr/>
          <p:nvPr/>
        </p:nvSpPr>
        <p:spPr>
          <a:xfrm>
            <a:off x="457200" y="3749039"/>
            <a:ext cx="2688336" cy="1463040"/>
          </a:xfrm>
          <a:prstGeom prst="rect">
            <a:avLst/>
          </a:prstGeom>
          <a:solidFill>
            <a:srgbClr val="F6F8FD"/>
          </a:solidFill>
          <a:ln w="9525">
            <a:solidFill>
              <a:srgbClr val="E1E7F4"/>
            </a:solidFill>
          </a:ln>
          <a:effectLst/>
        </p:spPr>
        <p:txBody>
          <a:bodyPr wrap="square" rtlCol="0" anchor="ctr"/>
          <a:lstStyle/>
          <a:p>
            <a:endParaRPr/>
          </a:p>
        </p:txBody>
      </p:sp>
      <p:sp>
        <p:nvSpPr>
          <p:cNvPr id="68" name="Oval 67"/>
          <p:cNvSpPr/>
          <p:nvPr/>
        </p:nvSpPr>
        <p:spPr>
          <a:xfrm>
            <a:off x="612648" y="3904487"/>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1</a:t>
            </a:r>
          </a:p>
        </p:txBody>
      </p:sp>
      <p:sp>
        <p:nvSpPr>
          <p:cNvPr id="69" name="TextBox 68"/>
          <p:cNvSpPr txBox="1"/>
          <p:nvPr/>
        </p:nvSpPr>
        <p:spPr>
          <a:xfrm>
            <a:off x="1024128" y="3931920"/>
            <a:ext cx="2002536" cy="219456"/>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Low severity only</a:t>
            </a:r>
          </a:p>
        </p:txBody>
      </p:sp>
      <p:sp>
        <p:nvSpPr>
          <p:cNvPr id="70" name="TextBox 69"/>
          <p:cNvSpPr txBox="1"/>
          <p:nvPr/>
        </p:nvSpPr>
        <p:spPr>
          <a:xfrm>
            <a:off x="640080" y="4352544"/>
            <a:ext cx="2368296" cy="731520"/>
          </a:xfrm>
          <a:prstGeom prst="rect">
            <a:avLst/>
          </a:prstGeom>
          <a:noFill/>
        </p:spPr>
        <p:txBody>
          <a:bodyPr wrap="square" lIns="0" tIns="0" rIns="0" bIns="0" anchor="t">
            <a:spAutoFit/>
          </a:bodyPr>
          <a:lstStyle/>
          <a:p>
            <a:pPr algn="l">
              <a:lnSpc>
                <a:spcPct val="118000"/>
              </a:lnSpc>
            </a:pPr>
            <a:r>
              <a:rPr sz="850" b="0" i="0" dirty="0">
                <a:solidFill>
                  <a:srgbClr val="44495B"/>
                </a:solidFill>
                <a:latin typeface="Segoe UI"/>
                <a:cs typeface="Segoe UI"/>
              </a:rPr>
              <a:t>Hate: five blocks, all low, none under</a:t>
            </a:r>
          </a:p>
          <a:p>
            <a:pPr algn="l">
              <a:lnSpc>
                <a:spcPct val="118000"/>
              </a:lnSpc>
            </a:pPr>
            <a:r>
              <a:rPr sz="850" b="0" i="0" dirty="0">
                <a:solidFill>
                  <a:srgbClr val="44495B"/>
                </a:solidFill>
                <a:latin typeface="Segoe UI"/>
                <a:cs typeface="Segoe UI"/>
              </a:rPr>
              <a:t>MediumBlocking — clearest candidate.</a:t>
            </a:r>
          </a:p>
        </p:txBody>
      </p:sp>
      <p:sp>
        <p:nvSpPr>
          <p:cNvPr id="71" name="Rectangle 70"/>
          <p:cNvSpPr/>
          <p:nvPr/>
        </p:nvSpPr>
        <p:spPr>
          <a:xfrm>
            <a:off x="3319272" y="3749039"/>
            <a:ext cx="2688336" cy="1463040"/>
          </a:xfrm>
          <a:prstGeom prst="rect">
            <a:avLst/>
          </a:prstGeom>
          <a:solidFill>
            <a:srgbClr val="F6F8FD"/>
          </a:solidFill>
          <a:ln w="9525">
            <a:solidFill>
              <a:srgbClr val="E1E7F4"/>
            </a:solidFill>
          </a:ln>
          <a:effectLst/>
        </p:spPr>
        <p:txBody>
          <a:bodyPr wrap="square" rtlCol="0" anchor="ctr"/>
          <a:lstStyle/>
          <a:p>
            <a:endParaRPr/>
          </a:p>
        </p:txBody>
      </p:sp>
      <p:sp>
        <p:nvSpPr>
          <p:cNvPr id="72" name="Oval 71"/>
          <p:cNvSpPr/>
          <p:nvPr/>
        </p:nvSpPr>
        <p:spPr>
          <a:xfrm>
            <a:off x="3474720" y="3904487"/>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2</a:t>
            </a:r>
          </a:p>
        </p:txBody>
      </p:sp>
      <p:sp>
        <p:nvSpPr>
          <p:cNvPr id="73" name="TextBox 72"/>
          <p:cNvSpPr txBox="1"/>
          <p:nvPr/>
        </p:nvSpPr>
        <p:spPr>
          <a:xfrm>
            <a:off x="3886200" y="3931920"/>
            <a:ext cx="2002536" cy="219456"/>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Persistent high severity</a:t>
            </a:r>
          </a:p>
        </p:txBody>
      </p:sp>
      <p:sp>
        <p:nvSpPr>
          <p:cNvPr id="74" name="TextBox 73"/>
          <p:cNvSpPr txBox="1"/>
          <p:nvPr/>
        </p:nvSpPr>
        <p:spPr>
          <a:xfrm>
            <a:off x="3502152" y="4352544"/>
            <a:ext cx="2368296" cy="731520"/>
          </a:xfrm>
          <a:prstGeom prst="rect">
            <a:avLst/>
          </a:prstGeom>
          <a:noFill/>
        </p:spPr>
        <p:txBody>
          <a:bodyPr wrap="square" lIns="0" tIns="0" rIns="0" bIns="0" anchor="t">
            <a:spAutoFit/>
          </a:bodyPr>
          <a:lstStyle/>
          <a:p>
            <a:pPr algn="l">
              <a:lnSpc>
                <a:spcPct val="118000"/>
              </a:lnSpc>
            </a:pPr>
            <a:r>
              <a:rPr sz="850" b="0" i="0" dirty="0">
                <a:solidFill>
                  <a:srgbClr val="44495B"/>
                </a:solidFill>
                <a:latin typeface="Segoe UI"/>
                <a:cs typeface="Segoe UI"/>
              </a:rPr>
              <a:t>Sexual: twelve high-severity blocks that</a:t>
            </a:r>
          </a:p>
          <a:p>
            <a:pPr algn="l">
              <a:lnSpc>
                <a:spcPct val="118000"/>
              </a:lnSpc>
            </a:pPr>
            <a:r>
              <a:rPr sz="850" b="0" i="0" dirty="0">
                <a:solidFill>
                  <a:srgbClr val="44495B"/>
                </a:solidFill>
                <a:latin typeface="Segoe UI"/>
                <a:cs typeface="Segoe UI"/>
              </a:rPr>
              <a:t>remain under MediumBlocking.</a:t>
            </a:r>
          </a:p>
        </p:txBody>
      </p:sp>
      <p:sp>
        <p:nvSpPr>
          <p:cNvPr id="75" name="Rectangle 74"/>
          <p:cNvSpPr/>
          <p:nvPr/>
        </p:nvSpPr>
        <p:spPr>
          <a:xfrm>
            <a:off x="6181344" y="3749039"/>
            <a:ext cx="2688336" cy="1463040"/>
          </a:xfrm>
          <a:prstGeom prst="rect">
            <a:avLst/>
          </a:prstGeom>
          <a:solidFill>
            <a:srgbClr val="F6F8FD"/>
          </a:solidFill>
          <a:ln w="9525">
            <a:solidFill>
              <a:srgbClr val="E1E7F4"/>
            </a:solidFill>
          </a:ln>
          <a:effectLst/>
        </p:spPr>
        <p:txBody>
          <a:bodyPr wrap="square" rtlCol="0" anchor="ctr"/>
          <a:lstStyle/>
          <a:p>
            <a:endParaRPr/>
          </a:p>
        </p:txBody>
      </p:sp>
      <p:sp>
        <p:nvSpPr>
          <p:cNvPr id="76" name="Oval 75"/>
          <p:cNvSpPr/>
          <p:nvPr/>
        </p:nvSpPr>
        <p:spPr>
          <a:xfrm>
            <a:off x="6336792" y="3904487"/>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3</a:t>
            </a:r>
          </a:p>
        </p:txBody>
      </p:sp>
      <p:sp>
        <p:nvSpPr>
          <p:cNvPr id="77" name="TextBox 76"/>
          <p:cNvSpPr txBox="1"/>
          <p:nvPr/>
        </p:nvSpPr>
        <p:spPr>
          <a:xfrm>
            <a:off x="6748272" y="3931920"/>
            <a:ext cx="2002536" cy="219456"/>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Largest share</a:t>
            </a:r>
          </a:p>
        </p:txBody>
      </p:sp>
      <p:sp>
        <p:nvSpPr>
          <p:cNvPr id="78" name="TextBox 77"/>
          <p:cNvSpPr txBox="1"/>
          <p:nvPr/>
        </p:nvSpPr>
        <p:spPr>
          <a:xfrm>
            <a:off x="6364224" y="4352544"/>
            <a:ext cx="2368296" cy="731520"/>
          </a:xfrm>
          <a:prstGeom prst="rect">
            <a:avLst/>
          </a:prstGeom>
          <a:noFill/>
        </p:spPr>
        <p:txBody>
          <a:bodyPr wrap="square" lIns="0" tIns="0" rIns="0" bIns="0" anchor="t">
            <a:spAutoFit/>
          </a:bodyPr>
          <a:lstStyle/>
          <a:p>
            <a:pPr algn="l">
              <a:lnSpc>
                <a:spcPct val="118000"/>
              </a:lnSpc>
            </a:pPr>
            <a:r>
              <a:rPr sz="850" b="0" i="0" dirty="0">
                <a:solidFill>
                  <a:srgbClr val="44495B"/>
                </a:solidFill>
                <a:latin typeface="Segoe UI"/>
                <a:cs typeface="Segoe UI"/>
              </a:rPr>
              <a:t>Self-harm: 33 of 62 blocks, 26 at low</a:t>
            </a:r>
          </a:p>
          <a:p>
            <a:pPr algn="l">
              <a:lnSpc>
                <a:spcPct val="118000"/>
              </a:lnSpc>
            </a:pPr>
            <a:r>
              <a:rPr sz="850" b="0" i="0" dirty="0">
                <a:solidFill>
                  <a:srgbClr val="44495B"/>
                </a:solidFill>
                <a:latin typeface="Segoe UI"/>
                <a:cs typeface="Segoe UI"/>
              </a:rPr>
              <a:t>severity — largest effect of a change.</a:t>
            </a:r>
          </a:p>
        </p:txBody>
      </p:sp>
      <p:sp>
        <p:nvSpPr>
          <p:cNvPr id="79" name="Rectangle 78"/>
          <p:cNvSpPr/>
          <p:nvPr/>
        </p:nvSpPr>
        <p:spPr>
          <a:xfrm>
            <a:off x="9043416" y="3749039"/>
            <a:ext cx="2688336" cy="1463040"/>
          </a:xfrm>
          <a:prstGeom prst="rect">
            <a:avLst/>
          </a:prstGeom>
          <a:solidFill>
            <a:srgbClr val="F6F8FD"/>
          </a:solidFill>
          <a:ln w="9525">
            <a:solidFill>
              <a:srgbClr val="E1E7F4"/>
            </a:solidFill>
          </a:ln>
          <a:effectLst/>
        </p:spPr>
        <p:txBody>
          <a:bodyPr wrap="square" rtlCol="0" anchor="ctr"/>
          <a:lstStyle/>
          <a:p>
            <a:endParaRPr/>
          </a:p>
        </p:txBody>
      </p:sp>
      <p:sp>
        <p:nvSpPr>
          <p:cNvPr id="80" name="Oval 79"/>
          <p:cNvSpPr/>
          <p:nvPr/>
        </p:nvSpPr>
        <p:spPr>
          <a:xfrm>
            <a:off x="9198864" y="3904487"/>
            <a:ext cx="274320" cy="274320"/>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00" b="1" i="0" dirty="0">
                <a:solidFill>
                  <a:srgbClr val="FFFFFF"/>
                </a:solidFill>
                <a:latin typeface="Segoe UI"/>
                <a:cs typeface="Segoe UI"/>
              </a:rPr>
              <a:t>4</a:t>
            </a:r>
          </a:p>
        </p:txBody>
      </p:sp>
      <p:sp>
        <p:nvSpPr>
          <p:cNvPr id="81" name="TextBox 80"/>
          <p:cNvSpPr txBox="1"/>
          <p:nvPr/>
        </p:nvSpPr>
        <p:spPr>
          <a:xfrm>
            <a:off x="9610344" y="3931920"/>
            <a:ext cx="2002536" cy="219456"/>
          </a:xfrm>
          <a:prstGeom prst="rect">
            <a:avLst/>
          </a:prstGeom>
          <a:noFill/>
        </p:spPr>
        <p:txBody>
          <a:bodyPr wrap="square" lIns="0" tIns="0" rIns="0" bIns="0" anchor="t">
            <a:spAutoFit/>
          </a:bodyPr>
          <a:lstStyle/>
          <a:p>
            <a:pPr algn="l">
              <a:lnSpc>
                <a:spcPct val="100000"/>
              </a:lnSpc>
            </a:pPr>
            <a:r>
              <a:rPr sz="950" b="1" i="0" dirty="0">
                <a:solidFill>
                  <a:srgbClr val="101A3C"/>
                </a:solidFill>
                <a:latin typeface="Segoe UI"/>
                <a:cs typeface="Segoe UI"/>
              </a:rPr>
              <a:t>One change at a time</a:t>
            </a:r>
          </a:p>
        </p:txBody>
      </p:sp>
      <p:sp>
        <p:nvSpPr>
          <p:cNvPr id="82" name="TextBox 81"/>
          <p:cNvSpPr txBox="1"/>
          <p:nvPr/>
        </p:nvSpPr>
        <p:spPr>
          <a:xfrm>
            <a:off x="9226296" y="4352544"/>
            <a:ext cx="2368296" cy="731520"/>
          </a:xfrm>
          <a:prstGeom prst="rect">
            <a:avLst/>
          </a:prstGeom>
          <a:noFill/>
        </p:spPr>
        <p:txBody>
          <a:bodyPr wrap="square" lIns="0" tIns="0" rIns="0" bIns="0" anchor="t">
            <a:spAutoFit/>
          </a:bodyPr>
          <a:lstStyle/>
          <a:p>
            <a:pPr algn="l">
              <a:lnSpc>
                <a:spcPct val="118000"/>
              </a:lnSpc>
            </a:pPr>
            <a:r>
              <a:rPr sz="850" b="0" i="0" dirty="0">
                <a:solidFill>
                  <a:srgbClr val="44495B"/>
                </a:solidFill>
                <a:latin typeface="Segoe UI"/>
                <a:cs typeface="Segoe UI"/>
              </a:rPr>
              <a:t>One category at one checkpoint; all</a:t>
            </a:r>
          </a:p>
          <a:p>
            <a:pPr algn="l">
              <a:lnSpc>
                <a:spcPct val="118000"/>
              </a:lnSpc>
            </a:pPr>
            <a:r>
              <a:rPr sz="850" b="0" i="0" dirty="0">
                <a:solidFill>
                  <a:srgbClr val="44495B"/>
                </a:solidFill>
                <a:latin typeface="Segoe UI"/>
                <a:cs typeface="Segoe UI"/>
              </a:rPr>
              <a:t>other thresholds held fixed.</a:t>
            </a:r>
          </a:p>
        </p:txBody>
      </p:sp>
      <p:sp>
        <p:nvSpPr>
          <p:cNvPr id="83" name="Rectangle 82"/>
          <p:cNvSpPr/>
          <p:nvPr/>
        </p:nvSpPr>
        <p:spPr>
          <a:xfrm>
            <a:off x="457200" y="5303520"/>
            <a:ext cx="11277295" cy="347472"/>
          </a:xfrm>
          <a:prstGeom prst="rect">
            <a:avLst/>
          </a:prstGeom>
          <a:solidFill>
            <a:srgbClr val="EBEFF7"/>
          </a:solidFill>
          <a:ln>
            <a:noFill/>
          </a:ln>
          <a:effectLst/>
        </p:spPr>
        <p:txBody>
          <a:bodyPr wrap="square" rtlCol="0" anchor="ctr"/>
          <a:lstStyle/>
          <a:p>
            <a:endParaRPr/>
          </a:p>
        </p:txBody>
      </p:sp>
      <p:sp>
        <p:nvSpPr>
          <p:cNvPr id="84" name="Rectangle 83"/>
          <p:cNvSpPr/>
          <p:nvPr/>
        </p:nvSpPr>
        <p:spPr>
          <a:xfrm>
            <a:off x="457200" y="5303520"/>
            <a:ext cx="41148" cy="347472"/>
          </a:xfrm>
          <a:prstGeom prst="rect">
            <a:avLst/>
          </a:prstGeom>
          <a:solidFill>
            <a:srgbClr val="00B39F"/>
          </a:solidFill>
          <a:ln>
            <a:noFill/>
          </a:ln>
          <a:effectLst/>
        </p:spPr>
        <p:txBody>
          <a:bodyPr wrap="square" rtlCol="0" anchor="ctr"/>
          <a:lstStyle/>
          <a:p>
            <a:endParaRPr/>
          </a:p>
        </p:txBody>
      </p:sp>
      <p:sp>
        <p:nvSpPr>
          <p:cNvPr id="85" name="TextBox 84"/>
          <p:cNvSpPr txBox="1"/>
          <p:nvPr/>
        </p:nvSpPr>
        <p:spPr>
          <a:xfrm>
            <a:off x="694944" y="5404104"/>
            <a:ext cx="10856671" cy="164592"/>
          </a:xfrm>
          <a:prstGeom prst="rect">
            <a:avLst/>
          </a:prstGeom>
          <a:noFill/>
        </p:spPr>
        <p:txBody>
          <a:bodyPr wrap="square" lIns="0" tIns="0" rIns="0" bIns="0" anchor="t">
            <a:spAutoFit/>
          </a:bodyPr>
          <a:lstStyle/>
          <a:p>
            <a:pPr algn="l">
              <a:lnSpc>
                <a:spcPct val="120000"/>
              </a:lnSpc>
            </a:pPr>
            <a:r>
              <a:rPr sz="900" b="0" i="0" dirty="0">
                <a:solidFill>
                  <a:srgbClr val="101A3C"/>
                </a:solidFill>
                <a:latin typeface="Segoe UI"/>
                <a:cs typeface="Segoe UI"/>
              </a:rPr>
              <a:t>A per-category change can be attributed; a change to all categories at once cannot.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TUNING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Tuning guidance and limitations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Least restrictive setting that keeps measured risk within what the workload accepts, confirmed by both layers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learn.microsoft.com/azure/foundry/guardrails/how-to-create-guardrails · foundry-content-safety-eval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13</a:t>
            </a:r>
          </a:p>
        </p:txBody>
      </p:sp>
      <p:sp>
        <p:nvSpPr>
          <p:cNvPr id="7" name="Rectangle 6"/>
          <p:cNvSpPr/>
          <p:nvPr/>
        </p:nvSpPr>
        <p:spPr>
          <a:xfrm>
            <a:off x="457200" y="1371600"/>
            <a:ext cx="7269480" cy="713232"/>
          </a:xfrm>
          <a:prstGeom prst="rect">
            <a:avLst/>
          </a:prstGeom>
          <a:solidFill>
            <a:srgbClr val="F6F8FD"/>
          </a:solidFill>
          <a:ln w="9525">
            <a:solidFill>
              <a:srgbClr val="E1E7F4"/>
            </a:solidFill>
          </a:ln>
          <a:effectLst/>
        </p:spPr>
        <p:txBody>
          <a:bodyPr wrap="square" rtlCol="0" anchor="ctr"/>
          <a:lstStyle/>
          <a:p>
            <a:endParaRPr/>
          </a:p>
        </p:txBody>
      </p:sp>
      <p:sp>
        <p:nvSpPr>
          <p:cNvPr id="8" name="Oval 7"/>
          <p:cNvSpPr/>
          <p:nvPr/>
        </p:nvSpPr>
        <p:spPr>
          <a:xfrm>
            <a:off x="621792" y="1581912"/>
            <a:ext cx="292608" cy="29260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50" b="1" i="0" dirty="0">
                <a:solidFill>
                  <a:srgbClr val="FFFFFF"/>
                </a:solidFill>
                <a:latin typeface="Segoe UI"/>
                <a:cs typeface="Segoe UI"/>
              </a:rPr>
              <a:t>1</a:t>
            </a:r>
          </a:p>
        </p:txBody>
      </p:sp>
      <p:sp>
        <p:nvSpPr>
          <p:cNvPr id="9" name="TextBox 8"/>
          <p:cNvSpPr txBox="1"/>
          <p:nvPr/>
        </p:nvSpPr>
        <p:spPr>
          <a:xfrm>
            <a:off x="1115568" y="1481328"/>
            <a:ext cx="6400800" cy="201168"/>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Measured baseline</a:t>
            </a:r>
          </a:p>
        </p:txBody>
      </p:sp>
      <p:sp>
        <p:nvSpPr>
          <p:cNvPr id="10" name="TextBox 9"/>
          <p:cNvSpPr txBox="1"/>
          <p:nvPr/>
        </p:nvSpPr>
        <p:spPr>
          <a:xfrm>
            <a:off x="1115568" y="1709928"/>
            <a:ext cx="6492240" cy="347472"/>
          </a:xfrm>
          <a:prstGeom prst="rect">
            <a:avLst/>
          </a:prstGeom>
          <a:noFill/>
        </p:spPr>
        <p:txBody>
          <a:bodyPr wrap="square" lIns="0" tIns="0" rIns="0" bIns="0" anchor="t">
            <a:spAutoFit/>
          </a:bodyPr>
          <a:lstStyle/>
          <a:p>
            <a:pPr algn="l">
              <a:lnSpc>
                <a:spcPct val="115000"/>
              </a:lnSpc>
            </a:pPr>
            <a:r>
              <a:rPr sz="850" b="0" i="0" dirty="0">
                <a:solidFill>
                  <a:srgbClr val="44495B"/>
                </a:solidFill>
                <a:latin typeface="Segoe UI"/>
                <a:cs typeface="Segoe UI"/>
              </a:rPr>
              <a:t>MediumBlocking: 16 of 266 blocked against 62; failed evaluations 28 against 30.</a:t>
            </a:r>
          </a:p>
        </p:txBody>
      </p:sp>
      <p:sp>
        <p:nvSpPr>
          <p:cNvPr id="11" name="Rectangle 10"/>
          <p:cNvSpPr/>
          <p:nvPr/>
        </p:nvSpPr>
        <p:spPr>
          <a:xfrm>
            <a:off x="457200" y="2180844"/>
            <a:ext cx="7269480" cy="713232"/>
          </a:xfrm>
          <a:prstGeom prst="rect">
            <a:avLst/>
          </a:prstGeom>
          <a:solidFill>
            <a:srgbClr val="F6F8FD"/>
          </a:solidFill>
          <a:ln w="9525">
            <a:solidFill>
              <a:srgbClr val="E1E7F4"/>
            </a:solidFill>
          </a:ln>
          <a:effectLst/>
        </p:spPr>
        <p:txBody>
          <a:bodyPr wrap="square" rtlCol="0" anchor="ctr"/>
          <a:lstStyle/>
          <a:p>
            <a:endParaRPr/>
          </a:p>
        </p:txBody>
      </p:sp>
      <p:sp>
        <p:nvSpPr>
          <p:cNvPr id="12" name="Oval 11"/>
          <p:cNvSpPr/>
          <p:nvPr/>
        </p:nvSpPr>
        <p:spPr>
          <a:xfrm>
            <a:off x="621792" y="2391156"/>
            <a:ext cx="292608" cy="29260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50" b="1" i="0" dirty="0">
                <a:solidFill>
                  <a:srgbClr val="FFFFFF"/>
                </a:solidFill>
                <a:latin typeface="Segoe UI"/>
                <a:cs typeface="Segoe UI"/>
              </a:rPr>
              <a:t>2</a:t>
            </a:r>
          </a:p>
        </p:txBody>
      </p:sp>
      <p:sp>
        <p:nvSpPr>
          <p:cNvPr id="13" name="TextBox 12"/>
          <p:cNvSpPr txBox="1"/>
          <p:nvPr/>
        </p:nvSpPr>
        <p:spPr>
          <a:xfrm>
            <a:off x="1115568" y="2290572"/>
            <a:ext cx="6400800" cy="201168"/>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One category at a time</a:t>
            </a:r>
          </a:p>
        </p:txBody>
      </p:sp>
      <p:sp>
        <p:nvSpPr>
          <p:cNvPr id="14" name="TextBox 13"/>
          <p:cNvSpPr txBox="1"/>
          <p:nvPr/>
        </p:nvSpPr>
        <p:spPr>
          <a:xfrm>
            <a:off x="1115568" y="2519172"/>
            <a:ext cx="6492240" cy="347472"/>
          </a:xfrm>
          <a:prstGeom prst="rect">
            <a:avLst/>
          </a:prstGeom>
          <a:noFill/>
        </p:spPr>
        <p:txBody>
          <a:bodyPr wrap="square" lIns="0" tIns="0" rIns="0" bIns="0" anchor="t">
            <a:spAutoFit/>
          </a:bodyPr>
          <a:lstStyle/>
          <a:p>
            <a:pPr algn="l">
              <a:lnSpc>
                <a:spcPct val="115000"/>
              </a:lnSpc>
            </a:pPr>
            <a:r>
              <a:rPr sz="850" b="0" i="0" dirty="0">
                <a:solidFill>
                  <a:srgbClr val="44495B"/>
                </a:solidFill>
                <a:latin typeface="Segoe UI"/>
                <a:cs typeface="Segoe UI"/>
              </a:rPr>
              <a:t>Self-harm and hate: 38 of 62 blocks under HighestBlocking, 31 at low severity.</a:t>
            </a:r>
          </a:p>
        </p:txBody>
      </p:sp>
      <p:sp>
        <p:nvSpPr>
          <p:cNvPr id="15" name="Rectangle 14"/>
          <p:cNvSpPr/>
          <p:nvPr/>
        </p:nvSpPr>
        <p:spPr>
          <a:xfrm>
            <a:off x="457200" y="2990087"/>
            <a:ext cx="7269480" cy="713232"/>
          </a:xfrm>
          <a:prstGeom prst="rect">
            <a:avLst/>
          </a:prstGeom>
          <a:solidFill>
            <a:srgbClr val="F6F8FD"/>
          </a:solidFill>
          <a:ln w="9525">
            <a:solidFill>
              <a:srgbClr val="E1E7F4"/>
            </a:solidFill>
          </a:ln>
          <a:effectLst/>
        </p:spPr>
        <p:txBody>
          <a:bodyPr wrap="square" rtlCol="0" anchor="ctr"/>
          <a:lstStyle/>
          <a:p>
            <a:endParaRPr/>
          </a:p>
        </p:txBody>
      </p:sp>
      <p:sp>
        <p:nvSpPr>
          <p:cNvPr id="16" name="Oval 15"/>
          <p:cNvSpPr/>
          <p:nvPr/>
        </p:nvSpPr>
        <p:spPr>
          <a:xfrm>
            <a:off x="621792" y="3200399"/>
            <a:ext cx="292608" cy="29260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50" b="1" i="0" dirty="0">
                <a:solidFill>
                  <a:srgbClr val="FFFFFF"/>
                </a:solidFill>
                <a:latin typeface="Segoe UI"/>
                <a:cs typeface="Segoe UI"/>
              </a:rPr>
              <a:t>3</a:t>
            </a:r>
          </a:p>
        </p:txBody>
      </p:sp>
      <p:sp>
        <p:nvSpPr>
          <p:cNvPr id="17" name="TextBox 16"/>
          <p:cNvSpPr txBox="1"/>
          <p:nvPr/>
        </p:nvSpPr>
        <p:spPr>
          <a:xfrm>
            <a:off x="1115568" y="3099815"/>
            <a:ext cx="6400800" cy="201168"/>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Annotate-only measurement</a:t>
            </a:r>
          </a:p>
        </p:txBody>
      </p:sp>
      <p:sp>
        <p:nvSpPr>
          <p:cNvPr id="18" name="TextBox 17"/>
          <p:cNvSpPr txBox="1"/>
          <p:nvPr/>
        </p:nvSpPr>
        <p:spPr>
          <a:xfrm>
            <a:off x="1115568" y="3328415"/>
            <a:ext cx="6492240" cy="347472"/>
          </a:xfrm>
          <a:prstGeom prst="rect">
            <a:avLst/>
          </a:prstGeom>
          <a:noFill/>
        </p:spPr>
        <p:txBody>
          <a:bodyPr wrap="square" lIns="0" tIns="0" rIns="0" bIns="0" anchor="t">
            <a:spAutoFit/>
          </a:bodyPr>
          <a:lstStyle/>
          <a:p>
            <a:pPr algn="l">
              <a:lnSpc>
                <a:spcPct val="115000"/>
              </a:lnSpc>
            </a:pPr>
            <a:r>
              <a:rPr sz="850" b="0" i="0" dirty="0">
                <a:solidFill>
                  <a:srgbClr val="44495B"/>
                </a:solidFill>
                <a:latin typeface="Segoe UI"/>
                <a:cs typeface="Segoe UI"/>
              </a:rPr>
              <a:t>Annotations without blocking show what a setting would stop; approval may apply.</a:t>
            </a:r>
          </a:p>
        </p:txBody>
      </p:sp>
      <p:sp>
        <p:nvSpPr>
          <p:cNvPr id="19" name="Rectangle 18"/>
          <p:cNvSpPr/>
          <p:nvPr/>
        </p:nvSpPr>
        <p:spPr>
          <a:xfrm>
            <a:off x="457200" y="3799331"/>
            <a:ext cx="7269480" cy="713232"/>
          </a:xfrm>
          <a:prstGeom prst="rect">
            <a:avLst/>
          </a:prstGeom>
          <a:solidFill>
            <a:srgbClr val="F6F8FD"/>
          </a:solidFill>
          <a:ln w="9525">
            <a:solidFill>
              <a:srgbClr val="E1E7F4"/>
            </a:solidFill>
          </a:ln>
          <a:effectLst/>
        </p:spPr>
        <p:txBody>
          <a:bodyPr wrap="square" rtlCol="0" anchor="ctr"/>
          <a:lstStyle/>
          <a:p>
            <a:endParaRPr/>
          </a:p>
        </p:txBody>
      </p:sp>
      <p:sp>
        <p:nvSpPr>
          <p:cNvPr id="20" name="Oval 19"/>
          <p:cNvSpPr/>
          <p:nvPr/>
        </p:nvSpPr>
        <p:spPr>
          <a:xfrm>
            <a:off x="621792" y="4009643"/>
            <a:ext cx="292608" cy="29260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50" b="1" i="0" dirty="0">
                <a:solidFill>
                  <a:srgbClr val="FFFFFF"/>
                </a:solidFill>
                <a:latin typeface="Segoe UI"/>
                <a:cs typeface="Segoe UI"/>
              </a:rPr>
              <a:t>4</a:t>
            </a:r>
          </a:p>
        </p:txBody>
      </p:sp>
      <p:sp>
        <p:nvSpPr>
          <p:cNvPr id="21" name="TextBox 20"/>
          <p:cNvSpPr txBox="1"/>
          <p:nvPr/>
        </p:nvSpPr>
        <p:spPr>
          <a:xfrm>
            <a:off x="1115568" y="3909059"/>
            <a:ext cx="6400800" cy="201168"/>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Configuration record</a:t>
            </a:r>
          </a:p>
        </p:txBody>
      </p:sp>
      <p:sp>
        <p:nvSpPr>
          <p:cNvPr id="22" name="TextBox 21"/>
          <p:cNvSpPr txBox="1"/>
          <p:nvPr/>
        </p:nvSpPr>
        <p:spPr>
          <a:xfrm>
            <a:off x="1115568" y="4137659"/>
            <a:ext cx="6492240" cy="347472"/>
          </a:xfrm>
          <a:prstGeom prst="rect">
            <a:avLst/>
          </a:prstGeom>
          <a:noFill/>
        </p:spPr>
        <p:txBody>
          <a:bodyPr wrap="square" lIns="0" tIns="0" rIns="0" bIns="0" anchor="t">
            <a:spAutoFit/>
          </a:bodyPr>
          <a:lstStyle/>
          <a:p>
            <a:pPr algn="l">
              <a:lnSpc>
                <a:spcPct val="115000"/>
              </a:lnSpc>
            </a:pPr>
            <a:r>
              <a:rPr sz="850" b="0" i="0" dirty="0">
                <a:solidFill>
                  <a:srgbClr val="44495B"/>
                </a:solidFill>
                <a:latin typeface="Segoe UI"/>
                <a:cs typeface="Segoe UI"/>
              </a:rPr>
              <a:t>Guardrail name, thresholds per category and checkpoint, evaluator threshold,</a:t>
            </a:r>
          </a:p>
          <a:p>
            <a:pPr algn="l">
              <a:lnSpc>
                <a:spcPct val="115000"/>
              </a:lnSpc>
            </a:pPr>
            <a:r>
              <a:rPr sz="850" b="0" i="0" dirty="0">
                <a:solidFill>
                  <a:srgbClr val="44495B"/>
                </a:solidFill>
                <a:latin typeface="Segoe UI"/>
                <a:cs typeface="Segoe UI"/>
              </a:rPr>
              <a:t>dataset version, deployment and run date.</a:t>
            </a:r>
          </a:p>
        </p:txBody>
      </p:sp>
      <p:sp>
        <p:nvSpPr>
          <p:cNvPr id="23" name="Rectangle 22"/>
          <p:cNvSpPr/>
          <p:nvPr/>
        </p:nvSpPr>
        <p:spPr>
          <a:xfrm>
            <a:off x="457200" y="4608575"/>
            <a:ext cx="7269480" cy="713232"/>
          </a:xfrm>
          <a:prstGeom prst="rect">
            <a:avLst/>
          </a:prstGeom>
          <a:solidFill>
            <a:srgbClr val="F6F8FD"/>
          </a:solidFill>
          <a:ln w="9525">
            <a:solidFill>
              <a:srgbClr val="E1E7F4"/>
            </a:solidFill>
          </a:ln>
          <a:effectLst/>
        </p:spPr>
        <p:txBody>
          <a:bodyPr wrap="square" rtlCol="0" anchor="ctr"/>
          <a:lstStyle/>
          <a:p>
            <a:endParaRPr/>
          </a:p>
        </p:txBody>
      </p:sp>
      <p:sp>
        <p:nvSpPr>
          <p:cNvPr id="24" name="Oval 23"/>
          <p:cNvSpPr/>
          <p:nvPr/>
        </p:nvSpPr>
        <p:spPr>
          <a:xfrm>
            <a:off x="621792" y="4818887"/>
            <a:ext cx="292608" cy="29260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950" b="1" i="0" dirty="0">
                <a:solidFill>
                  <a:srgbClr val="FFFFFF"/>
                </a:solidFill>
                <a:latin typeface="Segoe UI"/>
                <a:cs typeface="Segoe UI"/>
              </a:rPr>
              <a:t>5</a:t>
            </a:r>
          </a:p>
        </p:txBody>
      </p:sp>
      <p:sp>
        <p:nvSpPr>
          <p:cNvPr id="25" name="TextBox 24"/>
          <p:cNvSpPr txBox="1"/>
          <p:nvPr/>
        </p:nvSpPr>
        <p:spPr>
          <a:xfrm>
            <a:off x="1115568" y="4718303"/>
            <a:ext cx="6400800" cy="201168"/>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Same question set after each change</a:t>
            </a:r>
          </a:p>
        </p:txBody>
      </p:sp>
      <p:sp>
        <p:nvSpPr>
          <p:cNvPr id="26" name="TextBox 25"/>
          <p:cNvSpPr txBox="1"/>
          <p:nvPr/>
        </p:nvSpPr>
        <p:spPr>
          <a:xfrm>
            <a:off x="1115568" y="4946903"/>
            <a:ext cx="6492240" cy="347472"/>
          </a:xfrm>
          <a:prstGeom prst="rect">
            <a:avLst/>
          </a:prstGeom>
          <a:noFill/>
        </p:spPr>
        <p:txBody>
          <a:bodyPr wrap="square" lIns="0" tIns="0" rIns="0" bIns="0" anchor="t">
            <a:spAutoFit/>
          </a:bodyPr>
          <a:lstStyle/>
          <a:p>
            <a:pPr algn="l">
              <a:lnSpc>
                <a:spcPct val="115000"/>
              </a:lnSpc>
            </a:pPr>
            <a:r>
              <a:rPr sz="850" b="0" i="0" dirty="0">
                <a:solidFill>
                  <a:srgbClr val="44495B"/>
                </a:solidFill>
                <a:latin typeface="Segoe UI"/>
                <a:cs typeface="Segoe UI"/>
              </a:rPr>
              <a:t>Results from different question sets or dataset versions are not comparable.</a:t>
            </a:r>
          </a:p>
        </p:txBody>
      </p:sp>
      <p:sp>
        <p:nvSpPr>
          <p:cNvPr id="27" name="Rectangle 26"/>
          <p:cNvSpPr/>
          <p:nvPr/>
        </p:nvSpPr>
        <p:spPr>
          <a:xfrm>
            <a:off x="8001000" y="1371600"/>
            <a:ext cx="3730752" cy="3950208"/>
          </a:xfrm>
          <a:prstGeom prst="rect">
            <a:avLst/>
          </a:prstGeom>
          <a:solidFill>
            <a:srgbClr val="0B1229"/>
          </a:solidFill>
          <a:ln>
            <a:noFill/>
          </a:ln>
          <a:effectLst/>
        </p:spPr>
        <p:txBody>
          <a:bodyPr wrap="square" rtlCol="0" anchor="ctr"/>
          <a:lstStyle/>
          <a:p>
            <a:endParaRPr/>
          </a:p>
        </p:txBody>
      </p:sp>
      <p:sp>
        <p:nvSpPr>
          <p:cNvPr id="28" name="TextBox 27"/>
          <p:cNvSpPr txBox="1"/>
          <p:nvPr/>
        </p:nvSpPr>
        <p:spPr>
          <a:xfrm>
            <a:off x="8229600" y="1536192"/>
            <a:ext cx="3273552" cy="182880"/>
          </a:xfrm>
          <a:prstGeom prst="rect">
            <a:avLst/>
          </a:prstGeom>
          <a:noFill/>
        </p:spPr>
        <p:txBody>
          <a:bodyPr wrap="square" lIns="0" tIns="0" rIns="0" bIns="0" anchor="t">
            <a:spAutoFit/>
          </a:bodyPr>
          <a:lstStyle/>
          <a:p>
            <a:pPr algn="l">
              <a:lnSpc>
                <a:spcPct val="100000"/>
              </a:lnSpc>
            </a:pPr>
            <a:r>
              <a:rPr sz="800" b="1" i="0" spc="120" dirty="0">
                <a:solidFill>
                  <a:srgbClr val="00B39F"/>
                </a:solidFill>
                <a:latin typeface="Segoe UI"/>
                <a:cs typeface="Segoe UI"/>
              </a:rPr>
              <a:t>LIMITATIONS OF THESE RESULTS</a:t>
            </a:r>
          </a:p>
        </p:txBody>
      </p:sp>
      <p:sp>
        <p:nvSpPr>
          <p:cNvPr id="29" name="TextBox 28"/>
          <p:cNvSpPr txBox="1"/>
          <p:nvPr/>
        </p:nvSpPr>
        <p:spPr>
          <a:xfrm>
            <a:off x="8229600" y="1874519"/>
            <a:ext cx="3273552"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Synthetic data</a:t>
            </a:r>
          </a:p>
        </p:txBody>
      </p:sp>
      <p:sp>
        <p:nvSpPr>
          <p:cNvPr id="30" name="TextBox 29"/>
          <p:cNvSpPr txBox="1"/>
          <p:nvPr/>
        </p:nvSpPr>
        <p:spPr>
          <a:xfrm>
            <a:off x="8229600" y="2103120"/>
            <a:ext cx="3273552" cy="548640"/>
          </a:xfrm>
          <a:prstGeom prst="rect">
            <a:avLst/>
          </a:prstGeom>
          <a:noFill/>
        </p:spPr>
        <p:txBody>
          <a:bodyPr wrap="square" lIns="0" tIns="0" rIns="0" bIns="0" anchor="t">
            <a:spAutoFit/>
          </a:bodyPr>
          <a:lstStyle/>
          <a:p>
            <a:pPr algn="l">
              <a:lnSpc>
                <a:spcPct val="118000"/>
              </a:lnSpc>
            </a:pPr>
            <a:r>
              <a:rPr sz="850" b="0" i="0" dirty="0">
                <a:solidFill>
                  <a:srgbClr val="B9C2D6"/>
                </a:solidFill>
                <a:latin typeface="Segoe UI"/>
                <a:cs typeface="Segoe UI"/>
              </a:rPr>
              <a:t>Questions and answers need human review before they drive a configuration decision.</a:t>
            </a:r>
          </a:p>
        </p:txBody>
      </p:sp>
      <p:sp>
        <p:nvSpPr>
          <p:cNvPr id="31" name="TextBox 30"/>
          <p:cNvSpPr txBox="1"/>
          <p:nvPr/>
        </p:nvSpPr>
        <p:spPr>
          <a:xfrm>
            <a:off x="8229600" y="2715768"/>
            <a:ext cx="3273552"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Region dependence</a:t>
            </a:r>
          </a:p>
        </p:txBody>
      </p:sp>
      <p:sp>
        <p:nvSpPr>
          <p:cNvPr id="32" name="TextBox 31"/>
          <p:cNvSpPr txBox="1"/>
          <p:nvPr/>
        </p:nvSpPr>
        <p:spPr>
          <a:xfrm>
            <a:off x="8229600" y="2944368"/>
            <a:ext cx="3273552" cy="548640"/>
          </a:xfrm>
          <a:prstGeom prst="rect">
            <a:avLst/>
          </a:prstGeom>
          <a:noFill/>
        </p:spPr>
        <p:txBody>
          <a:bodyPr wrap="square" lIns="0" tIns="0" rIns="0" bIns="0" anchor="t">
            <a:spAutoFit/>
          </a:bodyPr>
          <a:lstStyle/>
          <a:p>
            <a:pPr algn="l">
              <a:lnSpc>
                <a:spcPct val="118000"/>
              </a:lnSpc>
            </a:pPr>
            <a:r>
              <a:rPr sz="850" b="0" i="0" dirty="0">
                <a:solidFill>
                  <a:srgbClr val="B9C2D6"/>
                </a:solidFill>
                <a:latin typeface="Segoe UI"/>
                <a:cs typeface="Segoe UI"/>
              </a:rPr>
              <a:t>Data generation and evaluation run only in supported regions.</a:t>
            </a:r>
          </a:p>
        </p:txBody>
      </p:sp>
      <p:sp>
        <p:nvSpPr>
          <p:cNvPr id="33" name="TextBox 32"/>
          <p:cNvSpPr txBox="1"/>
          <p:nvPr/>
        </p:nvSpPr>
        <p:spPr>
          <a:xfrm>
            <a:off x="8229600" y="3557015"/>
            <a:ext cx="3273552"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Separate generations</a:t>
            </a:r>
          </a:p>
        </p:txBody>
      </p:sp>
      <p:sp>
        <p:nvSpPr>
          <p:cNvPr id="34" name="TextBox 33"/>
          <p:cNvSpPr txBox="1"/>
          <p:nvPr/>
        </p:nvSpPr>
        <p:spPr>
          <a:xfrm>
            <a:off x="8229600" y="3785615"/>
            <a:ext cx="3273552" cy="548640"/>
          </a:xfrm>
          <a:prstGeom prst="rect">
            <a:avLst/>
          </a:prstGeom>
          <a:noFill/>
        </p:spPr>
        <p:txBody>
          <a:bodyPr wrap="square" lIns="0" tIns="0" rIns="0" bIns="0" anchor="t">
            <a:spAutoFit/>
          </a:bodyPr>
          <a:lstStyle/>
          <a:p>
            <a:pPr algn="l">
              <a:lnSpc>
                <a:spcPct val="118000"/>
              </a:lnSpc>
            </a:pPr>
            <a:r>
              <a:rPr sz="850" b="0" i="0" dirty="0">
                <a:solidFill>
                  <a:srgbClr val="B9C2D6"/>
                </a:solidFill>
                <a:latin typeface="Segoe UI"/>
                <a:cs typeface="Segoe UI"/>
              </a:rPr>
              <a:t>An evaluator result does not measure whether a blocked answer was safe.</a:t>
            </a:r>
          </a:p>
        </p:txBody>
      </p:sp>
      <p:sp>
        <p:nvSpPr>
          <p:cNvPr id="35" name="TextBox 34"/>
          <p:cNvSpPr txBox="1"/>
          <p:nvPr/>
        </p:nvSpPr>
        <p:spPr>
          <a:xfrm>
            <a:off x="8229600" y="4398264"/>
            <a:ext cx="3273552"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Run-to-run variation</a:t>
            </a:r>
          </a:p>
        </p:txBody>
      </p:sp>
      <p:sp>
        <p:nvSpPr>
          <p:cNvPr id="36" name="TextBox 35"/>
          <p:cNvSpPr txBox="1"/>
          <p:nvPr/>
        </p:nvSpPr>
        <p:spPr>
          <a:xfrm>
            <a:off x="8229600" y="4626864"/>
            <a:ext cx="3273552" cy="548640"/>
          </a:xfrm>
          <a:prstGeom prst="rect">
            <a:avLst/>
          </a:prstGeom>
          <a:noFill/>
        </p:spPr>
        <p:txBody>
          <a:bodyPr wrap="square" lIns="0" tIns="0" rIns="0" bIns="0" anchor="t">
            <a:spAutoFit/>
          </a:bodyPr>
          <a:lstStyle/>
          <a:p>
            <a:pPr algn="l">
              <a:lnSpc>
                <a:spcPct val="118000"/>
              </a:lnSpc>
            </a:pPr>
            <a:r>
              <a:rPr sz="850" b="0" i="0" dirty="0">
                <a:solidFill>
                  <a:srgbClr val="B9C2D6"/>
                </a:solidFill>
                <a:latin typeface="Segoe UI"/>
                <a:cs typeface="Segoe UI"/>
              </a:rPr>
              <a:t>Replay is not deterministic; small differences between settings are inconclusive.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05 · TUNING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References and status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Official documentation, the reference implementation and feature status at edition date</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 · github.com</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Guardrail tuning in Microsoft Foundry · October 2026 · 14</a:t>
            </a:r>
          </a:p>
        </p:txBody>
      </p:sp>
      <p:sp>
        <p:nvSpPr>
          <p:cNvPr id="7" name="TextBox 6"/>
          <p:cNvSpPr txBox="1"/>
          <p:nvPr/>
        </p:nvSpPr>
        <p:spPr>
          <a:xfrm>
            <a:off x="457200" y="13716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OFFICIAL DOCUMENTATION (LEARN.MICROSOFT.COM/AZURE/FOUNDRY/)</a:t>
            </a:r>
          </a:p>
        </p:txBody>
      </p:sp>
      <p:sp>
        <p:nvSpPr>
          <p:cNvPr id="8" name="TextBox 7"/>
          <p:cNvSpPr txBox="1"/>
          <p:nvPr/>
        </p:nvSpPr>
        <p:spPr>
          <a:xfrm>
            <a:off x="457200" y="1645920"/>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Guardrails overview</a:t>
            </a:r>
          </a:p>
        </p:txBody>
      </p:sp>
      <p:sp>
        <p:nvSpPr>
          <p:cNvPr id="9" name="TextBox 8"/>
          <p:cNvSpPr txBox="1"/>
          <p:nvPr/>
        </p:nvSpPr>
        <p:spPr>
          <a:xfrm>
            <a:off x="3236976" y="1645920"/>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guardrails/guardrails-overview</a:t>
            </a:r>
          </a:p>
        </p:txBody>
      </p:sp>
      <p:cxnSp>
        <p:nvCxnSpPr>
          <p:cNvPr id="10" name="Connector 9"/>
          <p:cNvCxnSpPr/>
          <p:nvPr/>
        </p:nvCxnSpPr>
        <p:spPr>
          <a:xfrm>
            <a:off x="457200" y="1956816"/>
            <a:ext cx="6949440" cy="0"/>
          </a:xfrm>
          <a:prstGeom prst="line">
            <a:avLst/>
          </a:prstGeom>
          <a:ln w="9525">
            <a:solidFill>
              <a:srgbClr val="E1E7F4"/>
            </a:solidFill>
          </a:ln>
        </p:spPr>
      </p:cxnSp>
      <p:sp>
        <p:nvSpPr>
          <p:cNvPr id="11" name="TextBox 10"/>
          <p:cNvSpPr txBox="1"/>
          <p:nvPr/>
        </p:nvSpPr>
        <p:spPr>
          <a:xfrm>
            <a:off x="457200" y="1975104"/>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Configure guardrails and controls</a:t>
            </a:r>
          </a:p>
        </p:txBody>
      </p:sp>
      <p:sp>
        <p:nvSpPr>
          <p:cNvPr id="12" name="TextBox 11"/>
          <p:cNvSpPr txBox="1"/>
          <p:nvPr/>
        </p:nvSpPr>
        <p:spPr>
          <a:xfrm>
            <a:off x="3236976" y="1975104"/>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guardrails/how-to-create-guardrails</a:t>
            </a:r>
          </a:p>
        </p:txBody>
      </p:sp>
      <p:cxnSp>
        <p:nvCxnSpPr>
          <p:cNvPr id="13" name="Connector 12"/>
          <p:cNvCxnSpPr/>
          <p:nvPr/>
        </p:nvCxnSpPr>
        <p:spPr>
          <a:xfrm>
            <a:off x="457200" y="2286000"/>
            <a:ext cx="6949440" cy="0"/>
          </a:xfrm>
          <a:prstGeom prst="line">
            <a:avLst/>
          </a:prstGeom>
          <a:ln w="9525">
            <a:solidFill>
              <a:srgbClr val="E1E7F4"/>
            </a:solidFill>
          </a:ln>
        </p:spPr>
      </p:cxnSp>
      <p:sp>
        <p:nvSpPr>
          <p:cNvPr id="14" name="TextBox 13"/>
          <p:cNvSpPr txBox="1"/>
          <p:nvPr/>
        </p:nvSpPr>
        <p:spPr>
          <a:xfrm>
            <a:off x="457200" y="2304288"/>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Harm categories and severity levels</a:t>
            </a:r>
          </a:p>
        </p:txBody>
      </p:sp>
      <p:sp>
        <p:nvSpPr>
          <p:cNvPr id="15" name="TextBox 14"/>
          <p:cNvSpPr txBox="1"/>
          <p:nvPr/>
        </p:nvSpPr>
        <p:spPr>
          <a:xfrm>
            <a:off x="3236976" y="2304288"/>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openai/concepts/content-filter-severity-levels</a:t>
            </a:r>
          </a:p>
        </p:txBody>
      </p:sp>
      <p:cxnSp>
        <p:nvCxnSpPr>
          <p:cNvPr id="16" name="Connector 15"/>
          <p:cNvCxnSpPr/>
          <p:nvPr/>
        </p:nvCxnSpPr>
        <p:spPr>
          <a:xfrm>
            <a:off x="457200" y="2615184"/>
            <a:ext cx="6949440" cy="0"/>
          </a:xfrm>
          <a:prstGeom prst="line">
            <a:avLst/>
          </a:prstGeom>
          <a:ln w="9525">
            <a:solidFill>
              <a:srgbClr val="E1E7F4"/>
            </a:solidFill>
          </a:ln>
        </p:spPr>
      </p:cxnSp>
      <p:sp>
        <p:nvSpPr>
          <p:cNvPr id="17" name="TextBox 16"/>
          <p:cNvSpPr txBox="1"/>
          <p:nvPr/>
        </p:nvSpPr>
        <p:spPr>
          <a:xfrm>
            <a:off x="457200" y="2633472"/>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Guardrails in the Responses API</a:t>
            </a:r>
          </a:p>
        </p:txBody>
      </p:sp>
      <p:sp>
        <p:nvSpPr>
          <p:cNvPr id="18" name="TextBox 17"/>
          <p:cNvSpPr txBox="1"/>
          <p:nvPr/>
        </p:nvSpPr>
        <p:spPr>
          <a:xfrm>
            <a:off x="3236976" y="2633472"/>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openai/how-to/responses</a:t>
            </a:r>
          </a:p>
        </p:txBody>
      </p:sp>
      <p:cxnSp>
        <p:nvCxnSpPr>
          <p:cNvPr id="19" name="Connector 18"/>
          <p:cNvCxnSpPr/>
          <p:nvPr/>
        </p:nvCxnSpPr>
        <p:spPr>
          <a:xfrm>
            <a:off x="457200" y="2944368"/>
            <a:ext cx="6949440" cy="0"/>
          </a:xfrm>
          <a:prstGeom prst="line">
            <a:avLst/>
          </a:prstGeom>
          <a:ln w="9525">
            <a:solidFill>
              <a:srgbClr val="E1E7F4"/>
            </a:solidFill>
          </a:ln>
        </p:spPr>
      </p:cxnSp>
      <p:sp>
        <p:nvSpPr>
          <p:cNvPr id="20" name="TextBox 19"/>
          <p:cNvSpPr txBox="1"/>
          <p:nvPr/>
        </p:nvSpPr>
        <p:spPr>
          <a:xfrm>
            <a:off x="457200" y="2962656"/>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Risk and safety evaluators</a:t>
            </a:r>
          </a:p>
        </p:txBody>
      </p:sp>
      <p:sp>
        <p:nvSpPr>
          <p:cNvPr id="21" name="TextBox 20"/>
          <p:cNvSpPr txBox="1"/>
          <p:nvPr/>
        </p:nvSpPr>
        <p:spPr>
          <a:xfrm>
            <a:off x="3236976" y="2962656"/>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concepts/evaluation-evaluators/risk-safety-evaluators</a:t>
            </a:r>
          </a:p>
        </p:txBody>
      </p:sp>
      <p:cxnSp>
        <p:nvCxnSpPr>
          <p:cNvPr id="22" name="Connector 21"/>
          <p:cNvCxnSpPr/>
          <p:nvPr/>
        </p:nvCxnSpPr>
        <p:spPr>
          <a:xfrm>
            <a:off x="457200" y="3273551"/>
            <a:ext cx="6949440" cy="0"/>
          </a:xfrm>
          <a:prstGeom prst="line">
            <a:avLst/>
          </a:prstGeom>
          <a:ln w="9525">
            <a:solidFill>
              <a:srgbClr val="E1E7F4"/>
            </a:solidFill>
          </a:ln>
        </p:spPr>
      </p:cxnSp>
      <p:sp>
        <p:nvSpPr>
          <p:cNvPr id="23" name="TextBox 22"/>
          <p:cNvSpPr txBox="1"/>
          <p:nvPr/>
        </p:nvSpPr>
        <p:spPr>
          <a:xfrm>
            <a:off x="457200" y="3291839"/>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Cloud evaluation</a:t>
            </a:r>
          </a:p>
        </p:txBody>
      </p:sp>
      <p:sp>
        <p:nvSpPr>
          <p:cNvPr id="24" name="TextBox 23"/>
          <p:cNvSpPr txBox="1"/>
          <p:nvPr/>
        </p:nvSpPr>
        <p:spPr>
          <a:xfrm>
            <a:off x="3236976" y="3291839"/>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observability/how-to/cloud-evaluation</a:t>
            </a:r>
          </a:p>
        </p:txBody>
      </p:sp>
      <p:cxnSp>
        <p:nvCxnSpPr>
          <p:cNvPr id="25" name="Connector 24"/>
          <p:cNvCxnSpPr/>
          <p:nvPr/>
        </p:nvCxnSpPr>
        <p:spPr>
          <a:xfrm>
            <a:off x="457200" y="3602735"/>
            <a:ext cx="6949440" cy="0"/>
          </a:xfrm>
          <a:prstGeom prst="line">
            <a:avLst/>
          </a:prstGeom>
          <a:ln w="9525">
            <a:solidFill>
              <a:srgbClr val="E1E7F4"/>
            </a:solidFill>
          </a:ln>
        </p:spPr>
      </p:cxnSp>
      <p:sp>
        <p:nvSpPr>
          <p:cNvPr id="26" name="TextBox 25"/>
          <p:cNvSpPr txBox="1"/>
          <p:nvPr/>
        </p:nvSpPr>
        <p:spPr>
          <a:xfrm>
            <a:off x="457200" y="3621023"/>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Synthetic evaluation dataset</a:t>
            </a:r>
          </a:p>
        </p:txBody>
      </p:sp>
      <p:sp>
        <p:nvSpPr>
          <p:cNvPr id="27" name="TextBox 26"/>
          <p:cNvSpPr txBox="1"/>
          <p:nvPr/>
        </p:nvSpPr>
        <p:spPr>
          <a:xfrm>
            <a:off x="3236976" y="3621023"/>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observability/how-to/evaluation-dataset-synthetic</a:t>
            </a:r>
          </a:p>
        </p:txBody>
      </p:sp>
      <p:cxnSp>
        <p:nvCxnSpPr>
          <p:cNvPr id="28" name="Connector 27"/>
          <p:cNvCxnSpPr/>
          <p:nvPr/>
        </p:nvCxnSpPr>
        <p:spPr>
          <a:xfrm>
            <a:off x="457200" y="3931920"/>
            <a:ext cx="6949440" cy="0"/>
          </a:xfrm>
          <a:prstGeom prst="line">
            <a:avLst/>
          </a:prstGeom>
          <a:ln w="9525">
            <a:solidFill>
              <a:srgbClr val="E1E7F4"/>
            </a:solidFill>
          </a:ln>
        </p:spPr>
      </p:cxnSp>
      <p:sp>
        <p:nvSpPr>
          <p:cNvPr id="29" name="TextBox 28"/>
          <p:cNvSpPr txBox="1"/>
          <p:nvPr/>
        </p:nvSpPr>
        <p:spPr>
          <a:xfrm>
            <a:off x="457200" y="416052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REFERENCE IMPLEMENTATION</a:t>
            </a:r>
          </a:p>
        </p:txBody>
      </p:sp>
      <p:sp>
        <p:nvSpPr>
          <p:cNvPr id="30" name="TextBox 29"/>
          <p:cNvSpPr txBox="1"/>
          <p:nvPr/>
        </p:nvSpPr>
        <p:spPr>
          <a:xfrm>
            <a:off x="457200" y="4434840"/>
            <a:ext cx="2688336" cy="329184"/>
          </a:xfrm>
          <a:prstGeom prst="rect">
            <a:avLst/>
          </a:prstGeom>
          <a:noFill/>
        </p:spPr>
        <p:txBody>
          <a:bodyPr wrap="square" lIns="0" tIns="0" rIns="0" bIns="0" anchor="ctr">
            <a:spAutoFit/>
          </a:bodyPr>
          <a:lstStyle/>
          <a:p>
            <a:pPr algn="l">
              <a:lnSpc>
                <a:spcPct val="105000"/>
              </a:lnSpc>
            </a:pPr>
            <a:r>
              <a:rPr sz="850" b="1" i="0" dirty="0">
                <a:solidFill>
                  <a:srgbClr val="101A3C"/>
                </a:solidFill>
                <a:latin typeface="Segoe UI"/>
                <a:cs typeface="Segoe UI"/>
              </a:rPr>
              <a:t>foundry-content-safety-eval</a:t>
            </a:r>
          </a:p>
        </p:txBody>
      </p:sp>
      <p:sp>
        <p:nvSpPr>
          <p:cNvPr id="31" name="TextBox 30"/>
          <p:cNvSpPr txBox="1"/>
          <p:nvPr/>
        </p:nvSpPr>
        <p:spPr>
          <a:xfrm>
            <a:off x="3236976" y="4434840"/>
            <a:ext cx="4169663" cy="329184"/>
          </a:xfrm>
          <a:prstGeom prst="rect">
            <a:avLst/>
          </a:prstGeom>
          <a:noFill/>
        </p:spPr>
        <p:txBody>
          <a:bodyPr wrap="square" lIns="0" tIns="0" rIns="0" bIns="0" anchor="ctr">
            <a:spAutoFit/>
          </a:bodyPr>
          <a:lstStyle/>
          <a:p>
            <a:pPr algn="l">
              <a:lnSpc>
                <a:spcPct val="105000"/>
              </a:lnSpc>
            </a:pPr>
            <a:r>
              <a:rPr sz="850" b="0" i="0" dirty="0">
                <a:solidFill>
                  <a:srgbClr val="44495B"/>
                </a:solidFill>
                <a:latin typeface="Segoe UI"/>
                <a:cs typeface="Segoe UI"/>
              </a:rPr>
              <a:t>github.com/strudel0209/foundry-content-safety-eval</a:t>
            </a:r>
          </a:p>
        </p:txBody>
      </p:sp>
      <p:cxnSp>
        <p:nvCxnSpPr>
          <p:cNvPr id="32" name="Connector 31"/>
          <p:cNvCxnSpPr/>
          <p:nvPr/>
        </p:nvCxnSpPr>
        <p:spPr>
          <a:xfrm>
            <a:off x="457200" y="4745736"/>
            <a:ext cx="6949440" cy="0"/>
          </a:xfrm>
          <a:prstGeom prst="line">
            <a:avLst/>
          </a:prstGeom>
          <a:ln w="9525">
            <a:solidFill>
              <a:srgbClr val="E1E7F4"/>
            </a:solidFill>
          </a:ln>
        </p:spPr>
      </p:cxnSp>
      <p:sp>
        <p:nvSpPr>
          <p:cNvPr id="33" name="TextBox 32"/>
          <p:cNvSpPr txBox="1"/>
          <p:nvPr/>
        </p:nvSpPr>
        <p:spPr>
          <a:xfrm>
            <a:off x="5791200" y="137160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STATUS AT EDITION DATE</a:t>
            </a:r>
          </a:p>
        </p:txBody>
      </p:sp>
      <p:sp>
        <p:nvSpPr>
          <p:cNvPr id="34" name="TextBox 33"/>
          <p:cNvSpPr txBox="1"/>
          <p:nvPr/>
        </p:nvSpPr>
        <p:spPr>
          <a:xfrm>
            <a:off x="8001000" y="1645920"/>
            <a:ext cx="3730752"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Generally available</a:t>
            </a:r>
          </a:p>
        </p:txBody>
      </p:sp>
      <p:sp>
        <p:nvSpPr>
          <p:cNvPr id="35" name="Rectangle 34"/>
          <p:cNvSpPr/>
          <p:nvPr/>
        </p:nvSpPr>
        <p:spPr>
          <a:xfrm>
            <a:off x="8001000" y="1883664"/>
            <a:ext cx="1828800" cy="27432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Guardrails for models</a:t>
            </a:r>
          </a:p>
        </p:txBody>
      </p:sp>
      <p:sp>
        <p:nvSpPr>
          <p:cNvPr id="36" name="Rectangle 35"/>
          <p:cNvSpPr/>
          <p:nvPr/>
        </p:nvSpPr>
        <p:spPr>
          <a:xfrm>
            <a:off x="9902952" y="1883664"/>
            <a:ext cx="1828800" cy="27432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Content-harm controls</a:t>
            </a:r>
          </a:p>
        </p:txBody>
      </p:sp>
      <p:sp>
        <p:nvSpPr>
          <p:cNvPr id="37" name="Rectangle 36"/>
          <p:cNvSpPr/>
          <p:nvPr/>
        </p:nvSpPr>
        <p:spPr>
          <a:xfrm>
            <a:off x="8001000" y="2231136"/>
            <a:ext cx="1828800" cy="27432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Prompt Shields</a:t>
            </a:r>
          </a:p>
        </p:txBody>
      </p:sp>
      <p:sp>
        <p:nvSpPr>
          <p:cNvPr id="38" name="Rectangle 37"/>
          <p:cNvSpPr/>
          <p:nvPr/>
        </p:nvSpPr>
        <p:spPr>
          <a:xfrm>
            <a:off x="9902952" y="2231136"/>
            <a:ext cx="1828800" cy="27432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Risk and safety evaluators</a:t>
            </a:r>
          </a:p>
        </p:txBody>
      </p:sp>
      <p:sp>
        <p:nvSpPr>
          <p:cNvPr id="39" name="Rectangle 38"/>
          <p:cNvSpPr/>
          <p:nvPr/>
        </p:nvSpPr>
        <p:spPr>
          <a:xfrm>
            <a:off x="8001000" y="2578608"/>
            <a:ext cx="1828800" cy="274320"/>
          </a:xfrm>
          <a:prstGeom prst="rect">
            <a:avLst/>
          </a:prstGeom>
          <a:solidFill>
            <a:srgbClr val="EBEFF7"/>
          </a:solidFill>
          <a:ln>
            <a:no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content_filters in Responses API</a:t>
            </a:r>
          </a:p>
        </p:txBody>
      </p:sp>
      <p:sp>
        <p:nvSpPr>
          <p:cNvPr id="40" name="TextBox 39"/>
          <p:cNvSpPr txBox="1"/>
          <p:nvPr/>
        </p:nvSpPr>
        <p:spPr>
          <a:xfrm>
            <a:off x="8001000" y="3035808"/>
            <a:ext cx="3730752" cy="182880"/>
          </a:xfrm>
          <a:prstGeom prst="rect">
            <a:avLst/>
          </a:prstGeom>
          <a:noFill/>
        </p:spPr>
        <p:txBody>
          <a:bodyPr wrap="square" lIns="0" tIns="0" rIns="0" bIns="0" anchor="t">
            <a:spAutoFit/>
          </a:bodyPr>
          <a:lstStyle/>
          <a:p>
            <a:pPr algn="l">
              <a:lnSpc>
                <a:spcPct val="100000"/>
              </a:lnSpc>
            </a:pPr>
            <a:r>
              <a:rPr sz="850" b="1" i="0" dirty="0">
                <a:solidFill>
                  <a:srgbClr val="101A3C"/>
                </a:solidFill>
                <a:latin typeface="Segoe UI"/>
                <a:cs typeface="Segoe UI"/>
              </a:rPr>
              <a:t>Preview</a:t>
            </a:r>
          </a:p>
        </p:txBody>
      </p:sp>
      <p:sp>
        <p:nvSpPr>
          <p:cNvPr id="41" name="Rectangle 40"/>
          <p:cNvSpPr/>
          <p:nvPr/>
        </p:nvSpPr>
        <p:spPr>
          <a:xfrm>
            <a:off x="8001000" y="3273552"/>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Agent guardrails*</a:t>
            </a:r>
          </a:p>
        </p:txBody>
      </p:sp>
      <p:sp>
        <p:nvSpPr>
          <p:cNvPr id="42" name="Rectangle 41"/>
          <p:cNvSpPr/>
          <p:nvPr/>
        </p:nvSpPr>
        <p:spPr>
          <a:xfrm>
            <a:off x="9902952" y="3273552"/>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Tool call and tool response*</a:t>
            </a:r>
          </a:p>
        </p:txBody>
      </p:sp>
      <p:sp>
        <p:nvSpPr>
          <p:cNvPr id="43" name="Rectangle 42"/>
          <p:cNvSpPr/>
          <p:nvPr/>
        </p:nvSpPr>
        <p:spPr>
          <a:xfrm>
            <a:off x="8001000" y="3621024"/>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Spotlighting*</a:t>
            </a:r>
          </a:p>
        </p:txBody>
      </p:sp>
      <p:sp>
        <p:nvSpPr>
          <p:cNvPr id="44" name="Rectangle 43"/>
          <p:cNvSpPr/>
          <p:nvPr/>
        </p:nvSpPr>
        <p:spPr>
          <a:xfrm>
            <a:off x="9902952" y="3621024"/>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Groundedness and PII controls*</a:t>
            </a:r>
          </a:p>
        </p:txBody>
      </p:sp>
      <p:sp>
        <p:nvSpPr>
          <p:cNvPr id="45" name="Rectangle 44"/>
          <p:cNvSpPr/>
          <p:nvPr/>
        </p:nvSpPr>
        <p:spPr>
          <a:xfrm>
            <a:off x="8001000" y="3968496"/>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Task adherence*</a:t>
            </a:r>
          </a:p>
        </p:txBody>
      </p:sp>
      <p:sp>
        <p:nvSpPr>
          <p:cNvPr id="46" name="Rectangle 45"/>
          <p:cNvSpPr/>
          <p:nvPr/>
        </p:nvSpPr>
        <p:spPr>
          <a:xfrm>
            <a:off x="9902952" y="3968496"/>
            <a:ext cx="1828800" cy="2743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00000"/>
              </a:lnSpc>
            </a:pPr>
            <a:r>
              <a:rPr sz="750" b="0" i="0" dirty="0">
                <a:solidFill>
                  <a:srgbClr val="101A3C"/>
                </a:solidFill>
                <a:latin typeface="Segoe UI"/>
                <a:cs typeface="Segoe UI"/>
              </a:rPr>
              <a:t>Synthetic data source for evaluation*</a:t>
            </a:r>
          </a:p>
        </p:txBody>
      </p:sp>
      <p:sp>
        <p:nvSpPr>
          <p:cNvPr id="47" name="TextBox 46"/>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14</Slides>
  <Notes>14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Guardrail tuning without over-blocking</dc:title>
  <dc:subject/>
  <dc:creator/>
  <cp:keywords/>
  <dc:description>generated using python-pptx</dc:description>
  <cp:lastModifiedBy/>
  <cp:revision>3</cp:revision>
  <dcterms:created xsi:type="dcterms:W3CDTF">2026-10-11T15:59:27Z</dcterms:created>
  <dcterms:modified xsi:type="dcterms:W3CDTF">2026-10-30T08:18:09Z</dcterms:modified>
  <cp:category/>
</cp:coreProperties>
</file>