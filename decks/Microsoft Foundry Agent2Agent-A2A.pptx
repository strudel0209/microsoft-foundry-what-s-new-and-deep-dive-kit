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4A24B3-42BF-30AD-7087-02C81777F94D}" v="8" dt="2026-10-15T19:35:07.7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Sachelarescu" userId="S::alexsac@microsoft.com::774a4e7a-2386-4e79-97d5-603ed92c67ae" providerId="AD" clId="Web-{244A24B3-42BF-30AD-7087-02C81777F94D}"/>
    <pc:docChg chg="modSld">
      <pc:chgData name="Alex Sachelarescu" userId="S::alexsac@microsoft.com::774a4e7a-2386-4e79-97d5-603ed92c67ae" providerId="AD" clId="Web-{244A24B3-42BF-30AD-7087-02C81777F94D}" dt="2026-10-15T19:36:54.731" v="159"/>
      <pc:docMkLst>
        <pc:docMk/>
      </pc:docMkLst>
      <pc:sldChg chg="modNotes">
        <pc:chgData name="Alex Sachelarescu" userId="S::alexsac@microsoft.com::774a4e7a-2386-4e79-97d5-603ed92c67ae" providerId="AD" clId="Web-{244A24B3-42BF-30AD-7087-02C81777F94D}" dt="2026-10-15T17:29:45.314" v="28"/>
        <pc:sldMkLst>
          <pc:docMk/>
          <pc:sldMk cId="0" sldId="257"/>
        </pc:sldMkLst>
      </pc:sldChg>
      <pc:sldChg chg="modNotes">
        <pc:chgData name="Alex Sachelarescu" userId="S::alexsac@microsoft.com::774a4e7a-2386-4e79-97d5-603ed92c67ae" providerId="AD" clId="Web-{244A24B3-42BF-30AD-7087-02C81777F94D}" dt="2026-10-15T17:33:29.760" v="35"/>
        <pc:sldMkLst>
          <pc:docMk/>
          <pc:sldMk cId="0" sldId="258"/>
        </pc:sldMkLst>
      </pc:sldChg>
      <pc:sldChg chg="modSp modNotes">
        <pc:chgData name="Alex Sachelarescu" userId="S::alexsac@microsoft.com::774a4e7a-2386-4e79-97d5-603ed92c67ae" providerId="AD" clId="Web-{244A24B3-42BF-30AD-7087-02C81777F94D}" dt="2026-10-15T17:36:19.579" v="41" actId="20577"/>
        <pc:sldMkLst>
          <pc:docMk/>
          <pc:sldMk cId="0" sldId="259"/>
        </pc:sldMkLst>
        <pc:spChg chg="mod">
          <ac:chgData name="Alex Sachelarescu" userId="S::alexsac@microsoft.com::774a4e7a-2386-4e79-97d5-603ed92c67ae" providerId="AD" clId="Web-{244A24B3-42BF-30AD-7087-02C81777F94D}" dt="2026-10-15T17:36:18.157" v="39" actId="20577"/>
          <ac:spMkLst>
            <pc:docMk/>
            <pc:sldMk cId="0" sldId="259"/>
            <ac:spMk id="15" creationId="{00000000-0000-0000-0000-000000000000}"/>
          </ac:spMkLst>
        </pc:spChg>
        <pc:spChg chg="mod">
          <ac:chgData name="Alex Sachelarescu" userId="S::alexsac@microsoft.com::774a4e7a-2386-4e79-97d5-603ed92c67ae" providerId="AD" clId="Web-{244A24B3-42BF-30AD-7087-02C81777F94D}" dt="2026-10-15T17:36:19.579" v="41" actId="20577"/>
          <ac:spMkLst>
            <pc:docMk/>
            <pc:sldMk cId="0" sldId="259"/>
            <ac:spMk id="19" creationId="{00000000-0000-0000-0000-000000000000}"/>
          </ac:spMkLst>
        </pc:spChg>
      </pc:sldChg>
      <pc:sldChg chg="modNotes">
        <pc:chgData name="Alex Sachelarescu" userId="S::alexsac@microsoft.com::774a4e7a-2386-4e79-97d5-603ed92c67ae" providerId="AD" clId="Web-{244A24B3-42BF-30AD-7087-02C81777F94D}" dt="2026-10-15T17:40:18.322" v="59"/>
        <pc:sldMkLst>
          <pc:docMk/>
          <pc:sldMk cId="0" sldId="260"/>
        </pc:sldMkLst>
      </pc:sldChg>
      <pc:sldChg chg="modNotes">
        <pc:chgData name="Alex Sachelarescu" userId="S::alexsac@microsoft.com::774a4e7a-2386-4e79-97d5-603ed92c67ae" providerId="AD" clId="Web-{244A24B3-42BF-30AD-7087-02C81777F94D}" dt="2026-10-15T17:45:24.426" v="67"/>
        <pc:sldMkLst>
          <pc:docMk/>
          <pc:sldMk cId="0" sldId="261"/>
        </pc:sldMkLst>
      </pc:sldChg>
      <pc:sldChg chg="modNotes">
        <pc:chgData name="Alex Sachelarescu" userId="S::alexsac@microsoft.com::774a4e7a-2386-4e79-97d5-603ed92c67ae" providerId="AD" clId="Web-{244A24B3-42BF-30AD-7087-02C81777F94D}" dt="2026-10-15T17:49:45.529" v="71"/>
        <pc:sldMkLst>
          <pc:docMk/>
          <pc:sldMk cId="0" sldId="262"/>
        </pc:sldMkLst>
      </pc:sldChg>
      <pc:sldChg chg="modNotes">
        <pc:chgData name="Alex Sachelarescu" userId="S::alexsac@microsoft.com::774a4e7a-2386-4e79-97d5-603ed92c67ae" providerId="AD" clId="Web-{244A24B3-42BF-30AD-7087-02C81777F94D}" dt="2026-10-15T18:06:19.473" v="74"/>
        <pc:sldMkLst>
          <pc:docMk/>
          <pc:sldMk cId="0" sldId="265"/>
        </pc:sldMkLst>
      </pc:sldChg>
      <pc:sldChg chg="modNotes">
        <pc:chgData name="Alex Sachelarescu" userId="S::alexsac@microsoft.com::774a4e7a-2386-4e79-97d5-603ed92c67ae" providerId="AD" clId="Web-{244A24B3-42BF-30AD-7087-02C81777F94D}" dt="2026-10-15T19:18:10.849" v="128"/>
        <pc:sldMkLst>
          <pc:docMk/>
          <pc:sldMk cId="0" sldId="266"/>
        </pc:sldMkLst>
      </pc:sldChg>
      <pc:sldChg chg="modNotes">
        <pc:chgData name="Alex Sachelarescu" userId="S::alexsac@microsoft.com::774a4e7a-2386-4e79-97d5-603ed92c67ae" providerId="AD" clId="Web-{244A24B3-42BF-30AD-7087-02C81777F94D}" dt="2026-10-15T19:21:42.466" v="129"/>
        <pc:sldMkLst>
          <pc:docMk/>
          <pc:sldMk cId="0" sldId="267"/>
        </pc:sldMkLst>
      </pc:sldChg>
      <pc:sldChg chg="modNotes">
        <pc:chgData name="Alex Sachelarescu" userId="S::alexsac@microsoft.com::774a4e7a-2386-4e79-97d5-603ed92c67ae" providerId="AD" clId="Web-{244A24B3-42BF-30AD-7087-02C81777F94D}" dt="2026-10-15T19:29:57.763" v="149"/>
        <pc:sldMkLst>
          <pc:docMk/>
          <pc:sldMk cId="0" sldId="268"/>
        </pc:sldMkLst>
      </pc:sldChg>
      <pc:sldChg chg="modNotes">
        <pc:chgData name="Alex Sachelarescu" userId="S::alexsac@microsoft.com::774a4e7a-2386-4e79-97d5-603ed92c67ae" providerId="AD" clId="Web-{244A24B3-42BF-30AD-7087-02C81777F94D}" dt="2026-10-15T19:34:26.742" v="150"/>
        <pc:sldMkLst>
          <pc:docMk/>
          <pc:sldMk cId="0" sldId="269"/>
        </pc:sldMkLst>
      </pc:sldChg>
      <pc:sldChg chg="mod modShow">
        <pc:chgData name="Alex Sachelarescu" userId="S::alexsac@microsoft.com::774a4e7a-2386-4e79-97d5-603ed92c67ae" providerId="AD" clId="Web-{244A24B3-42BF-30AD-7087-02C81777F94D}" dt="2026-10-15T19:34:46.602" v="151"/>
        <pc:sldMkLst>
          <pc:docMk/>
          <pc:sldMk cId="0" sldId="270"/>
        </pc:sldMkLst>
      </pc:sldChg>
      <pc:sldChg chg="mod modShow">
        <pc:chgData name="Alex Sachelarescu" userId="S::alexsac@microsoft.com::774a4e7a-2386-4e79-97d5-603ed92c67ae" providerId="AD" clId="Web-{244A24B3-42BF-30AD-7087-02C81777F94D}" dt="2026-10-15T19:35:07.712" v="152"/>
        <pc:sldMkLst>
          <pc:docMk/>
          <pc:sldMk cId="0" sldId="273"/>
        </pc:sldMkLst>
      </pc:sldChg>
      <pc:sldChg chg="modNotes">
        <pc:chgData name="Alex Sachelarescu" userId="S::alexsac@microsoft.com::774a4e7a-2386-4e79-97d5-603ed92c67ae" providerId="AD" clId="Web-{244A24B3-42BF-30AD-7087-02C81777F94D}" dt="2026-10-15T19:36:54.731" v="159"/>
        <pc:sldMkLst>
          <pc:docMk/>
          <pc:sldMk cId="0" sldId="274"/>
        </pc:sldMkLst>
      </pc:sldChg>
    </pc:docChg>
  </pc:docChgLst>
  <pc:docChgLst>
    <pc:chgData clId="Web-{74D29D05-626B-4F07-8687-E1721E85C19D}"/>
    <pc:docChg chg="modSld">
      <pc:chgData name="" userId="" providerId="" clId="Web-{74D29D05-626B-4F07-8687-E1721E85C19D}" dt="2026-10-14T13:45:26.849" v="0" actId="34807"/>
      <pc:docMkLst>
        <pc:docMk/>
      </pc:docMkLst>
      <pc:sldChg chg="modNotesTx">
        <pc:chgData name="" userId="" providerId="" clId="Web-{74D29D05-626B-4F07-8687-E1721E85C19D}" dt="2026-10-14T13:45:26.849" v="0" actId="34807"/>
        <pc:sldMkLst>
          <pc:docMk/>
          <pc:sldMk cId="0" sldId="256"/>
        </pc:sldMkLst>
      </pc:sldChg>
      <pc:sldChg chg="modNotesTx">
        <pc:chgData name="" userId="" providerId="" clId="Web-{74D29D05-626B-4F07-8687-E1721E85C19D}" dt="2026-10-14T13:45:26.849" v="0" actId="34807"/>
        <pc:sldMkLst>
          <pc:docMk/>
          <pc:sldMk cId="0" sldId="257"/>
        </pc:sldMkLst>
      </pc:sldChg>
      <pc:sldChg chg="modNotesTx">
        <pc:chgData name="" userId="" providerId="" clId="Web-{74D29D05-626B-4F07-8687-E1721E85C19D}" dt="2026-10-14T13:45:26.849" v="0" actId="34807"/>
        <pc:sldMkLst>
          <pc:docMk/>
          <pc:sldMk cId="0" sldId="258"/>
        </pc:sldMkLst>
      </pc:sldChg>
      <pc:sldChg chg="modNotesTx">
        <pc:chgData name="" userId="" providerId="" clId="Web-{74D29D05-626B-4F07-8687-E1721E85C19D}" dt="2026-10-14T13:45:26.849" v="0" actId="34807"/>
        <pc:sldMkLst>
          <pc:docMk/>
          <pc:sldMk cId="0" sldId="259"/>
        </pc:sldMkLst>
      </pc:sldChg>
      <pc:sldChg chg="modSp modNotesTx">
        <pc:chgData name="" userId="" providerId="" clId="Web-{74D29D05-626B-4F07-8687-E1721E85C19D}" dt="2026-10-14T13:45:26.849" v="0" actId="34807"/>
        <pc:sldMkLst>
          <pc:docMk/>
          <pc:sldMk cId="0" sldId="260"/>
        </pc:sldMkLst>
        <pc:spChg chg="mod">
          <ac:chgData name="" userId="" providerId="" clId="Web-{74D29D05-626B-4F07-8687-E1721E85C19D}" dt="2026-10-14T13:45:26.849" v="0" actId="34807"/>
          <ac:spMkLst>
            <pc:docMk/>
            <pc:sldMk cId="0" sldId="260"/>
            <ac:spMk id="10" creationId="{00000000-0000-0000-0000-000000000000}"/>
          </ac:spMkLst>
        </pc:spChg>
      </pc:sldChg>
      <pc:sldChg chg="modNotesTx">
        <pc:chgData name="" userId="" providerId="" clId="Web-{74D29D05-626B-4F07-8687-E1721E85C19D}" dt="2026-10-14T13:45:26.849" v="0" actId="34807"/>
        <pc:sldMkLst>
          <pc:docMk/>
          <pc:sldMk cId="0" sldId="261"/>
        </pc:sldMkLst>
      </pc:sldChg>
      <pc:sldChg chg="modNotesTx">
        <pc:chgData name="" userId="" providerId="" clId="Web-{74D29D05-626B-4F07-8687-E1721E85C19D}" dt="2026-10-14T13:45:26.849" v="0" actId="34807"/>
        <pc:sldMkLst>
          <pc:docMk/>
          <pc:sldMk cId="0" sldId="262"/>
        </pc:sldMkLst>
      </pc:sldChg>
      <pc:sldChg chg="modNotesTx">
        <pc:chgData name="" userId="" providerId="" clId="Web-{74D29D05-626B-4F07-8687-E1721E85C19D}" dt="2026-10-14T13:45:26.849" v="0" actId="34807"/>
        <pc:sldMkLst>
          <pc:docMk/>
          <pc:sldMk cId="0" sldId="263"/>
        </pc:sldMkLst>
      </pc:sldChg>
      <pc:sldChg chg="modNotesTx">
        <pc:chgData name="" userId="" providerId="" clId="Web-{74D29D05-626B-4F07-8687-E1721E85C19D}" dt="2026-10-14T13:45:26.849" v="0" actId="34807"/>
        <pc:sldMkLst>
          <pc:docMk/>
          <pc:sldMk cId="0" sldId="264"/>
        </pc:sldMkLst>
      </pc:sldChg>
      <pc:sldChg chg="modNotesTx">
        <pc:chgData name="" userId="" providerId="" clId="Web-{74D29D05-626B-4F07-8687-E1721E85C19D}" dt="2026-10-14T13:45:26.849" v="0" actId="34807"/>
        <pc:sldMkLst>
          <pc:docMk/>
          <pc:sldMk cId="0" sldId="265"/>
        </pc:sldMkLst>
      </pc:sldChg>
      <pc:sldChg chg="modNotesTx">
        <pc:chgData name="" userId="" providerId="" clId="Web-{74D29D05-626B-4F07-8687-E1721E85C19D}" dt="2026-10-14T13:45:26.849" v="0" actId="34807"/>
        <pc:sldMkLst>
          <pc:docMk/>
          <pc:sldMk cId="0" sldId="266"/>
        </pc:sldMkLst>
      </pc:sldChg>
      <pc:sldChg chg="modNotesTx">
        <pc:chgData name="" userId="" providerId="" clId="Web-{74D29D05-626B-4F07-8687-E1721E85C19D}" dt="2026-10-14T13:45:26.849" v="0" actId="34807"/>
        <pc:sldMkLst>
          <pc:docMk/>
          <pc:sldMk cId="0" sldId="267"/>
        </pc:sldMkLst>
      </pc:sldChg>
      <pc:sldChg chg="modNotesTx">
        <pc:chgData name="" userId="" providerId="" clId="Web-{74D29D05-626B-4F07-8687-E1721E85C19D}" dt="2026-10-14T13:45:26.849" v="0" actId="34807"/>
        <pc:sldMkLst>
          <pc:docMk/>
          <pc:sldMk cId="0" sldId="268"/>
        </pc:sldMkLst>
      </pc:sldChg>
      <pc:sldChg chg="modNotesTx">
        <pc:chgData name="" userId="" providerId="" clId="Web-{74D29D05-626B-4F07-8687-E1721E85C19D}" dt="2026-10-14T13:45:26.849" v="0" actId="34807"/>
        <pc:sldMkLst>
          <pc:docMk/>
          <pc:sldMk cId="0" sldId="269"/>
        </pc:sldMkLst>
      </pc:sldChg>
      <pc:sldChg chg="modNotesTx">
        <pc:chgData name="" userId="" providerId="" clId="Web-{74D29D05-626B-4F07-8687-E1721E85C19D}" dt="2026-10-14T13:45:26.849" v="0" actId="34807"/>
        <pc:sldMkLst>
          <pc:docMk/>
          <pc:sldMk cId="0" sldId="270"/>
        </pc:sldMkLst>
      </pc:sldChg>
      <pc:sldChg chg="modNotesTx">
        <pc:chgData name="" userId="" providerId="" clId="Web-{74D29D05-626B-4F07-8687-E1721E85C19D}" dt="2026-10-14T13:45:26.849" v="0" actId="34807"/>
        <pc:sldMkLst>
          <pc:docMk/>
          <pc:sldMk cId="0" sldId="271"/>
        </pc:sldMkLst>
      </pc:sldChg>
      <pc:sldChg chg="modNotesTx">
        <pc:chgData name="" userId="" providerId="" clId="Web-{74D29D05-626B-4F07-8687-E1721E85C19D}" dt="2026-10-14T13:45:26.849" v="0" actId="34807"/>
        <pc:sldMkLst>
          <pc:docMk/>
          <pc:sldMk cId="0" sldId="272"/>
        </pc:sldMkLst>
      </pc:sldChg>
      <pc:sldChg chg="modSp modNotesTx">
        <pc:chgData name="" userId="" providerId="" clId="Web-{74D29D05-626B-4F07-8687-E1721E85C19D}" dt="2026-10-14T13:45:26.849" v="0" actId="34807"/>
        <pc:sldMkLst>
          <pc:docMk/>
          <pc:sldMk cId="0" sldId="273"/>
        </pc:sldMkLst>
        <pc:spChg chg="mod">
          <ac:chgData name="" userId="" providerId="" clId="Web-{74D29D05-626B-4F07-8687-E1721E85C19D}" dt="2026-10-14T13:45:26.849" v="0" actId="34807"/>
          <ac:spMkLst>
            <pc:docMk/>
            <pc:sldMk cId="0" sldId="273"/>
            <ac:spMk id="12" creationId="{00000000-0000-0000-0000-000000000000}"/>
          </ac:spMkLst>
        </pc:spChg>
        <pc:spChg chg="mod">
          <ac:chgData name="" userId="" providerId="" clId="Web-{74D29D05-626B-4F07-8687-E1721E85C19D}" dt="2026-10-14T13:45:26.849" v="0" actId="34807"/>
          <ac:spMkLst>
            <pc:docMk/>
            <pc:sldMk cId="0" sldId="273"/>
            <ac:spMk id="36" creationId="{00000000-0000-0000-0000-000000000000}"/>
          </ac:spMkLst>
        </pc:spChg>
      </pc:sldChg>
      <pc:sldChg chg="modNotesTx">
        <pc:chgData name="" userId="" providerId="" clId="Web-{74D29D05-626B-4F07-8687-E1721E85C19D}" dt="2026-10-14T13:45:26.849" v="0" actId="34807"/>
        <pc:sldMkLst>
          <pc:docMk/>
          <pc:sldMk cId="0" sldId="274"/>
        </pc:sldMkLst>
      </pc:sldChg>
      <pc:sldChg chg="modNotesTx">
        <pc:chgData name="" userId="" providerId="" clId="Web-{74D29D05-626B-4F07-8687-E1721E85C19D}" dt="2026-10-14T13:45:26.849" v="0" actId="34807"/>
        <pc:sldMkLst>
          <pc:docMk/>
          <pc:sldMk cId="0" sldId="275"/>
        </pc:sldMkLst>
      </pc:sldChg>
      <pc:sldChg chg="modNotesTx">
        <pc:chgData name="" userId="" providerId="" clId="Web-{74D29D05-626B-4F07-8687-E1721E85C19D}" dt="2026-10-14T13:45:26.849" v="0" actId="34807"/>
        <pc:sldMkLst>
          <pc:docMk/>
          <pc:sldMk cId="0"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1282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session covers the Agent2Agent protocol, A2A, at specification level, and its implementation in Microsoft Foundry Agent Service. The objective is that participants can evaluate A2A against the alternative integration mechanisms and configure it correctly.
Three points of context set the frame.
First, A2A is a vendor-neutral specification.
It originated at Google in April 2025, moved to the Linux Foundation in June 2025, and since 27 August 2026 has been a Growth Stage project at the Agentic AI Foundation, which also hosts the Model Context Protocol. Microsoft holds one of eight technical steering committee seats.
Second, version precision matters throughout.
Version 1.0 introduced breaking changes to method naming, the content model and enumeration values compared with version 0.3. Published material from before March 2026 describes the earlier wire format. Unless stated otherwise, everything in this session describes version 1.0.
Third, Microsoft Foundry implements two distinct capabilities.
Outbound invocation lets a Foundry agent call a remote agent; inbound exposure lets external agents call a Foundry agent. They carry different release status and are covered separately in section three.
A common opening question is whether A2A replaces the Model Context Protocol. It does not: the two address different problems, and section five covers the distinction in detail.
The key takeaway is that A2A is an open standard first and a Foundry feature second, so the session starts with the specification before moving to the implementation.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Today we will look at A2A from the specification down to the Microsoft Foundry implementation, and then at when to use it.
The sequence is specification-first by design. </a:t>
            </a:r>
            <a:endParaRPr lang="en-US"/>
          </a:p>
          <a:p>
            <a:endParaRPr lang="en-US" dirty="0"/>
          </a:p>
          <a:p>
            <a:r>
              <a:rPr lang="en-US"/>
              <a:t>A2A is an </a:t>
            </a:r>
            <a:r>
              <a:rPr lang="en-US" b="1" dirty="0"/>
              <a:t>open standard with a defined object model, operation set and task lifecycle.</a:t>
            </a:r>
            <a:r>
              <a:rPr lang="en-US" dirty="0"/>
              <a:t> </a:t>
            </a:r>
            <a:endParaRPr lang="en-US"/>
          </a:p>
          <a:p>
            <a:pPr marL="171450" indent="-171450">
              <a:buFont typeface="Arial"/>
              <a:buChar char="•"/>
            </a:pPr>
            <a:r>
              <a:rPr lang="en-US"/>
              <a:t>We begin with the </a:t>
            </a:r>
            <a:r>
              <a:rPr lang="en-US" b="1"/>
              <a:t>protocol foundations</a:t>
            </a:r>
            <a:r>
              <a:rPr lang="en-US"/>
              <a:t>: </a:t>
            </a:r>
            <a:r>
              <a:rPr lang="en-US" i="1"/>
              <a:t>the formal definition, the design principles, the declared scope and the integration problem the specification addresses</a:t>
            </a:r>
            <a:r>
              <a:rPr lang="en-US"/>
              <a:t>.</a:t>
            </a:r>
          </a:p>
          <a:p>
            <a:pPr marL="171450" indent="-171450">
              <a:buFont typeface="Arial"/>
              <a:buChar char="•"/>
            </a:pPr>
            <a:r>
              <a:rPr lang="en-US"/>
              <a:t>We then examine the </a:t>
            </a:r>
            <a:r>
              <a:rPr lang="en-US" b="1"/>
              <a:t>protocol mechanics</a:t>
            </a:r>
            <a:r>
              <a:rPr lang="en-US"/>
              <a:t>: </a:t>
            </a:r>
            <a:r>
              <a:rPr lang="en-US" i="1"/>
              <a:t>the data model, the Agent Card, the operation set and transport bindings, the task state model and the interaction modes.</a:t>
            </a:r>
            <a:r>
              <a:rPr lang="en-US" dirty="0"/>
              <a:t> </a:t>
            </a:r>
            <a:endParaRPr lang="en-US"/>
          </a:p>
          <a:p>
            <a:pPr marL="171450" indent="-171450">
              <a:buFont typeface="Arial"/>
              <a:buChar char="•"/>
            </a:pPr>
            <a:r>
              <a:rPr lang="en-US"/>
              <a:t>The third section introduces the </a:t>
            </a:r>
            <a:r>
              <a:rPr lang="en-US" b="1"/>
              <a:t>Microsoft Foundry implementation</a:t>
            </a:r>
            <a:r>
              <a:rPr lang="en-US"/>
              <a:t> and separates the</a:t>
            </a:r>
            <a:r>
              <a:rPr lang="en-US" b="1"/>
              <a:t> two supported directions</a:t>
            </a:r>
            <a:r>
              <a:rPr lang="en-US"/>
              <a:t>: </a:t>
            </a:r>
            <a:r>
              <a:rPr lang="en-US" b="1"/>
              <a:t>outbound consumption</a:t>
            </a:r>
            <a:r>
              <a:rPr lang="en-US"/>
              <a:t> of a r</a:t>
            </a:r>
            <a:r>
              <a:rPr lang="en-US" b="1"/>
              <a:t>emote agent and inbound exposure of a Foundry agent</a:t>
            </a:r>
            <a:r>
              <a:rPr lang="en-US"/>
              <a:t>.</a:t>
            </a:r>
          </a:p>
          <a:p>
            <a:pPr marL="171450" indent="-171450">
              <a:buFont typeface="Arial"/>
              <a:buChar char="•"/>
            </a:pPr>
            <a:r>
              <a:rPr lang="en-US"/>
              <a:t>The fourth section covers </a:t>
            </a:r>
            <a:r>
              <a:rPr lang="en-US" b="1"/>
              <a:t> security and operations review</a:t>
            </a:r>
            <a:r>
              <a:rPr lang="en-US"/>
              <a:t>: </a:t>
            </a:r>
            <a:r>
              <a:rPr lang="en-US" i="1"/>
              <a:t>authentication methods, identity propagation, documented service constraints and telemetry</a:t>
            </a:r>
            <a:r>
              <a:rPr lang="en-US"/>
              <a:t>.</a:t>
            </a:r>
          </a:p>
          <a:p>
            <a:pPr marL="171450" indent="-171450">
              <a:buFont typeface="Arial"/>
              <a:buChar char="•"/>
            </a:pPr>
            <a:r>
              <a:rPr lang="en-US"/>
              <a:t>The fifth section is the selection material: the </a:t>
            </a:r>
            <a:r>
              <a:rPr lang="en-US" i="1"/>
              <a:t>comparison with the Model Context Protocol, the choice between A2A and the other orchestration mechanisms in Foundry</a:t>
            </a:r>
            <a:r>
              <a:rPr lang="en-US"/>
              <a:t>, and explicit applicability criteria.</a:t>
            </a:r>
          </a:p>
          <a:p>
            <a:pPr marL="171450" indent="-171450">
              <a:buFont typeface="Arial"/>
              <a:buChar char="•"/>
            </a:pPr>
            <a:r>
              <a:rPr lang="en-US"/>
              <a:t>We close with a phased adoption sequence, current release status, version compatibility and the reference repositories, which are listed on slide 21.</a:t>
            </a:r>
            <a:r>
              <a:rPr lang="en-US" dirty="0"/>
              <a:t>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A2A is an open standard for collaboration between independent agents.</a:t>
            </a:r>
          </a:p>
          <a:p>
            <a:r>
              <a:rPr lang="en-US"/>
              <a:t>It allows agents to discover declared capabilities, exchange different content types and manage shared tasks, without exposing their prompts, memory, tools or internal reasoning.</a:t>
            </a:r>
          </a:p>
          <a:p>
            <a:r>
              <a:rPr lang="en-US"/>
              <a:t>The design is intentionally:</a:t>
            </a:r>
          </a:p>
          <a:p>
            <a:pPr marL="171450" indent="-171450">
              <a:buFont typeface="Arial"/>
              <a:buChar char="•"/>
            </a:pPr>
            <a:r>
              <a:rPr lang="en-US" b="1"/>
              <a:t>Simple</a:t>
            </a:r>
            <a:r>
              <a:rPr lang="en-US"/>
              <a:t>, using HTTP, JSON-RPC and Server-Sent Events.</a:t>
            </a:r>
          </a:p>
          <a:p>
            <a:pPr marL="171450" indent="-171450">
              <a:buFont typeface="Arial"/>
              <a:buChar char="•"/>
            </a:pPr>
            <a:r>
              <a:rPr lang="en-US" b="1"/>
              <a:t>Enterprise-ready</a:t>
            </a:r>
            <a:r>
              <a:rPr lang="en-US"/>
              <a:t>, relying on established security and observability standards.</a:t>
            </a:r>
          </a:p>
          <a:p>
            <a:pPr marL="171450" indent="-171450">
              <a:buFont typeface="Arial"/>
              <a:buChar char="•"/>
            </a:pPr>
            <a:r>
              <a:rPr lang="en-US" b="1"/>
              <a:t>Asynchronous-first</a:t>
            </a:r>
            <a:r>
              <a:rPr lang="en-US"/>
              <a:t>, supporting long-running or interrupted tasks.</a:t>
            </a:r>
          </a:p>
          <a:p>
            <a:pPr marL="171450" indent="-171450">
              <a:buFont typeface="Arial"/>
              <a:buChar char="•"/>
            </a:pPr>
            <a:r>
              <a:rPr lang="en-US" b="1"/>
              <a:t>Modality-agnostic</a:t>
            </a:r>
            <a:r>
              <a:rPr lang="en-US"/>
              <a:t>, covering text, files and structured data including images, audio and video through file references.</a:t>
            </a:r>
          </a:p>
          <a:p>
            <a:pPr marL="171450" indent="-171450">
              <a:buFont typeface="Arial"/>
              <a:buChar char="•"/>
            </a:pPr>
            <a:r>
              <a:rPr lang="en-US" b="1"/>
              <a:t>Opaque</a:t>
            </a:r>
            <a:r>
              <a:rPr lang="en-US"/>
              <a:t>, so each agent retains control of its implementation.</a:t>
            </a:r>
          </a:p>
          <a:p>
            <a:r>
              <a:rPr lang="en-US" dirty="0"/>
              <a:t>A2A </a:t>
            </a:r>
            <a:r>
              <a:rPr lang="en-US" dirty="0" err="1"/>
              <a:t>standardises</a:t>
            </a:r>
            <a:r>
              <a:rPr lang="en-US" dirty="0"/>
              <a:t> only the </a:t>
            </a:r>
            <a:r>
              <a:rPr lang="en-US" b="1" dirty="0"/>
              <a:t>collaboration boundary</a:t>
            </a:r>
            <a:r>
              <a:rPr lang="en-US" dirty="0"/>
              <a:t>. It does not define a central registry, credential acquisition, internal agent state or task restart. A completed task cannot resume, so further work requires a new task.</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why direct, point-to-point agent integration does not scale.</a:t>
            </a:r>
          </a:p>
          <a:p>
            <a:r>
              <a:rPr lang="en-US"/>
              <a:t>First, treating an agent as a simple callable tool reduces collaboration to a stateless request and response. A2A introduces a persistent </a:t>
            </a:r>
            <a:r>
              <a:rPr lang="en-US" b="1"/>
              <a:t>task object</a:t>
            </a:r>
            <a:r>
              <a:rPr lang="en-US"/>
              <a:t>, supporting progress updates, clarification and input-required states.</a:t>
            </a:r>
          </a:p>
          <a:p>
            <a:r>
              <a:rPr lang="en-US"/>
              <a:t>Second, agents need a machine-readable way to describe themselves. The </a:t>
            </a:r>
            <a:r>
              <a:rPr lang="en-US" b="1"/>
              <a:t>Agent Card</a:t>
            </a:r>
            <a:r>
              <a:rPr lang="en-US"/>
              <a:t> declares capabilities, supported modalities, interfaces and security requirements.</a:t>
            </a:r>
          </a:p>
          <a:p>
            <a:r>
              <a:rPr lang="en-US"/>
              <a:t>Third, custom contracts create tight coupling between every agent pair. A2A provides one shared operation set and data model, independent of framework or vendor.</a:t>
            </a:r>
          </a:p>
          <a:p>
            <a:r>
              <a:rPr lang="en-US"/>
              <a:t>Fourth, A2A assigns consistent </a:t>
            </a:r>
            <a:r>
              <a:rPr lang="en-US" b="1"/>
              <a:t>task and context identifiers</a:t>
            </a:r>
            <a:r>
              <a:rPr lang="en-US"/>
              <a:t>. This improves correlation, monitoring and audit across the complete interaction.</a:t>
            </a:r>
          </a:p>
          <a:p>
            <a:r>
              <a:rPr lang="en-US"/>
              <a:t>Finally, authentication requirements are declared through standard security schemes rather than designed separately for each integration.</a:t>
            </a:r>
          </a:p>
          <a:p>
            <a:r>
              <a:rPr lang="en-US" dirty="0"/>
              <a:t>The key takeaway is that A2A replaces bespoke agent connections with a </a:t>
            </a:r>
            <a:r>
              <a:rPr lang="en-US" b="1" dirty="0"/>
              <a:t>standard, stateful and discoverable collaboration contract</a:t>
            </a:r>
            <a:r>
              <a:rPr lang="en-US" dirty="0"/>
              <a:t>. It does not remove integration work, but it makes that work consistent and reusable.</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slide places </a:t>
            </a:r>
            <a:r>
              <a:rPr lang="en-US" b="1" dirty="0"/>
              <a:t>A2A and the Model Context Protocol in one multi-agent system.</a:t>
            </a:r>
            <a:r>
              <a:rPr lang="en-US" dirty="0"/>
              <a:t> Read it from top to bottom: A2A connects agents across ownership boundaries, and the Model Context Protocol connects each agent to its own resources.
</a:t>
            </a:r>
            <a:r>
              <a:rPr lang="en-US"/>
              <a:t>The core idea is that the two protocols address different integration axes and are routinely used together.</a:t>
            </a:r>
            <a:endParaRPr lang="en-US" dirty="0"/>
          </a:p>
          <a:p>
            <a:r>
              <a:rPr lang="en-US" dirty="0"/>
              <a:t>
</a:t>
            </a:r>
            <a:r>
              <a:rPr lang="en-US" b="1" dirty="0"/>
              <a:t>Model Context Protocol.</a:t>
            </a:r>
            <a:r>
              <a:rPr lang="en-US" dirty="0"/>
              <a:t>
It</a:t>
            </a:r>
            <a:r>
              <a:rPr lang="en-US" b="1" dirty="0"/>
              <a:t> connects one agent to the tools</a:t>
            </a:r>
            <a:r>
              <a:rPr lang="en-US" dirty="0"/>
              <a:t>, resources and context it uses to do its own work: in the example, the concierge agent's policy database and pricing API. These endpoints have fixed schemas, are typically stateless, and usually sit inside the same ownership boundary as the agent.
</a:t>
            </a:r>
            <a:r>
              <a:rPr lang="en-US" b="1" dirty="0"/>
              <a:t>A2A.</a:t>
            </a:r>
            <a:r>
              <a:rPr lang="en-US" dirty="0"/>
              <a:t>
It </a:t>
            </a:r>
            <a:r>
              <a:rPr lang="en-US" b="1" dirty="0"/>
              <a:t>connects agents to each other.</a:t>
            </a:r>
            <a:r>
              <a:rPr lang="en-US" dirty="0"/>
              <a:t> The counterpart performs its own reasoning, keeps state across turns, and is often operated by a different party: here, a claims agent in another business unit and a logistics agent at a partner </a:t>
            </a:r>
            <a:r>
              <a:rPr lang="en-US" err="1"/>
              <a:t>organisation.</a:t>
            </a:r>
            <a:r>
              <a:rPr lang="en-US" dirty="0"/>
              <a:t>
The dashed boundaries carry the architectural point. Every A2A connection on the diagram crosses one; no Model Context Protocol connection does. That is the practical selection criterion, and it is </a:t>
            </a:r>
            <a:r>
              <a:rPr lang="en-US" err="1"/>
              <a:t>organisational as much as technical.</a:t>
            </a:r>
            <a:r>
              <a:rPr lang="en-US" dirty="0"/>
              <a:t>
The</a:t>
            </a:r>
            <a:r>
              <a:rPr lang="en-US" b="1" dirty="0"/>
              <a:t> specification describes the relationship in terms of depth and reach</a:t>
            </a:r>
            <a:r>
              <a:rPr lang="en-US" dirty="0"/>
              <a:t>:</a:t>
            </a:r>
            <a:r>
              <a:rPr lang="en-US" i="1"/>
              <a:t> the Model Context Protocol increases what an individual agent can do, while A2A increases the set of agents a system can coordinate. </a:t>
            </a:r>
            <a:endParaRPr lang="en-US"/>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A2A version 1.0 uses six core objects to describe the complete collaboration lifecycle.</a:t>
            </a:r>
          </a:p>
          <a:p>
            <a:r>
              <a:rPr lang="en-US" b="1" dirty="0"/>
              <a:t>Agent Card</a:t>
            </a:r>
            <a:r>
              <a:rPr lang="en-US" dirty="0"/>
              <a:t> is the capability manifest. It tells other agents what an agent can do, how to reach it, which content types it supports and which security schemes apply.</a:t>
            </a:r>
          </a:p>
          <a:p>
            <a:r>
              <a:rPr lang="en-US" b="1"/>
              <a:t>Context</a:t>
            </a:r>
            <a:r>
              <a:rPr lang="en-US"/>
              <a:t> is the correlation boundary. It groups related messages and tasks into one logical conversation, including follow-up tasks created to refine earlier results.</a:t>
            </a:r>
          </a:p>
          <a:p>
            <a:r>
              <a:rPr lang="en-US" b="1"/>
              <a:t>Message</a:t>
            </a:r>
            <a:r>
              <a:rPr lang="en-US"/>
              <a:t> represents a conversational turn from either the user or an agent.</a:t>
            </a:r>
          </a:p>
          <a:p>
            <a:r>
              <a:rPr lang="en-US"/>
              <a:t>Each message contains one or more </a:t>
            </a:r>
            <a:r>
              <a:rPr lang="en-US" b="1"/>
              <a:t>Parts</a:t>
            </a:r>
            <a:r>
              <a:rPr lang="en-US"/>
              <a:t>. A Part is the actual content unit and carries exactly one payload type: text, raw bytes, a referenced file or structured data. </a:t>
            </a:r>
            <a:r>
              <a:rPr lang="en-US" b="1"/>
              <a:t>It is simply a piece of content inside an A2A Message or Artifact.</a:t>
            </a:r>
          </a:p>
          <a:p>
            <a:endParaRPr lang="en-US" dirty="0"/>
          </a:p>
          <a:p>
            <a:r>
              <a:rPr lang="en-US"/>
              <a:t>When the interaction becomes actionable, the server creates a </a:t>
            </a:r>
            <a:r>
              <a:rPr lang="en-US" b="1"/>
              <a:t>Task</a:t>
            </a:r>
            <a:r>
              <a:rPr lang="en-US"/>
              <a:t>. The Task is the </a:t>
            </a:r>
            <a:r>
              <a:rPr lang="en-US" b="1"/>
              <a:t>durable unit of work, with its own identifier, lifecycle state, message history and associated outputs.</a:t>
            </a:r>
          </a:p>
          <a:p>
            <a:r>
              <a:rPr lang="en-US"/>
              <a:t>Those outputs are returned as </a:t>
            </a:r>
            <a:r>
              <a:rPr lang="en-US" b="1"/>
              <a:t>Artifacts</a:t>
            </a:r>
            <a:r>
              <a:rPr lang="en-US"/>
              <a:t>. An Artifact contains one or more Parts and represents a defined task result, such as a report, image, data object or referenced file.</a:t>
            </a:r>
          </a:p>
          <a:p>
            <a:r>
              <a:rPr lang="en-US"/>
              <a:t>The critical distinction is between </a:t>
            </a:r>
            <a:r>
              <a:rPr lang="en-US" b="1"/>
              <a:t>Messages and Artifacts</a:t>
            </a:r>
            <a:r>
              <a:rPr lang="en-US"/>
              <a:t>:</a:t>
            </a:r>
          </a:p>
          <a:p>
            <a:pPr marL="171450" indent="-171450">
              <a:buFont typeface="Arial"/>
              <a:buChar char="•"/>
            </a:pPr>
            <a:r>
              <a:rPr lang="en-US" b="1"/>
              <a:t>Messages carry the conversation.</a:t>
            </a:r>
          </a:p>
          <a:p>
            <a:pPr marL="171450" indent="-171450">
              <a:buFont typeface="Arial"/>
              <a:buChar char="•"/>
            </a:pPr>
            <a:r>
              <a:rPr lang="en-US" b="1"/>
              <a:t>Tasks track the work.</a:t>
            </a:r>
          </a:p>
          <a:p>
            <a:pPr marL="171450" indent="-171450">
              <a:buFont typeface="Arial"/>
              <a:buChar char="•"/>
            </a:pPr>
            <a:r>
              <a:rPr lang="en-US" b="1"/>
              <a:t>Artifacts carry the results.</a:t>
            </a:r>
          </a:p>
          <a:p>
            <a:r>
              <a:rPr lang="en-US"/>
              <a:t>The end-to-end model is therefore: </a:t>
            </a:r>
            <a:r>
              <a:rPr lang="en-US" b="1"/>
              <a:t>discover through the Agent Card, correlate through Context, communicate with Messages and Parts, execute through a Task, and return results as Artifacts.</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 </a:t>
            </a:r>
            <a:r>
              <a:rPr lang="en-US" b="1" dirty="0"/>
              <a:t>Agent Card</a:t>
            </a:r>
            <a:r>
              <a:rPr lang="en-US" dirty="0"/>
              <a:t> is the machine-readable description a client retrieves before interacting with an A2A agent.</a:t>
            </a:r>
          </a:p>
          <a:p>
            <a:r>
              <a:rPr lang="en-US"/>
              <a:t>Think of it as the agent’s capability and connectivity manifest. It answers four practical questions:</a:t>
            </a:r>
          </a:p>
          <a:p>
            <a:pPr marL="171450" indent="-171450">
              <a:buFont typeface="Arial"/>
              <a:buChar char="•"/>
            </a:pPr>
            <a:r>
              <a:rPr lang="en-US"/>
              <a:t>What is this agent?</a:t>
            </a:r>
          </a:p>
          <a:p>
            <a:pPr marL="171450" indent="-171450">
              <a:buFont typeface="Arial"/>
              <a:buChar char="•"/>
            </a:pPr>
            <a:r>
              <a:rPr lang="en-US"/>
              <a:t>What can it do?</a:t>
            </a:r>
          </a:p>
          <a:p>
            <a:pPr marL="171450" indent="-171450">
              <a:buFont typeface="Arial"/>
              <a:buChar char="•"/>
            </a:pPr>
            <a:r>
              <a:rPr lang="en-US"/>
              <a:t>How can I communicate with it?</a:t>
            </a:r>
          </a:p>
          <a:p>
            <a:pPr marL="171450" indent="-171450">
              <a:buFont typeface="Arial"/>
              <a:buChar char="•"/>
            </a:pPr>
            <a:r>
              <a:rPr lang="en-US"/>
              <a:t>How must the connection be secured?</a:t>
            </a:r>
          </a:p>
          <a:p>
            <a:pPr marL="171450" indent="-171450">
              <a:buFont typeface="Arial"/>
              <a:buChar char="•"/>
            </a:pPr>
            <a:endParaRPr lang="en-US" dirty="0"/>
          </a:p>
          <a:p>
            <a:r>
              <a:rPr lang="en-US"/>
              <a:t>The </a:t>
            </a:r>
            <a:r>
              <a:rPr lang="en-US" b="1"/>
              <a:t>supported interfaces</a:t>
            </a:r>
            <a:r>
              <a:rPr lang="en-US"/>
              <a:t> declare the available endpoint, protocol binding and protocol version. The list is ordered, so the first interface represents the agent’s preferred option. Multiple entries allow one agent to support several protocol versions or bindings during migration.</a:t>
            </a:r>
          </a:p>
          <a:p>
            <a:r>
              <a:rPr lang="en-US" dirty="0"/>
              <a:t>The </a:t>
            </a:r>
            <a:r>
              <a:rPr lang="en-US" b="1" dirty="0"/>
              <a:t>capabilities</a:t>
            </a:r>
            <a:r>
              <a:rPr lang="en-US" dirty="0"/>
              <a:t> indicate optional protocol </a:t>
            </a:r>
            <a:r>
              <a:rPr lang="en-US" dirty="0" err="1"/>
              <a:t>behaviours</a:t>
            </a:r>
            <a:r>
              <a:rPr lang="en-US" dirty="0"/>
              <a:t>, such as streaming, push notifications or access to an extended Agent Card.</a:t>
            </a:r>
          </a:p>
          <a:p>
            <a:r>
              <a:rPr lang="en-US"/>
              <a:t>The </a:t>
            </a:r>
            <a:r>
              <a:rPr lang="en-US" b="1"/>
              <a:t>input and output modes</a:t>
            </a:r>
            <a:r>
              <a:rPr lang="en-US"/>
              <a:t> declare the media types the agent accepts and produces. These could include text, structured data or files, depending on the agent.</a:t>
            </a:r>
          </a:p>
          <a:p>
            <a:r>
              <a:rPr lang="en-US"/>
              <a:t>The </a:t>
            </a:r>
            <a:r>
              <a:rPr lang="en-US" b="1"/>
              <a:t>skills</a:t>
            </a:r>
            <a:r>
              <a:rPr lang="en-US"/>
              <a:t> describe the business capabilities exposed by the agent. In this example, the agent publishes a skill for assessing insurance claims. Skills support discovery and routing, but they do not expose the agent’s internal prompts, tools or implementation.</a:t>
            </a:r>
          </a:p>
          <a:p>
            <a:r>
              <a:rPr lang="en-US"/>
              <a:t>Security schemes are declared alongside the interface, while credentials are acquired through a separate process.</a:t>
            </a:r>
          </a:p>
          <a:p>
            <a:r>
              <a:rPr lang="en-US"/>
              <a:t>There are three common discovery patterns:</a:t>
            </a:r>
          </a:p>
          <a:p>
            <a:pPr marL="171450" indent="-171450">
              <a:buFont typeface="Arial"/>
              <a:buChar char="•"/>
            </a:pPr>
            <a:r>
              <a:rPr lang="en-US"/>
              <a:t>A </a:t>
            </a:r>
            <a:r>
              <a:rPr lang="en-US" b="1"/>
              <a:t>well-known URI</a:t>
            </a:r>
            <a:r>
              <a:rPr lang="en-US"/>
              <a:t> provides standard HTTP-based discovery.</a:t>
            </a:r>
          </a:p>
          <a:p>
            <a:pPr marL="171450" indent="-171450">
              <a:buFont typeface="Arial"/>
              <a:buChar char="•"/>
            </a:pPr>
            <a:r>
              <a:rPr lang="en-US"/>
              <a:t>A </a:t>
            </a:r>
            <a:r>
              <a:rPr lang="en-US" b="1"/>
              <a:t>curated registry</a:t>
            </a:r>
            <a:r>
              <a:rPr lang="en-US"/>
              <a:t> allows agents to be searched by capability, provider or tags.</a:t>
            </a:r>
          </a:p>
          <a:p>
            <a:pPr marL="171450" indent="-171450">
              <a:buFont typeface="Arial"/>
              <a:buChar char="•"/>
            </a:pPr>
            <a:r>
              <a:rPr lang="en-US" b="1"/>
              <a:t>Direct configuration</a:t>
            </a:r>
            <a:r>
              <a:rPr lang="en-US"/>
              <a:t> supplies the endpoint and credentials explicitly, which is common for private integrations.</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lists the eleven A2A operations and how they are expressed across the three standard bindings.
The core idea is that version 1.0 restructured the specification into three layers: a canonical data model defined in protocol buffers, an abstract operation set, and bindings that map those operations onto a concrete transport. The operations are identical across bindings; only their expression differs.
First, the operation table.
The left column gives the operation, which in version 1.0 is also the JSON-RPC method name. The middle column shows the HTTP+JSON resource path. The right column gives the version 0.3 method name, because that is where most migration effort is spent. Version 1.0 replaced the namespaced, lowercase form with the PascalCase operation name, so message/send became SendMessage. SDKs tell the two apart by inspecting the method name, which means a version mismatch produces an incorrect dispatch rather than an explicit error.
The push notification configuration operations are often overlooked. They exist because a webhook registration is itself a managed resource with a lifecycle.
Second, the transport bindings.
JSON-RPC 2.0 over HTTP, gRPC with protocol buffers over HTTP/2, and HTTP+JSON using the application/a2a+json media type. Where Microsoft Foundry is a participant, JSON-RPC is the binding to choose, since it is the only one Foundry supports at protocol version 1.0.
Third, version negotiation.
The version is stated in the A2A-Version header or as a query parameter. When the header is absent, the request is interpreted as version 0.3, as the specification requires. A client built for 1.0 that omits the header is therefore served the earlier protocol, with different method names and a different content model. An unsupported version returns VersionNotSupportedError, and patch versions are excluded from negotiation.
The key takeaway is that every request should state A2A-Version 1.0 explicitly.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task state model: a state machine owned by the server and read identically by both parties. Read the diagram from left to right, with the enumeration table on the right.
The core idea is that the state machine is not advisory. Both parties interpret the same states, which is what makes uniform monitoring across heterogeneous agents possible.
Three transitions matter in design.
First, submitted to working.
This is the point at which the server has accepted the task and generated its identifier.
Second, working to an interrupted state.
The agent needs more input from the user, input-required, or credentials for a downstream system, auth-required, and it suspends rather than failing. A client that treats any non-terminal return as an error will handle this incorrectly.
Third, the move into a terminal state.
Completed, failed, canceled and rejected are terminal, and after that the task cannot change. This has a direct consequence for application design: a request to refine a completed result is a new task carrying the same context identifier, and a further message sent to a terminal task returns an unsupported-operation error.
Artifacts are appended as output is produced, so results can build up while the task is still working.
The enumeration table is included because these are the literal values serialised in version 1.0, following the ProtoJSON convention, for example TASK_STATE_INPUT_REQUIRED. Version 0.3 used lowercase hyphenated forms such as input-required, and code written against those forms will not match.
A common question is how a dropped connection is recovered. The client subscribes to the task again; the stream restarts with a complete Task object, so no state is lost.
The key takeaway is that interruption is a normal state and completion is final, and clients must be designed for both.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A2A supports three interaction modes. The choice depends on </a:t>
            </a:r>
            <a:r>
              <a:rPr lang="en-US" b="1"/>
              <a:t>how long the task may run</a:t>
            </a:r>
            <a:r>
              <a:rPr lang="en-US"/>
              <a:t> and </a:t>
            </a:r>
            <a:r>
              <a:rPr lang="en-US" b="1"/>
              <a:t>whether the caller can keep a connection open</a:t>
            </a:r>
            <a:r>
              <a:rPr lang="en-US"/>
              <a:t>.</a:t>
            </a:r>
          </a:p>
          <a:p>
            <a:r>
              <a:rPr lang="en-US" b="1"/>
              <a:t>Synchronous mode</a:t>
            </a:r>
            <a:r>
              <a:rPr lang="en-US"/>
              <a:t> is the simplest. The caller sends one request and waits until the task completes, fails or requires additional input. It fits short, predictable work, but the real limit is the timeout imposed by the client, gateway or network.</a:t>
            </a:r>
          </a:p>
          <a:p>
            <a:r>
              <a:rPr lang="en-US" b="1"/>
              <a:t>Streaming mode</a:t>
            </a:r>
            <a:r>
              <a:rPr lang="en-US"/>
              <a:t> keeps the connection open using Server-Sent Events. The agent can send ordered status updates and incremental artefacts while work is progressing. This is useful for interactive experiences where the user needs immediate feedback. If the connection drops, recovery uses the persisted task state rather than replaying from an arbitrary event offset.</a:t>
            </a:r>
          </a:p>
          <a:p>
            <a:r>
              <a:rPr lang="en-US" b="1"/>
              <a:t>Asynchronous mode</a:t>
            </a:r>
            <a:r>
              <a:rPr lang="en-US"/>
              <a:t> is designed for long-running work without a permanent connection. The client registers a webhook, and the server sends authenticated notifications when the task state changes. The receiving system must validate every notification before processing it.</a:t>
            </a:r>
          </a:p>
          <a:p>
            <a:r>
              <a:rPr lang="en-US"/>
              <a:t>The selected mode must be declared in the Agent Card. Streaming requires the streaming capability; asynchronous delivery requires push-notification support and a webhook authentication scheme.</a:t>
            </a:r>
          </a:p>
          <a:p>
            <a:r>
              <a:rPr lang="en-US"/>
              <a:t>The key takeaway is:</a:t>
            </a:r>
          </a:p>
          <a:p>
            <a:pPr marL="171450" indent="-171450">
              <a:buFont typeface="Arial"/>
              <a:buChar char="•"/>
            </a:pPr>
            <a:r>
              <a:rPr lang="en-US" b="1"/>
              <a:t>Synchronous</a:t>
            </a:r>
            <a:r>
              <a:rPr lang="en-US"/>
              <a:t> for short tasks where the caller can wait.</a:t>
            </a:r>
          </a:p>
          <a:p>
            <a:pPr marL="171450" indent="-171450">
              <a:buFont typeface="Arial"/>
              <a:buChar char="•"/>
            </a:pPr>
            <a:r>
              <a:rPr lang="en-US" b="1"/>
              <a:t>Streaming</a:t>
            </a:r>
            <a:r>
              <a:rPr lang="en-US"/>
              <a:t> for live progress over an open connection.</a:t>
            </a:r>
          </a:p>
          <a:p>
            <a:pPr marL="171450" indent="-171450">
              <a:buFont typeface="Arial"/>
              <a:buChar char="•"/>
            </a:pPr>
            <a:r>
              <a:rPr lang="en-US" b="1"/>
              <a:t>Asynchronous</a:t>
            </a:r>
            <a:r>
              <a:rPr lang="en-US"/>
              <a:t> for long-running, system-to-system work.</a:t>
            </a:r>
          </a:p>
          <a:p>
            <a:r>
              <a:rPr lang="en-US" b="1">
                <a:solidFill>
                  <a:srgbClr val="FF0000"/>
                </a:solidFill>
              </a:rPr>
              <a:t>For Microsoft Foundry specifically, the current A2A target integration supports only synchronous JSON-RPC with text content.</a:t>
            </a:r>
            <a:r>
              <a:rPr lang="en-US"/>
              <a:t> Remote work must therefore finish within the caller’s timeout, which is an important constraint when designing the delegated task.</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Microsoft Foundry supports A2A in </a:t>
            </a:r>
            <a:r>
              <a:rPr lang="en-US" b="1"/>
              <a:t>two independent directions</a:t>
            </a:r>
            <a:r>
              <a:rPr lang="en-US"/>
              <a:t>: inbound exposure and outbound delegation. A Foundry agent can use either capability or both.</a:t>
            </a:r>
          </a:p>
          <a:p>
            <a:r>
              <a:rPr lang="en-US" b="1"/>
              <a:t>Inbound: the Foundry agent acts as the A2A server.</a:t>
            </a:r>
          </a:p>
          <a:p>
            <a:r>
              <a:rPr lang="en-US"/>
              <a:t>An external A2A client first retrieves the agent’s published </a:t>
            </a:r>
            <a:r>
              <a:rPr lang="en-US" b="1"/>
              <a:t>Agent Card</a:t>
            </a:r>
            <a:r>
              <a:rPr lang="en-US"/>
              <a:t>. The client then authenticates with Microsoft Entra ID and submits a task to the agent’s A2A endpoint.</a:t>
            </a:r>
          </a:p>
          <a:p>
            <a:r>
              <a:rPr lang="en-US"/>
              <a:t>Foundry translates that A2A request into the agent’s native Responses-based runtime. This allows an external agent to invoke the Foundry agent through a standard A2A contract rather than a proprietary integration.</a:t>
            </a:r>
          </a:p>
          <a:p>
            <a:r>
              <a:rPr lang="en-US" b="1"/>
              <a:t>Outbound: the Foundry agent acts as the A2A client.</a:t>
            </a:r>
          </a:p>
          <a:p>
            <a:r>
              <a:rPr lang="en-US"/>
              <a:t>The Foundry agent invokes its </a:t>
            </a:r>
            <a:r>
              <a:rPr lang="en-US" b="1"/>
              <a:t>A2A tool</a:t>
            </a:r>
            <a:r>
              <a:rPr lang="en-US"/>
              <a:t>. That tool resolves a RemoteA2A project connection containing the remote endpoint and credential, then delegates the task to the external A2A agent.</a:t>
            </a:r>
          </a:p>
          <a:p>
            <a:r>
              <a:rPr lang="en-US"/>
              <a:t>The remote agent can be implemented with any vendor or framework, provided it supports the compatible A2A contract.</a:t>
            </a:r>
          </a:p>
          <a:p>
            <a:r>
              <a:rPr lang="en-US" dirty="0"/>
              <a:t>Identity spans both paths. Foundry can use</a:t>
            </a:r>
            <a:r>
              <a:rPr lang="en-US" b="1" dirty="0"/>
              <a:t> agent identity, project-managed identity or OAuth identity passthrough</a:t>
            </a:r>
            <a:r>
              <a:rPr lang="en-US" dirty="0"/>
              <a:t>, depending on the connection design. Every Foundry A2A endpoint requires Microsoft Entra authentication, so anonymous Agent Card retrieval is not supported.</a:t>
            </a:r>
            <a:r>
              <a:rPr lang="en-US" b="1" dirty="0"/>
              <a:t> And that is why Inbound A2A is still in preview - Inbound Foundry A2A endpoints require Microsoft Entra ID authentication, including Agent Card retrieval. External agents therefore need an Entra-</a:t>
            </a:r>
            <a:r>
              <a:rPr lang="en-US" b="1" dirty="0" err="1"/>
              <a:t>recognised</a:t>
            </a:r>
            <a:r>
              <a:rPr lang="en-US" b="1" dirty="0"/>
              <a:t> user or service identity with access to the target agent.</a:t>
            </a:r>
          </a:p>
          <a:p>
            <a:endParaRPr lang="en-US" dirty="0"/>
          </a:p>
          <a:p>
            <a:r>
              <a:rPr lang="en-US"/>
              <a:t>The key takeaway is the separation of concerns:</a:t>
            </a:r>
          </a:p>
          <a:p>
            <a:pPr marL="171450" indent="-171450">
              <a:buFont typeface="Arial"/>
              <a:buChar char="•"/>
            </a:pPr>
            <a:r>
              <a:rPr lang="en-US" b="1"/>
              <a:t>Inbound A2A</a:t>
            </a:r>
            <a:r>
              <a:rPr lang="en-US"/>
              <a:t> exposes a Foundry agent to external clients.</a:t>
            </a:r>
          </a:p>
          <a:p>
            <a:pPr marL="171450" indent="-171450">
              <a:buFont typeface="Arial"/>
              <a:buChar char="•"/>
            </a:pPr>
            <a:r>
              <a:rPr lang="en-US" b="1"/>
              <a:t>Outbound A2A</a:t>
            </a:r>
            <a:r>
              <a:rPr lang="en-US"/>
              <a:t> lets a Foundry agent delegate work to remote agents.</a:t>
            </a:r>
          </a:p>
          <a:p>
            <a:pPr marL="171450" indent="-171450">
              <a:buFont typeface="Arial"/>
              <a:buChar char="•"/>
            </a:pPr>
            <a:r>
              <a:rPr lang="en-US" b="1"/>
              <a:t>Microsoft Entra ID</a:t>
            </a:r>
            <a:r>
              <a:rPr lang="en-US"/>
              <a:t> provides the trust boundary across both paths.</a:t>
            </a:r>
          </a:p>
          <a:p>
            <a:r>
              <a:rPr lang="en-US"/>
              <a:t>The inbound A2A endpoint is marked as preview, so regional availability, supported protocol features and production support commitments should be validated before adoption.</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Outbound A2A integration allows a Foundry agent to delegate a task to a remote, A2A-compatible agent. The configuration has three layers.</a:t>
            </a:r>
          </a:p>
          <a:p>
            <a:r>
              <a:rPr lang="en-US" b="1"/>
              <a:t>First, the project connection.</a:t>
            </a:r>
            <a:br>
              <a:rPr lang="en-US" b="1" dirty="0"/>
            </a:br>
            <a:r>
              <a:rPr lang="en-US" b="1"/>
              <a:t> A </a:t>
            </a:r>
            <a:r>
              <a:rPr lang="en-US"/>
              <a:t>RemoteA2A connection stores the remote endpoint and authentication configuration. This separates credentials and connectivity from the agent’s instructions and code.</a:t>
            </a:r>
          </a:p>
          <a:p>
            <a:r>
              <a:rPr lang="en-US" b="1"/>
              <a:t>Second, the tool definition.</a:t>
            </a:r>
            <a:br>
              <a:rPr lang="en-US" b="1" dirty="0"/>
            </a:br>
            <a:r>
              <a:rPr lang="en-US" b="1"/>
              <a:t> The A2A tool references that project connection and selects protocol version 1.0. Optional settings can specify the base URL and Agent Card path.</a:t>
            </a:r>
          </a:p>
          <a:p>
            <a:r>
              <a:rPr lang="en-US" b="1"/>
              <a:t>Third, the agent version.</a:t>
            </a:r>
            <a:br>
              <a:rPr lang="en-US" b="1" dirty="0"/>
            </a:br>
            <a:r>
              <a:rPr lang="en-US" b="1"/>
              <a:t> The tool is attached to the agent definition, and a new agent version is created. Published agents access it through Toolbox rather than directly.</a:t>
            </a:r>
          </a:p>
          <a:p>
            <a:r>
              <a:rPr lang="en-US"/>
              <a:t>At runtime, the Foundry agent decides when delegation is required, invokes the A2A tool, and the connection supplies the endpoint and credentials needed to call the remote agent.</a:t>
            </a:r>
          </a:p>
          <a:p>
            <a:r>
              <a:rPr lang="en-US"/>
              <a:t>The key architectural principle is separation of concerns:</a:t>
            </a:r>
          </a:p>
          <a:p>
            <a:pPr marL="171450" indent="-171450">
              <a:buFont typeface="Arial"/>
              <a:buChar char="•"/>
            </a:pPr>
            <a:r>
              <a:rPr lang="en-US"/>
              <a:t>The </a:t>
            </a:r>
            <a:r>
              <a:rPr lang="en-US" b="1"/>
              <a:t>connection</a:t>
            </a:r>
            <a:r>
              <a:rPr lang="en-US"/>
              <a:t> manages endpoint and authentication.</a:t>
            </a:r>
          </a:p>
          <a:p>
            <a:pPr marL="171450" indent="-171450">
              <a:buFont typeface="Arial"/>
              <a:buChar char="•"/>
            </a:pPr>
            <a:r>
              <a:rPr lang="en-US"/>
              <a:t>The </a:t>
            </a:r>
            <a:r>
              <a:rPr lang="en-US" b="1"/>
              <a:t>tool</a:t>
            </a:r>
            <a:r>
              <a:rPr lang="en-US"/>
              <a:t> defines the A2A integration contract.</a:t>
            </a:r>
          </a:p>
          <a:p>
            <a:pPr marL="171450" indent="-171450">
              <a:buFont typeface="Arial"/>
              <a:buChar char="•"/>
            </a:pPr>
            <a:r>
              <a:rPr lang="en-US"/>
              <a:t>The </a:t>
            </a:r>
            <a:r>
              <a:rPr lang="en-US" b="1"/>
              <a:t>agent version</a:t>
            </a:r>
            <a:r>
              <a:rPr lang="en-US"/>
              <a:t> determines which deployed agent can use it.</a:t>
            </a:r>
          </a:p>
          <a:p>
            <a:r>
              <a:rPr lang="en-US"/>
              <a:t>For new implementations, use the generally available a2a tool with protocol version 1.0. The earlier a2a_preview integration targets version 0.3 and remains relevant only for existing integrations.</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how to expose a Foundry agent as an inbound A2A endpoint, allowing external agents to discover and invoke it.</a:t>
            </a:r>
          </a:p>
          <a:p>
            <a:r>
              <a:rPr lang="en-US"/>
              <a:t>The configuration is applied through a single </a:t>
            </a:r>
            <a:r>
              <a:rPr lang="en-US" b="1"/>
              <a:t>PATCH operation</a:t>
            </a:r>
            <a:r>
              <a:rPr lang="en-US"/>
              <a:t>. It adds two elements to the existing agent definition:</a:t>
            </a:r>
          </a:p>
          <a:p>
            <a:pPr marL="171450" indent="-171450">
              <a:buFont typeface="Arial"/>
              <a:buChar char="•"/>
            </a:pPr>
            <a:r>
              <a:rPr lang="en-US"/>
              <a:t>An </a:t>
            </a:r>
            <a:r>
              <a:rPr lang="en-US" b="1"/>
              <a:t>Agent Card</a:t>
            </a:r>
            <a:r>
              <a:rPr lang="en-US"/>
              <a:t>, describing the agent’s version and declared skills.</a:t>
            </a:r>
          </a:p>
          <a:p>
            <a:pPr marL="171450" indent="-171450">
              <a:buFont typeface="Arial"/>
              <a:buChar char="•"/>
            </a:pPr>
            <a:r>
              <a:rPr lang="en-US"/>
              <a:t>An </a:t>
            </a:r>
            <a:r>
              <a:rPr lang="en-US" b="1"/>
              <a:t>A2A protocol configuration</a:t>
            </a:r>
            <a:r>
              <a:rPr lang="en-US"/>
              <a:t>, enabling the inbound endpoint.</a:t>
            </a:r>
          </a:p>
          <a:p>
            <a:r>
              <a:rPr lang="en-US"/>
              <a:t>Once enabled, Foundry exposes two service paths:</a:t>
            </a:r>
          </a:p>
          <a:p>
            <a:pPr marL="171450" indent="-171450">
              <a:buFont typeface="Arial"/>
              <a:buChar char="•"/>
            </a:pPr>
            <a:r>
              <a:rPr lang="en-US"/>
              <a:t>The </a:t>
            </a:r>
            <a:r>
              <a:rPr lang="en-US" b="1"/>
              <a:t>Agent Card path</a:t>
            </a:r>
            <a:r>
              <a:rPr lang="en-US"/>
              <a:t> for machine-readable discovery.</a:t>
            </a:r>
          </a:p>
          <a:p>
            <a:pPr marL="171450" indent="-171450">
              <a:buFont typeface="Arial"/>
              <a:buChar char="•"/>
            </a:pPr>
            <a:r>
              <a:rPr lang="en-US"/>
              <a:t>The </a:t>
            </a:r>
            <a:r>
              <a:rPr lang="en-US" b="1"/>
              <a:t>task endpoint</a:t>
            </a:r>
            <a:r>
              <a:rPr lang="en-US"/>
              <a:t> where authenticated clients submit A2A requests.</a:t>
            </a:r>
          </a:p>
          <a:p>
            <a:r>
              <a:rPr lang="en-US"/>
              <a:t>Clients can select the protocol version through card discovery, a request header or a query parameter. If version signals conflict, Foundry rejects the request rather than choosing implicitly. </a:t>
            </a:r>
          </a:p>
          <a:p>
            <a:endParaRPr lang="en-US" dirty="0"/>
          </a:p>
          <a:p>
            <a:r>
              <a:rPr lang="en-US"/>
              <a:t>Limitations:</a:t>
            </a:r>
            <a:endParaRPr lang="en-US" dirty="0"/>
          </a:p>
          <a:p>
            <a:pPr marL="171450" indent="-171450">
              <a:buFont typeface="Arial"/>
              <a:buChar char="•"/>
            </a:pPr>
            <a:r>
              <a:rPr lang="en-US"/>
              <a:t>First, the agent must support the </a:t>
            </a:r>
            <a:r>
              <a:rPr lang="en-US" b="1"/>
              <a:t>Responses protocol</a:t>
            </a:r>
            <a:r>
              <a:rPr lang="en-US"/>
              <a:t>. Prompt agents support it by default, but other agent types should be verified before enabling A2A.</a:t>
            </a:r>
          </a:p>
          <a:p>
            <a:pPr marL="171450" indent="-171450">
              <a:buFont typeface="Arial"/>
              <a:buChar char="•"/>
            </a:pPr>
            <a:r>
              <a:rPr lang="en-US"/>
              <a:t>Second, configuration is currently available through the </a:t>
            </a:r>
            <a:r>
              <a:rPr lang="en-US" b="1"/>
              <a:t>REST API and Python SDK</a:t>
            </a:r>
            <a:r>
              <a:rPr lang="en-US"/>
              <a:t>, not through the Foundry portal.</a:t>
            </a:r>
          </a:p>
          <a:p>
            <a:pPr marL="171450" indent="-171450">
              <a:buFont typeface="Arial"/>
              <a:buChar char="•"/>
            </a:pPr>
            <a:r>
              <a:rPr lang="en-US"/>
              <a:t>Third, both Agent Card retrieval and task submission require </a:t>
            </a:r>
            <a:r>
              <a:rPr lang="en-US" b="1"/>
              <a:t>Microsoft Entra ID authentication</a:t>
            </a:r>
            <a:r>
              <a:rPr lang="en-US"/>
              <a:t>. Anonymous access and key-based authentication are not supported.</a:t>
            </a:r>
          </a:p>
          <a:p>
            <a:pPr marL="171450" indent="-171450">
              <a:buFont typeface="Arial"/>
              <a:buChar char="•"/>
            </a:pPr>
            <a:r>
              <a:rPr lang="en-US"/>
              <a:t>Finally, authentication alone is insufficient. The calling user or service principal also requires the </a:t>
            </a:r>
            <a:r>
              <a:rPr lang="en-US" b="1"/>
              <a:t>Foundry Agent Consumer</a:t>
            </a:r>
            <a:r>
              <a:rPr lang="en-US"/>
              <a:t> role at the agent or project scope.</a:t>
            </a:r>
          </a:p>
          <a:p>
            <a:r>
              <a:rPr lang="en-US" dirty="0"/>
              <a:t>This means an agent hosted outside Azure can still invoke the Foundry agent, but the calling workload must obtain an Entra token through an </a:t>
            </a:r>
            <a:r>
              <a:rPr lang="en-US" dirty="0" err="1"/>
              <a:t>authorised</a:t>
            </a:r>
            <a:r>
              <a:rPr lang="en-US" dirty="0"/>
              <a:t> user or service identity.</a:t>
            </a:r>
          </a:p>
          <a:p>
            <a:r>
              <a:rPr lang="en-US" dirty="0"/>
              <a:t>The key takeaway is that Foundry turns an existing Responses-based agent into a discoverable A2A service, while keeping discovery and task execution behind the same identity and </a:t>
            </a:r>
            <a:r>
              <a:rPr lang="en-US" dirty="0" err="1"/>
              <a:t>authorisation</a:t>
            </a:r>
            <a:r>
              <a:rPr lang="en-US" dirty="0"/>
              <a:t> boundary.</a:t>
            </a:r>
          </a:p>
          <a:p>
            <a:r>
              <a:rPr lang="en-US"/>
              <a:t>Because inbound A2A remains in preview, protocol coverage, regional availability and production support commitments should be validated before adoption.</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For </a:t>
            </a:r>
            <a:r>
              <a:rPr lang="en-US" b="1"/>
              <a:t>outbound calls</a:t>
            </a:r>
            <a:r>
              <a:rPr lang="en-US"/>
              <a:t>, where Foundry invokes a remote agent, the authentication method is defined in the RemoteA2A connection.</a:t>
            </a:r>
          </a:p>
          <a:p>
            <a:r>
              <a:rPr lang="en-US"/>
              <a:t>Foundry can present:</a:t>
            </a:r>
          </a:p>
          <a:p>
            <a:pPr marL="171450" indent="-171450">
              <a:buFont typeface="Arial"/>
              <a:buChar char="•"/>
            </a:pPr>
            <a:r>
              <a:rPr lang="en-US"/>
              <a:t>An API key or other key-based credential.</a:t>
            </a:r>
          </a:p>
          <a:p>
            <a:pPr marL="171450" indent="-171450">
              <a:buFont typeface="Arial"/>
              <a:buChar char="•"/>
            </a:pPr>
            <a:r>
              <a:rPr lang="en-US"/>
              <a:t>The Foundry agent’s managed identity.</a:t>
            </a:r>
          </a:p>
          <a:p>
            <a:pPr marL="171450" indent="-171450">
              <a:buFont typeface="Arial"/>
              <a:buChar char="•"/>
            </a:pPr>
            <a:r>
              <a:rPr lang="en-US"/>
              <a:t>The project-managed identity.</a:t>
            </a:r>
          </a:p>
          <a:p>
            <a:pPr marL="171450" indent="-171450">
              <a:buFont typeface="Arial"/>
              <a:buChar char="•"/>
            </a:pPr>
            <a:r>
              <a:rPr lang="en-US"/>
              <a:t>The calling user’s OAuth token through identity passthrough.</a:t>
            </a:r>
          </a:p>
          <a:p>
            <a:pPr marL="171450" indent="-171450">
              <a:buFont typeface="Arial"/>
              <a:buChar char="•"/>
            </a:pPr>
            <a:r>
              <a:rPr lang="en-US"/>
              <a:t>No credential, if the remote endpoint permits anonymous access.</a:t>
            </a:r>
          </a:p>
          <a:p>
            <a:r>
              <a:rPr lang="en-US"/>
              <a:t>The first three service-oriented patterns identify the application or agent, but do not preserve the end-user identity. OAuth passthrough is the option that retains the calling user’s context.</a:t>
            </a:r>
          </a:p>
          <a:p>
            <a:r>
              <a:rPr lang="en-US"/>
              <a:t>Agent Card discovery is anonymous by default for outbound connections. If the remote Agent Card is protected, Foundry can be configured to send the connection credential when retrieving it.</a:t>
            </a:r>
          </a:p>
          <a:p>
            <a:r>
              <a:rPr lang="en-US"/>
              <a:t>For </a:t>
            </a:r>
            <a:r>
              <a:rPr lang="en-US" b="1"/>
              <a:t>inbound calls</a:t>
            </a:r>
            <a:r>
              <a:rPr lang="en-US"/>
              <a:t>, where an external agent invokes a Foundry agent, the model is stricter. Both Agent Card retrieval and task submission require a Microsoft Entra token. The calling user or service identity must also have the </a:t>
            </a:r>
            <a:r>
              <a:rPr lang="en-US" b="1"/>
              <a:t>Foundry Agent Consumer</a:t>
            </a:r>
            <a:r>
              <a:rPr lang="en-US"/>
              <a:t> role at project or individual-agent scope.</a:t>
            </a:r>
          </a:p>
          <a:p>
            <a:r>
              <a:rPr lang="en-US"/>
              <a:t>This means that an agent hosted on another platform can call Foundry, but its workload must first obtain an Entra token, either as a service identity or on behalf of a user.</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lists the documented service limits that constrain A2A designs in Foundry, and the signals that show the integration is working correctly.
The core idea is that three protocol constraints exclude a whole class of designs and should be checked before any commitment is made.
First, text only.
This is the most restrictive constraint. File and structured data parts are not carried, so a scenario that sends a document to a remote agent for field extraction cannot be implemented directly. A reference is passed instead, and the remote agent retrieves the content itself.
Second, no streaming.
Server-Sent Events are not supported for A2A targets, so no intermediate progress is available from the remote agent, which limits what can be shown to a user during execution.
Third, JSON-RPC only at version 1.0.
Version 0.3 also allowed HTTP+JSON.
The remaining limits are operational. Tasks and contexts are retained for sixty days from the most recent write; where an audit record must last longer, task identifiers and outcomes should be copied into an application-owned store as tasks complete. No numeric request timeout is documented, so it should be measured in the target environment rather than assumed; retry with exponential backoff is the stated guidance.
On instrumentation, the specification's enterprise guidance points to OpenTelemetry and W3C Trace Context: log task, session and correlation identifiers, and audit task creation and critical state transitions. The slide adds four signals: the distribution of terminal states, where a rising share of rejected tasks indicates a contract defect rather than a capacity problem; interrupted tasks that never resume, which are silent failures in most implementations; the agent card version, since the counterpart can change its declared surface without notice; and latency and retry rate.
Azure API Management can also publish an A2A agent API from its agent card, mediate JSON-RPC to the backend, and emit the agent identifier and name as OpenTelemetry attributes. The same component underlies custom agent registration in the Foundry control plane.
The key takeaway is that the remote agent is an external dependency and must be monitored as one, with its own error budget.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A2A and the Model Context Protocol by applying the same criteria to both.
The core idea is that the selection criterion is the nature of the counterpart. When it is a function with a fixed schema, the Model Context Protocol applies. When it is an autonomous agent that reasons and plans, A2A applies.
Two rows carry the substantive difference.
First, expressive range.
A tool invocation states an operation and its arguments. An A2A task states an objective, and the protocol accepts the answer that more input is required before the objective can be met, without treating it as a failure. This capability is lost when an agent is exposed through a tool interface, and it is the main reason the specification exists. The failure modes follow from it: the Model Context Protocol is designed for invalid arguments and unavailable dependencies, A2A for rejected tasks, suspension pending input and long execution.
Second, ownership.
This is the practical discriminator in an architecture review. When the counterpart is maintained by a party that changes it independently, a declared capability manifest, a versioned contract and a common task model have measurable value. Within a single codebase, they add a network hop and a protocol to something a direct call already does.
The other rows follow the same logic: the Model Context Protocol extends one agent's capability within its own trust boundary, while A2A extends the set of agents a system can coordinate across a boundary the caller does not control.
Both specifications have been hosted by the Agentic AI Foundation since 27 August 2026, which settles any question of competing direction. A common question is whether an A2A agent can be exposed as a Model Context Protocol tool. It can, for stateless, well-defined skills, but the task lifecycle is not preserved.
The key takeaway is that the two protocols compose: the Model Context Protocol operates within an agent, A2A operates between agents, and one agent is commonly a client of the first and a client or server of the second.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the three supported mechanisms for agent-to-agent interaction in Microsoft Foundry, and notes one that has been withdrawn.
The core idea is that delegation and orchestration are different problems. When a calling agent hands over a discrete objective and keeps control of the interaction, that is delegation, and the A2A tool fits. When a defined multi-step process is needed, with branching, approval or compensation across several agents, that is orchestration, and it belongs in a workflow.
First, the A2A tool.
It is generally available. Orchestration stays with the calling agent, coupling is loose, an endpoint and a capability manifest, and it can reach any A2A-compliant agent, including another Foundry agent exposed for inbound A2A. As per official documentation, this is the route for lightweight delegation without a formal process.
Second, Microsoft Agent Framework.
It provides code-first orchestration for sequential, concurrent, hand-off and group-chat processes. A remote A2A agent is represented as an agent object in application code and participates as a full member of a workflow. The official guidance identifies it as the closest equivalent to the retiring workflow designer. Its .NET A2A packages are still prerelease even though the protocol itself is stable, so package status should be checked before committing to a delivery date.
Third, Azure Logic Apps.
It is the low-code option for business-process automation with a visual designer. Orchestration is held in the Logic App, outside the agent, and reach is defined by the available connectors.
These mechanisms are not mutually exclusive. The common composition is a workflow that orchestrates, with one or more participants reached over A2A.
Two changes need to be raised early with any team building on the classic API. The Connected Agents tool from the classic Agents API is not present in the new Foundry Agent Service; the documented replacements are the A2A tool and workflows. And visual workflows are scheduled for retirement on 1 December 2026, with new development directed to Microsoft Agent Framework.
The key takeaway is to use the A2A tool for delegation and a workflow for orchestration, and to combine them when a process includes remote agents.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sets out when A2A is the appropriate mechanism and when it is not.
The core idea is that A2A justifies its extra complexity where the counterpart is not under the caller's control. Within a single codebase, the cost usually exceeds the benefit.
First, where A2A fits.
The strongest indicator is organisational rather than technical: the counterpart is operated by another team, business unit or organisation, and changes independently of the caller's release cycle. In that case a declared capability manifest, a versioned contract and an observable task model have direct operational value. A2A also fits objective-level delegation, where the remote agent may need clarification before proceeding; a preference for one discovery mechanism and task model over a bespoke contract per counterpart; and capability publication, where other parties should be able to discover and call the agent without a proprietary client library.
Second, where A2A does not fit.
A fixed-schema operation with defined inputs and outputs and no retained state is a tool, and the Model Context Protocol applies with a simpler failure model. A defined multi-step process with branching, approval or compensation belongs in a workflow, where the control flow is explicit.
The two lower entries in this column, non-text payloads and progress reporting, are constraints of the Microsoft Foundry implementation rather than of the specification. The open protocol carries file and structured data parts and supports streaming. Where a scenario needs those today, the accurate statement is that the Foundry implementation does not yet carry them, not that A2A cannot.
Third, the selection test.
The formulation at the bottom of the slide is the one to use in design sessions, because it separates the cases reliably without requiring familiarity with the specification: where the counterpart can be called with a fixed schema and needs no interaction until completion, it is a tool, not an agent.
On exposure, an agent should rarely be published externally at the outset. Outbound consumption is generally available, while inbound exposure is preview and creates a versioned public contract.
The key takeaway is that A2A is the right choice for objective-level delegation across ownership boundaries, and the wrong one for fixed-schema calls inside one.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a:t>First, establish connectivity.</a:t>
            </a:r>
            <a:br>
              <a:rPr lang="en-US" b="1" dirty="0">
                <a:cs typeface="+mn-lt"/>
              </a:rPr>
            </a:br>
            <a:r>
              <a:rPr lang="en-US" b="1" dirty="0"/>
              <a:t> </a:t>
            </a:r>
            <a:r>
              <a:rPr lang="en-US"/>
              <a:t>Start with one remote A2A agent and one well-defined task. Configure the generally available A2A tool and confirm endpoint resolution, Agent Card retrieval, authentication and successful task completion.</a:t>
            </a:r>
          </a:p>
          <a:p>
            <a:r>
              <a:rPr lang="en-US" b="1"/>
              <a:t>Second, determine the identity model.</a:t>
            </a:r>
            <a:br>
              <a:rPr lang="en-US" b="1" dirty="0">
                <a:cs typeface="+mn-lt"/>
              </a:rPr>
            </a:br>
            <a:r>
              <a:rPr lang="en-US"/>
              <a:t> Decide whether Foundry calls the remote agent using an API key, agent identity, project-managed identity or user identity passthrough. This choice should be deliberate because service identities identify the workload, while identity passthrough preserves end-user context.</a:t>
            </a:r>
          </a:p>
          <a:p>
            <a:r>
              <a:rPr lang="en-US" b="1" dirty="0"/>
              <a:t>Third, establish observability.</a:t>
            </a:r>
            <a:br>
              <a:rPr lang="en-US" b="1" dirty="0">
                <a:cs typeface="+mn-lt"/>
              </a:rPr>
            </a:br>
            <a:r>
              <a:rPr lang="en-US" dirty="0"/>
              <a:t> Capture task and context identifiers, terminal status, latency and failure information. Alert on repeated errors or unresolved tasks, and monitor the remote Agent Card version for changes that could affect compatibility.</a:t>
            </a:r>
          </a:p>
          <a:p>
            <a:r>
              <a:rPr lang="en-US" b="1"/>
              <a:t>Fourth, decide the orchestration topology.</a:t>
            </a:r>
            <a:br>
              <a:rPr lang="en-US" b="1" dirty="0">
                <a:cs typeface="+mn-lt"/>
              </a:rPr>
            </a:br>
            <a:r>
              <a:rPr lang="en-US"/>
              <a:t> Use direct delegation when one agent can complete the task independently. Introduce a workflow only when the solution requires branching, approvals, multiple agents or explicit state coordination. A2A defines communication between agents, but it does not define the overall orchestration model.</a:t>
            </a:r>
          </a:p>
          <a:p>
            <a:r>
              <a:rPr lang="en-US" b="1"/>
              <a:t>Fifth, consider inbound exposure.</a:t>
            </a:r>
            <a:br>
              <a:rPr lang="en-US" b="1" dirty="0">
                <a:cs typeface="+mn-lt"/>
              </a:rPr>
            </a:br>
            <a:r>
              <a:rPr lang="en-US"/>
              <a:t> Only expose the Foundry agent as an A2A server when external agents genuinely need to invoke it. This capability is currently in preview, creates a versioned public contract and requires external callers to have a Microsoft Entra identity and the appropriate role assignment.</a:t>
            </a:r>
          </a:p>
          <a:p>
            <a:r>
              <a:rPr lang="en-US"/>
              <a:t>Before starting, validate four prerequisites: the required Foundry roles, a supported SDK, a trusted remote endpoint with a valid certificate and retrievable Agent Card, and a clear authentication decision.</a:t>
            </a:r>
          </a:p>
          <a:p>
            <a:r>
              <a:rPr lang="en-US"/>
              <a:t>The key recommendation is to begin with the smallest controlled integration, prove connectivity and identity, add operational visibility, and only then expand into multi-agent orchestration or inbound exposure.</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summarises the current specification and implementation status, and the changes in version 1.0 that invalidate earlier client code.
The core idea is that most public A2A material predates version 1.0, and the changes listed here cause failures rather than compatibility warnings.
First, the specification.
The published version is 1.0.1, released in May 2026, but only the major and minor components take part in negotiation, so clients state 1.0; patch releases are corrections and do not affect compatibility. Version 0.3 is still widely implemented. Official SDKs exist for Python, JavaScript, .NET, Go, Java and Rust. The governance position is worth stating to anyone who sees A2A as a Google project: it moved to the Linux Foundation in June 2025, and since 27 August 2026 it has been a Growth Stage project at the Agentic AI Foundation, which also hosts the Model Context Protocol. Microsoft holds one of eight technical steering committee seats.
Second, the breaking changes in version 1.0.
JSON-RPC method names changed form, so message/send became SendMessage. The three part types were merged into one Part object. Task states are serialised as names such as TASK_STATE_COMPLETED rather than completed. The Agent Card fields url, preferredTransport and additionalInterfaces were merged into supportedInterfaces. And the blocking parameter was replaced by returnImmediately, with the opposite meaning.
Third, the Microsoft Foundry status.
Outbound consumption with the a2a tool at version 1.0 is generally available. The earlier a2a_preview tool at version 0.3 remains in preview for existing integrations. The inbound endpoint, at 1.0 and 0.3, is preview. The Connected Agents tool has been withdrawn from the new Agent Service, and visual workflows retire on 1 December 2026.
The box at the bottom describes a real inconsistency between samples and documentation: samples and the Azure Developer CLI toolbox flow still create the preview tool at version 0.3, and a request that does not state a version is served 0.3 by default. A developer who starts from a repository will meet it.
The key takeaway is that new development should target version 1.0, with the version header stated explicitly on every request.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lists the sources behind every statement in the deck, retrieved on 17 September 2026.
The core idea is that A2A status changes quickly, so two things matter for anyone presenting this deck later.
First, the volatile facts.
Release status, the regional availability list, the sixty-day retention period and the SDK version floors change on Microsoft's release cadence. The A2A tool page and the migration page carry most of the status claims in the deck and should be checked again before presenting.
Second, the items that could not be resolved, and were therefore kept off the slides.
No per-request timeout is documented for A2A in Microsoft Foundry, so a value should be measured rather than quoted. Whether a remote A2A target can be reached through a private endpoint is ambiguous: the toolbox network isolation matrix lists A2A as supported through a delegated subnet, while the troubleshooting guidance assumes a publicly resolvable endpoint. And no published documentation relates the A2A task lifecycle to Foundry's long-running agent capability; when that question comes up, the accurate answer is that the relationship is not currently documented.
The left column holds the specification and protocol pages, including the normative data model in the a2aproject GitHub repository. The right column holds the Microsoft Foundry and Agent Framework pages, plus the delegation sample in the foundry-samples repository.
For a developer, the recommended starting point is the A2A tool page, followed by the delegation sample, keeping in mind that the sample creates the preview tool type.
The key takeaway is to treat this deck as a snapshot of 17 September 2026, and to re-check status before any customer commitment.</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MICROSOFT FOUNDRY  ·  TECHNICAL DEEP DIVE</a:t>
            </a:r>
          </a:p>
        </p:txBody>
      </p:sp>
      <p:sp>
        <p:nvSpPr>
          <p:cNvPr id="5" name="TextBox 4"/>
          <p:cNvSpPr txBox="1"/>
          <p:nvPr/>
        </p:nvSpPr>
        <p:spPr>
          <a:xfrm>
            <a:off x="914400" y="2203704"/>
            <a:ext cx="10058400" cy="658368"/>
          </a:xfrm>
          <a:prstGeom prst="rect">
            <a:avLst/>
          </a:prstGeom>
          <a:noFill/>
        </p:spPr>
        <p:txBody>
          <a:bodyPr wrap="square" lIns="0" tIns="0" rIns="0" bIns="0" anchor="t">
            <a:spAutoFit/>
          </a:bodyPr>
          <a:lstStyle/>
          <a:p>
            <a:pPr algn="l">
              <a:lnSpc>
                <a:spcPct val="100000"/>
              </a:lnSpc>
            </a:pPr>
            <a:r>
              <a:rPr sz="4400" b="1" i="0" dirty="0">
                <a:solidFill>
                  <a:srgbClr val="FFFFFF"/>
                </a:solidFill>
                <a:latin typeface="Segoe UI"/>
                <a:cs typeface="Segoe UI"/>
              </a:rPr>
              <a:t>Agent2Agent (A2A)</a:t>
            </a:r>
          </a:p>
        </p:txBody>
      </p:sp>
      <p:sp>
        <p:nvSpPr>
          <p:cNvPr id="6" name="TextBox 5"/>
          <p:cNvSpPr txBox="1"/>
          <p:nvPr/>
        </p:nvSpPr>
        <p:spPr>
          <a:xfrm>
            <a:off x="914400" y="2962656"/>
            <a:ext cx="9692640" cy="566928"/>
          </a:xfrm>
          <a:prstGeom prst="rect">
            <a:avLst/>
          </a:prstGeom>
          <a:noFill/>
        </p:spPr>
        <p:txBody>
          <a:bodyPr wrap="square" lIns="0" tIns="0" rIns="0" bIns="0" anchor="t">
            <a:spAutoFit/>
          </a:bodyPr>
          <a:lstStyle/>
          <a:p>
            <a:pPr algn="l">
              <a:lnSpc>
                <a:spcPct val="132000"/>
              </a:lnSpc>
            </a:pPr>
            <a:r>
              <a:rPr sz="1500" b="0" i="0" dirty="0">
                <a:solidFill>
                  <a:srgbClr val="B9C2D6"/>
                </a:solidFill>
                <a:latin typeface="Segoe UI"/>
                <a:cs typeface="Segoe UI"/>
              </a:rPr>
              <a:t>Protocol specification, interaction model, and the implementation</a:t>
            </a:r>
          </a:p>
          <a:p>
            <a:pPr algn="l">
              <a:lnSpc>
                <a:spcPct val="132000"/>
              </a:lnSpc>
            </a:pPr>
            <a:r>
              <a:rPr sz="1500" b="0" i="0" dirty="0">
                <a:solidFill>
                  <a:srgbClr val="B9C2D6"/>
                </a:solidFill>
                <a:latin typeface="Segoe UI"/>
                <a:cs typeface="Segoe UI"/>
              </a:rPr>
              <a:t>provided by Microsoft Foundry Agent Service</a:t>
            </a:r>
          </a:p>
        </p:txBody>
      </p:sp>
      <p:cxnSp>
        <p:nvCxnSpPr>
          <p:cNvPr id="7" name="Connector 6"/>
          <p:cNvCxnSpPr/>
          <p:nvPr/>
        </p:nvCxnSpPr>
        <p:spPr>
          <a:xfrm>
            <a:off x="914400" y="3895344"/>
            <a:ext cx="2011680" cy="0"/>
          </a:xfrm>
          <a:prstGeom prst="line">
            <a:avLst/>
          </a:prstGeom>
          <a:ln w="25400">
            <a:solidFill>
              <a:srgbClr val="00B39F"/>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Solution architects, developers,</a:t>
            </a:r>
          </a:p>
          <a:p>
            <a:pPr algn="l">
              <a:lnSpc>
                <a:spcPct val="128000"/>
              </a:lnSpc>
            </a:pPr>
            <a:r>
              <a:rPr sz="950" b="0" i="0" dirty="0">
                <a:solidFill>
                  <a:srgbClr val="B9C2D6"/>
                </a:solidFill>
                <a:latin typeface="Segoe UI"/>
                <a:cs typeface="Segoe UI"/>
              </a:rPr>
              <a:t>technical decision makers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PROTOCOL VERSION</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A2A 1.0  ·  specification 1.0.1</a:t>
            </a:r>
          </a:p>
          <a:p>
            <a:pPr algn="l">
              <a:lnSpc>
                <a:spcPct val="128000"/>
              </a:lnSpc>
            </a:pPr>
            <a:r>
              <a:rPr sz="950" b="0" i="0" dirty="0">
                <a:solidFill>
                  <a:srgbClr val="B9C2D6"/>
                </a:solidFill>
                <a:latin typeface="Segoe UI"/>
                <a:cs typeface="Segoe UI"/>
              </a:rPr>
              <a:t>Governed by the Agentic AI Foundation</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 VERIFIED</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17 September 2026</a:t>
            </a:r>
          </a:p>
          <a:p>
            <a:pPr algn="l">
              <a:lnSpc>
                <a:spcPct val="128000"/>
              </a:lnSpc>
            </a:pPr>
            <a:r>
              <a:rPr sz="950" b="0" i="0" dirty="0">
                <a:solidFill>
                  <a:srgbClr val="B9C2D6"/>
                </a:solidFill>
                <a:latin typeface="Segoe UI"/>
                <a:cs typeface="Segoe UI"/>
              </a:rPr>
              <a:t>Microsoft Learn, a2a-protocol.org, GitHub</a:t>
            </a:r>
          </a:p>
        </p:txBody>
      </p:sp>
      <p:sp>
        <p:nvSpPr>
          <p:cNvPr id="14" name="TextBox 13"/>
          <p:cNvSpPr txBox="1"/>
          <p:nvPr/>
        </p:nvSpPr>
        <p:spPr>
          <a:xfrm>
            <a:off x="914400" y="5897880"/>
            <a:ext cx="7315200" cy="146194"/>
          </a:xfrm>
          <a:prstGeom prst="rect">
            <a:avLst/>
          </a:prstGeom>
          <a:noFill/>
        </p:spPr>
        <p:txBody>
          <a:bodyPr wrap="square" lIns="0" tIns="0" rIns="0" bIns="0" anchor="t">
            <a:spAutoFit/>
          </a:bodyPr>
          <a:lstStyle/>
          <a:p>
            <a:pPr algn="l">
              <a:lnSpc>
                <a:spcPct val="100000"/>
              </a:lnSpc>
            </a:pPr>
            <a:r>
              <a:rPr lang="en-GB" sz="950" b="0" i="0" dirty="0">
                <a:solidFill>
                  <a:srgbClr val="B9C2D6"/>
                </a:solidFill>
                <a:latin typeface="Segoe UI"/>
                <a:cs typeface="Segoe UI"/>
              </a:rPr>
              <a:t>September 2026</a:t>
            </a:r>
            <a:endParaRPr sz="950" b="0" i="0" dirty="0">
              <a:solidFill>
                <a:srgbClr val="B9C2D6"/>
              </a:solidFill>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AGENDA</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Structure of this session</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Specification first, then the Microsoft Foundry implementation, then selection and adoption criteria</a:t>
            </a:r>
          </a:p>
        </p:txBody>
      </p:sp>
      <p:sp>
        <p:nvSpPr>
          <p:cNvPr id="5" name="TextBox 4"/>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2</a:t>
            </a:r>
          </a:p>
        </p:txBody>
      </p:sp>
      <p:sp>
        <p:nvSpPr>
          <p:cNvPr id="6" name="Rectangle 5"/>
          <p:cNvSpPr/>
          <p:nvPr/>
        </p:nvSpPr>
        <p:spPr>
          <a:xfrm>
            <a:off x="457200" y="1463040"/>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7" name="Rectangle 6"/>
          <p:cNvSpPr/>
          <p:nvPr/>
        </p:nvSpPr>
        <p:spPr>
          <a:xfrm>
            <a:off x="457200" y="1463040"/>
            <a:ext cx="3547872" cy="41148"/>
          </a:xfrm>
          <a:prstGeom prst="rect">
            <a:avLst/>
          </a:prstGeom>
          <a:solidFill>
            <a:srgbClr val="00B39F"/>
          </a:solidFill>
          <a:ln>
            <a:noFill/>
          </a:ln>
          <a:effectLst/>
        </p:spPr>
        <p:txBody>
          <a:bodyPr wrap="square" rtlCol="0" anchor="ctr"/>
          <a:lstStyle/>
          <a:p>
            <a:endParaRPr/>
          </a:p>
        </p:txBody>
      </p:sp>
      <p:sp>
        <p:nvSpPr>
          <p:cNvPr id="8" name="TextBox 7"/>
          <p:cNvSpPr txBox="1"/>
          <p:nvPr/>
        </p:nvSpPr>
        <p:spPr>
          <a:xfrm>
            <a:off x="658368" y="1645920"/>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01</a:t>
            </a:r>
          </a:p>
        </p:txBody>
      </p:sp>
      <p:sp>
        <p:nvSpPr>
          <p:cNvPr id="9" name="TextBox 8"/>
          <p:cNvSpPr txBox="1"/>
          <p:nvPr/>
        </p:nvSpPr>
        <p:spPr>
          <a:xfrm>
            <a:off x="658368" y="2029968"/>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Protocol foundations</a:t>
            </a:r>
          </a:p>
        </p:txBody>
      </p:sp>
      <p:sp>
        <p:nvSpPr>
          <p:cNvPr id="10" name="TextBox 9"/>
          <p:cNvSpPr txBox="1"/>
          <p:nvPr/>
        </p:nvSpPr>
        <p:spPr>
          <a:xfrm>
            <a:off x="658368" y="2340864"/>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Formal definition, design principles,</a:t>
            </a:r>
          </a:p>
          <a:p>
            <a:pPr algn="l">
              <a:lnSpc>
                <a:spcPct val="124000"/>
              </a:lnSpc>
            </a:pPr>
            <a:r>
              <a:rPr sz="850" b="0" i="0" dirty="0">
                <a:solidFill>
                  <a:srgbClr val="44495B"/>
                </a:solidFill>
                <a:latin typeface="Segoe UI"/>
                <a:cs typeface="Segoe UI"/>
              </a:rPr>
              <a:t>declared scope, and the integration</a:t>
            </a:r>
          </a:p>
          <a:p>
            <a:pPr algn="l">
              <a:lnSpc>
                <a:spcPct val="124000"/>
              </a:lnSpc>
            </a:pPr>
            <a:r>
              <a:rPr sz="850" b="0" i="0" dirty="0">
                <a:solidFill>
                  <a:srgbClr val="44495B"/>
                </a:solidFill>
                <a:latin typeface="Segoe UI"/>
                <a:cs typeface="Segoe UI"/>
              </a:rPr>
              <a:t>constraints the specification addresses</a:t>
            </a:r>
          </a:p>
        </p:txBody>
      </p:sp>
      <p:sp>
        <p:nvSpPr>
          <p:cNvPr id="11" name="Rectangle 10"/>
          <p:cNvSpPr/>
          <p:nvPr/>
        </p:nvSpPr>
        <p:spPr>
          <a:xfrm>
            <a:off x="2852928" y="2944368"/>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3–5</a:t>
            </a:r>
          </a:p>
        </p:txBody>
      </p:sp>
      <p:sp>
        <p:nvSpPr>
          <p:cNvPr id="12" name="Rectangle 11"/>
          <p:cNvSpPr/>
          <p:nvPr/>
        </p:nvSpPr>
        <p:spPr>
          <a:xfrm>
            <a:off x="4315968" y="1463040"/>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13" name="Rectangle 12"/>
          <p:cNvSpPr/>
          <p:nvPr/>
        </p:nvSpPr>
        <p:spPr>
          <a:xfrm>
            <a:off x="4315968" y="1463040"/>
            <a:ext cx="3547872" cy="41148"/>
          </a:xfrm>
          <a:prstGeom prst="rect">
            <a:avLst/>
          </a:prstGeom>
          <a:solidFill>
            <a:srgbClr val="00B39F"/>
          </a:solidFill>
          <a:ln>
            <a:noFill/>
          </a:ln>
          <a:effectLst/>
        </p:spPr>
        <p:txBody>
          <a:bodyPr wrap="square" rtlCol="0" anchor="ctr"/>
          <a:lstStyle/>
          <a:p>
            <a:endParaRPr/>
          </a:p>
        </p:txBody>
      </p:sp>
      <p:sp>
        <p:nvSpPr>
          <p:cNvPr id="14" name="TextBox 13"/>
          <p:cNvSpPr txBox="1"/>
          <p:nvPr/>
        </p:nvSpPr>
        <p:spPr>
          <a:xfrm>
            <a:off x="4517136" y="1645920"/>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02</a:t>
            </a:r>
          </a:p>
        </p:txBody>
      </p:sp>
      <p:sp>
        <p:nvSpPr>
          <p:cNvPr id="15" name="TextBox 14"/>
          <p:cNvSpPr txBox="1"/>
          <p:nvPr/>
        </p:nvSpPr>
        <p:spPr>
          <a:xfrm>
            <a:off x="4517136" y="2029968"/>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Protocol mechanics</a:t>
            </a:r>
          </a:p>
        </p:txBody>
      </p:sp>
      <p:sp>
        <p:nvSpPr>
          <p:cNvPr id="16" name="TextBox 15"/>
          <p:cNvSpPr txBox="1"/>
          <p:nvPr/>
        </p:nvSpPr>
        <p:spPr>
          <a:xfrm>
            <a:off x="4517136" y="2340864"/>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Data model, Agent Card structure,</a:t>
            </a:r>
          </a:p>
          <a:p>
            <a:pPr algn="l">
              <a:lnSpc>
                <a:spcPct val="124000"/>
              </a:lnSpc>
            </a:pPr>
            <a:r>
              <a:rPr sz="850" b="0" i="0" dirty="0">
                <a:solidFill>
                  <a:srgbClr val="44495B"/>
                </a:solidFill>
                <a:latin typeface="Segoe UI"/>
                <a:cs typeface="Segoe UI"/>
              </a:rPr>
              <a:t>operation set and transport bindings,</a:t>
            </a:r>
          </a:p>
          <a:p>
            <a:pPr algn="l">
              <a:lnSpc>
                <a:spcPct val="124000"/>
              </a:lnSpc>
            </a:pPr>
            <a:r>
              <a:rPr sz="850" b="0" i="0" dirty="0">
                <a:solidFill>
                  <a:srgbClr val="44495B"/>
                </a:solidFill>
                <a:latin typeface="Segoe UI"/>
                <a:cs typeface="Segoe UI"/>
              </a:rPr>
              <a:t>task state model, interaction modes</a:t>
            </a:r>
          </a:p>
        </p:txBody>
      </p:sp>
      <p:sp>
        <p:nvSpPr>
          <p:cNvPr id="17" name="Rectangle 16"/>
          <p:cNvSpPr/>
          <p:nvPr/>
        </p:nvSpPr>
        <p:spPr>
          <a:xfrm>
            <a:off x="6711696" y="2944368"/>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6–10</a:t>
            </a:r>
          </a:p>
        </p:txBody>
      </p:sp>
      <p:sp>
        <p:nvSpPr>
          <p:cNvPr id="18" name="Rectangle 17"/>
          <p:cNvSpPr/>
          <p:nvPr/>
        </p:nvSpPr>
        <p:spPr>
          <a:xfrm>
            <a:off x="8174736" y="1463040"/>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19" name="Rectangle 18"/>
          <p:cNvSpPr/>
          <p:nvPr/>
        </p:nvSpPr>
        <p:spPr>
          <a:xfrm>
            <a:off x="8174736" y="1463040"/>
            <a:ext cx="3547872" cy="41148"/>
          </a:xfrm>
          <a:prstGeom prst="rect">
            <a:avLst/>
          </a:prstGeom>
          <a:solidFill>
            <a:srgbClr val="00B39F"/>
          </a:solidFill>
          <a:ln>
            <a:noFill/>
          </a:ln>
          <a:effectLst/>
        </p:spPr>
        <p:txBody>
          <a:bodyPr wrap="square" rtlCol="0" anchor="ctr"/>
          <a:lstStyle/>
          <a:p>
            <a:endParaRPr/>
          </a:p>
        </p:txBody>
      </p:sp>
      <p:sp>
        <p:nvSpPr>
          <p:cNvPr id="20" name="TextBox 19"/>
          <p:cNvSpPr txBox="1"/>
          <p:nvPr/>
        </p:nvSpPr>
        <p:spPr>
          <a:xfrm>
            <a:off x="8375904" y="1645920"/>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03</a:t>
            </a:r>
          </a:p>
        </p:txBody>
      </p:sp>
      <p:sp>
        <p:nvSpPr>
          <p:cNvPr id="21" name="TextBox 20"/>
          <p:cNvSpPr txBox="1"/>
          <p:nvPr/>
        </p:nvSpPr>
        <p:spPr>
          <a:xfrm>
            <a:off x="8375904" y="2029968"/>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Foundry implementation</a:t>
            </a:r>
          </a:p>
        </p:txBody>
      </p:sp>
      <p:sp>
        <p:nvSpPr>
          <p:cNvPr id="22" name="TextBox 21"/>
          <p:cNvSpPr txBox="1"/>
          <p:nvPr/>
        </p:nvSpPr>
        <p:spPr>
          <a:xfrm>
            <a:off x="8375904" y="2340864"/>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Implementation architecture, outbound</a:t>
            </a:r>
          </a:p>
          <a:p>
            <a:pPr algn="l">
              <a:lnSpc>
                <a:spcPct val="124000"/>
              </a:lnSpc>
            </a:pPr>
            <a:r>
              <a:rPr sz="850" b="0" i="0" dirty="0">
                <a:solidFill>
                  <a:srgbClr val="44495B"/>
                </a:solidFill>
                <a:latin typeface="Segoe UI"/>
                <a:cs typeface="Segoe UI"/>
              </a:rPr>
              <a:t>consumption of a remote agent, inbound</a:t>
            </a:r>
          </a:p>
          <a:p>
            <a:pPr algn="l">
              <a:lnSpc>
                <a:spcPct val="124000"/>
              </a:lnSpc>
            </a:pPr>
            <a:r>
              <a:rPr sz="850" b="0" i="0" dirty="0">
                <a:solidFill>
                  <a:srgbClr val="44495B"/>
                </a:solidFill>
                <a:latin typeface="Segoe UI"/>
                <a:cs typeface="Segoe UI"/>
              </a:rPr>
              <a:t>exposure of a Foundry agent</a:t>
            </a:r>
          </a:p>
        </p:txBody>
      </p:sp>
      <p:sp>
        <p:nvSpPr>
          <p:cNvPr id="23" name="Rectangle 22"/>
          <p:cNvSpPr/>
          <p:nvPr/>
        </p:nvSpPr>
        <p:spPr>
          <a:xfrm>
            <a:off x="10570464" y="2944368"/>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11–13</a:t>
            </a:r>
          </a:p>
        </p:txBody>
      </p:sp>
      <p:sp>
        <p:nvSpPr>
          <p:cNvPr id="24" name="Rectangle 23"/>
          <p:cNvSpPr/>
          <p:nvPr/>
        </p:nvSpPr>
        <p:spPr>
          <a:xfrm>
            <a:off x="457200" y="3584448"/>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25" name="Rectangle 24"/>
          <p:cNvSpPr/>
          <p:nvPr/>
        </p:nvSpPr>
        <p:spPr>
          <a:xfrm>
            <a:off x="457200" y="3584448"/>
            <a:ext cx="3547872" cy="41148"/>
          </a:xfrm>
          <a:prstGeom prst="rect">
            <a:avLst/>
          </a:prstGeom>
          <a:solidFill>
            <a:srgbClr val="00B39F"/>
          </a:solidFill>
          <a:ln>
            <a:noFill/>
          </a:ln>
          <a:effectLst/>
        </p:spPr>
        <p:txBody>
          <a:bodyPr wrap="square" rtlCol="0" anchor="ctr"/>
          <a:lstStyle/>
          <a:p>
            <a:endParaRPr/>
          </a:p>
        </p:txBody>
      </p:sp>
      <p:sp>
        <p:nvSpPr>
          <p:cNvPr id="26" name="TextBox 25"/>
          <p:cNvSpPr txBox="1"/>
          <p:nvPr/>
        </p:nvSpPr>
        <p:spPr>
          <a:xfrm>
            <a:off x="658368" y="3767328"/>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04</a:t>
            </a:r>
          </a:p>
        </p:txBody>
      </p:sp>
      <p:sp>
        <p:nvSpPr>
          <p:cNvPr id="27" name="TextBox 26"/>
          <p:cNvSpPr txBox="1"/>
          <p:nvPr/>
        </p:nvSpPr>
        <p:spPr>
          <a:xfrm>
            <a:off x="658368" y="4151376"/>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Security and operations</a:t>
            </a:r>
          </a:p>
        </p:txBody>
      </p:sp>
      <p:sp>
        <p:nvSpPr>
          <p:cNvPr id="28" name="TextBox 27"/>
          <p:cNvSpPr txBox="1"/>
          <p:nvPr/>
        </p:nvSpPr>
        <p:spPr>
          <a:xfrm>
            <a:off x="658368" y="4462272"/>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Authentication methods, identity</a:t>
            </a:r>
          </a:p>
          <a:p>
            <a:pPr algn="l">
              <a:lnSpc>
                <a:spcPct val="124000"/>
              </a:lnSpc>
            </a:pPr>
            <a:r>
              <a:rPr sz="850" b="0" i="0" dirty="0">
                <a:solidFill>
                  <a:srgbClr val="44495B"/>
                </a:solidFill>
                <a:latin typeface="Segoe UI"/>
                <a:cs typeface="Segoe UI"/>
              </a:rPr>
              <a:t>propagation, network boundaries,</a:t>
            </a:r>
          </a:p>
          <a:p>
            <a:pPr algn="l">
              <a:lnSpc>
                <a:spcPct val="124000"/>
              </a:lnSpc>
            </a:pPr>
            <a:r>
              <a:rPr sz="850" b="0" i="0" dirty="0">
                <a:solidFill>
                  <a:srgbClr val="44495B"/>
                </a:solidFill>
                <a:latin typeface="Segoe UI"/>
                <a:cs typeface="Segoe UI"/>
              </a:rPr>
              <a:t>service constraints, observability</a:t>
            </a:r>
          </a:p>
        </p:txBody>
      </p:sp>
      <p:sp>
        <p:nvSpPr>
          <p:cNvPr id="29" name="Rectangle 28"/>
          <p:cNvSpPr/>
          <p:nvPr/>
        </p:nvSpPr>
        <p:spPr>
          <a:xfrm>
            <a:off x="2852928" y="5065776"/>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14–15</a:t>
            </a:r>
          </a:p>
        </p:txBody>
      </p:sp>
      <p:sp>
        <p:nvSpPr>
          <p:cNvPr id="30" name="Rectangle 29"/>
          <p:cNvSpPr/>
          <p:nvPr/>
        </p:nvSpPr>
        <p:spPr>
          <a:xfrm>
            <a:off x="4315968" y="3584448"/>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31" name="Rectangle 30"/>
          <p:cNvSpPr/>
          <p:nvPr/>
        </p:nvSpPr>
        <p:spPr>
          <a:xfrm>
            <a:off x="4315968" y="3584448"/>
            <a:ext cx="3547872" cy="41148"/>
          </a:xfrm>
          <a:prstGeom prst="rect">
            <a:avLst/>
          </a:prstGeom>
          <a:solidFill>
            <a:srgbClr val="00B39F"/>
          </a:solidFill>
          <a:ln>
            <a:noFill/>
          </a:ln>
          <a:effectLst/>
        </p:spPr>
        <p:txBody>
          <a:bodyPr wrap="square" rtlCol="0" anchor="ctr"/>
          <a:lstStyle/>
          <a:p>
            <a:endParaRPr/>
          </a:p>
        </p:txBody>
      </p:sp>
      <p:sp>
        <p:nvSpPr>
          <p:cNvPr id="32" name="TextBox 31"/>
          <p:cNvSpPr txBox="1"/>
          <p:nvPr/>
        </p:nvSpPr>
        <p:spPr>
          <a:xfrm>
            <a:off x="4517136" y="3767328"/>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05</a:t>
            </a:r>
          </a:p>
        </p:txBody>
      </p:sp>
      <p:sp>
        <p:nvSpPr>
          <p:cNvPr id="33" name="TextBox 32"/>
          <p:cNvSpPr txBox="1"/>
          <p:nvPr/>
        </p:nvSpPr>
        <p:spPr>
          <a:xfrm>
            <a:off x="4517136" y="4151376"/>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Architectural positioning</a:t>
            </a:r>
          </a:p>
        </p:txBody>
      </p:sp>
      <p:sp>
        <p:nvSpPr>
          <p:cNvPr id="34" name="TextBox 33"/>
          <p:cNvSpPr txBox="1"/>
          <p:nvPr/>
        </p:nvSpPr>
        <p:spPr>
          <a:xfrm>
            <a:off x="4517136" y="4462272"/>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Comparison with the Model Context</a:t>
            </a:r>
          </a:p>
          <a:p>
            <a:pPr algn="l">
              <a:lnSpc>
                <a:spcPct val="124000"/>
              </a:lnSpc>
            </a:pPr>
            <a:r>
              <a:rPr sz="850" b="0" i="0" dirty="0">
                <a:solidFill>
                  <a:srgbClr val="44495B"/>
                </a:solidFill>
                <a:latin typeface="Segoe UI"/>
                <a:cs typeface="Segoe UI"/>
              </a:rPr>
              <a:t>Protocol, mechanism selection within</a:t>
            </a:r>
          </a:p>
          <a:p>
            <a:pPr algn="l">
              <a:lnSpc>
                <a:spcPct val="124000"/>
              </a:lnSpc>
            </a:pPr>
            <a:r>
              <a:rPr sz="850" b="0" i="0" dirty="0">
                <a:solidFill>
                  <a:srgbClr val="44495B"/>
                </a:solidFill>
                <a:latin typeface="Segoe UI"/>
                <a:cs typeface="Segoe UI"/>
              </a:rPr>
              <a:t>Foundry, applicability criteria</a:t>
            </a:r>
          </a:p>
        </p:txBody>
      </p:sp>
      <p:sp>
        <p:nvSpPr>
          <p:cNvPr id="35" name="Rectangle 34"/>
          <p:cNvSpPr/>
          <p:nvPr/>
        </p:nvSpPr>
        <p:spPr>
          <a:xfrm>
            <a:off x="6711696" y="5065776"/>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16–18</a:t>
            </a:r>
          </a:p>
        </p:txBody>
      </p:sp>
      <p:sp>
        <p:nvSpPr>
          <p:cNvPr id="36" name="Rectangle 35"/>
          <p:cNvSpPr/>
          <p:nvPr/>
        </p:nvSpPr>
        <p:spPr>
          <a:xfrm>
            <a:off x="8174736" y="3584448"/>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37" name="Rectangle 36"/>
          <p:cNvSpPr/>
          <p:nvPr/>
        </p:nvSpPr>
        <p:spPr>
          <a:xfrm>
            <a:off x="8174736" y="3584448"/>
            <a:ext cx="3547872" cy="41148"/>
          </a:xfrm>
          <a:prstGeom prst="rect">
            <a:avLst/>
          </a:prstGeom>
          <a:solidFill>
            <a:srgbClr val="00B39F"/>
          </a:solidFill>
          <a:ln>
            <a:noFill/>
          </a:ln>
          <a:effectLst/>
        </p:spPr>
        <p:txBody>
          <a:bodyPr wrap="square" rtlCol="0" anchor="ctr"/>
          <a:lstStyle/>
          <a:p>
            <a:endParaRPr/>
          </a:p>
        </p:txBody>
      </p:sp>
      <p:sp>
        <p:nvSpPr>
          <p:cNvPr id="38" name="TextBox 37"/>
          <p:cNvSpPr txBox="1"/>
          <p:nvPr/>
        </p:nvSpPr>
        <p:spPr>
          <a:xfrm>
            <a:off x="8375904" y="3767328"/>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06</a:t>
            </a:r>
          </a:p>
        </p:txBody>
      </p:sp>
      <p:sp>
        <p:nvSpPr>
          <p:cNvPr id="39" name="TextBox 38"/>
          <p:cNvSpPr txBox="1"/>
          <p:nvPr/>
        </p:nvSpPr>
        <p:spPr>
          <a:xfrm>
            <a:off x="8375904" y="4151376"/>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Adoption and status</a:t>
            </a:r>
          </a:p>
        </p:txBody>
      </p:sp>
      <p:sp>
        <p:nvSpPr>
          <p:cNvPr id="40" name="TextBox 39"/>
          <p:cNvSpPr txBox="1"/>
          <p:nvPr/>
        </p:nvSpPr>
        <p:spPr>
          <a:xfrm>
            <a:off x="8375904" y="4462272"/>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Phased implementation sequence,</a:t>
            </a:r>
          </a:p>
          <a:p>
            <a:pPr algn="l">
              <a:lnSpc>
                <a:spcPct val="124000"/>
              </a:lnSpc>
            </a:pPr>
            <a:r>
              <a:rPr sz="850" b="0" i="0" dirty="0">
                <a:solidFill>
                  <a:srgbClr val="44495B"/>
                </a:solidFill>
                <a:latin typeface="Segoe UI"/>
                <a:cs typeface="Segoe UI"/>
              </a:rPr>
              <a:t>release status, version compatibility,</a:t>
            </a:r>
          </a:p>
          <a:p>
            <a:pPr algn="l">
              <a:lnSpc>
                <a:spcPct val="124000"/>
              </a:lnSpc>
            </a:pPr>
            <a:r>
              <a:rPr sz="850" b="0" i="0" dirty="0">
                <a:solidFill>
                  <a:srgbClr val="44495B"/>
                </a:solidFill>
                <a:latin typeface="Segoe UI"/>
                <a:cs typeface="Segoe UI"/>
              </a:rPr>
              <a:t>and source references</a:t>
            </a:r>
          </a:p>
        </p:txBody>
      </p:sp>
      <p:sp>
        <p:nvSpPr>
          <p:cNvPr id="41" name="Rectangle 40"/>
          <p:cNvSpPr/>
          <p:nvPr/>
        </p:nvSpPr>
        <p:spPr>
          <a:xfrm>
            <a:off x="10570464" y="5065776"/>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19–21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PROTOCOL FOUNDATIONS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Definition, design principles and declared scope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What the specification standardises, the principles it is built on, and what it deliberately excludes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a2a-protocol.org/latest/specification</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3</a:t>
            </a:r>
          </a:p>
        </p:txBody>
      </p:sp>
      <p:sp>
        <p:nvSpPr>
          <p:cNvPr id="7" name="Rectangle 6"/>
          <p:cNvSpPr/>
          <p:nvPr/>
        </p:nvSpPr>
        <p:spPr>
          <a:xfrm>
            <a:off x="457200" y="1335024"/>
            <a:ext cx="11277295" cy="548640"/>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713232" y="1453896"/>
            <a:ext cx="10765231" cy="365760"/>
          </a:xfrm>
          <a:prstGeom prst="rect">
            <a:avLst/>
          </a:prstGeom>
          <a:noFill/>
        </p:spPr>
        <p:txBody>
          <a:bodyPr wrap="square" lIns="0" tIns="0" rIns="0" bIns="0" anchor="t">
            <a:spAutoFit/>
          </a:bodyPr>
          <a:lstStyle/>
          <a:p>
            <a:pPr algn="l">
              <a:lnSpc>
                <a:spcPct val="124000"/>
              </a:lnSpc>
            </a:pPr>
            <a:r>
              <a:rPr sz="1050" b="0" i="0" dirty="0">
                <a:solidFill>
                  <a:srgbClr val="FFFFFF"/>
                </a:solidFill>
                <a:latin typeface="Segoe UI"/>
                <a:cs typeface="Segoe UI"/>
              </a:rPr>
              <a:t>An open standard enabling independent, opaque agent systems to discover each other’s declared capabilities, negotiate interaction modalities, and manage a shared task — without access to each other’s internal state, memory or tool implementations.</a:t>
            </a:r>
          </a:p>
        </p:txBody>
      </p:sp>
      <p:sp>
        <p:nvSpPr>
          <p:cNvPr id="9" name="TextBox 8"/>
          <p:cNvSpPr txBox="1"/>
          <p:nvPr/>
        </p:nvSpPr>
        <p:spPr>
          <a:xfrm>
            <a:off x="457200" y="2066543"/>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DESIGN PRINCIPLES STATED BY THE SPECIFICATION</a:t>
            </a:r>
          </a:p>
        </p:txBody>
      </p:sp>
      <p:sp>
        <p:nvSpPr>
          <p:cNvPr id="10" name="Rectangle 9"/>
          <p:cNvSpPr/>
          <p:nvPr/>
        </p:nvSpPr>
        <p:spPr>
          <a:xfrm>
            <a:off x="457200" y="2304288"/>
            <a:ext cx="2148840" cy="1207008"/>
          </a:xfrm>
          <a:prstGeom prst="rect">
            <a:avLst/>
          </a:prstGeom>
          <a:solidFill>
            <a:srgbClr val="F6F8FD"/>
          </a:solidFill>
          <a:ln w="9525">
            <a:solidFill>
              <a:srgbClr val="E1E7F4"/>
            </a:solidFill>
          </a:ln>
          <a:effectLst/>
        </p:spPr>
        <p:txBody>
          <a:bodyPr wrap="square" rtlCol="0" anchor="ctr"/>
          <a:lstStyle/>
          <a:p>
            <a:endParaRPr/>
          </a:p>
        </p:txBody>
      </p:sp>
      <p:sp>
        <p:nvSpPr>
          <p:cNvPr id="11" name="Rectangle 10"/>
          <p:cNvSpPr/>
          <p:nvPr/>
        </p:nvSpPr>
        <p:spPr>
          <a:xfrm>
            <a:off x="457200" y="2304288"/>
            <a:ext cx="2148840" cy="41148"/>
          </a:xfrm>
          <a:prstGeom prst="rect">
            <a:avLst/>
          </a:prstGeom>
          <a:solidFill>
            <a:srgbClr val="00B39F"/>
          </a:solidFill>
          <a:ln>
            <a:noFill/>
          </a:ln>
          <a:effectLst/>
        </p:spPr>
        <p:txBody>
          <a:bodyPr wrap="square" rtlCol="0" anchor="ctr"/>
          <a:lstStyle/>
          <a:p>
            <a:endParaRPr/>
          </a:p>
        </p:txBody>
      </p:sp>
      <p:sp>
        <p:nvSpPr>
          <p:cNvPr id="12" name="TextBox 11"/>
          <p:cNvSpPr txBox="1"/>
          <p:nvPr/>
        </p:nvSpPr>
        <p:spPr>
          <a:xfrm>
            <a:off x="621792" y="2468880"/>
            <a:ext cx="1819656"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Simple</a:t>
            </a:r>
          </a:p>
        </p:txBody>
      </p:sp>
      <p:sp>
        <p:nvSpPr>
          <p:cNvPr id="13" name="TextBox 12"/>
          <p:cNvSpPr txBox="1"/>
          <p:nvPr/>
        </p:nvSpPr>
        <p:spPr>
          <a:xfrm>
            <a:off x="621792" y="2743200"/>
            <a:ext cx="1819656"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Reuses HTTP, JSON-RPC 2.0 and</a:t>
            </a:r>
          </a:p>
          <a:p>
            <a:pPr algn="l">
              <a:lnSpc>
                <a:spcPct val="120000"/>
              </a:lnSpc>
            </a:pPr>
            <a:r>
              <a:rPr sz="800" b="0" i="0" dirty="0">
                <a:solidFill>
                  <a:srgbClr val="44495B"/>
                </a:solidFill>
                <a:latin typeface="Segoe UI"/>
                <a:cs typeface="Segoe UI"/>
              </a:rPr>
              <a:t>Server-Sent Events rather than</a:t>
            </a:r>
          </a:p>
          <a:p>
            <a:pPr algn="l">
              <a:lnSpc>
                <a:spcPct val="120000"/>
              </a:lnSpc>
            </a:pPr>
            <a:r>
              <a:rPr sz="800" b="0" i="0" dirty="0">
                <a:solidFill>
                  <a:srgbClr val="44495B"/>
                </a:solidFill>
                <a:latin typeface="Segoe UI"/>
                <a:cs typeface="Segoe UI"/>
              </a:rPr>
              <a:t>defining new transport machinery.</a:t>
            </a:r>
          </a:p>
        </p:txBody>
      </p:sp>
      <p:sp>
        <p:nvSpPr>
          <p:cNvPr id="14" name="Rectangle 13"/>
          <p:cNvSpPr/>
          <p:nvPr/>
        </p:nvSpPr>
        <p:spPr>
          <a:xfrm>
            <a:off x="2724912" y="2304288"/>
            <a:ext cx="2148840" cy="1207008"/>
          </a:xfrm>
          <a:prstGeom prst="rect">
            <a:avLst/>
          </a:prstGeom>
          <a:solidFill>
            <a:srgbClr val="F6F8FD"/>
          </a:solidFill>
          <a:ln w="9525">
            <a:solidFill>
              <a:srgbClr val="E1E7F4"/>
            </a:solidFill>
          </a:ln>
          <a:effectLst/>
        </p:spPr>
        <p:txBody>
          <a:bodyPr wrap="square" rtlCol="0" anchor="ctr"/>
          <a:lstStyle/>
          <a:p>
            <a:endParaRPr/>
          </a:p>
        </p:txBody>
      </p:sp>
      <p:sp>
        <p:nvSpPr>
          <p:cNvPr id="15" name="Rectangle 14"/>
          <p:cNvSpPr/>
          <p:nvPr/>
        </p:nvSpPr>
        <p:spPr>
          <a:xfrm>
            <a:off x="2724912" y="2304288"/>
            <a:ext cx="2148840" cy="41148"/>
          </a:xfrm>
          <a:prstGeom prst="rect">
            <a:avLst/>
          </a:prstGeom>
          <a:solidFill>
            <a:srgbClr val="00B39F"/>
          </a:solidFill>
          <a:ln>
            <a:noFill/>
          </a:ln>
          <a:effectLst/>
        </p:spPr>
        <p:txBody>
          <a:bodyPr wrap="square" rtlCol="0" anchor="ctr"/>
          <a:lstStyle/>
          <a:p>
            <a:endParaRPr/>
          </a:p>
        </p:txBody>
      </p:sp>
      <p:sp>
        <p:nvSpPr>
          <p:cNvPr id="16" name="TextBox 15"/>
          <p:cNvSpPr txBox="1"/>
          <p:nvPr/>
        </p:nvSpPr>
        <p:spPr>
          <a:xfrm>
            <a:off x="2889504" y="2468880"/>
            <a:ext cx="1819656"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Enterprise ready</a:t>
            </a:r>
          </a:p>
        </p:txBody>
      </p:sp>
      <p:sp>
        <p:nvSpPr>
          <p:cNvPr id="17" name="TextBox 16"/>
          <p:cNvSpPr txBox="1"/>
          <p:nvPr/>
        </p:nvSpPr>
        <p:spPr>
          <a:xfrm>
            <a:off x="2889504" y="2743200"/>
            <a:ext cx="1819656"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Authentication, authorisation and</a:t>
            </a:r>
          </a:p>
          <a:p>
            <a:pPr algn="l">
              <a:lnSpc>
                <a:spcPct val="120000"/>
              </a:lnSpc>
            </a:pPr>
            <a:r>
              <a:rPr sz="800" b="0" i="0" dirty="0">
                <a:solidFill>
                  <a:srgbClr val="44495B"/>
                </a:solidFill>
                <a:latin typeface="Segoe UI"/>
                <a:cs typeface="Segoe UI"/>
              </a:rPr>
              <a:t>observability use established</a:t>
            </a:r>
          </a:p>
          <a:p>
            <a:pPr algn="l">
              <a:lnSpc>
                <a:spcPct val="120000"/>
              </a:lnSpc>
            </a:pPr>
            <a:r>
              <a:rPr sz="800" b="0" i="0" dirty="0">
                <a:solidFill>
                  <a:srgbClr val="44495B"/>
                </a:solidFill>
                <a:latin typeface="Segoe UI"/>
                <a:cs typeface="Segoe UI"/>
              </a:rPr>
              <a:t>standards, not protocol-specific ones.</a:t>
            </a:r>
          </a:p>
        </p:txBody>
      </p:sp>
      <p:sp>
        <p:nvSpPr>
          <p:cNvPr id="18" name="Rectangle 17"/>
          <p:cNvSpPr/>
          <p:nvPr/>
        </p:nvSpPr>
        <p:spPr>
          <a:xfrm>
            <a:off x="4992624" y="2304288"/>
            <a:ext cx="2148840" cy="1207008"/>
          </a:xfrm>
          <a:prstGeom prst="rect">
            <a:avLst/>
          </a:prstGeom>
          <a:solidFill>
            <a:srgbClr val="F6F8FD"/>
          </a:solidFill>
          <a:ln w="9525">
            <a:solidFill>
              <a:srgbClr val="E1E7F4"/>
            </a:solidFill>
          </a:ln>
          <a:effectLst/>
        </p:spPr>
        <p:txBody>
          <a:bodyPr wrap="square" rtlCol="0" anchor="ctr"/>
          <a:lstStyle/>
          <a:p>
            <a:endParaRPr/>
          </a:p>
        </p:txBody>
      </p:sp>
      <p:sp>
        <p:nvSpPr>
          <p:cNvPr id="19" name="Rectangle 18"/>
          <p:cNvSpPr/>
          <p:nvPr/>
        </p:nvSpPr>
        <p:spPr>
          <a:xfrm>
            <a:off x="4992624" y="2304288"/>
            <a:ext cx="2148840" cy="41148"/>
          </a:xfrm>
          <a:prstGeom prst="rect">
            <a:avLst/>
          </a:prstGeom>
          <a:solidFill>
            <a:srgbClr val="00B39F"/>
          </a:solidFill>
          <a:ln>
            <a:noFill/>
          </a:ln>
          <a:effectLst/>
        </p:spPr>
        <p:txBody>
          <a:bodyPr wrap="square" rtlCol="0" anchor="ctr"/>
          <a:lstStyle/>
          <a:p>
            <a:endParaRPr/>
          </a:p>
        </p:txBody>
      </p:sp>
      <p:sp>
        <p:nvSpPr>
          <p:cNvPr id="20" name="TextBox 19"/>
          <p:cNvSpPr txBox="1"/>
          <p:nvPr/>
        </p:nvSpPr>
        <p:spPr>
          <a:xfrm>
            <a:off x="5157216" y="2468880"/>
            <a:ext cx="1819656"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Asynchronous first</a:t>
            </a:r>
          </a:p>
        </p:txBody>
      </p:sp>
      <p:sp>
        <p:nvSpPr>
          <p:cNvPr id="21" name="TextBox 20"/>
          <p:cNvSpPr txBox="1"/>
          <p:nvPr/>
        </p:nvSpPr>
        <p:spPr>
          <a:xfrm>
            <a:off x="5157216" y="2743200"/>
            <a:ext cx="1819656"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The task model assumes long-running</a:t>
            </a:r>
          </a:p>
          <a:p>
            <a:pPr algn="l">
              <a:lnSpc>
                <a:spcPct val="120000"/>
              </a:lnSpc>
            </a:pPr>
            <a:r>
              <a:rPr sz="800" b="0" i="0" dirty="0">
                <a:solidFill>
                  <a:srgbClr val="44495B"/>
                </a:solidFill>
                <a:latin typeface="Segoe UI"/>
                <a:cs typeface="Segoe UI"/>
              </a:rPr>
              <a:t>work and interruption for human or</a:t>
            </a:r>
          </a:p>
          <a:p>
            <a:pPr algn="l">
              <a:lnSpc>
                <a:spcPct val="120000"/>
              </a:lnSpc>
            </a:pPr>
            <a:r>
              <a:rPr sz="800" b="0" i="0" dirty="0">
                <a:solidFill>
                  <a:srgbClr val="44495B"/>
                </a:solidFill>
                <a:latin typeface="Segoe UI"/>
                <a:cs typeface="Segoe UI"/>
              </a:rPr>
              <a:t>system input as normal conditions.</a:t>
            </a:r>
          </a:p>
        </p:txBody>
      </p:sp>
      <p:sp>
        <p:nvSpPr>
          <p:cNvPr id="22" name="Rectangle 21"/>
          <p:cNvSpPr/>
          <p:nvPr/>
        </p:nvSpPr>
        <p:spPr>
          <a:xfrm>
            <a:off x="7260336" y="2304288"/>
            <a:ext cx="2148840" cy="1207008"/>
          </a:xfrm>
          <a:prstGeom prst="rect">
            <a:avLst/>
          </a:prstGeom>
          <a:solidFill>
            <a:srgbClr val="F6F8FD"/>
          </a:solidFill>
          <a:ln w="9525">
            <a:solidFill>
              <a:srgbClr val="E1E7F4"/>
            </a:solidFill>
          </a:ln>
          <a:effectLst/>
        </p:spPr>
        <p:txBody>
          <a:bodyPr wrap="square" rtlCol="0" anchor="ctr"/>
          <a:lstStyle/>
          <a:p>
            <a:endParaRPr/>
          </a:p>
        </p:txBody>
      </p:sp>
      <p:sp>
        <p:nvSpPr>
          <p:cNvPr id="23" name="Rectangle 22"/>
          <p:cNvSpPr/>
          <p:nvPr/>
        </p:nvSpPr>
        <p:spPr>
          <a:xfrm>
            <a:off x="7260336" y="2304288"/>
            <a:ext cx="2148840" cy="41148"/>
          </a:xfrm>
          <a:prstGeom prst="rect">
            <a:avLst/>
          </a:prstGeom>
          <a:solidFill>
            <a:srgbClr val="00B39F"/>
          </a:solidFill>
          <a:ln>
            <a:noFill/>
          </a:ln>
          <a:effectLst/>
        </p:spPr>
        <p:txBody>
          <a:bodyPr wrap="square" rtlCol="0" anchor="ctr"/>
          <a:lstStyle/>
          <a:p>
            <a:endParaRPr/>
          </a:p>
        </p:txBody>
      </p:sp>
      <p:sp>
        <p:nvSpPr>
          <p:cNvPr id="24" name="TextBox 23"/>
          <p:cNvSpPr txBox="1"/>
          <p:nvPr/>
        </p:nvSpPr>
        <p:spPr>
          <a:xfrm>
            <a:off x="7424927" y="2468880"/>
            <a:ext cx="1819656"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Modality agnostic</a:t>
            </a:r>
          </a:p>
        </p:txBody>
      </p:sp>
      <p:sp>
        <p:nvSpPr>
          <p:cNvPr id="25" name="TextBox 24"/>
          <p:cNvSpPr txBox="1"/>
          <p:nvPr/>
        </p:nvSpPr>
        <p:spPr>
          <a:xfrm>
            <a:off x="7424927" y="2743200"/>
            <a:ext cx="1819656"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Content is carried as typed parts:</a:t>
            </a:r>
          </a:p>
          <a:p>
            <a:pPr algn="l">
              <a:lnSpc>
                <a:spcPct val="120000"/>
              </a:lnSpc>
            </a:pPr>
            <a:r>
              <a:rPr sz="800" b="0" i="0" dirty="0">
                <a:solidFill>
                  <a:srgbClr val="44495B"/>
                </a:solidFill>
                <a:latin typeface="Segoe UI"/>
                <a:cs typeface="Segoe UI"/>
              </a:rPr>
              <a:t>text, binary, referenced files or</a:t>
            </a:r>
          </a:p>
          <a:p>
            <a:pPr algn="l">
              <a:lnSpc>
                <a:spcPct val="120000"/>
              </a:lnSpc>
            </a:pPr>
            <a:r>
              <a:rPr sz="800" b="0" i="0" dirty="0">
                <a:solidFill>
                  <a:srgbClr val="44495B"/>
                </a:solidFill>
                <a:latin typeface="Segoe UI"/>
                <a:cs typeface="Segoe UI"/>
              </a:rPr>
              <a:t>structured data.</a:t>
            </a:r>
          </a:p>
        </p:txBody>
      </p:sp>
      <p:sp>
        <p:nvSpPr>
          <p:cNvPr id="26" name="Rectangle 25"/>
          <p:cNvSpPr/>
          <p:nvPr/>
        </p:nvSpPr>
        <p:spPr>
          <a:xfrm>
            <a:off x="9528048" y="2304288"/>
            <a:ext cx="2148840" cy="1207008"/>
          </a:xfrm>
          <a:prstGeom prst="rect">
            <a:avLst/>
          </a:prstGeom>
          <a:solidFill>
            <a:srgbClr val="F6F8FD"/>
          </a:solidFill>
          <a:ln w="9525">
            <a:solidFill>
              <a:srgbClr val="E1E7F4"/>
            </a:solidFill>
          </a:ln>
          <a:effectLst/>
        </p:spPr>
        <p:txBody>
          <a:bodyPr wrap="square" rtlCol="0" anchor="ctr"/>
          <a:lstStyle/>
          <a:p>
            <a:endParaRPr/>
          </a:p>
        </p:txBody>
      </p:sp>
      <p:sp>
        <p:nvSpPr>
          <p:cNvPr id="27" name="Rectangle 26"/>
          <p:cNvSpPr/>
          <p:nvPr/>
        </p:nvSpPr>
        <p:spPr>
          <a:xfrm>
            <a:off x="9528048" y="2304288"/>
            <a:ext cx="2148840" cy="41148"/>
          </a:xfrm>
          <a:prstGeom prst="rect">
            <a:avLst/>
          </a:prstGeom>
          <a:solidFill>
            <a:srgbClr val="00B39F"/>
          </a:solidFill>
          <a:ln>
            <a:noFill/>
          </a:ln>
          <a:effectLst/>
        </p:spPr>
        <p:txBody>
          <a:bodyPr wrap="square" rtlCol="0" anchor="ctr"/>
          <a:lstStyle/>
          <a:p>
            <a:endParaRPr/>
          </a:p>
        </p:txBody>
      </p:sp>
      <p:sp>
        <p:nvSpPr>
          <p:cNvPr id="28" name="TextBox 27"/>
          <p:cNvSpPr txBox="1"/>
          <p:nvPr/>
        </p:nvSpPr>
        <p:spPr>
          <a:xfrm>
            <a:off x="9692640" y="2468880"/>
            <a:ext cx="1819656"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Opaque execution</a:t>
            </a:r>
          </a:p>
        </p:txBody>
      </p:sp>
      <p:sp>
        <p:nvSpPr>
          <p:cNvPr id="29" name="TextBox 28"/>
          <p:cNvSpPr txBox="1"/>
          <p:nvPr/>
        </p:nvSpPr>
        <p:spPr>
          <a:xfrm>
            <a:off x="9692640" y="2743200"/>
            <a:ext cx="1819656"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Collaboration is based on declared</a:t>
            </a:r>
          </a:p>
          <a:p>
            <a:pPr algn="l">
              <a:lnSpc>
                <a:spcPct val="120000"/>
              </a:lnSpc>
            </a:pPr>
            <a:r>
              <a:rPr sz="800" b="0" i="0" dirty="0">
                <a:solidFill>
                  <a:srgbClr val="44495B"/>
                </a:solidFill>
                <a:latin typeface="Segoe UI"/>
                <a:cs typeface="Segoe UI"/>
              </a:rPr>
              <a:t>capability and exchanged content,</a:t>
            </a:r>
          </a:p>
          <a:p>
            <a:pPr algn="l">
              <a:lnSpc>
                <a:spcPct val="120000"/>
              </a:lnSpc>
            </a:pPr>
            <a:r>
              <a:rPr sz="800" b="0" i="0" dirty="0">
                <a:solidFill>
                  <a:srgbClr val="44495B"/>
                </a:solidFill>
                <a:latin typeface="Segoe UI"/>
                <a:cs typeface="Segoe UI"/>
              </a:rPr>
              <a:t>not on shared internal reasoning.</a:t>
            </a:r>
          </a:p>
        </p:txBody>
      </p:sp>
      <p:sp>
        <p:nvSpPr>
          <p:cNvPr id="30" name="TextBox 29"/>
          <p:cNvSpPr txBox="1"/>
          <p:nvPr/>
        </p:nvSpPr>
        <p:spPr>
          <a:xfrm>
            <a:off x="457200" y="3749039"/>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DECLARED OUT OF SCOPE</a:t>
            </a:r>
          </a:p>
        </p:txBody>
      </p:sp>
      <p:sp>
        <p:nvSpPr>
          <p:cNvPr id="31" name="Rectangle 30"/>
          <p:cNvSpPr/>
          <p:nvPr/>
        </p:nvSpPr>
        <p:spPr>
          <a:xfrm>
            <a:off x="457200" y="3986784"/>
            <a:ext cx="2651760" cy="1133856"/>
          </a:xfrm>
          <a:prstGeom prst="rect">
            <a:avLst/>
          </a:prstGeom>
          <a:solidFill>
            <a:srgbClr val="FFFFFF"/>
          </a:solidFill>
          <a:ln w="9525">
            <a:solidFill>
              <a:srgbClr val="E1E7F4"/>
            </a:solidFill>
          </a:ln>
          <a:effectLst/>
        </p:spPr>
        <p:txBody>
          <a:bodyPr wrap="square" rtlCol="0" anchor="ctr"/>
          <a:lstStyle/>
          <a:p>
            <a:endParaRPr/>
          </a:p>
        </p:txBody>
      </p:sp>
      <p:sp>
        <p:nvSpPr>
          <p:cNvPr id="32" name="Rectangle 31"/>
          <p:cNvSpPr/>
          <p:nvPr/>
        </p:nvSpPr>
        <p:spPr>
          <a:xfrm>
            <a:off x="457200" y="3986784"/>
            <a:ext cx="41148" cy="1133856"/>
          </a:xfrm>
          <a:prstGeom prst="rect">
            <a:avLst/>
          </a:prstGeom>
          <a:solidFill>
            <a:srgbClr val="8A91A6"/>
          </a:solidFill>
          <a:ln>
            <a:noFill/>
          </a:ln>
          <a:effectLst/>
        </p:spPr>
        <p:txBody>
          <a:bodyPr wrap="square" rtlCol="0" anchor="ctr"/>
          <a:lstStyle/>
          <a:p>
            <a:endParaRPr/>
          </a:p>
        </p:txBody>
      </p:sp>
      <p:sp>
        <p:nvSpPr>
          <p:cNvPr id="33" name="TextBox 32"/>
          <p:cNvSpPr txBox="1"/>
          <p:nvPr/>
        </p:nvSpPr>
        <p:spPr>
          <a:xfrm>
            <a:off x="640080" y="4133087"/>
            <a:ext cx="230428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Internal agent state</a:t>
            </a:r>
          </a:p>
        </p:txBody>
      </p:sp>
      <p:sp>
        <p:nvSpPr>
          <p:cNvPr id="34" name="TextBox 33"/>
          <p:cNvSpPr txBox="1"/>
          <p:nvPr/>
        </p:nvSpPr>
        <p:spPr>
          <a:xfrm>
            <a:off x="640080" y="4370832"/>
            <a:ext cx="2304288" cy="676656"/>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Prompts, plans, memory and tool implementations are never exposed. Opacity is a design requirement, not an omission.</a:t>
            </a:r>
          </a:p>
        </p:txBody>
      </p:sp>
      <p:sp>
        <p:nvSpPr>
          <p:cNvPr id="35" name="Rectangle 34"/>
          <p:cNvSpPr/>
          <p:nvPr/>
        </p:nvSpPr>
        <p:spPr>
          <a:xfrm>
            <a:off x="3300984" y="3986784"/>
            <a:ext cx="2651760" cy="1133856"/>
          </a:xfrm>
          <a:prstGeom prst="rect">
            <a:avLst/>
          </a:prstGeom>
          <a:solidFill>
            <a:srgbClr val="FFFFFF"/>
          </a:solidFill>
          <a:ln w="9525">
            <a:solidFill>
              <a:srgbClr val="E1E7F4"/>
            </a:solidFill>
          </a:ln>
          <a:effectLst/>
        </p:spPr>
        <p:txBody>
          <a:bodyPr wrap="square" rtlCol="0" anchor="ctr"/>
          <a:lstStyle/>
          <a:p>
            <a:endParaRPr/>
          </a:p>
        </p:txBody>
      </p:sp>
      <p:sp>
        <p:nvSpPr>
          <p:cNvPr id="36" name="Rectangle 35"/>
          <p:cNvSpPr/>
          <p:nvPr/>
        </p:nvSpPr>
        <p:spPr>
          <a:xfrm>
            <a:off x="3300984" y="3986784"/>
            <a:ext cx="41148" cy="1133856"/>
          </a:xfrm>
          <a:prstGeom prst="rect">
            <a:avLst/>
          </a:prstGeom>
          <a:solidFill>
            <a:srgbClr val="8A91A6"/>
          </a:solidFill>
          <a:ln>
            <a:noFill/>
          </a:ln>
          <a:effectLst/>
        </p:spPr>
        <p:txBody>
          <a:bodyPr wrap="square" rtlCol="0" anchor="ctr"/>
          <a:lstStyle/>
          <a:p>
            <a:endParaRPr/>
          </a:p>
        </p:txBody>
      </p:sp>
      <p:sp>
        <p:nvSpPr>
          <p:cNvPr id="37" name="TextBox 36"/>
          <p:cNvSpPr txBox="1"/>
          <p:nvPr/>
        </p:nvSpPr>
        <p:spPr>
          <a:xfrm>
            <a:off x="3483864" y="4133087"/>
            <a:ext cx="230428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Registry interface</a:t>
            </a:r>
          </a:p>
        </p:txBody>
      </p:sp>
      <p:sp>
        <p:nvSpPr>
          <p:cNvPr id="38" name="TextBox 37"/>
          <p:cNvSpPr txBox="1"/>
          <p:nvPr/>
        </p:nvSpPr>
        <p:spPr>
          <a:xfrm>
            <a:off x="3483864" y="4370832"/>
            <a:ext cx="2304288" cy="676656"/>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The specification defines the Agent Card but does not prescribe an API for curated registries.</a:t>
            </a:r>
          </a:p>
        </p:txBody>
      </p:sp>
      <p:sp>
        <p:nvSpPr>
          <p:cNvPr id="39" name="Rectangle 38"/>
          <p:cNvSpPr/>
          <p:nvPr/>
        </p:nvSpPr>
        <p:spPr>
          <a:xfrm>
            <a:off x="6144768" y="3986784"/>
            <a:ext cx="2651760" cy="1133856"/>
          </a:xfrm>
          <a:prstGeom prst="rect">
            <a:avLst/>
          </a:prstGeom>
          <a:solidFill>
            <a:srgbClr val="FFFFFF"/>
          </a:solidFill>
          <a:ln w="9525">
            <a:solidFill>
              <a:srgbClr val="E1E7F4"/>
            </a:solidFill>
          </a:ln>
          <a:effectLst/>
        </p:spPr>
        <p:txBody>
          <a:bodyPr wrap="square" rtlCol="0" anchor="ctr"/>
          <a:lstStyle/>
          <a:p>
            <a:endParaRPr/>
          </a:p>
        </p:txBody>
      </p:sp>
      <p:sp>
        <p:nvSpPr>
          <p:cNvPr id="40" name="Rectangle 39"/>
          <p:cNvSpPr/>
          <p:nvPr/>
        </p:nvSpPr>
        <p:spPr>
          <a:xfrm>
            <a:off x="6144768" y="3986784"/>
            <a:ext cx="41148" cy="1133856"/>
          </a:xfrm>
          <a:prstGeom prst="rect">
            <a:avLst/>
          </a:prstGeom>
          <a:solidFill>
            <a:srgbClr val="8A91A6"/>
          </a:solidFill>
          <a:ln>
            <a:noFill/>
          </a:ln>
          <a:effectLst/>
        </p:spPr>
        <p:txBody>
          <a:bodyPr wrap="square" rtlCol="0" anchor="ctr"/>
          <a:lstStyle/>
          <a:p>
            <a:endParaRPr/>
          </a:p>
        </p:txBody>
      </p:sp>
      <p:sp>
        <p:nvSpPr>
          <p:cNvPr id="41" name="TextBox 40"/>
          <p:cNvSpPr txBox="1"/>
          <p:nvPr/>
        </p:nvSpPr>
        <p:spPr>
          <a:xfrm>
            <a:off x="6327648" y="4133087"/>
            <a:ext cx="230428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Credential acquisition</a:t>
            </a:r>
          </a:p>
        </p:txBody>
      </p:sp>
      <p:sp>
        <p:nvSpPr>
          <p:cNvPr id="42" name="TextBox 41"/>
          <p:cNvSpPr txBox="1"/>
          <p:nvPr/>
        </p:nvSpPr>
        <p:spPr>
          <a:xfrm>
            <a:off x="6327648" y="4370832"/>
            <a:ext cx="2304288" cy="676656"/>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Clients obtain credentials through processes external to the protocol; A2A defines only how they are presented.</a:t>
            </a:r>
          </a:p>
        </p:txBody>
      </p:sp>
      <p:sp>
        <p:nvSpPr>
          <p:cNvPr id="43" name="Rectangle 42"/>
          <p:cNvSpPr/>
          <p:nvPr/>
        </p:nvSpPr>
        <p:spPr>
          <a:xfrm>
            <a:off x="8988552" y="3986784"/>
            <a:ext cx="2651760" cy="1133856"/>
          </a:xfrm>
          <a:prstGeom prst="rect">
            <a:avLst/>
          </a:prstGeom>
          <a:solidFill>
            <a:srgbClr val="FFFFFF"/>
          </a:solidFill>
          <a:ln w="9525">
            <a:solidFill>
              <a:srgbClr val="E1E7F4"/>
            </a:solidFill>
          </a:ln>
          <a:effectLst/>
        </p:spPr>
        <p:txBody>
          <a:bodyPr wrap="square" rtlCol="0" anchor="ctr"/>
          <a:lstStyle/>
          <a:p>
            <a:endParaRPr/>
          </a:p>
        </p:txBody>
      </p:sp>
      <p:sp>
        <p:nvSpPr>
          <p:cNvPr id="44" name="Rectangle 43"/>
          <p:cNvSpPr/>
          <p:nvPr/>
        </p:nvSpPr>
        <p:spPr>
          <a:xfrm>
            <a:off x="8988552" y="3986784"/>
            <a:ext cx="41148" cy="1133856"/>
          </a:xfrm>
          <a:prstGeom prst="rect">
            <a:avLst/>
          </a:prstGeom>
          <a:solidFill>
            <a:srgbClr val="8A91A6"/>
          </a:solidFill>
          <a:ln>
            <a:noFill/>
          </a:ln>
          <a:effectLst/>
        </p:spPr>
        <p:txBody>
          <a:bodyPr wrap="square" rtlCol="0" anchor="ctr"/>
          <a:lstStyle/>
          <a:p>
            <a:endParaRPr/>
          </a:p>
        </p:txBody>
      </p:sp>
      <p:sp>
        <p:nvSpPr>
          <p:cNvPr id="45" name="TextBox 44"/>
          <p:cNvSpPr txBox="1"/>
          <p:nvPr/>
        </p:nvSpPr>
        <p:spPr>
          <a:xfrm>
            <a:off x="9171432" y="4133087"/>
            <a:ext cx="230428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Task restart</a:t>
            </a:r>
          </a:p>
        </p:txBody>
      </p:sp>
      <p:sp>
        <p:nvSpPr>
          <p:cNvPr id="46" name="TextBox 45"/>
          <p:cNvSpPr txBox="1"/>
          <p:nvPr/>
        </p:nvSpPr>
        <p:spPr>
          <a:xfrm>
            <a:off x="9171432" y="4370832"/>
            <a:ext cx="2304288" cy="676656"/>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A task in a terminal state cannot resume. Refinement requires a new task within the same context.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PROTOCOL FOUNDATIONS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The integration problem the specification addresses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Constraints of point-to-point agent integration, their technical consequence, and the corresponding protocol provision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a2a-protocol.org/latest/topics/what-is-a2a</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4</a:t>
            </a:r>
          </a:p>
        </p:txBody>
      </p:sp>
      <p:sp>
        <p:nvSpPr>
          <p:cNvPr id="7" name="Rectangle 6"/>
          <p:cNvSpPr/>
          <p:nvPr/>
        </p:nvSpPr>
        <p:spPr>
          <a:xfrm>
            <a:off x="457200" y="1389888"/>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67612"/>
            <a:ext cx="2523670" cy="182880"/>
          </a:xfrm>
          <a:prstGeom prst="rect">
            <a:avLst/>
          </a:prstGeom>
          <a:noFill/>
        </p:spPr>
        <p:txBody>
          <a:bodyPr wrap="none" lIns="0" tIns="0" rIns="0" bIns="0" anchor="t">
            <a:spAutoFit/>
          </a:bodyPr>
          <a:lstStyle/>
          <a:p>
            <a:pPr algn="l">
              <a:lnSpc>
                <a:spcPct val="100000"/>
              </a:lnSpc>
            </a:pPr>
            <a:r>
              <a:rPr sz="950" b="1" i="0" dirty="0">
                <a:solidFill>
                  <a:srgbClr val="FFFFFF"/>
                </a:solidFill>
                <a:latin typeface="Segoe UI"/>
                <a:cs typeface="Segoe UI"/>
              </a:rPr>
              <a:t>Integration constraint</a:t>
            </a:r>
          </a:p>
        </p:txBody>
      </p:sp>
      <p:sp>
        <p:nvSpPr>
          <p:cNvPr id="9" name="TextBox 8"/>
          <p:cNvSpPr txBox="1"/>
          <p:nvPr/>
        </p:nvSpPr>
        <p:spPr>
          <a:xfrm>
            <a:off x="3291766" y="1467612"/>
            <a:ext cx="4328038" cy="182880"/>
          </a:xfrm>
          <a:prstGeom prst="rect">
            <a:avLst/>
          </a:prstGeom>
          <a:noFill/>
        </p:spPr>
        <p:txBody>
          <a:bodyPr wrap="none" lIns="0" tIns="0" rIns="0" bIns="0" anchor="t">
            <a:spAutoFit/>
          </a:bodyPr>
          <a:lstStyle/>
          <a:p>
            <a:pPr algn="l">
              <a:lnSpc>
                <a:spcPct val="100000"/>
              </a:lnSpc>
            </a:pPr>
            <a:r>
              <a:rPr sz="950" b="1" i="0" dirty="0">
                <a:solidFill>
                  <a:srgbClr val="FFFFFF"/>
                </a:solidFill>
                <a:latin typeface="Segoe UI"/>
                <a:cs typeface="Segoe UI"/>
              </a:rPr>
              <a:t>Technical consequence</a:t>
            </a:r>
          </a:p>
        </p:txBody>
      </p:sp>
      <p:sp>
        <p:nvSpPr>
          <p:cNvPr id="10" name="TextBox 9"/>
          <p:cNvSpPr txBox="1"/>
          <p:nvPr/>
        </p:nvSpPr>
        <p:spPr>
          <a:xfrm>
            <a:off x="7802684" y="1467612"/>
            <a:ext cx="3876946" cy="182880"/>
          </a:xfrm>
          <a:prstGeom prst="rect">
            <a:avLst/>
          </a:prstGeom>
          <a:noFill/>
        </p:spPr>
        <p:txBody>
          <a:bodyPr wrap="none" lIns="0" tIns="0" rIns="0" bIns="0" anchor="t">
            <a:spAutoFit/>
          </a:bodyPr>
          <a:lstStyle/>
          <a:p>
            <a:pPr algn="l">
              <a:lnSpc>
                <a:spcPct val="100000"/>
              </a:lnSpc>
            </a:pPr>
            <a:r>
              <a:rPr sz="950" b="1" i="0" dirty="0">
                <a:solidFill>
                  <a:srgbClr val="FFFFFF"/>
                </a:solidFill>
                <a:latin typeface="Segoe UI"/>
                <a:cs typeface="Segoe UI"/>
              </a:rPr>
              <a:t>Provision in the A2A specification</a:t>
            </a:r>
          </a:p>
        </p:txBody>
      </p:sp>
      <p:sp>
        <p:nvSpPr>
          <p:cNvPr id="11" name="Rectangle 10"/>
          <p:cNvSpPr/>
          <p:nvPr/>
        </p:nvSpPr>
        <p:spPr>
          <a:xfrm>
            <a:off x="457200" y="1700784"/>
            <a:ext cx="11277295" cy="786384"/>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48716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1751076"/>
            <a:ext cx="2487094" cy="70408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Agent exposed as a callable tool</a:t>
            </a:r>
          </a:p>
        </p:txBody>
      </p:sp>
      <p:sp>
        <p:nvSpPr>
          <p:cNvPr id="14" name="TextBox 13"/>
          <p:cNvSpPr txBox="1"/>
          <p:nvPr/>
        </p:nvSpPr>
        <p:spPr>
          <a:xfrm>
            <a:off x="3291766" y="1751076"/>
            <a:ext cx="4291462"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Interaction is reduced to a stateless request and response. No clarification turn, no intermediate progress, no resumption after disconnection.</a:t>
            </a:r>
          </a:p>
        </p:txBody>
      </p:sp>
      <p:sp>
        <p:nvSpPr>
          <p:cNvPr id="15" name="TextBox 14"/>
          <p:cNvSpPr txBox="1"/>
          <p:nvPr/>
        </p:nvSpPr>
        <p:spPr>
          <a:xfrm>
            <a:off x="7802684" y="1970840"/>
            <a:ext cx="3840370" cy="264560"/>
          </a:xfrm>
          <a:prstGeom prst="rect">
            <a:avLst/>
          </a:prstGeom>
          <a:noFill/>
        </p:spPr>
        <p:txBody>
          <a:bodyPr wrap="square" lIns="0" tIns="0" rIns="0" bIns="0" anchor="ctr">
            <a:spAutoFit/>
          </a:bodyPr>
          <a:lstStyle/>
          <a:p>
            <a:pPr algn="l">
              <a:lnSpc>
                <a:spcPct val="112000"/>
              </a:lnSpc>
            </a:pPr>
            <a:r>
              <a:rPr sz="800" b="1" i="0" dirty="0">
                <a:solidFill>
                  <a:srgbClr val="44495B"/>
                </a:solidFill>
                <a:latin typeface="Segoe UI"/>
                <a:cs typeface="Segoe UI"/>
              </a:rPr>
              <a:t>A Task objec</a:t>
            </a:r>
            <a:r>
              <a:rPr sz="800" b="0" i="0" dirty="0">
                <a:solidFill>
                  <a:srgbClr val="44495B"/>
                </a:solidFill>
                <a:latin typeface="Segoe UI"/>
                <a:cs typeface="Segoe UI"/>
              </a:rPr>
              <a:t>t with a server-owned state machine, including an input-required state that suspends rather than fails.</a:t>
            </a:r>
          </a:p>
        </p:txBody>
      </p:sp>
      <p:cxnSp>
        <p:nvCxnSpPr>
          <p:cNvPr id="16" name="Connector 15"/>
          <p:cNvCxnSpPr/>
          <p:nvPr/>
        </p:nvCxnSpPr>
        <p:spPr>
          <a:xfrm>
            <a:off x="457200" y="327355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5216" y="2537460"/>
            <a:ext cx="2487094" cy="70408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No machine-readable capability descriptor</a:t>
            </a:r>
          </a:p>
        </p:txBody>
      </p:sp>
      <p:sp>
        <p:nvSpPr>
          <p:cNvPr id="18" name="TextBox 17"/>
          <p:cNvSpPr txBox="1"/>
          <p:nvPr/>
        </p:nvSpPr>
        <p:spPr>
          <a:xfrm>
            <a:off x="3291766" y="2537460"/>
            <a:ext cx="4291462"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Supported operations, content modalities and authentication requirements are communicated by documentation and discovered at integration time.</a:t>
            </a:r>
          </a:p>
        </p:txBody>
      </p:sp>
      <p:sp>
        <p:nvSpPr>
          <p:cNvPr id="19" name="TextBox 18"/>
          <p:cNvSpPr txBox="1"/>
          <p:nvPr/>
        </p:nvSpPr>
        <p:spPr>
          <a:xfrm>
            <a:off x="7802684" y="2757224"/>
            <a:ext cx="3840370" cy="264560"/>
          </a:xfrm>
          <a:prstGeom prst="rect">
            <a:avLst/>
          </a:prstGeom>
          <a:noFill/>
        </p:spPr>
        <p:txBody>
          <a:bodyPr wrap="square" lIns="0" tIns="0" rIns="0" bIns="0" anchor="ctr">
            <a:spAutoFit/>
          </a:bodyPr>
          <a:lstStyle/>
          <a:p>
            <a:pPr algn="l">
              <a:lnSpc>
                <a:spcPct val="112000"/>
              </a:lnSpc>
            </a:pPr>
            <a:r>
              <a:rPr sz="800" b="1" i="0" dirty="0">
                <a:solidFill>
                  <a:srgbClr val="44495B"/>
                </a:solidFill>
                <a:latin typeface="Segoe UI"/>
                <a:cs typeface="Segoe UI"/>
              </a:rPr>
              <a:t>An Agent Card </a:t>
            </a:r>
            <a:r>
              <a:rPr sz="800" b="0" i="0" dirty="0">
                <a:solidFill>
                  <a:srgbClr val="44495B"/>
                </a:solidFill>
                <a:latin typeface="Segoe UI"/>
                <a:cs typeface="Segoe UI"/>
              </a:rPr>
              <a:t>published at a well-known URI, declaring skills, capabilities, interfaces and security schemes.</a:t>
            </a:r>
          </a:p>
        </p:txBody>
      </p:sp>
      <p:sp>
        <p:nvSpPr>
          <p:cNvPr id="20" name="Rectangle 19"/>
          <p:cNvSpPr/>
          <p:nvPr/>
        </p:nvSpPr>
        <p:spPr>
          <a:xfrm>
            <a:off x="457200" y="3273552"/>
            <a:ext cx="11277295" cy="786384"/>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4059936"/>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3323844"/>
            <a:ext cx="2487094" cy="70408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 bespoke contract for each pairing</a:t>
            </a:r>
          </a:p>
        </p:txBody>
      </p:sp>
      <p:sp>
        <p:nvSpPr>
          <p:cNvPr id="23" name="TextBox 22"/>
          <p:cNvSpPr txBox="1"/>
          <p:nvPr/>
        </p:nvSpPr>
        <p:spPr>
          <a:xfrm>
            <a:off x="3291766" y="3323844"/>
            <a:ext cx="4291462"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Integration effort scales with the number of agent pairs, and a change at either end propagates manually to every counterpart.</a:t>
            </a:r>
          </a:p>
        </p:txBody>
      </p:sp>
      <p:sp>
        <p:nvSpPr>
          <p:cNvPr id="24" name="TextBox 23"/>
          <p:cNvSpPr txBox="1"/>
          <p:nvPr/>
        </p:nvSpPr>
        <p:spPr>
          <a:xfrm>
            <a:off x="7802684" y="3323844"/>
            <a:ext cx="3840370"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One operation set and one data model applied uniformly to every peer, irrespective of framework or vendor.</a:t>
            </a:r>
          </a:p>
        </p:txBody>
      </p:sp>
      <p:cxnSp>
        <p:nvCxnSpPr>
          <p:cNvPr id="25" name="Connector 24"/>
          <p:cNvCxnSpPr/>
          <p:nvPr/>
        </p:nvCxnSpPr>
        <p:spPr>
          <a:xfrm>
            <a:off x="457200" y="4846320"/>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5216" y="4110228"/>
            <a:ext cx="2487094" cy="70408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No shared task identity</a:t>
            </a:r>
          </a:p>
        </p:txBody>
      </p:sp>
      <p:sp>
        <p:nvSpPr>
          <p:cNvPr id="27" name="TextBox 26"/>
          <p:cNvSpPr txBox="1"/>
          <p:nvPr/>
        </p:nvSpPr>
        <p:spPr>
          <a:xfrm>
            <a:off x="3291766" y="4110228"/>
            <a:ext cx="4291462"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Correlation, monitoring and audit are implemented separately for each integration, with incompatible identifiers and result shapes.</a:t>
            </a:r>
          </a:p>
        </p:txBody>
      </p:sp>
      <p:sp>
        <p:nvSpPr>
          <p:cNvPr id="28" name="TextBox 27"/>
          <p:cNvSpPr txBox="1"/>
          <p:nvPr/>
        </p:nvSpPr>
        <p:spPr>
          <a:xfrm>
            <a:off x="7802684" y="4110228"/>
            <a:ext cx="3840370"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Server-generated task and context identifiers, consistent across peers and carried through every operation.</a:t>
            </a:r>
          </a:p>
        </p:txBody>
      </p:sp>
      <p:sp>
        <p:nvSpPr>
          <p:cNvPr id="29" name="Rectangle 28"/>
          <p:cNvSpPr/>
          <p:nvPr/>
        </p:nvSpPr>
        <p:spPr>
          <a:xfrm>
            <a:off x="457200" y="4846320"/>
            <a:ext cx="11277295" cy="786384"/>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5632704"/>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85216" y="4896612"/>
            <a:ext cx="2487094" cy="70408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Per-integration authentication</a:t>
            </a:r>
          </a:p>
        </p:txBody>
      </p:sp>
      <p:sp>
        <p:nvSpPr>
          <p:cNvPr id="32" name="TextBox 31"/>
          <p:cNvSpPr txBox="1"/>
          <p:nvPr/>
        </p:nvSpPr>
        <p:spPr>
          <a:xfrm>
            <a:off x="3291766" y="4896612"/>
            <a:ext cx="4291462"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Credential handling, transport requirements and audit differ per counterpart, and gaps surface during review rather than design.</a:t>
            </a:r>
          </a:p>
        </p:txBody>
      </p:sp>
      <p:sp>
        <p:nvSpPr>
          <p:cNvPr id="33" name="TextBox 32"/>
          <p:cNvSpPr txBox="1"/>
          <p:nvPr/>
        </p:nvSpPr>
        <p:spPr>
          <a:xfrm>
            <a:off x="7802684" y="4896612"/>
            <a:ext cx="3840370"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Security schemes declared in the Agent Card; identity established at the transport layer using established standards.</a:t>
            </a:r>
          </a:p>
        </p:txBody>
      </p:sp>
      <p:cxnSp>
        <p:nvCxnSpPr>
          <p:cNvPr id="34" name="Connector 33"/>
          <p:cNvCxnSpPr/>
          <p:nvPr/>
        </p:nvCxnSpPr>
        <p:spPr>
          <a:xfrm>
            <a:off x="3163750" y="1700784"/>
            <a:ext cx="0" cy="39319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674668" y="1700784"/>
            <a:ext cx="0" cy="39319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PROTOCOL FOUNDATIONS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Protocol layering in a multi-agent system</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A2A governs delegation between agents across ownership boundaries; the Model Context Protocol governs resource access within one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a2a-protocol.org/latest/topics/a2a-and-mcp</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5</a:t>
            </a:r>
          </a:p>
        </p:txBody>
      </p:sp>
      <p:sp>
        <p:nvSpPr>
          <p:cNvPr id="7" name="Rectangle 6"/>
          <p:cNvSpPr/>
          <p:nvPr/>
        </p:nvSpPr>
        <p:spPr>
          <a:xfrm>
            <a:off x="457200" y="1408176"/>
            <a:ext cx="11277295" cy="457200"/>
          </a:xfrm>
          <a:prstGeom prst="rect">
            <a:avLst/>
          </a:prstGeom>
          <a:solidFill>
            <a:srgbClr val="00B39F"/>
          </a:solidFill>
          <a:ln>
            <a:noFill/>
          </a:ln>
          <a:effectLst/>
        </p:spPr>
        <p:txBody>
          <a:bodyPr wrap="square" rtlCol="0" anchor="ctr"/>
          <a:lstStyle/>
          <a:p>
            <a:endParaRPr/>
          </a:p>
        </p:txBody>
      </p:sp>
      <p:sp>
        <p:nvSpPr>
          <p:cNvPr id="8" name="TextBox 7"/>
          <p:cNvSpPr txBox="1"/>
          <p:nvPr/>
        </p:nvSpPr>
        <p:spPr>
          <a:xfrm>
            <a:off x="694944" y="1490472"/>
            <a:ext cx="10801807" cy="292608"/>
          </a:xfrm>
          <a:prstGeom prst="rect">
            <a:avLst/>
          </a:prstGeom>
          <a:noFill/>
        </p:spPr>
        <p:txBody>
          <a:bodyPr wrap="square" lIns="0" tIns="0" rIns="0" bIns="0" anchor="t">
            <a:spAutoFit/>
          </a:bodyPr>
          <a:lstStyle/>
          <a:p>
            <a:pPr algn="l">
              <a:lnSpc>
                <a:spcPct val="100000"/>
              </a:lnSpc>
            </a:pPr>
            <a:r>
              <a:rPr sz="1000" b="1" i="0" dirty="0">
                <a:solidFill>
                  <a:srgbClr val="FFFFFF"/>
                </a:solidFill>
                <a:latin typeface="Segoe UI"/>
                <a:cs typeface="Segoe UI"/>
              </a:rPr>
              <a:t>A2A  —  task delegation between autonomous agents, across framework, vendor and ownership boundaries</a:t>
            </a:r>
          </a:p>
        </p:txBody>
      </p:sp>
      <p:sp>
        <p:nvSpPr>
          <p:cNvPr id="9" name="Rectangle 8"/>
          <p:cNvSpPr/>
          <p:nvPr/>
        </p:nvSpPr>
        <p:spPr>
          <a:xfrm>
            <a:off x="566928" y="2066543"/>
            <a:ext cx="3511296" cy="2359152"/>
          </a:xfrm>
          <a:prstGeom prst="rect">
            <a:avLst/>
          </a:prstGeom>
          <a:noFill/>
          <a:ln w="9525">
            <a:solidFill>
              <a:srgbClr val="44495B"/>
            </a:solidFill>
            <a:prstDash val="dash"/>
          </a:ln>
          <a:effectLst/>
        </p:spPr>
        <p:txBody>
          <a:bodyPr wrap="square" rtlCol="0" anchor="ctr"/>
          <a:lstStyle/>
          <a:p>
            <a:endParaRPr/>
          </a:p>
        </p:txBody>
      </p:sp>
      <p:sp>
        <p:nvSpPr>
          <p:cNvPr id="10" name="TextBox 9"/>
          <p:cNvSpPr txBox="1"/>
          <p:nvPr/>
        </p:nvSpPr>
        <p:spPr>
          <a:xfrm>
            <a:off x="713232" y="2130552"/>
            <a:ext cx="2286000" cy="164592"/>
          </a:xfrm>
          <a:prstGeom prst="rect">
            <a:avLst/>
          </a:prstGeom>
          <a:noFill/>
        </p:spPr>
        <p:txBody>
          <a:bodyPr wrap="square" lIns="0" tIns="0" rIns="0" bIns="0" anchor="t">
            <a:spAutoFit/>
          </a:bodyPr>
          <a:lstStyle/>
          <a:p>
            <a:pPr algn="l">
              <a:lnSpc>
                <a:spcPct val="100000"/>
              </a:lnSpc>
            </a:pPr>
            <a:r>
              <a:rPr lang="en-US" sz="750" b="1" i="0" spc="110" dirty="0">
                <a:solidFill>
                  <a:srgbClr val="44495B"/>
                </a:solidFill>
                <a:latin typeface="Segoe UI"/>
                <a:cs typeface="Segoe UI"/>
              </a:rPr>
              <a:t>CALLING PROJECT</a:t>
            </a:r>
            <a:endParaRPr sz="750" b="1" i="0" spc="110" dirty="0">
              <a:solidFill>
                <a:srgbClr val="44495B"/>
              </a:solidFill>
              <a:latin typeface="Segoe UI"/>
              <a:cs typeface="Segoe UI"/>
            </a:endParaRPr>
          </a:p>
        </p:txBody>
      </p:sp>
      <p:cxnSp>
        <p:nvCxnSpPr>
          <p:cNvPr id="11" name="Connector 10"/>
          <p:cNvCxnSpPr/>
          <p:nvPr/>
        </p:nvCxnSpPr>
        <p:spPr>
          <a:xfrm>
            <a:off x="3218688" y="1865376"/>
            <a:ext cx="0" cy="475488"/>
          </a:xfrm>
          <a:prstGeom prst="line">
            <a:avLst/>
          </a:prstGeom>
          <a:ln w="17780">
            <a:solidFill>
              <a:srgbClr val="008173"/>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218688" y="1883664"/>
            <a:ext cx="0" cy="457200"/>
          </a:xfrm>
          <a:prstGeom prst="line">
            <a:avLst/>
          </a:prstGeom>
          <a:ln w="17780">
            <a:solidFill>
              <a:srgbClr val="00817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13232" y="2340864"/>
            <a:ext cx="3218688" cy="713232"/>
          </a:xfrm>
          <a:prstGeom prst="rect">
            <a:avLst/>
          </a:prstGeom>
          <a:solidFill>
            <a:srgbClr val="101A3C"/>
          </a:solidFill>
          <a:ln>
            <a:noFill/>
          </a:ln>
          <a:effectLst/>
        </p:spPr>
        <p:txBody>
          <a:bodyPr wrap="square" lIns="54864" tIns="18288" rIns="54864" bIns="18288" rtlCol="0" anchor="ctr"/>
          <a:lstStyle/>
          <a:p>
            <a:pPr algn="ctr">
              <a:lnSpc>
                <a:spcPct val="122000"/>
              </a:lnSpc>
            </a:pPr>
            <a:r>
              <a:rPr sz="1100" b="1" i="0" dirty="0">
                <a:solidFill>
                  <a:srgbClr val="FFFFFF"/>
                </a:solidFill>
                <a:latin typeface="Segoe UI"/>
                <a:cs typeface="Segoe UI"/>
              </a:rPr>
              <a:t>Concierge agent</a:t>
            </a:r>
          </a:p>
          <a:p>
            <a:pPr algn="ctr">
              <a:lnSpc>
                <a:spcPct val="122000"/>
              </a:lnSpc>
            </a:pPr>
            <a:r>
              <a:rPr sz="800" b="0" i="0" dirty="0">
                <a:solidFill>
                  <a:srgbClr val="B9C2D6"/>
                </a:solidFill>
                <a:latin typeface="Segoe UI"/>
                <a:cs typeface="Segoe UI"/>
              </a:rPr>
              <a:t>Microsoft Agent Framework</a:t>
            </a:r>
          </a:p>
        </p:txBody>
      </p:sp>
      <p:cxnSp>
        <p:nvCxnSpPr>
          <p:cNvPr id="14" name="Connector 13"/>
          <p:cNvCxnSpPr/>
          <p:nvPr/>
        </p:nvCxnSpPr>
        <p:spPr>
          <a:xfrm>
            <a:off x="1463040"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13232"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Policy database</a:t>
            </a:r>
          </a:p>
        </p:txBody>
      </p:sp>
      <p:cxnSp>
        <p:nvCxnSpPr>
          <p:cNvPr id="16" name="Connector 15"/>
          <p:cNvCxnSpPr/>
          <p:nvPr/>
        </p:nvCxnSpPr>
        <p:spPr>
          <a:xfrm>
            <a:off x="3145536"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395728"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Pricing API</a:t>
            </a:r>
          </a:p>
        </p:txBody>
      </p:sp>
      <p:sp>
        <p:nvSpPr>
          <p:cNvPr id="18" name="Rectangle 17"/>
          <p:cNvSpPr/>
          <p:nvPr/>
        </p:nvSpPr>
        <p:spPr>
          <a:xfrm>
            <a:off x="4315968" y="2066543"/>
            <a:ext cx="3511296" cy="2359152"/>
          </a:xfrm>
          <a:prstGeom prst="rect">
            <a:avLst/>
          </a:prstGeom>
          <a:noFill/>
          <a:ln w="9525">
            <a:solidFill>
              <a:srgbClr val="44495B"/>
            </a:solidFill>
            <a:prstDash val="dash"/>
          </a:ln>
          <a:effectLst/>
        </p:spPr>
        <p:txBody>
          <a:bodyPr wrap="square" rtlCol="0" anchor="ctr"/>
          <a:lstStyle/>
          <a:p>
            <a:endParaRPr/>
          </a:p>
        </p:txBody>
      </p:sp>
      <p:sp>
        <p:nvSpPr>
          <p:cNvPr id="19" name="TextBox 18"/>
          <p:cNvSpPr txBox="1"/>
          <p:nvPr/>
        </p:nvSpPr>
        <p:spPr>
          <a:xfrm>
            <a:off x="4462272" y="2130552"/>
            <a:ext cx="2286000" cy="164592"/>
          </a:xfrm>
          <a:prstGeom prst="rect">
            <a:avLst/>
          </a:prstGeom>
          <a:noFill/>
        </p:spPr>
        <p:txBody>
          <a:bodyPr wrap="square" lIns="0" tIns="0" rIns="0" bIns="0" anchor="t">
            <a:spAutoFit/>
          </a:bodyPr>
          <a:lstStyle/>
          <a:p>
            <a:pPr algn="l">
              <a:lnSpc>
                <a:spcPct val="100000"/>
              </a:lnSpc>
            </a:pPr>
            <a:r>
              <a:rPr sz="750" b="1" i="0" spc="110" dirty="0">
                <a:solidFill>
                  <a:srgbClr val="44495B"/>
                </a:solidFill>
                <a:latin typeface="Segoe UI"/>
                <a:cs typeface="Segoe UI"/>
              </a:rPr>
              <a:t>ANOTHER BUSINESS UNIT</a:t>
            </a:r>
          </a:p>
        </p:txBody>
      </p:sp>
      <p:cxnSp>
        <p:nvCxnSpPr>
          <p:cNvPr id="20" name="Connector 19"/>
          <p:cNvCxnSpPr/>
          <p:nvPr/>
        </p:nvCxnSpPr>
        <p:spPr>
          <a:xfrm>
            <a:off x="6967727" y="1865376"/>
            <a:ext cx="0" cy="475488"/>
          </a:xfrm>
          <a:prstGeom prst="line">
            <a:avLst/>
          </a:prstGeom>
          <a:ln w="17780">
            <a:solidFill>
              <a:srgbClr val="00817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6967727" y="1883664"/>
            <a:ext cx="0" cy="457200"/>
          </a:xfrm>
          <a:prstGeom prst="line">
            <a:avLst/>
          </a:prstGeom>
          <a:ln w="17780">
            <a:solidFill>
              <a:srgbClr val="00817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4462272" y="2340864"/>
            <a:ext cx="3218688" cy="713232"/>
          </a:xfrm>
          <a:prstGeom prst="rect">
            <a:avLst/>
          </a:prstGeom>
          <a:solidFill>
            <a:srgbClr val="101A3C"/>
          </a:solidFill>
          <a:ln>
            <a:noFill/>
          </a:ln>
          <a:effectLst/>
        </p:spPr>
        <p:txBody>
          <a:bodyPr wrap="square" lIns="54864" tIns="18288" rIns="54864" bIns="18288" rtlCol="0" anchor="ctr"/>
          <a:lstStyle/>
          <a:p>
            <a:pPr algn="ctr">
              <a:lnSpc>
                <a:spcPct val="122000"/>
              </a:lnSpc>
            </a:pPr>
            <a:r>
              <a:rPr sz="1100" b="1" i="0" dirty="0">
                <a:solidFill>
                  <a:srgbClr val="FFFFFF"/>
                </a:solidFill>
                <a:latin typeface="Segoe UI"/>
                <a:cs typeface="Segoe UI"/>
              </a:rPr>
              <a:t>Claims agent</a:t>
            </a:r>
          </a:p>
          <a:p>
            <a:pPr algn="ctr">
              <a:lnSpc>
                <a:spcPct val="122000"/>
              </a:lnSpc>
            </a:pPr>
            <a:r>
              <a:rPr sz="800" b="0" i="0" dirty="0">
                <a:solidFill>
                  <a:srgbClr val="B9C2D6"/>
                </a:solidFill>
                <a:latin typeface="Segoe UI"/>
                <a:cs typeface="Segoe UI"/>
              </a:rPr>
              <a:t>Foundry Agent Service</a:t>
            </a:r>
          </a:p>
        </p:txBody>
      </p:sp>
      <p:cxnSp>
        <p:nvCxnSpPr>
          <p:cNvPr id="23" name="Connector 22"/>
          <p:cNvCxnSpPr/>
          <p:nvPr/>
        </p:nvCxnSpPr>
        <p:spPr>
          <a:xfrm>
            <a:off x="5212080"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462272"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Claims system</a:t>
            </a:r>
          </a:p>
        </p:txBody>
      </p:sp>
      <p:cxnSp>
        <p:nvCxnSpPr>
          <p:cNvPr id="25" name="Connector 24"/>
          <p:cNvCxnSpPr/>
          <p:nvPr/>
        </p:nvCxnSpPr>
        <p:spPr>
          <a:xfrm>
            <a:off x="6894576"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144768"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Document store</a:t>
            </a:r>
          </a:p>
        </p:txBody>
      </p:sp>
      <p:sp>
        <p:nvSpPr>
          <p:cNvPr id="27" name="Rectangle 26"/>
          <p:cNvSpPr/>
          <p:nvPr/>
        </p:nvSpPr>
        <p:spPr>
          <a:xfrm>
            <a:off x="8065008" y="2066543"/>
            <a:ext cx="3511296" cy="2359152"/>
          </a:xfrm>
          <a:prstGeom prst="rect">
            <a:avLst/>
          </a:prstGeom>
          <a:noFill/>
          <a:ln w="9525">
            <a:solidFill>
              <a:srgbClr val="44495B"/>
            </a:solidFill>
            <a:prstDash val="dash"/>
          </a:ln>
          <a:effectLst/>
        </p:spPr>
        <p:txBody>
          <a:bodyPr wrap="square" rtlCol="0" anchor="ctr"/>
          <a:lstStyle/>
          <a:p>
            <a:endParaRPr/>
          </a:p>
        </p:txBody>
      </p:sp>
      <p:sp>
        <p:nvSpPr>
          <p:cNvPr id="28" name="TextBox 27"/>
          <p:cNvSpPr txBox="1"/>
          <p:nvPr/>
        </p:nvSpPr>
        <p:spPr>
          <a:xfrm>
            <a:off x="8211312" y="2130552"/>
            <a:ext cx="2286000" cy="164592"/>
          </a:xfrm>
          <a:prstGeom prst="rect">
            <a:avLst/>
          </a:prstGeom>
          <a:noFill/>
        </p:spPr>
        <p:txBody>
          <a:bodyPr wrap="square" lIns="0" tIns="0" rIns="0" bIns="0" anchor="t">
            <a:spAutoFit/>
          </a:bodyPr>
          <a:lstStyle/>
          <a:p>
            <a:pPr algn="l">
              <a:lnSpc>
                <a:spcPct val="100000"/>
              </a:lnSpc>
            </a:pPr>
            <a:r>
              <a:rPr sz="750" b="1" i="0" spc="110" dirty="0">
                <a:solidFill>
                  <a:srgbClr val="44495B"/>
                </a:solidFill>
                <a:latin typeface="Segoe UI"/>
                <a:cs typeface="Segoe UI"/>
              </a:rPr>
              <a:t>PARTNER ORGANISATION</a:t>
            </a:r>
          </a:p>
        </p:txBody>
      </p:sp>
      <p:cxnSp>
        <p:nvCxnSpPr>
          <p:cNvPr id="29" name="Connector 28"/>
          <p:cNvCxnSpPr/>
          <p:nvPr/>
        </p:nvCxnSpPr>
        <p:spPr>
          <a:xfrm>
            <a:off x="10716768" y="1865376"/>
            <a:ext cx="0" cy="475488"/>
          </a:xfrm>
          <a:prstGeom prst="line">
            <a:avLst/>
          </a:prstGeom>
          <a:ln w="17780">
            <a:solidFill>
              <a:srgbClr val="008173"/>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0716768" y="1883664"/>
            <a:ext cx="0" cy="457200"/>
          </a:xfrm>
          <a:prstGeom prst="line">
            <a:avLst/>
          </a:prstGeom>
          <a:ln w="17780">
            <a:solidFill>
              <a:srgbClr val="00817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211312" y="2340864"/>
            <a:ext cx="3218688" cy="713232"/>
          </a:xfrm>
          <a:prstGeom prst="rect">
            <a:avLst/>
          </a:prstGeom>
          <a:solidFill>
            <a:srgbClr val="101A3C"/>
          </a:solidFill>
          <a:ln>
            <a:noFill/>
          </a:ln>
          <a:effectLst/>
        </p:spPr>
        <p:txBody>
          <a:bodyPr wrap="square" lIns="54864" tIns="18288" rIns="54864" bIns="18288" rtlCol="0" anchor="ctr"/>
          <a:lstStyle/>
          <a:p>
            <a:pPr algn="ctr">
              <a:lnSpc>
                <a:spcPct val="122000"/>
              </a:lnSpc>
            </a:pPr>
            <a:r>
              <a:rPr sz="1100" b="1" i="0" dirty="0">
                <a:solidFill>
                  <a:srgbClr val="FFFFFF"/>
                </a:solidFill>
                <a:latin typeface="Segoe UI"/>
                <a:cs typeface="Segoe UI"/>
              </a:rPr>
              <a:t>Logistics agent</a:t>
            </a:r>
          </a:p>
          <a:p>
            <a:pPr algn="ctr">
              <a:lnSpc>
                <a:spcPct val="122000"/>
              </a:lnSpc>
            </a:pPr>
            <a:r>
              <a:rPr sz="800" b="0" i="0" dirty="0">
                <a:solidFill>
                  <a:srgbClr val="B9C2D6"/>
                </a:solidFill>
                <a:latin typeface="Segoe UI"/>
                <a:cs typeface="Segoe UI"/>
              </a:rPr>
              <a:t>Third-party runtime</a:t>
            </a:r>
          </a:p>
        </p:txBody>
      </p:sp>
      <p:cxnSp>
        <p:nvCxnSpPr>
          <p:cNvPr id="32" name="Connector 31"/>
          <p:cNvCxnSpPr/>
          <p:nvPr/>
        </p:nvCxnSpPr>
        <p:spPr>
          <a:xfrm>
            <a:off x="8961120"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211312"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Carrier API</a:t>
            </a:r>
          </a:p>
        </p:txBody>
      </p:sp>
      <p:cxnSp>
        <p:nvCxnSpPr>
          <p:cNvPr id="34" name="Connector 33"/>
          <p:cNvCxnSpPr/>
          <p:nvPr/>
        </p:nvCxnSpPr>
        <p:spPr>
          <a:xfrm>
            <a:off x="10643616"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893808"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Shipment tracking</a:t>
            </a:r>
          </a:p>
        </p:txBody>
      </p:sp>
      <p:sp>
        <p:nvSpPr>
          <p:cNvPr id="36" name="TextBox 35"/>
          <p:cNvSpPr txBox="1"/>
          <p:nvPr/>
        </p:nvSpPr>
        <p:spPr>
          <a:xfrm>
            <a:off x="457200" y="4517136"/>
            <a:ext cx="11277295" cy="182880"/>
          </a:xfrm>
          <a:prstGeom prst="rect">
            <a:avLst/>
          </a:prstGeom>
          <a:noFill/>
        </p:spPr>
        <p:txBody>
          <a:bodyPr wrap="square" lIns="0" tIns="0" rIns="0" bIns="0" anchor="t">
            <a:spAutoFit/>
          </a:bodyPr>
          <a:lstStyle/>
          <a:p>
            <a:pPr algn="ctr">
              <a:lnSpc>
                <a:spcPct val="100000"/>
              </a:lnSpc>
            </a:pPr>
            <a:r>
              <a:rPr sz="850" b="1" i="0" dirty="0">
                <a:solidFill>
                  <a:srgbClr val="44495B"/>
                </a:solidFill>
                <a:latin typeface="Segoe UI"/>
                <a:cs typeface="Segoe UI"/>
              </a:rPr>
              <a:t>Model Context Protocol  —  tool, resource and context access within a single agent boundary</a:t>
            </a:r>
          </a:p>
        </p:txBody>
      </p:sp>
      <p:sp>
        <p:nvSpPr>
          <p:cNvPr id="37" name="TextBox 36"/>
          <p:cNvSpPr txBox="1"/>
          <p:nvPr/>
        </p:nvSpPr>
        <p:spPr>
          <a:xfrm>
            <a:off x="457200" y="4846320"/>
            <a:ext cx="358444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Boundary crossed</a:t>
            </a:r>
          </a:p>
        </p:txBody>
      </p:sp>
      <p:sp>
        <p:nvSpPr>
          <p:cNvPr id="38" name="TextBox 37"/>
          <p:cNvSpPr txBox="1"/>
          <p:nvPr/>
        </p:nvSpPr>
        <p:spPr>
          <a:xfrm>
            <a:off x="457200" y="5065776"/>
            <a:ext cx="3584448" cy="40233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A2A is used where the counterpart is operated by another team, business unit or organisation and changes independently.</a:t>
            </a:r>
          </a:p>
        </p:txBody>
      </p:sp>
      <p:sp>
        <p:nvSpPr>
          <p:cNvPr id="39" name="TextBox 38"/>
          <p:cNvSpPr txBox="1"/>
          <p:nvPr/>
        </p:nvSpPr>
        <p:spPr>
          <a:xfrm>
            <a:off x="4279392" y="4846320"/>
            <a:ext cx="358444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Interaction granularity</a:t>
            </a:r>
          </a:p>
        </p:txBody>
      </p:sp>
      <p:sp>
        <p:nvSpPr>
          <p:cNvPr id="40" name="TextBox 39"/>
          <p:cNvSpPr txBox="1"/>
          <p:nvPr/>
        </p:nvSpPr>
        <p:spPr>
          <a:xfrm>
            <a:off x="4279392" y="5065776"/>
            <a:ext cx="3584448" cy="40233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A2A carries a task with a lifecycle; the Model Context Protocol carries an operation with a fixed input and output schema.</a:t>
            </a:r>
          </a:p>
        </p:txBody>
      </p:sp>
      <p:sp>
        <p:nvSpPr>
          <p:cNvPr id="41" name="TextBox 40"/>
          <p:cNvSpPr txBox="1"/>
          <p:nvPr/>
        </p:nvSpPr>
        <p:spPr>
          <a:xfrm>
            <a:off x="8101583" y="4846320"/>
            <a:ext cx="358444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Composition</a:t>
            </a:r>
          </a:p>
        </p:txBody>
      </p:sp>
      <p:sp>
        <p:nvSpPr>
          <p:cNvPr id="42" name="TextBox 41"/>
          <p:cNvSpPr txBox="1"/>
          <p:nvPr/>
        </p:nvSpPr>
        <p:spPr>
          <a:xfrm>
            <a:off x="8101583" y="5065776"/>
            <a:ext cx="3584448" cy="40233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 single agent is typically a Model Context Protocol client for its own resources and an A2A client or server toward its peers.</a:t>
            </a:r>
          </a:p>
        </p:txBody>
      </p:sp>
      <p:sp>
        <p:nvSpPr>
          <p:cNvPr id="43" name="Rectangle 42"/>
          <p:cNvSpPr/>
          <p:nvPr/>
        </p:nvSpPr>
        <p:spPr>
          <a:xfrm>
            <a:off x="457200" y="5536692"/>
            <a:ext cx="146304" cy="91440"/>
          </a:xfrm>
          <a:prstGeom prst="rect">
            <a:avLst/>
          </a:prstGeom>
          <a:solidFill>
            <a:srgbClr val="101A3C"/>
          </a:solidFill>
          <a:ln>
            <a:noFill/>
          </a:ln>
          <a:effectLst/>
        </p:spPr>
        <p:txBody>
          <a:bodyPr wrap="square" rtlCol="0" anchor="ctr"/>
          <a:lstStyle/>
          <a:p>
            <a:endParaRPr/>
          </a:p>
        </p:txBody>
      </p:sp>
      <p:sp>
        <p:nvSpPr>
          <p:cNvPr id="44" name="TextBox 43"/>
          <p:cNvSpPr txBox="1"/>
          <p:nvPr/>
        </p:nvSpPr>
        <p:spPr>
          <a:xfrm>
            <a:off x="676656" y="5509259"/>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Agent</a:t>
            </a:r>
          </a:p>
        </p:txBody>
      </p:sp>
      <p:sp>
        <p:nvSpPr>
          <p:cNvPr id="45" name="Rectangle 44"/>
          <p:cNvSpPr/>
          <p:nvPr/>
        </p:nvSpPr>
        <p:spPr>
          <a:xfrm>
            <a:off x="1022984" y="5536692"/>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46" name="TextBox 45"/>
          <p:cNvSpPr txBox="1"/>
          <p:nvPr/>
        </p:nvSpPr>
        <p:spPr>
          <a:xfrm>
            <a:off x="1242441" y="5509259"/>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Tool or data source</a:t>
            </a:r>
          </a:p>
        </p:txBody>
      </p:sp>
      <p:sp>
        <p:nvSpPr>
          <p:cNvPr id="47" name="Rectangle 46"/>
          <p:cNvSpPr/>
          <p:nvPr/>
        </p:nvSpPr>
        <p:spPr>
          <a:xfrm>
            <a:off x="2328062" y="5522975"/>
            <a:ext cx="146304" cy="118872"/>
          </a:xfrm>
          <a:prstGeom prst="rect">
            <a:avLst/>
          </a:prstGeom>
          <a:noFill/>
          <a:ln w="9525">
            <a:solidFill>
              <a:srgbClr val="44495B"/>
            </a:solidFill>
            <a:prstDash val="dash"/>
          </a:ln>
          <a:effectLst/>
        </p:spPr>
        <p:txBody>
          <a:bodyPr wrap="square" rtlCol="0" anchor="ctr"/>
          <a:lstStyle/>
          <a:p>
            <a:endParaRPr/>
          </a:p>
        </p:txBody>
      </p:sp>
      <p:sp>
        <p:nvSpPr>
          <p:cNvPr id="48" name="TextBox 47"/>
          <p:cNvSpPr txBox="1"/>
          <p:nvPr/>
        </p:nvSpPr>
        <p:spPr>
          <a:xfrm>
            <a:off x="2547518" y="5509259"/>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Ownership boundary</a:t>
            </a:r>
          </a:p>
        </p:txBody>
      </p:sp>
      <p:sp>
        <p:nvSpPr>
          <p:cNvPr id="49" name="Rectangle 48"/>
          <p:cNvSpPr/>
          <p:nvPr/>
        </p:nvSpPr>
        <p:spPr>
          <a:xfrm>
            <a:off x="3580333" y="5536692"/>
            <a:ext cx="146304" cy="91440"/>
          </a:xfrm>
          <a:prstGeom prst="rect">
            <a:avLst/>
          </a:prstGeom>
          <a:solidFill>
            <a:srgbClr val="00B39F"/>
          </a:solidFill>
          <a:ln>
            <a:noFill/>
          </a:ln>
          <a:effectLst/>
        </p:spPr>
        <p:txBody>
          <a:bodyPr wrap="square" rtlCol="0" anchor="ctr"/>
          <a:lstStyle/>
          <a:p>
            <a:endParaRPr/>
          </a:p>
        </p:txBody>
      </p:sp>
      <p:sp>
        <p:nvSpPr>
          <p:cNvPr id="50" name="TextBox 49"/>
          <p:cNvSpPr txBox="1"/>
          <p:nvPr/>
        </p:nvSpPr>
        <p:spPr>
          <a:xfrm>
            <a:off x="3799789" y="5509259"/>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A2A delegation</a:t>
            </a:r>
          </a:p>
        </p:txBody>
      </p:sp>
      <p:cxnSp>
        <p:nvCxnSpPr>
          <p:cNvPr id="51" name="Connector 50"/>
          <p:cNvCxnSpPr/>
          <p:nvPr/>
        </p:nvCxnSpPr>
        <p:spPr>
          <a:xfrm>
            <a:off x="4621377" y="5582412"/>
            <a:ext cx="164592" cy="0"/>
          </a:xfrm>
          <a:prstGeom prst="line">
            <a:avLst/>
          </a:prstGeom>
          <a:ln w="13970">
            <a:solidFill>
              <a:srgbClr val="44495B"/>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840833" y="5509259"/>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Invocation direction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PROTOCOL MECHANICS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Core data model</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Six objects define the entire protocol surface in version 1.0</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github.com/a2aproject/A2A — specification/a2a.proto</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6</a:t>
            </a:r>
          </a:p>
        </p:txBody>
      </p:sp>
      <p:sp>
        <p:nvSpPr>
          <p:cNvPr id="7" name="Rectangle 6"/>
          <p:cNvSpPr/>
          <p:nvPr/>
        </p:nvSpPr>
        <p:spPr>
          <a:xfrm>
            <a:off x="457200" y="1389888"/>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389888"/>
            <a:ext cx="41148" cy="1554480"/>
          </a:xfrm>
          <a:prstGeom prst="rect">
            <a:avLst/>
          </a:prstGeom>
          <a:solidFill>
            <a:srgbClr val="00B39F"/>
          </a:solidFill>
          <a:ln>
            <a:noFill/>
          </a:ln>
          <a:effectLst/>
        </p:spPr>
        <p:txBody>
          <a:bodyPr wrap="square" rtlCol="0" anchor="ctr"/>
          <a:lstStyle/>
          <a:p>
            <a:endParaRPr/>
          </a:p>
        </p:txBody>
      </p:sp>
      <p:sp>
        <p:nvSpPr>
          <p:cNvPr id="9" name="TextBox 8"/>
          <p:cNvSpPr txBox="1"/>
          <p:nvPr/>
        </p:nvSpPr>
        <p:spPr>
          <a:xfrm>
            <a:off x="658368" y="1527048"/>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AgentCard</a:t>
            </a:r>
          </a:p>
        </p:txBody>
      </p:sp>
      <p:sp>
        <p:nvSpPr>
          <p:cNvPr id="10" name="TextBox 9"/>
          <p:cNvSpPr txBox="1"/>
          <p:nvPr/>
        </p:nvSpPr>
        <p:spPr>
          <a:xfrm>
            <a:off x="658368" y="1792224"/>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CAPABILITY MANIFEST</a:t>
            </a:r>
          </a:p>
        </p:txBody>
      </p:sp>
      <p:sp>
        <p:nvSpPr>
          <p:cNvPr id="11" name="TextBox 10"/>
          <p:cNvSpPr txBox="1"/>
          <p:nvPr/>
        </p:nvSpPr>
        <p:spPr>
          <a:xfrm>
            <a:off x="658368" y="2029967"/>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Declares name, version, skills, capabilities, supported interfaces and security schemes. Published at a well-known URI and optionally signed as a JSON Web Signature.</a:t>
            </a:r>
          </a:p>
        </p:txBody>
      </p:sp>
      <p:sp>
        <p:nvSpPr>
          <p:cNvPr id="12" name="Rectangle 11"/>
          <p:cNvSpPr/>
          <p:nvPr/>
        </p:nvSpPr>
        <p:spPr>
          <a:xfrm>
            <a:off x="4297680" y="1389888"/>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13" name="Rectangle 12"/>
          <p:cNvSpPr/>
          <p:nvPr/>
        </p:nvSpPr>
        <p:spPr>
          <a:xfrm>
            <a:off x="4297680" y="1389888"/>
            <a:ext cx="41148" cy="1554480"/>
          </a:xfrm>
          <a:prstGeom prst="rect">
            <a:avLst/>
          </a:prstGeom>
          <a:solidFill>
            <a:srgbClr val="00B39F"/>
          </a:solidFill>
          <a:ln>
            <a:noFill/>
          </a:ln>
          <a:effectLst/>
        </p:spPr>
        <p:txBody>
          <a:bodyPr wrap="square" rtlCol="0" anchor="ctr"/>
          <a:lstStyle/>
          <a:p>
            <a:endParaRPr/>
          </a:p>
        </p:txBody>
      </p:sp>
      <p:sp>
        <p:nvSpPr>
          <p:cNvPr id="14" name="TextBox 13"/>
          <p:cNvSpPr txBox="1"/>
          <p:nvPr/>
        </p:nvSpPr>
        <p:spPr>
          <a:xfrm>
            <a:off x="4498848" y="1527048"/>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Task</a:t>
            </a:r>
          </a:p>
        </p:txBody>
      </p:sp>
      <p:sp>
        <p:nvSpPr>
          <p:cNvPr id="15" name="TextBox 14"/>
          <p:cNvSpPr txBox="1"/>
          <p:nvPr/>
        </p:nvSpPr>
        <p:spPr>
          <a:xfrm>
            <a:off x="4498848" y="1792224"/>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UNIT OF WORK</a:t>
            </a:r>
          </a:p>
        </p:txBody>
      </p:sp>
      <p:sp>
        <p:nvSpPr>
          <p:cNvPr id="16" name="TextBox 15"/>
          <p:cNvSpPr txBox="1"/>
          <p:nvPr/>
        </p:nvSpPr>
        <p:spPr>
          <a:xfrm>
            <a:off x="4498848" y="2029967"/>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Carries a server-generated identifier, a state, a message history and a set of artifacts. Client-supplied identifiers are not accepted when creating a task.</a:t>
            </a:r>
          </a:p>
        </p:txBody>
      </p:sp>
      <p:sp>
        <p:nvSpPr>
          <p:cNvPr id="17" name="Rectangle 16"/>
          <p:cNvSpPr/>
          <p:nvPr/>
        </p:nvSpPr>
        <p:spPr>
          <a:xfrm>
            <a:off x="8138160" y="1389888"/>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18" name="Rectangle 17"/>
          <p:cNvSpPr/>
          <p:nvPr/>
        </p:nvSpPr>
        <p:spPr>
          <a:xfrm>
            <a:off x="8138160" y="1389888"/>
            <a:ext cx="41148" cy="1554480"/>
          </a:xfrm>
          <a:prstGeom prst="rect">
            <a:avLst/>
          </a:prstGeom>
          <a:solidFill>
            <a:srgbClr val="00B39F"/>
          </a:solidFill>
          <a:ln>
            <a:noFill/>
          </a:ln>
          <a:effectLst/>
        </p:spPr>
        <p:txBody>
          <a:bodyPr wrap="square" rtlCol="0" anchor="ctr"/>
          <a:lstStyle/>
          <a:p>
            <a:endParaRPr/>
          </a:p>
        </p:txBody>
      </p:sp>
      <p:sp>
        <p:nvSpPr>
          <p:cNvPr id="19" name="TextBox 18"/>
          <p:cNvSpPr txBox="1"/>
          <p:nvPr/>
        </p:nvSpPr>
        <p:spPr>
          <a:xfrm>
            <a:off x="8339328" y="1527048"/>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Message</a:t>
            </a:r>
          </a:p>
        </p:txBody>
      </p:sp>
      <p:sp>
        <p:nvSpPr>
          <p:cNvPr id="20" name="TextBox 19"/>
          <p:cNvSpPr txBox="1"/>
          <p:nvPr/>
        </p:nvSpPr>
        <p:spPr>
          <a:xfrm>
            <a:off x="8339328" y="1792224"/>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CONVERSATIONAL TURN</a:t>
            </a:r>
          </a:p>
        </p:txBody>
      </p:sp>
      <p:sp>
        <p:nvSpPr>
          <p:cNvPr id="21" name="TextBox 20"/>
          <p:cNvSpPr txBox="1"/>
          <p:nvPr/>
        </p:nvSpPr>
        <p:spPr>
          <a:xfrm>
            <a:off x="8339328" y="2029967"/>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Carries a message identifier, a role of user or agent, and one or more parts. Messages convey the exchange; the specification directs that results are not returned this way.</a:t>
            </a:r>
          </a:p>
        </p:txBody>
      </p:sp>
      <p:sp>
        <p:nvSpPr>
          <p:cNvPr id="22" name="Rectangle 21"/>
          <p:cNvSpPr/>
          <p:nvPr/>
        </p:nvSpPr>
        <p:spPr>
          <a:xfrm>
            <a:off x="457200" y="3145536"/>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23" name="Rectangle 22"/>
          <p:cNvSpPr/>
          <p:nvPr/>
        </p:nvSpPr>
        <p:spPr>
          <a:xfrm>
            <a:off x="457200" y="3145536"/>
            <a:ext cx="41148" cy="1554480"/>
          </a:xfrm>
          <a:prstGeom prst="rect">
            <a:avLst/>
          </a:prstGeom>
          <a:solidFill>
            <a:srgbClr val="00B39F"/>
          </a:solidFill>
          <a:ln>
            <a:noFill/>
          </a:ln>
          <a:effectLst/>
        </p:spPr>
        <p:txBody>
          <a:bodyPr wrap="square" rtlCol="0" anchor="ctr"/>
          <a:lstStyle/>
          <a:p>
            <a:endParaRPr/>
          </a:p>
        </p:txBody>
      </p:sp>
      <p:sp>
        <p:nvSpPr>
          <p:cNvPr id="24" name="TextBox 23"/>
          <p:cNvSpPr txBox="1"/>
          <p:nvPr/>
        </p:nvSpPr>
        <p:spPr>
          <a:xfrm>
            <a:off x="658368" y="3282696"/>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Part</a:t>
            </a:r>
          </a:p>
        </p:txBody>
      </p:sp>
      <p:sp>
        <p:nvSpPr>
          <p:cNvPr id="25" name="TextBox 24"/>
          <p:cNvSpPr txBox="1"/>
          <p:nvPr/>
        </p:nvSpPr>
        <p:spPr>
          <a:xfrm>
            <a:off x="658368" y="3547872"/>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CONTENT UNIT</a:t>
            </a:r>
          </a:p>
        </p:txBody>
      </p:sp>
      <p:sp>
        <p:nvSpPr>
          <p:cNvPr id="26" name="TextBox 25"/>
          <p:cNvSpPr txBox="1"/>
          <p:nvPr/>
        </p:nvSpPr>
        <p:spPr>
          <a:xfrm>
            <a:off x="658368" y="3785615"/>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Holds exactly one of text, raw bytes, a referenced URL or structured data, with optional media type and filename. Version 1.0 consolidated three earlier part types into this one.</a:t>
            </a:r>
          </a:p>
        </p:txBody>
      </p:sp>
      <p:sp>
        <p:nvSpPr>
          <p:cNvPr id="27" name="Rectangle 26"/>
          <p:cNvSpPr/>
          <p:nvPr/>
        </p:nvSpPr>
        <p:spPr>
          <a:xfrm>
            <a:off x="4297680" y="3145536"/>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28" name="Rectangle 27"/>
          <p:cNvSpPr/>
          <p:nvPr/>
        </p:nvSpPr>
        <p:spPr>
          <a:xfrm>
            <a:off x="4297680" y="3145536"/>
            <a:ext cx="41148" cy="1554480"/>
          </a:xfrm>
          <a:prstGeom prst="rect">
            <a:avLst/>
          </a:prstGeom>
          <a:solidFill>
            <a:srgbClr val="00B39F"/>
          </a:solidFill>
          <a:ln>
            <a:noFill/>
          </a:ln>
          <a:effectLst/>
        </p:spPr>
        <p:txBody>
          <a:bodyPr wrap="square" rtlCol="0" anchor="ctr"/>
          <a:lstStyle/>
          <a:p>
            <a:endParaRPr/>
          </a:p>
        </p:txBody>
      </p:sp>
      <p:sp>
        <p:nvSpPr>
          <p:cNvPr id="29" name="TextBox 28"/>
          <p:cNvSpPr txBox="1"/>
          <p:nvPr/>
        </p:nvSpPr>
        <p:spPr>
          <a:xfrm>
            <a:off x="4498848" y="3282696"/>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Artifact</a:t>
            </a:r>
          </a:p>
        </p:txBody>
      </p:sp>
      <p:sp>
        <p:nvSpPr>
          <p:cNvPr id="30" name="TextBox 29"/>
          <p:cNvSpPr txBox="1"/>
          <p:nvPr/>
        </p:nvSpPr>
        <p:spPr>
          <a:xfrm>
            <a:off x="4498848" y="3547872"/>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TASK OUTPUT</a:t>
            </a:r>
          </a:p>
        </p:txBody>
      </p:sp>
      <p:sp>
        <p:nvSpPr>
          <p:cNvPr id="31" name="TextBox 30"/>
          <p:cNvSpPr txBox="1"/>
          <p:nvPr/>
        </p:nvSpPr>
        <p:spPr>
          <a:xfrm>
            <a:off x="4498848" y="3785615"/>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Carries an artifact identifier, an optional name and one or more parts. This is the defined mechanism for returning the result of a task.</a:t>
            </a:r>
          </a:p>
        </p:txBody>
      </p:sp>
      <p:sp>
        <p:nvSpPr>
          <p:cNvPr id="32" name="Rectangle 31"/>
          <p:cNvSpPr/>
          <p:nvPr/>
        </p:nvSpPr>
        <p:spPr>
          <a:xfrm>
            <a:off x="8138160" y="3145536"/>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33" name="Rectangle 32"/>
          <p:cNvSpPr/>
          <p:nvPr/>
        </p:nvSpPr>
        <p:spPr>
          <a:xfrm>
            <a:off x="8138160" y="3145536"/>
            <a:ext cx="41148" cy="1554480"/>
          </a:xfrm>
          <a:prstGeom prst="rect">
            <a:avLst/>
          </a:prstGeom>
          <a:solidFill>
            <a:srgbClr val="00B39F"/>
          </a:solidFill>
          <a:ln>
            <a:noFill/>
          </a:ln>
          <a:effectLst/>
        </p:spPr>
        <p:txBody>
          <a:bodyPr wrap="square" rtlCol="0" anchor="ctr"/>
          <a:lstStyle/>
          <a:p>
            <a:endParaRPr/>
          </a:p>
        </p:txBody>
      </p:sp>
      <p:sp>
        <p:nvSpPr>
          <p:cNvPr id="34" name="TextBox 33"/>
          <p:cNvSpPr txBox="1"/>
          <p:nvPr/>
        </p:nvSpPr>
        <p:spPr>
          <a:xfrm>
            <a:off x="8339328" y="3282696"/>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Context</a:t>
            </a:r>
          </a:p>
        </p:txBody>
      </p:sp>
      <p:sp>
        <p:nvSpPr>
          <p:cNvPr id="35" name="TextBox 34"/>
          <p:cNvSpPr txBox="1"/>
          <p:nvPr/>
        </p:nvSpPr>
        <p:spPr>
          <a:xfrm>
            <a:off x="8339328" y="3547872"/>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CORRELATION SCOPE</a:t>
            </a:r>
          </a:p>
        </p:txBody>
      </p:sp>
      <p:sp>
        <p:nvSpPr>
          <p:cNvPr id="36" name="TextBox 35"/>
          <p:cNvSpPr txBox="1"/>
          <p:nvPr/>
        </p:nvSpPr>
        <p:spPr>
          <a:xfrm>
            <a:off x="8339328" y="3785615"/>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A context identifier groups tasks and messages belonging to one logical conversation, including the successor task required to refine a completed result.</a:t>
            </a:r>
          </a:p>
        </p:txBody>
      </p:sp>
      <p:sp>
        <p:nvSpPr>
          <p:cNvPr id="37" name="Rectangle 36"/>
          <p:cNvSpPr/>
          <p:nvPr/>
        </p:nvSpPr>
        <p:spPr>
          <a:xfrm>
            <a:off x="457200" y="4919472"/>
            <a:ext cx="11277295" cy="566928"/>
          </a:xfrm>
          <a:prstGeom prst="rect">
            <a:avLst/>
          </a:prstGeom>
          <a:solidFill>
            <a:srgbClr val="EBEFF7"/>
          </a:solidFill>
          <a:ln>
            <a:noFill/>
          </a:ln>
          <a:effectLst/>
        </p:spPr>
        <p:txBody>
          <a:bodyPr wrap="square" rtlCol="0" anchor="ctr"/>
          <a:lstStyle/>
          <a:p>
            <a:endParaRPr/>
          </a:p>
        </p:txBody>
      </p:sp>
      <p:sp>
        <p:nvSpPr>
          <p:cNvPr id="38" name="Rectangle 37"/>
          <p:cNvSpPr/>
          <p:nvPr/>
        </p:nvSpPr>
        <p:spPr>
          <a:xfrm>
            <a:off x="457200" y="4919472"/>
            <a:ext cx="41148" cy="566928"/>
          </a:xfrm>
          <a:prstGeom prst="rect">
            <a:avLst/>
          </a:prstGeom>
          <a:solidFill>
            <a:srgbClr val="00B39F"/>
          </a:solidFill>
          <a:ln>
            <a:noFill/>
          </a:ln>
          <a:effectLst/>
        </p:spPr>
        <p:txBody>
          <a:bodyPr wrap="square" rtlCol="0" anchor="ctr"/>
          <a:lstStyle/>
          <a:p>
            <a:endParaRPr/>
          </a:p>
        </p:txBody>
      </p:sp>
      <p:sp>
        <p:nvSpPr>
          <p:cNvPr id="39" name="TextBox 38"/>
          <p:cNvSpPr txBox="1"/>
          <p:nvPr/>
        </p:nvSpPr>
        <p:spPr>
          <a:xfrm>
            <a:off x="694944" y="5020056"/>
            <a:ext cx="10856671" cy="384048"/>
          </a:xfrm>
          <a:prstGeom prst="rect">
            <a:avLst/>
          </a:prstGeom>
          <a:noFill/>
        </p:spPr>
        <p:txBody>
          <a:bodyPr wrap="square" lIns="0" tIns="0" rIns="0" bIns="0" anchor="t">
            <a:spAutoFit/>
          </a:bodyPr>
          <a:lstStyle/>
          <a:p>
            <a:pPr algn="l">
              <a:lnSpc>
                <a:spcPct val="120000"/>
              </a:lnSpc>
            </a:pPr>
            <a:r>
              <a:rPr sz="900" b="0" i="0" dirty="0">
                <a:solidFill>
                  <a:srgbClr val="101A3C"/>
                </a:solidFill>
                <a:latin typeface="Segoe UI"/>
                <a:cs typeface="Segoe UI"/>
              </a:rPr>
              <a:t>The separation between Message and Artifact is normative: “Messages SHOULD NOT be used to deliver task outputs. Results SHOULD BE returned using Artifacts associated with a Task.” Implementations that return results in message text force consumers to parse prose.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PROTOCOL MECHANICS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Agent Card: structure and discovery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machine-readable manifest a client retrieves before it interacts with an agent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a2a-protocol.org/latest/topics/agent-discovery</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7</a:t>
            </a:r>
          </a:p>
        </p:txBody>
      </p:sp>
      <p:sp>
        <p:nvSpPr>
          <p:cNvPr id="7" name="Rectangle 6"/>
          <p:cNvSpPr/>
          <p:nvPr/>
        </p:nvSpPr>
        <p:spPr>
          <a:xfrm>
            <a:off x="457200" y="1371600"/>
            <a:ext cx="5760720" cy="3163824"/>
          </a:xfrm>
          <a:prstGeom prst="rect">
            <a:avLst/>
          </a:prstGeom>
          <a:solidFill>
            <a:srgbClr val="0B1229"/>
          </a:solidFill>
          <a:ln>
            <a:noFill/>
          </a:ln>
          <a:effectLst/>
        </p:spPr>
        <p:txBody>
          <a:bodyPr wrap="square" rtlCol="0" anchor="ctr"/>
          <a:lstStyle/>
          <a:p>
            <a:endParaRPr/>
          </a:p>
        </p:txBody>
      </p:sp>
      <p:sp>
        <p:nvSpPr>
          <p:cNvPr id="8" name="TextBox 7"/>
          <p:cNvSpPr txBox="1"/>
          <p:nvPr/>
        </p:nvSpPr>
        <p:spPr>
          <a:xfrm>
            <a:off x="676656" y="1517904"/>
            <a:ext cx="5321808"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AGENT CARD — ABRIDGED</a:t>
            </a:r>
          </a:p>
        </p:txBody>
      </p:sp>
      <p:sp>
        <p:nvSpPr>
          <p:cNvPr id="9" name="TextBox 8"/>
          <p:cNvSpPr txBox="1"/>
          <p:nvPr/>
        </p:nvSpPr>
        <p:spPr>
          <a:xfrm>
            <a:off x="676656" y="1755648"/>
            <a:ext cx="5321808" cy="2651760"/>
          </a:xfrm>
          <a:prstGeom prst="rect">
            <a:avLst/>
          </a:prstGeom>
          <a:noFill/>
        </p:spPr>
        <p:txBody>
          <a:bodyPr wrap="none" lIns="0" tIns="0" rIns="0" bIns="0" anchor="t">
            <a:spAutoFit/>
          </a:bodyPr>
          <a:lstStyle/>
          <a:p>
            <a:pPr algn="l">
              <a:lnSpc>
                <a:spcPct val="128000"/>
              </a:lnSpc>
            </a:pPr>
            <a:r>
              <a:rPr sz="750" b="0" i="0" dirty="0">
                <a:solidFill>
                  <a:srgbClr val="D6DEEE"/>
                </a:solidFill>
                <a:latin typeface="Consolas"/>
                <a:cs typeface="Consolas"/>
              </a:rPr>
              <a:t>GET https://agent.example.com/.well-known/agent-card.json</a:t>
            </a:r>
          </a:p>
          <a:p>
            <a:pPr algn="l">
              <a:lnSpc>
                <a:spcPct val="128000"/>
              </a:lnSpc>
            </a:pPr>
            <a:endParaRPr sz="750" b="0" i="0" dirty="0">
              <a:solidFill>
                <a:srgbClr val="D6DEEE"/>
              </a:solidFill>
              <a:latin typeface="Consolas"/>
              <a:cs typeface="Consolas"/>
            </a:endParaRPr>
          </a:p>
          <a:p>
            <a:pPr algn="l">
              <a:lnSpc>
                <a:spcPct val="128000"/>
              </a:lnSpc>
            </a:pPr>
            <a:r>
              <a:rPr sz="750" b="0" i="0" dirty="0">
                <a:solidFill>
                  <a:srgbClr val="D6DEEE"/>
                </a:solidFill>
                <a:latin typeface="Consolas"/>
                <a:cs typeface="Consolas"/>
              </a:rPr>
              <a:t>{ "name": "Claims Assessment Agent",</a:t>
            </a:r>
          </a:p>
          <a:p>
            <a:pPr algn="l">
              <a:lnSpc>
                <a:spcPct val="128000"/>
              </a:lnSpc>
            </a:pPr>
            <a:r>
              <a:rPr sz="750" b="0" i="0" dirty="0">
                <a:solidFill>
                  <a:srgbClr val="D6DEEE"/>
                </a:solidFill>
                <a:latin typeface="Consolas"/>
                <a:cs typeface="Consolas"/>
              </a:rPr>
              <a:t>  "description": "Assesses submitted insurance claims",</a:t>
            </a:r>
          </a:p>
          <a:p>
            <a:pPr algn="l">
              <a:lnSpc>
                <a:spcPct val="128000"/>
              </a:lnSpc>
            </a:pPr>
            <a:r>
              <a:rPr sz="750" b="0" i="0" dirty="0">
                <a:solidFill>
                  <a:srgbClr val="D6DEEE"/>
                </a:solidFill>
                <a:latin typeface="Consolas"/>
                <a:cs typeface="Consolas"/>
              </a:rPr>
              <a:t>  "version": "2.1.0",</a:t>
            </a:r>
          </a:p>
          <a:p>
            <a:pPr algn="l">
              <a:lnSpc>
                <a:spcPct val="128000"/>
              </a:lnSpc>
            </a:pPr>
            <a:r>
              <a:rPr sz="750" b="0" i="0" dirty="0">
                <a:solidFill>
                  <a:srgbClr val="D6DEEE"/>
                </a:solidFill>
                <a:latin typeface="Consolas"/>
                <a:cs typeface="Consolas"/>
              </a:rPr>
              <a:t>  "supportedInterfaces": [</a:t>
            </a:r>
          </a:p>
          <a:p>
            <a:pPr algn="l">
              <a:lnSpc>
                <a:spcPct val="128000"/>
              </a:lnSpc>
            </a:pPr>
            <a:r>
              <a:rPr sz="750" b="0" i="0" dirty="0">
                <a:solidFill>
                  <a:srgbClr val="D6DEEE"/>
                </a:solidFill>
                <a:latin typeface="Consolas"/>
                <a:cs typeface="Consolas"/>
              </a:rPr>
              <a:t>    { "url": "https://agent.example.com/a2a",</a:t>
            </a:r>
          </a:p>
          <a:p>
            <a:pPr algn="l">
              <a:lnSpc>
                <a:spcPct val="128000"/>
              </a:lnSpc>
            </a:pPr>
            <a:r>
              <a:rPr sz="750" b="0" i="0" dirty="0">
                <a:solidFill>
                  <a:srgbClr val="D6DEEE"/>
                </a:solidFill>
                <a:latin typeface="Consolas"/>
                <a:cs typeface="Consolas"/>
              </a:rPr>
              <a:t>      "protocolBinding": "JSONRPC",</a:t>
            </a:r>
          </a:p>
          <a:p>
            <a:pPr algn="l">
              <a:lnSpc>
                <a:spcPct val="128000"/>
              </a:lnSpc>
            </a:pPr>
            <a:r>
              <a:rPr sz="750" b="0" i="0" dirty="0">
                <a:solidFill>
                  <a:srgbClr val="D6DEEE"/>
                </a:solidFill>
                <a:latin typeface="Consolas"/>
                <a:cs typeface="Consolas"/>
              </a:rPr>
              <a:t>      "protocolVersion": "1.0" } ],</a:t>
            </a:r>
          </a:p>
          <a:p>
            <a:pPr algn="l">
              <a:lnSpc>
                <a:spcPct val="128000"/>
              </a:lnSpc>
            </a:pPr>
            <a:r>
              <a:rPr sz="750" b="0" i="0" dirty="0">
                <a:solidFill>
                  <a:srgbClr val="D6DEEE"/>
                </a:solidFill>
                <a:latin typeface="Consolas"/>
                <a:cs typeface="Consolas"/>
              </a:rPr>
              <a:t>  "capabilities": { "streaming": true,</a:t>
            </a:r>
          </a:p>
          <a:p>
            <a:pPr algn="l">
              <a:lnSpc>
                <a:spcPct val="128000"/>
              </a:lnSpc>
            </a:pPr>
            <a:r>
              <a:rPr sz="750" b="0" i="0" dirty="0">
                <a:solidFill>
                  <a:srgbClr val="D6DEEE"/>
                </a:solidFill>
                <a:latin typeface="Consolas"/>
                <a:cs typeface="Consolas"/>
              </a:rPr>
              <a:t>                    "pushNotifications": true,</a:t>
            </a:r>
          </a:p>
          <a:p>
            <a:pPr algn="l">
              <a:lnSpc>
                <a:spcPct val="128000"/>
              </a:lnSpc>
            </a:pPr>
            <a:r>
              <a:rPr sz="750" b="0" i="0" dirty="0">
                <a:solidFill>
                  <a:srgbClr val="D6DEEE"/>
                </a:solidFill>
                <a:latin typeface="Consolas"/>
                <a:cs typeface="Consolas"/>
              </a:rPr>
              <a:t>                    "extendedAgentCard": false },</a:t>
            </a:r>
          </a:p>
          <a:p>
            <a:pPr algn="l">
              <a:lnSpc>
                <a:spcPct val="128000"/>
              </a:lnSpc>
            </a:pPr>
            <a:r>
              <a:rPr sz="750" b="0" i="0" dirty="0">
                <a:solidFill>
                  <a:srgbClr val="D6DEEE"/>
                </a:solidFill>
                <a:latin typeface="Consolas"/>
                <a:cs typeface="Consolas"/>
              </a:rPr>
              <a:t>  "defaultInputModes":  ["text/plain"],</a:t>
            </a:r>
          </a:p>
          <a:p>
            <a:pPr algn="l">
              <a:lnSpc>
                <a:spcPct val="128000"/>
              </a:lnSpc>
            </a:pPr>
            <a:r>
              <a:rPr sz="750" b="0" i="0" dirty="0">
                <a:solidFill>
                  <a:srgbClr val="D6DEEE"/>
                </a:solidFill>
                <a:latin typeface="Consolas"/>
                <a:cs typeface="Consolas"/>
              </a:rPr>
              <a:t>  "defaultOutputModes": ["text/plain"],</a:t>
            </a:r>
          </a:p>
          <a:p>
            <a:pPr algn="l">
              <a:lnSpc>
                <a:spcPct val="128000"/>
              </a:lnSpc>
            </a:pPr>
            <a:r>
              <a:rPr sz="750" b="0" i="0" dirty="0">
                <a:solidFill>
                  <a:srgbClr val="D6DEEE"/>
                </a:solidFill>
                <a:latin typeface="Consolas"/>
                <a:cs typeface="Consolas"/>
              </a:rPr>
              <a:t>  "skills": [ { "id": "assess-claim",</a:t>
            </a:r>
          </a:p>
          <a:p>
            <a:pPr algn="l">
              <a:lnSpc>
                <a:spcPct val="128000"/>
              </a:lnSpc>
            </a:pPr>
            <a:r>
              <a:rPr sz="750" b="0" i="0" dirty="0">
                <a:solidFill>
                  <a:srgbClr val="D6DEEE"/>
                </a:solidFill>
                <a:latin typeface="Consolas"/>
                <a:cs typeface="Consolas"/>
              </a:rPr>
              <a:t>                "name": "Assess a claim",</a:t>
            </a:r>
          </a:p>
          <a:p>
            <a:pPr algn="l">
              <a:lnSpc>
                <a:spcPct val="128000"/>
              </a:lnSpc>
            </a:pPr>
            <a:r>
              <a:rPr sz="750" b="0" i="0" dirty="0">
                <a:solidFill>
                  <a:srgbClr val="D6DEEE"/>
                </a:solidFill>
                <a:latin typeface="Consolas"/>
                <a:cs typeface="Consolas"/>
              </a:rPr>
              <a:t>                "tags": ["insurance"] } ],</a:t>
            </a:r>
          </a:p>
          <a:p>
            <a:pPr algn="l">
              <a:lnSpc>
                <a:spcPct val="128000"/>
              </a:lnSpc>
            </a:pPr>
            <a:r>
              <a:rPr sz="750" b="0" i="0" dirty="0">
                <a:solidFill>
                  <a:srgbClr val="D6DEEE"/>
                </a:solidFill>
                <a:latin typeface="Consolas"/>
                <a:cs typeface="Consolas"/>
              </a:rPr>
              <a:t>  "securitySchemes": { "entra": { "type": "openIdConnect" } } }</a:t>
            </a:r>
          </a:p>
        </p:txBody>
      </p:sp>
      <p:sp>
        <p:nvSpPr>
          <p:cNvPr id="10" name="TextBox 9"/>
          <p:cNvSpPr txBox="1"/>
          <p:nvPr/>
        </p:nvSpPr>
        <p:spPr>
          <a:xfrm>
            <a:off x="6528816" y="1371600"/>
            <a:ext cx="52120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REQUIRED FIELDS</a:t>
            </a:r>
          </a:p>
        </p:txBody>
      </p:sp>
      <p:sp>
        <p:nvSpPr>
          <p:cNvPr id="11" name="TextBox 10"/>
          <p:cNvSpPr txBox="1"/>
          <p:nvPr/>
        </p:nvSpPr>
        <p:spPr>
          <a:xfrm>
            <a:off x="6528816" y="160934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name, description</a:t>
            </a:r>
          </a:p>
        </p:txBody>
      </p:sp>
      <p:sp>
        <p:nvSpPr>
          <p:cNvPr id="12" name="TextBox 11"/>
          <p:cNvSpPr txBox="1"/>
          <p:nvPr/>
        </p:nvSpPr>
        <p:spPr>
          <a:xfrm>
            <a:off x="8609990" y="160934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Human-readable identification</a:t>
            </a:r>
          </a:p>
        </p:txBody>
      </p:sp>
      <p:cxnSp>
        <p:nvCxnSpPr>
          <p:cNvPr id="13" name="Connector 12"/>
          <p:cNvCxnSpPr/>
          <p:nvPr/>
        </p:nvCxnSpPr>
        <p:spPr>
          <a:xfrm>
            <a:off x="6528816" y="195681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28816" y="197510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version</a:t>
            </a:r>
          </a:p>
        </p:txBody>
      </p:sp>
      <p:sp>
        <p:nvSpPr>
          <p:cNvPr id="15" name="TextBox 14"/>
          <p:cNvSpPr txBox="1"/>
          <p:nvPr/>
        </p:nvSpPr>
        <p:spPr>
          <a:xfrm>
            <a:off x="8609990" y="197510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Version of the agent, not of the protocol</a:t>
            </a:r>
          </a:p>
        </p:txBody>
      </p:sp>
      <p:cxnSp>
        <p:nvCxnSpPr>
          <p:cNvPr id="16" name="Connector 15"/>
          <p:cNvCxnSpPr/>
          <p:nvPr/>
        </p:nvCxnSpPr>
        <p:spPr>
          <a:xfrm>
            <a:off x="6528816" y="232257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28816" y="234086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supportedInterfaces</a:t>
            </a:r>
          </a:p>
        </p:txBody>
      </p:sp>
      <p:sp>
        <p:nvSpPr>
          <p:cNvPr id="18" name="TextBox 17"/>
          <p:cNvSpPr txBox="1"/>
          <p:nvPr/>
        </p:nvSpPr>
        <p:spPr>
          <a:xfrm>
            <a:off x="8609990" y="234086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Ordered list; the first entry is preferred</a:t>
            </a:r>
          </a:p>
        </p:txBody>
      </p:sp>
      <p:cxnSp>
        <p:nvCxnSpPr>
          <p:cNvPr id="19" name="Connector 18"/>
          <p:cNvCxnSpPr/>
          <p:nvPr/>
        </p:nvCxnSpPr>
        <p:spPr>
          <a:xfrm>
            <a:off x="6528816" y="268833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28816" y="270662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capabilities</a:t>
            </a:r>
          </a:p>
        </p:txBody>
      </p:sp>
      <p:sp>
        <p:nvSpPr>
          <p:cNvPr id="21" name="TextBox 20"/>
          <p:cNvSpPr txBox="1"/>
          <p:nvPr/>
        </p:nvSpPr>
        <p:spPr>
          <a:xfrm>
            <a:off x="8609990" y="270662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Streaming, push notification, extended card</a:t>
            </a:r>
          </a:p>
        </p:txBody>
      </p:sp>
      <p:cxnSp>
        <p:nvCxnSpPr>
          <p:cNvPr id="22" name="Connector 21"/>
          <p:cNvCxnSpPr/>
          <p:nvPr/>
        </p:nvCxnSpPr>
        <p:spPr>
          <a:xfrm>
            <a:off x="6528816" y="305409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28816" y="307238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defaultInput / OutputModes</a:t>
            </a:r>
          </a:p>
        </p:txBody>
      </p:sp>
      <p:sp>
        <p:nvSpPr>
          <p:cNvPr id="24" name="TextBox 23"/>
          <p:cNvSpPr txBox="1"/>
          <p:nvPr/>
        </p:nvSpPr>
        <p:spPr>
          <a:xfrm>
            <a:off x="8609990" y="307238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Media types accepted and produced</a:t>
            </a:r>
          </a:p>
        </p:txBody>
      </p:sp>
      <p:cxnSp>
        <p:nvCxnSpPr>
          <p:cNvPr id="25" name="Connector 24"/>
          <p:cNvCxnSpPr/>
          <p:nvPr/>
        </p:nvCxnSpPr>
        <p:spPr>
          <a:xfrm>
            <a:off x="6528816" y="341985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528816" y="343814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skills</a:t>
            </a:r>
          </a:p>
        </p:txBody>
      </p:sp>
      <p:sp>
        <p:nvSpPr>
          <p:cNvPr id="27" name="TextBox 26"/>
          <p:cNvSpPr txBox="1"/>
          <p:nvPr/>
        </p:nvSpPr>
        <p:spPr>
          <a:xfrm>
            <a:off x="8609990" y="343814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Identifier, name and tags per declared skill</a:t>
            </a:r>
          </a:p>
        </p:txBody>
      </p:sp>
      <p:cxnSp>
        <p:nvCxnSpPr>
          <p:cNvPr id="28" name="Connector 27"/>
          <p:cNvCxnSpPr/>
          <p:nvPr/>
        </p:nvCxnSpPr>
        <p:spPr>
          <a:xfrm>
            <a:off x="6528816" y="378561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528816" y="3968496"/>
            <a:ext cx="52120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DISCOVERY STRATEGIES</a:t>
            </a:r>
          </a:p>
        </p:txBody>
      </p:sp>
      <p:sp>
        <p:nvSpPr>
          <p:cNvPr id="30" name="Rectangle 29"/>
          <p:cNvSpPr/>
          <p:nvPr/>
        </p:nvSpPr>
        <p:spPr>
          <a:xfrm>
            <a:off x="6528816" y="4206240"/>
            <a:ext cx="5202936" cy="420624"/>
          </a:xfrm>
          <a:prstGeom prst="rect">
            <a:avLst/>
          </a:prstGeom>
          <a:solidFill>
            <a:srgbClr val="F6F8FD"/>
          </a:solidFill>
          <a:ln w="9525">
            <a:solidFill>
              <a:srgbClr val="E1E7F4"/>
            </a:solidFill>
          </a:ln>
          <a:effectLst/>
        </p:spPr>
        <p:txBody>
          <a:bodyPr wrap="square" rtlCol="0" anchor="ctr"/>
          <a:lstStyle/>
          <a:p>
            <a:endParaRPr/>
          </a:p>
        </p:txBody>
      </p:sp>
      <p:sp>
        <p:nvSpPr>
          <p:cNvPr id="31" name="TextBox 30"/>
          <p:cNvSpPr txBox="1"/>
          <p:nvPr/>
        </p:nvSpPr>
        <p:spPr>
          <a:xfrm>
            <a:off x="6693408" y="4251959"/>
            <a:ext cx="1572768"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Well-known URI</a:t>
            </a:r>
          </a:p>
        </p:txBody>
      </p:sp>
      <p:sp>
        <p:nvSpPr>
          <p:cNvPr id="32" name="TextBox 31"/>
          <p:cNvSpPr txBox="1"/>
          <p:nvPr/>
        </p:nvSpPr>
        <p:spPr>
          <a:xfrm>
            <a:off x="8375904" y="4251959"/>
            <a:ext cx="3200400" cy="329184"/>
          </a:xfrm>
          <a:prstGeom prst="rect">
            <a:avLst/>
          </a:prstGeom>
          <a:noFill/>
        </p:spPr>
        <p:txBody>
          <a:bodyPr wrap="square" lIns="0" tIns="0" rIns="0" bIns="0" anchor="ctr">
            <a:spAutoFit/>
          </a:bodyPr>
          <a:lstStyle/>
          <a:p>
            <a:pPr algn="l">
              <a:lnSpc>
                <a:spcPct val="114000"/>
              </a:lnSpc>
            </a:pPr>
            <a:r>
              <a:rPr sz="750" b="0" i="0" dirty="0">
                <a:solidFill>
                  <a:srgbClr val="44495B"/>
                </a:solidFill>
                <a:latin typeface="Segoe UI"/>
                <a:cs typeface="Segoe UI"/>
              </a:rPr>
              <a:t>An HTTP GET to /.well-known/agent-card.json, following RFC 8615. The default mechanism.</a:t>
            </a:r>
          </a:p>
        </p:txBody>
      </p:sp>
      <p:sp>
        <p:nvSpPr>
          <p:cNvPr id="33" name="Rectangle 32"/>
          <p:cNvSpPr/>
          <p:nvPr/>
        </p:nvSpPr>
        <p:spPr>
          <a:xfrm>
            <a:off x="6528816" y="4681727"/>
            <a:ext cx="5202936" cy="420624"/>
          </a:xfrm>
          <a:prstGeom prst="rect">
            <a:avLst/>
          </a:prstGeom>
          <a:solidFill>
            <a:srgbClr val="FFFFFF"/>
          </a:solidFill>
          <a:ln w="9525">
            <a:solidFill>
              <a:srgbClr val="E1E7F4"/>
            </a:solidFill>
          </a:ln>
          <a:effectLst/>
        </p:spPr>
        <p:txBody>
          <a:bodyPr wrap="square" rtlCol="0" anchor="ctr"/>
          <a:lstStyle/>
          <a:p>
            <a:endParaRPr/>
          </a:p>
        </p:txBody>
      </p:sp>
      <p:sp>
        <p:nvSpPr>
          <p:cNvPr id="34" name="TextBox 33"/>
          <p:cNvSpPr txBox="1"/>
          <p:nvPr/>
        </p:nvSpPr>
        <p:spPr>
          <a:xfrm>
            <a:off x="6693408" y="4727447"/>
            <a:ext cx="1572768"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Curated registry</a:t>
            </a:r>
          </a:p>
        </p:txBody>
      </p:sp>
      <p:sp>
        <p:nvSpPr>
          <p:cNvPr id="35" name="TextBox 34"/>
          <p:cNvSpPr txBox="1"/>
          <p:nvPr/>
        </p:nvSpPr>
        <p:spPr>
          <a:xfrm>
            <a:off x="8375904" y="4727447"/>
            <a:ext cx="3200400" cy="329184"/>
          </a:xfrm>
          <a:prstGeom prst="rect">
            <a:avLst/>
          </a:prstGeom>
          <a:noFill/>
        </p:spPr>
        <p:txBody>
          <a:bodyPr wrap="square" lIns="0" tIns="0" rIns="0" bIns="0" anchor="ctr">
            <a:spAutoFit/>
          </a:bodyPr>
          <a:lstStyle/>
          <a:p>
            <a:pPr algn="l">
              <a:lnSpc>
                <a:spcPct val="114000"/>
              </a:lnSpc>
            </a:pPr>
            <a:r>
              <a:rPr sz="750" b="0" i="0" dirty="0">
                <a:solidFill>
                  <a:srgbClr val="44495B"/>
                </a:solidFill>
                <a:latin typeface="Segoe UI"/>
                <a:cs typeface="Segoe UI"/>
              </a:rPr>
              <a:t>A catalogue queried by skill, tag or provider. The specification does not define a registry interface.</a:t>
            </a:r>
          </a:p>
        </p:txBody>
      </p:sp>
      <p:sp>
        <p:nvSpPr>
          <p:cNvPr id="36" name="Rectangle 35"/>
          <p:cNvSpPr/>
          <p:nvPr/>
        </p:nvSpPr>
        <p:spPr>
          <a:xfrm>
            <a:off x="6528816" y="5157216"/>
            <a:ext cx="5202936" cy="420624"/>
          </a:xfrm>
          <a:prstGeom prst="rect">
            <a:avLst/>
          </a:prstGeom>
          <a:solidFill>
            <a:srgbClr val="F6F8FD"/>
          </a:solidFill>
          <a:ln w="9525">
            <a:solidFill>
              <a:srgbClr val="E1E7F4"/>
            </a:solidFill>
          </a:ln>
          <a:effectLst/>
        </p:spPr>
        <p:txBody>
          <a:bodyPr wrap="square" rtlCol="0" anchor="ctr"/>
          <a:lstStyle/>
          <a:p>
            <a:endParaRPr/>
          </a:p>
        </p:txBody>
      </p:sp>
      <p:sp>
        <p:nvSpPr>
          <p:cNvPr id="37" name="TextBox 36"/>
          <p:cNvSpPr txBox="1"/>
          <p:nvPr/>
        </p:nvSpPr>
        <p:spPr>
          <a:xfrm>
            <a:off x="6693408" y="5202936"/>
            <a:ext cx="1572768"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Direct configuration</a:t>
            </a:r>
          </a:p>
        </p:txBody>
      </p:sp>
      <p:sp>
        <p:nvSpPr>
          <p:cNvPr id="38" name="TextBox 37"/>
          <p:cNvSpPr txBox="1"/>
          <p:nvPr/>
        </p:nvSpPr>
        <p:spPr>
          <a:xfrm>
            <a:off x="8375904" y="5202936"/>
            <a:ext cx="3200400" cy="329184"/>
          </a:xfrm>
          <a:prstGeom prst="rect">
            <a:avLst/>
          </a:prstGeom>
          <a:noFill/>
        </p:spPr>
        <p:txBody>
          <a:bodyPr wrap="square" lIns="0" tIns="0" rIns="0" bIns="0" anchor="ctr">
            <a:spAutoFit/>
          </a:bodyPr>
          <a:lstStyle/>
          <a:p>
            <a:pPr algn="l">
              <a:lnSpc>
                <a:spcPct val="114000"/>
              </a:lnSpc>
            </a:pPr>
            <a:r>
              <a:rPr sz="750" b="0" i="0" dirty="0">
                <a:solidFill>
                  <a:srgbClr val="44495B"/>
                </a:solidFill>
                <a:latin typeface="Segoe UI"/>
                <a:cs typeface="Segoe UI"/>
              </a:rPr>
              <a:t>Endpoint and credentials supplied through configuration or environment. Used for private integrations.</a:t>
            </a:r>
          </a:p>
        </p:txBody>
      </p:sp>
      <p:sp>
        <p:nvSpPr>
          <p:cNvPr id="39" name="Rectangle 38"/>
          <p:cNvSpPr/>
          <p:nvPr/>
        </p:nvSpPr>
        <p:spPr>
          <a:xfrm>
            <a:off x="457200" y="4663440"/>
            <a:ext cx="5760720" cy="841248"/>
          </a:xfrm>
          <a:prstGeom prst="rect">
            <a:avLst/>
          </a:prstGeom>
          <a:solidFill>
            <a:srgbClr val="EBEFF7"/>
          </a:solidFill>
          <a:ln>
            <a:noFill/>
          </a:ln>
          <a:effectLst/>
        </p:spPr>
        <p:txBody>
          <a:bodyPr wrap="square" rtlCol="0" anchor="ctr"/>
          <a:lstStyle/>
          <a:p>
            <a:endParaRPr/>
          </a:p>
        </p:txBody>
      </p:sp>
      <p:sp>
        <p:nvSpPr>
          <p:cNvPr id="40" name="Rectangle 39"/>
          <p:cNvSpPr/>
          <p:nvPr/>
        </p:nvSpPr>
        <p:spPr>
          <a:xfrm>
            <a:off x="457200" y="4663440"/>
            <a:ext cx="41148" cy="841248"/>
          </a:xfrm>
          <a:prstGeom prst="rect">
            <a:avLst/>
          </a:prstGeom>
          <a:solidFill>
            <a:srgbClr val="00B39F"/>
          </a:solidFill>
          <a:ln>
            <a:noFill/>
          </a:ln>
          <a:effectLst/>
        </p:spPr>
        <p:txBody>
          <a:bodyPr wrap="square" rtlCol="0" anchor="ctr"/>
          <a:lstStyle/>
          <a:p>
            <a:endParaRPr/>
          </a:p>
        </p:txBody>
      </p:sp>
      <p:sp>
        <p:nvSpPr>
          <p:cNvPr id="41" name="TextBox 40"/>
          <p:cNvSpPr txBox="1"/>
          <p:nvPr/>
        </p:nvSpPr>
        <p:spPr>
          <a:xfrm>
            <a:off x="694944" y="4764024"/>
            <a:ext cx="5340096" cy="658368"/>
          </a:xfrm>
          <a:prstGeom prst="rect">
            <a:avLst/>
          </a:prstGeom>
          <a:noFill/>
        </p:spPr>
        <p:txBody>
          <a:bodyPr wrap="square" lIns="0" tIns="0" rIns="0" bIns="0" anchor="t">
            <a:spAutoFit/>
          </a:bodyPr>
          <a:lstStyle/>
          <a:p>
            <a:pPr algn="l">
              <a:lnSpc>
                <a:spcPct val="120000"/>
              </a:lnSpc>
            </a:pPr>
            <a:r>
              <a:rPr sz="800" b="0" i="0" dirty="0">
                <a:solidFill>
                  <a:srgbClr val="101A3C"/>
                </a:solidFill>
                <a:latin typeface="Segoe UI"/>
                <a:cs typeface="Segoe UI"/>
              </a:rPr>
              <a:t>Version 1.0 consolidated the earlier url, preferredTransport and additionalInterfaces fields into supportedInterfaces, and moved protocolVersion from the card onto each interface — which allows one agent to serve several protocol versions concurrently. Signed cards follow RFC 7515 over an RFC 8785 canonicalised form of the card, excluding the signatures field itself.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PROTOCOL MECHANICS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Operation set and transport bindings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Eleven operations, expressed identically across three standard bindings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a2a-protocol.org/latest/specification · a2a.proto</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8</a:t>
            </a:r>
          </a:p>
        </p:txBody>
      </p:sp>
      <p:sp>
        <p:nvSpPr>
          <p:cNvPr id="7" name="Rectangle 6"/>
          <p:cNvSpPr/>
          <p:nvPr/>
        </p:nvSpPr>
        <p:spPr>
          <a:xfrm>
            <a:off x="457200" y="1353312"/>
            <a:ext cx="7973568"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276734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Operation · JSON-RPC method name in 1.0</a:t>
            </a:r>
          </a:p>
        </p:txBody>
      </p:sp>
      <p:sp>
        <p:nvSpPr>
          <p:cNvPr id="9" name="TextBox 8"/>
          <p:cNvSpPr txBox="1"/>
          <p:nvPr/>
        </p:nvSpPr>
        <p:spPr>
          <a:xfrm>
            <a:off x="3535436" y="1431036"/>
            <a:ext cx="2607868"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HTTP+JSON binding</a:t>
            </a:r>
          </a:p>
        </p:txBody>
      </p:sp>
      <p:sp>
        <p:nvSpPr>
          <p:cNvPr id="10" name="TextBox 9"/>
          <p:cNvSpPr txBox="1"/>
          <p:nvPr/>
        </p:nvSpPr>
        <p:spPr>
          <a:xfrm>
            <a:off x="6326184" y="1431036"/>
            <a:ext cx="204971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Method name in version 0.3</a:t>
            </a:r>
          </a:p>
        </p:txBody>
      </p:sp>
      <p:sp>
        <p:nvSpPr>
          <p:cNvPr id="11" name="Rectangle 10"/>
          <p:cNvSpPr/>
          <p:nvPr/>
        </p:nvSpPr>
        <p:spPr>
          <a:xfrm>
            <a:off x="457200" y="1664208"/>
            <a:ext cx="7973568" cy="315468"/>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1979676"/>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1714500"/>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SendMessage</a:t>
            </a:r>
          </a:p>
        </p:txBody>
      </p:sp>
      <p:sp>
        <p:nvSpPr>
          <p:cNvPr id="14" name="TextBox 13"/>
          <p:cNvSpPr txBox="1"/>
          <p:nvPr/>
        </p:nvSpPr>
        <p:spPr>
          <a:xfrm>
            <a:off x="3535436" y="1714500"/>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POST /message:send</a:t>
            </a:r>
          </a:p>
        </p:txBody>
      </p:sp>
      <p:sp>
        <p:nvSpPr>
          <p:cNvPr id="15" name="TextBox 14"/>
          <p:cNvSpPr txBox="1"/>
          <p:nvPr/>
        </p:nvSpPr>
        <p:spPr>
          <a:xfrm>
            <a:off x="6326184" y="1714500"/>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message/send</a:t>
            </a:r>
          </a:p>
        </p:txBody>
      </p:sp>
      <p:cxnSp>
        <p:nvCxnSpPr>
          <p:cNvPr id="16" name="Connector 15"/>
          <p:cNvCxnSpPr/>
          <p:nvPr/>
        </p:nvCxnSpPr>
        <p:spPr>
          <a:xfrm>
            <a:off x="457200" y="2295144"/>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5216" y="2029968"/>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SendStreamingMessage</a:t>
            </a:r>
          </a:p>
        </p:txBody>
      </p:sp>
      <p:sp>
        <p:nvSpPr>
          <p:cNvPr id="18" name="TextBox 17"/>
          <p:cNvSpPr txBox="1"/>
          <p:nvPr/>
        </p:nvSpPr>
        <p:spPr>
          <a:xfrm>
            <a:off x="3535436" y="2029968"/>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POST /message:stream</a:t>
            </a:r>
          </a:p>
        </p:txBody>
      </p:sp>
      <p:sp>
        <p:nvSpPr>
          <p:cNvPr id="19" name="TextBox 18"/>
          <p:cNvSpPr txBox="1"/>
          <p:nvPr/>
        </p:nvSpPr>
        <p:spPr>
          <a:xfrm>
            <a:off x="6326184" y="2029968"/>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message/stream</a:t>
            </a:r>
          </a:p>
        </p:txBody>
      </p:sp>
      <p:sp>
        <p:nvSpPr>
          <p:cNvPr id="20" name="Rectangle 19"/>
          <p:cNvSpPr/>
          <p:nvPr/>
        </p:nvSpPr>
        <p:spPr>
          <a:xfrm>
            <a:off x="457200" y="2295144"/>
            <a:ext cx="7973568" cy="315468"/>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2610611"/>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2345436"/>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GetTask</a:t>
            </a:r>
          </a:p>
        </p:txBody>
      </p:sp>
      <p:sp>
        <p:nvSpPr>
          <p:cNvPr id="23" name="TextBox 22"/>
          <p:cNvSpPr txBox="1"/>
          <p:nvPr/>
        </p:nvSpPr>
        <p:spPr>
          <a:xfrm>
            <a:off x="3535436" y="2345436"/>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/tasks/{id}</a:t>
            </a:r>
          </a:p>
        </p:txBody>
      </p:sp>
      <p:sp>
        <p:nvSpPr>
          <p:cNvPr id="24" name="TextBox 23"/>
          <p:cNvSpPr txBox="1"/>
          <p:nvPr/>
        </p:nvSpPr>
        <p:spPr>
          <a:xfrm>
            <a:off x="6326184" y="2345436"/>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tasks/get</a:t>
            </a:r>
          </a:p>
        </p:txBody>
      </p:sp>
      <p:cxnSp>
        <p:nvCxnSpPr>
          <p:cNvPr id="25" name="Connector 24"/>
          <p:cNvCxnSpPr/>
          <p:nvPr/>
        </p:nvCxnSpPr>
        <p:spPr>
          <a:xfrm>
            <a:off x="457200" y="2926079"/>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5216" y="2660903"/>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ListTasks</a:t>
            </a:r>
          </a:p>
        </p:txBody>
      </p:sp>
      <p:sp>
        <p:nvSpPr>
          <p:cNvPr id="27" name="TextBox 26"/>
          <p:cNvSpPr txBox="1"/>
          <p:nvPr/>
        </p:nvSpPr>
        <p:spPr>
          <a:xfrm>
            <a:off x="3535436" y="2660903"/>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/tasks</a:t>
            </a:r>
          </a:p>
        </p:txBody>
      </p:sp>
      <p:sp>
        <p:nvSpPr>
          <p:cNvPr id="28" name="TextBox 27"/>
          <p:cNvSpPr txBox="1"/>
          <p:nvPr/>
        </p:nvSpPr>
        <p:spPr>
          <a:xfrm>
            <a:off x="6326184" y="2660903"/>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tasks/list</a:t>
            </a:r>
          </a:p>
        </p:txBody>
      </p:sp>
      <p:sp>
        <p:nvSpPr>
          <p:cNvPr id="29" name="Rectangle 28"/>
          <p:cNvSpPr/>
          <p:nvPr/>
        </p:nvSpPr>
        <p:spPr>
          <a:xfrm>
            <a:off x="457200" y="2926079"/>
            <a:ext cx="7973568" cy="315468"/>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241547"/>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85216" y="2976371"/>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CancelTask</a:t>
            </a:r>
          </a:p>
        </p:txBody>
      </p:sp>
      <p:sp>
        <p:nvSpPr>
          <p:cNvPr id="32" name="TextBox 31"/>
          <p:cNvSpPr txBox="1"/>
          <p:nvPr/>
        </p:nvSpPr>
        <p:spPr>
          <a:xfrm>
            <a:off x="3535436" y="2976371"/>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POST /tasks/{id}:cancel</a:t>
            </a:r>
          </a:p>
        </p:txBody>
      </p:sp>
      <p:sp>
        <p:nvSpPr>
          <p:cNvPr id="33" name="TextBox 32"/>
          <p:cNvSpPr txBox="1"/>
          <p:nvPr/>
        </p:nvSpPr>
        <p:spPr>
          <a:xfrm>
            <a:off x="6326184" y="2976371"/>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tasks/cancel</a:t>
            </a:r>
          </a:p>
        </p:txBody>
      </p:sp>
      <p:cxnSp>
        <p:nvCxnSpPr>
          <p:cNvPr id="34" name="Connector 33"/>
          <p:cNvCxnSpPr/>
          <p:nvPr/>
        </p:nvCxnSpPr>
        <p:spPr>
          <a:xfrm>
            <a:off x="457200" y="3557015"/>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85216" y="3291839"/>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SubscribeToTask</a:t>
            </a:r>
          </a:p>
        </p:txBody>
      </p:sp>
      <p:sp>
        <p:nvSpPr>
          <p:cNvPr id="36" name="TextBox 35"/>
          <p:cNvSpPr txBox="1"/>
          <p:nvPr/>
        </p:nvSpPr>
        <p:spPr>
          <a:xfrm>
            <a:off x="3535436" y="3291839"/>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/tasks/{id}:subscribe</a:t>
            </a:r>
          </a:p>
        </p:txBody>
      </p:sp>
      <p:sp>
        <p:nvSpPr>
          <p:cNvPr id="37" name="TextBox 36"/>
          <p:cNvSpPr txBox="1"/>
          <p:nvPr/>
        </p:nvSpPr>
        <p:spPr>
          <a:xfrm>
            <a:off x="6326184" y="3291839"/>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tasks/resubscribe</a:t>
            </a:r>
          </a:p>
        </p:txBody>
      </p:sp>
      <p:sp>
        <p:nvSpPr>
          <p:cNvPr id="38" name="Rectangle 37"/>
          <p:cNvSpPr/>
          <p:nvPr/>
        </p:nvSpPr>
        <p:spPr>
          <a:xfrm>
            <a:off x="457200" y="3557015"/>
            <a:ext cx="7973568" cy="329184"/>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3886199"/>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5216" y="3607307"/>
            <a:ext cx="2730764" cy="246888"/>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CreateTaskPushNotificationConfig</a:t>
            </a:r>
          </a:p>
        </p:txBody>
      </p:sp>
      <p:sp>
        <p:nvSpPr>
          <p:cNvPr id="41" name="TextBox 40"/>
          <p:cNvSpPr txBox="1"/>
          <p:nvPr/>
        </p:nvSpPr>
        <p:spPr>
          <a:xfrm>
            <a:off x="3535436" y="3607307"/>
            <a:ext cx="2571292"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POST /tasks/{id}/pushNotificationConfigs</a:t>
            </a:r>
          </a:p>
        </p:txBody>
      </p:sp>
      <p:sp>
        <p:nvSpPr>
          <p:cNvPr id="42" name="TextBox 41"/>
          <p:cNvSpPr txBox="1"/>
          <p:nvPr/>
        </p:nvSpPr>
        <p:spPr>
          <a:xfrm>
            <a:off x="6326184" y="3607307"/>
            <a:ext cx="2013143"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tasks/pushNotificationConfig/set</a:t>
            </a:r>
          </a:p>
        </p:txBody>
      </p:sp>
      <p:cxnSp>
        <p:nvCxnSpPr>
          <p:cNvPr id="43" name="Connector 42"/>
          <p:cNvCxnSpPr/>
          <p:nvPr/>
        </p:nvCxnSpPr>
        <p:spPr>
          <a:xfrm>
            <a:off x="457200" y="4215383"/>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85216" y="3936491"/>
            <a:ext cx="2730764" cy="246888"/>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GetTaskPushNotificationConfig</a:t>
            </a:r>
          </a:p>
        </p:txBody>
      </p:sp>
      <p:sp>
        <p:nvSpPr>
          <p:cNvPr id="45" name="TextBox 44"/>
          <p:cNvSpPr txBox="1"/>
          <p:nvPr/>
        </p:nvSpPr>
        <p:spPr>
          <a:xfrm>
            <a:off x="3535436" y="3936491"/>
            <a:ext cx="2571292"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/tasks/{id}/pushNotificationConfigs/{cfg}</a:t>
            </a:r>
          </a:p>
        </p:txBody>
      </p:sp>
      <p:sp>
        <p:nvSpPr>
          <p:cNvPr id="46" name="TextBox 45"/>
          <p:cNvSpPr txBox="1"/>
          <p:nvPr/>
        </p:nvSpPr>
        <p:spPr>
          <a:xfrm>
            <a:off x="6326184" y="3936491"/>
            <a:ext cx="2013143"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tasks/pushNotificationConfig/get</a:t>
            </a:r>
          </a:p>
        </p:txBody>
      </p:sp>
      <p:sp>
        <p:nvSpPr>
          <p:cNvPr id="47" name="Rectangle 46"/>
          <p:cNvSpPr/>
          <p:nvPr/>
        </p:nvSpPr>
        <p:spPr>
          <a:xfrm>
            <a:off x="457200" y="4215383"/>
            <a:ext cx="7973568" cy="329184"/>
          </a:xfrm>
          <a:prstGeom prst="rect">
            <a:avLst/>
          </a:prstGeom>
          <a:solidFill>
            <a:srgbClr val="F6F8FD"/>
          </a:solidFill>
          <a:ln>
            <a:noFill/>
          </a:ln>
          <a:effectLst/>
        </p:spPr>
        <p:txBody>
          <a:bodyPr wrap="square" rtlCol="0" anchor="ctr"/>
          <a:lstStyle/>
          <a:p>
            <a:endParaRPr/>
          </a:p>
        </p:txBody>
      </p:sp>
      <p:cxnSp>
        <p:nvCxnSpPr>
          <p:cNvPr id="48" name="Connector 47"/>
          <p:cNvCxnSpPr/>
          <p:nvPr/>
        </p:nvCxnSpPr>
        <p:spPr>
          <a:xfrm>
            <a:off x="457200" y="4544568"/>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85216" y="4265675"/>
            <a:ext cx="2730764" cy="246888"/>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ListTaskPushNotificationConfigs</a:t>
            </a:r>
          </a:p>
        </p:txBody>
      </p:sp>
      <p:sp>
        <p:nvSpPr>
          <p:cNvPr id="50" name="TextBox 49"/>
          <p:cNvSpPr txBox="1"/>
          <p:nvPr/>
        </p:nvSpPr>
        <p:spPr>
          <a:xfrm>
            <a:off x="3535436" y="4265675"/>
            <a:ext cx="2571292"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/tasks/{id}/pushNotificationConfigs</a:t>
            </a:r>
          </a:p>
        </p:txBody>
      </p:sp>
      <p:sp>
        <p:nvSpPr>
          <p:cNvPr id="51" name="TextBox 50"/>
          <p:cNvSpPr txBox="1"/>
          <p:nvPr/>
        </p:nvSpPr>
        <p:spPr>
          <a:xfrm>
            <a:off x="6326184" y="4265675"/>
            <a:ext cx="2013143"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tasks/pushNotificationConfig/list</a:t>
            </a:r>
          </a:p>
        </p:txBody>
      </p:sp>
      <p:cxnSp>
        <p:nvCxnSpPr>
          <p:cNvPr id="52" name="Connector 51"/>
          <p:cNvCxnSpPr/>
          <p:nvPr/>
        </p:nvCxnSpPr>
        <p:spPr>
          <a:xfrm>
            <a:off x="457200" y="4873752"/>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85216" y="4594859"/>
            <a:ext cx="2730764" cy="246888"/>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DeleteTaskPushNotificationConfig</a:t>
            </a:r>
          </a:p>
        </p:txBody>
      </p:sp>
      <p:sp>
        <p:nvSpPr>
          <p:cNvPr id="54" name="TextBox 53"/>
          <p:cNvSpPr txBox="1"/>
          <p:nvPr/>
        </p:nvSpPr>
        <p:spPr>
          <a:xfrm>
            <a:off x="3535436" y="4594859"/>
            <a:ext cx="2571292"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DELETE /tasks/{id}/pushNotificationConfigs/{cfg}</a:t>
            </a:r>
          </a:p>
        </p:txBody>
      </p:sp>
      <p:sp>
        <p:nvSpPr>
          <p:cNvPr id="55" name="TextBox 54"/>
          <p:cNvSpPr txBox="1"/>
          <p:nvPr/>
        </p:nvSpPr>
        <p:spPr>
          <a:xfrm>
            <a:off x="6326184" y="4594859"/>
            <a:ext cx="2013143"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tasks/pushNotificationConfig/delete</a:t>
            </a:r>
          </a:p>
        </p:txBody>
      </p:sp>
      <p:sp>
        <p:nvSpPr>
          <p:cNvPr id="56" name="Rectangle 55"/>
          <p:cNvSpPr/>
          <p:nvPr/>
        </p:nvSpPr>
        <p:spPr>
          <a:xfrm>
            <a:off x="457200" y="4873752"/>
            <a:ext cx="7973568" cy="329184"/>
          </a:xfrm>
          <a:prstGeom prst="rect">
            <a:avLst/>
          </a:prstGeom>
          <a:solidFill>
            <a:srgbClr val="F6F8FD"/>
          </a:solidFill>
          <a:ln>
            <a:noFill/>
          </a:ln>
          <a:effectLst/>
        </p:spPr>
        <p:txBody>
          <a:bodyPr wrap="square" rtlCol="0" anchor="ctr"/>
          <a:lstStyle/>
          <a:p>
            <a:endParaRPr/>
          </a:p>
        </p:txBody>
      </p:sp>
      <p:cxnSp>
        <p:nvCxnSpPr>
          <p:cNvPr id="57" name="Connector 56"/>
          <p:cNvCxnSpPr/>
          <p:nvPr/>
        </p:nvCxnSpPr>
        <p:spPr>
          <a:xfrm>
            <a:off x="457200" y="5202936"/>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85216" y="4924044"/>
            <a:ext cx="2730764" cy="246888"/>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GetExtendedAgentCard</a:t>
            </a:r>
          </a:p>
        </p:txBody>
      </p:sp>
      <p:sp>
        <p:nvSpPr>
          <p:cNvPr id="59" name="TextBox 58"/>
          <p:cNvSpPr txBox="1"/>
          <p:nvPr/>
        </p:nvSpPr>
        <p:spPr>
          <a:xfrm>
            <a:off x="3535436" y="4924044"/>
            <a:ext cx="2571292"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/extendedAgentCard</a:t>
            </a:r>
          </a:p>
        </p:txBody>
      </p:sp>
      <p:sp>
        <p:nvSpPr>
          <p:cNvPr id="60" name="TextBox 59"/>
          <p:cNvSpPr txBox="1"/>
          <p:nvPr/>
        </p:nvSpPr>
        <p:spPr>
          <a:xfrm>
            <a:off x="6326184" y="4924044"/>
            <a:ext cx="2013143"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agent/getAuthenticatedExtendedCard</a:t>
            </a:r>
          </a:p>
        </p:txBody>
      </p:sp>
      <p:cxnSp>
        <p:nvCxnSpPr>
          <p:cNvPr id="61" name="Connector 60"/>
          <p:cNvCxnSpPr/>
          <p:nvPr/>
        </p:nvCxnSpPr>
        <p:spPr>
          <a:xfrm>
            <a:off x="3407420" y="1664208"/>
            <a:ext cx="0" cy="3538728"/>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198168" y="1664208"/>
            <a:ext cx="0" cy="3538728"/>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8705088" y="1353312"/>
            <a:ext cx="30175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TRANSPORT BINDINGS</a:t>
            </a:r>
          </a:p>
        </p:txBody>
      </p:sp>
      <p:sp>
        <p:nvSpPr>
          <p:cNvPr id="64" name="Rectangle 63"/>
          <p:cNvSpPr/>
          <p:nvPr/>
        </p:nvSpPr>
        <p:spPr>
          <a:xfrm>
            <a:off x="8705088" y="1591056"/>
            <a:ext cx="3026664" cy="530352"/>
          </a:xfrm>
          <a:prstGeom prst="rect">
            <a:avLst/>
          </a:prstGeom>
          <a:solidFill>
            <a:srgbClr val="F6F8FD"/>
          </a:solidFill>
          <a:ln w="9525">
            <a:solidFill>
              <a:srgbClr val="E1E7F4"/>
            </a:solidFill>
          </a:ln>
          <a:effectLst/>
        </p:spPr>
        <p:txBody>
          <a:bodyPr wrap="square" rtlCol="0" anchor="ctr"/>
          <a:lstStyle/>
          <a:p>
            <a:endParaRPr/>
          </a:p>
        </p:txBody>
      </p:sp>
      <p:sp>
        <p:nvSpPr>
          <p:cNvPr id="65" name="TextBox 64"/>
          <p:cNvSpPr txBox="1"/>
          <p:nvPr/>
        </p:nvSpPr>
        <p:spPr>
          <a:xfrm>
            <a:off x="8869680" y="1655064"/>
            <a:ext cx="2697480"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JSON-RPC 2.0</a:t>
            </a:r>
          </a:p>
        </p:txBody>
      </p:sp>
      <p:sp>
        <p:nvSpPr>
          <p:cNvPr id="66" name="TextBox 65"/>
          <p:cNvSpPr txBox="1"/>
          <p:nvPr/>
        </p:nvSpPr>
        <p:spPr>
          <a:xfrm>
            <a:off x="8869680" y="1837943"/>
            <a:ext cx="2697480" cy="237744"/>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Over HTTP. The binding required by Microsoft Foundry.</a:t>
            </a:r>
          </a:p>
        </p:txBody>
      </p:sp>
      <p:sp>
        <p:nvSpPr>
          <p:cNvPr id="67" name="Rectangle 66"/>
          <p:cNvSpPr/>
          <p:nvPr/>
        </p:nvSpPr>
        <p:spPr>
          <a:xfrm>
            <a:off x="8705088" y="2194560"/>
            <a:ext cx="3026664" cy="530352"/>
          </a:xfrm>
          <a:prstGeom prst="rect">
            <a:avLst/>
          </a:prstGeom>
          <a:solidFill>
            <a:srgbClr val="FFFFFF"/>
          </a:solidFill>
          <a:ln w="9525">
            <a:solidFill>
              <a:srgbClr val="E1E7F4"/>
            </a:solidFill>
          </a:ln>
          <a:effectLst/>
        </p:spPr>
        <p:txBody>
          <a:bodyPr wrap="square" rtlCol="0" anchor="ctr"/>
          <a:lstStyle/>
          <a:p>
            <a:endParaRPr/>
          </a:p>
        </p:txBody>
      </p:sp>
      <p:sp>
        <p:nvSpPr>
          <p:cNvPr id="68" name="TextBox 67"/>
          <p:cNvSpPr txBox="1"/>
          <p:nvPr/>
        </p:nvSpPr>
        <p:spPr>
          <a:xfrm>
            <a:off x="8869680" y="2258568"/>
            <a:ext cx="2697480"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gRPC</a:t>
            </a:r>
          </a:p>
        </p:txBody>
      </p:sp>
      <p:sp>
        <p:nvSpPr>
          <p:cNvPr id="69" name="TextBox 68"/>
          <p:cNvSpPr txBox="1"/>
          <p:nvPr/>
        </p:nvSpPr>
        <p:spPr>
          <a:xfrm>
            <a:off x="8869680" y="2441448"/>
            <a:ext cx="2697480" cy="237744"/>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Protocol buffers over HTTP/2.</a:t>
            </a:r>
          </a:p>
        </p:txBody>
      </p:sp>
      <p:sp>
        <p:nvSpPr>
          <p:cNvPr id="70" name="Rectangle 69"/>
          <p:cNvSpPr/>
          <p:nvPr/>
        </p:nvSpPr>
        <p:spPr>
          <a:xfrm>
            <a:off x="8705088" y="2798064"/>
            <a:ext cx="3026664" cy="530352"/>
          </a:xfrm>
          <a:prstGeom prst="rect">
            <a:avLst/>
          </a:prstGeom>
          <a:solidFill>
            <a:srgbClr val="F6F8FD"/>
          </a:solidFill>
          <a:ln w="9525">
            <a:solidFill>
              <a:srgbClr val="E1E7F4"/>
            </a:solidFill>
          </a:ln>
          <a:effectLst/>
        </p:spPr>
        <p:txBody>
          <a:bodyPr wrap="square" rtlCol="0" anchor="ctr"/>
          <a:lstStyle/>
          <a:p>
            <a:endParaRPr/>
          </a:p>
        </p:txBody>
      </p:sp>
      <p:sp>
        <p:nvSpPr>
          <p:cNvPr id="71" name="TextBox 70"/>
          <p:cNvSpPr txBox="1"/>
          <p:nvPr/>
        </p:nvSpPr>
        <p:spPr>
          <a:xfrm>
            <a:off x="8869680" y="2862072"/>
            <a:ext cx="2697480"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HTTP+JSON / REST</a:t>
            </a:r>
          </a:p>
        </p:txBody>
      </p:sp>
      <p:sp>
        <p:nvSpPr>
          <p:cNvPr id="72" name="TextBox 71"/>
          <p:cNvSpPr txBox="1"/>
          <p:nvPr/>
        </p:nvSpPr>
        <p:spPr>
          <a:xfrm>
            <a:off x="8869680" y="3044952"/>
            <a:ext cx="2697480" cy="237744"/>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Resource paths as listed, using the application/a2a+json media type.</a:t>
            </a:r>
          </a:p>
        </p:txBody>
      </p:sp>
      <p:sp>
        <p:nvSpPr>
          <p:cNvPr id="73" name="TextBox 72"/>
          <p:cNvSpPr txBox="1"/>
          <p:nvPr/>
        </p:nvSpPr>
        <p:spPr>
          <a:xfrm>
            <a:off x="8705088" y="3456432"/>
            <a:ext cx="30175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VERSION NEGOTIATION</a:t>
            </a:r>
          </a:p>
        </p:txBody>
      </p:sp>
      <p:sp>
        <p:nvSpPr>
          <p:cNvPr id="74" name="TextBox 73"/>
          <p:cNvSpPr txBox="1"/>
          <p:nvPr/>
        </p:nvSpPr>
        <p:spPr>
          <a:xfrm>
            <a:off x="8705088" y="3694176"/>
            <a:ext cx="1179758"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Header</a:t>
            </a:r>
          </a:p>
        </p:txBody>
      </p:sp>
      <p:sp>
        <p:nvSpPr>
          <p:cNvPr id="75" name="TextBox 74"/>
          <p:cNvSpPr txBox="1"/>
          <p:nvPr/>
        </p:nvSpPr>
        <p:spPr>
          <a:xfrm>
            <a:off x="9976286" y="3694176"/>
            <a:ext cx="175546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A2A-Version: 1.0</a:t>
            </a:r>
          </a:p>
        </p:txBody>
      </p:sp>
      <p:cxnSp>
        <p:nvCxnSpPr>
          <p:cNvPr id="76" name="Connector 75"/>
          <p:cNvCxnSpPr/>
          <p:nvPr/>
        </p:nvCxnSpPr>
        <p:spPr>
          <a:xfrm>
            <a:off x="8705088" y="4041648"/>
            <a:ext cx="30266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8705088" y="4059936"/>
            <a:ext cx="1179758"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Query form</a:t>
            </a:r>
          </a:p>
        </p:txBody>
      </p:sp>
      <p:sp>
        <p:nvSpPr>
          <p:cNvPr id="78" name="TextBox 77"/>
          <p:cNvSpPr txBox="1"/>
          <p:nvPr/>
        </p:nvSpPr>
        <p:spPr>
          <a:xfrm>
            <a:off x="9976286" y="4059936"/>
            <a:ext cx="175546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?A2A-Version=1.0</a:t>
            </a:r>
          </a:p>
        </p:txBody>
      </p:sp>
      <p:cxnSp>
        <p:nvCxnSpPr>
          <p:cNvPr id="79" name="Connector 78"/>
          <p:cNvCxnSpPr/>
          <p:nvPr/>
        </p:nvCxnSpPr>
        <p:spPr>
          <a:xfrm>
            <a:off x="8705088" y="4407408"/>
            <a:ext cx="30266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8705088" y="4425696"/>
            <a:ext cx="1179758"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Header absent</a:t>
            </a:r>
          </a:p>
        </p:txBody>
      </p:sp>
      <p:sp>
        <p:nvSpPr>
          <p:cNvPr id="81" name="TextBox 80"/>
          <p:cNvSpPr txBox="1"/>
          <p:nvPr/>
        </p:nvSpPr>
        <p:spPr>
          <a:xfrm>
            <a:off x="9976286" y="4425696"/>
            <a:ext cx="175546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Interpreted as 0.3</a:t>
            </a:r>
          </a:p>
        </p:txBody>
      </p:sp>
      <p:cxnSp>
        <p:nvCxnSpPr>
          <p:cNvPr id="82" name="Connector 81"/>
          <p:cNvCxnSpPr/>
          <p:nvPr/>
        </p:nvCxnSpPr>
        <p:spPr>
          <a:xfrm>
            <a:off x="8705088" y="4773168"/>
            <a:ext cx="30266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8705088" y="4791456"/>
            <a:ext cx="1179758"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Unsupported</a:t>
            </a:r>
          </a:p>
        </p:txBody>
      </p:sp>
      <p:sp>
        <p:nvSpPr>
          <p:cNvPr id="84" name="TextBox 83"/>
          <p:cNvSpPr txBox="1"/>
          <p:nvPr/>
        </p:nvSpPr>
        <p:spPr>
          <a:xfrm>
            <a:off x="9976286" y="4791456"/>
            <a:ext cx="175546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VersionNotSupportedError</a:t>
            </a:r>
          </a:p>
        </p:txBody>
      </p:sp>
      <p:cxnSp>
        <p:nvCxnSpPr>
          <p:cNvPr id="85" name="Connector 84"/>
          <p:cNvCxnSpPr/>
          <p:nvPr/>
        </p:nvCxnSpPr>
        <p:spPr>
          <a:xfrm>
            <a:off x="8705088" y="5138928"/>
            <a:ext cx="30266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6" name="Rectangle 85"/>
          <p:cNvSpPr/>
          <p:nvPr/>
        </p:nvSpPr>
        <p:spPr>
          <a:xfrm>
            <a:off x="8705088" y="5266944"/>
            <a:ext cx="3026664" cy="420624"/>
          </a:xfrm>
          <a:prstGeom prst="rect">
            <a:avLst/>
          </a:prstGeom>
          <a:solidFill>
            <a:srgbClr val="EBEFF7"/>
          </a:solidFill>
          <a:ln>
            <a:noFill/>
          </a:ln>
          <a:effectLst/>
        </p:spPr>
        <p:txBody>
          <a:bodyPr wrap="square" rtlCol="0" anchor="ctr"/>
          <a:lstStyle/>
          <a:p>
            <a:endParaRPr/>
          </a:p>
        </p:txBody>
      </p:sp>
      <p:sp>
        <p:nvSpPr>
          <p:cNvPr id="87" name="Rectangle 86"/>
          <p:cNvSpPr/>
          <p:nvPr/>
        </p:nvSpPr>
        <p:spPr>
          <a:xfrm>
            <a:off x="8705088" y="5266944"/>
            <a:ext cx="41148" cy="420624"/>
          </a:xfrm>
          <a:prstGeom prst="rect">
            <a:avLst/>
          </a:prstGeom>
          <a:solidFill>
            <a:srgbClr val="00B39F"/>
          </a:solidFill>
          <a:ln>
            <a:noFill/>
          </a:ln>
          <a:effectLst/>
        </p:spPr>
        <p:txBody>
          <a:bodyPr wrap="square" rtlCol="0" anchor="ctr"/>
          <a:lstStyle/>
          <a:p>
            <a:endParaRPr/>
          </a:p>
        </p:txBody>
      </p:sp>
      <p:sp>
        <p:nvSpPr>
          <p:cNvPr id="88" name="TextBox 87"/>
          <p:cNvSpPr txBox="1"/>
          <p:nvPr/>
        </p:nvSpPr>
        <p:spPr>
          <a:xfrm>
            <a:off x="8942832" y="5367528"/>
            <a:ext cx="2606039" cy="237744"/>
          </a:xfrm>
          <a:prstGeom prst="rect">
            <a:avLst/>
          </a:prstGeom>
          <a:noFill/>
        </p:spPr>
        <p:txBody>
          <a:bodyPr wrap="square" lIns="0" tIns="0" rIns="0" bIns="0" anchor="t">
            <a:spAutoFit/>
          </a:bodyPr>
          <a:lstStyle/>
          <a:p>
            <a:pPr algn="l">
              <a:lnSpc>
                <a:spcPct val="120000"/>
              </a:lnSpc>
            </a:pPr>
            <a:r>
              <a:rPr sz="800" b="0" i="0" dirty="0">
                <a:solidFill>
                  <a:srgbClr val="101A3C"/>
                </a:solidFill>
                <a:latin typeface="Segoe UI"/>
                <a:cs typeface="Segoe UI"/>
              </a:rPr>
              <a:t>Patch versions are excluded from negotiation.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PROTOCOL MECHANICS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Task state model</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server-owned state machine, read identically by both parties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a2a-protocol.org/latest/topics/life-of-a-task</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9</a:t>
            </a:r>
          </a:p>
        </p:txBody>
      </p:sp>
      <p:sp>
        <p:nvSpPr>
          <p:cNvPr id="7" name="Rectangle 6"/>
          <p:cNvSpPr/>
          <p:nvPr/>
        </p:nvSpPr>
        <p:spPr>
          <a:xfrm>
            <a:off x="457200" y="1883664"/>
            <a:ext cx="1755648" cy="566928"/>
          </a:xfrm>
          <a:prstGeom prst="rect">
            <a:avLst/>
          </a:prstGeom>
          <a:solidFill>
            <a:srgbClr val="101A3C"/>
          </a:solidFill>
          <a:ln>
            <a:noFill/>
          </a:ln>
          <a:effectLst/>
        </p:spPr>
        <p:txBody>
          <a:bodyPr wrap="square" lIns="54864" tIns="18288" rIns="54864" bIns="18288" rtlCol="0" anchor="ctr"/>
          <a:lstStyle/>
          <a:p>
            <a:pPr algn="ctr">
              <a:lnSpc>
                <a:spcPct val="100000"/>
              </a:lnSpc>
            </a:pPr>
            <a:r>
              <a:rPr sz="850" b="1" i="0" dirty="0">
                <a:solidFill>
                  <a:srgbClr val="FFFFFF"/>
                </a:solidFill>
                <a:latin typeface="Segoe UI"/>
                <a:cs typeface="Segoe UI"/>
              </a:rPr>
              <a:t>SUBMITTED</a:t>
            </a:r>
          </a:p>
        </p:txBody>
      </p:sp>
      <p:sp>
        <p:nvSpPr>
          <p:cNvPr id="8" name="Rectangle 7"/>
          <p:cNvSpPr/>
          <p:nvPr/>
        </p:nvSpPr>
        <p:spPr>
          <a:xfrm>
            <a:off x="2944368" y="1883664"/>
            <a:ext cx="1755648" cy="566928"/>
          </a:xfrm>
          <a:prstGeom prst="rect">
            <a:avLst/>
          </a:prstGeom>
          <a:solidFill>
            <a:srgbClr val="101A3C"/>
          </a:solidFill>
          <a:ln>
            <a:noFill/>
          </a:ln>
          <a:effectLst/>
        </p:spPr>
        <p:txBody>
          <a:bodyPr wrap="square" lIns="54864" tIns="18288" rIns="54864" bIns="18288" rtlCol="0" anchor="ctr"/>
          <a:lstStyle/>
          <a:p>
            <a:pPr algn="ctr">
              <a:lnSpc>
                <a:spcPct val="100000"/>
              </a:lnSpc>
            </a:pPr>
            <a:r>
              <a:rPr sz="850" b="1" i="0" dirty="0">
                <a:solidFill>
                  <a:srgbClr val="FFFFFF"/>
                </a:solidFill>
                <a:latin typeface="Segoe UI"/>
                <a:cs typeface="Segoe UI"/>
              </a:rPr>
              <a:t>WORKING</a:t>
            </a:r>
          </a:p>
        </p:txBody>
      </p:sp>
      <p:cxnSp>
        <p:nvCxnSpPr>
          <p:cNvPr id="9" name="Connector 8"/>
          <p:cNvCxnSpPr/>
          <p:nvPr/>
        </p:nvCxnSpPr>
        <p:spPr>
          <a:xfrm>
            <a:off x="2212848" y="2167128"/>
            <a:ext cx="731520"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157984" y="1947672"/>
            <a:ext cx="841248" cy="182880"/>
          </a:xfrm>
          <a:prstGeom prst="rect">
            <a:avLst/>
          </a:prstGeom>
          <a:noFill/>
        </p:spPr>
        <p:txBody>
          <a:bodyPr wrap="square" lIns="0" tIns="0" rIns="0" bIns="0" anchor="t">
            <a:spAutoFit/>
          </a:bodyPr>
          <a:lstStyle/>
          <a:p>
            <a:pPr algn="ctr">
              <a:lnSpc>
                <a:spcPct val="100000"/>
              </a:lnSpc>
            </a:pPr>
            <a:r>
              <a:rPr sz="750" b="0" i="0" dirty="0">
                <a:solidFill>
                  <a:srgbClr val="44495B"/>
                </a:solidFill>
                <a:latin typeface="Segoe UI"/>
                <a:cs typeface="Segoe UI"/>
              </a:rPr>
              <a:t>accepted</a:t>
            </a:r>
          </a:p>
        </p:txBody>
      </p:sp>
      <p:sp>
        <p:nvSpPr>
          <p:cNvPr id="11" name="Rectangle 10"/>
          <p:cNvSpPr/>
          <p:nvPr/>
        </p:nvSpPr>
        <p:spPr>
          <a:xfrm>
            <a:off x="5541264" y="1883664"/>
            <a:ext cx="2615184" cy="74980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28000"/>
              </a:lnSpc>
            </a:pPr>
            <a:r>
              <a:rPr sz="850" b="1" i="0" dirty="0">
                <a:solidFill>
                  <a:srgbClr val="101A3C"/>
                </a:solidFill>
                <a:latin typeface="Segoe UI"/>
                <a:cs typeface="Segoe UI"/>
              </a:rPr>
              <a:t>COMPLETED   ·   FAILED</a:t>
            </a:r>
          </a:p>
          <a:p>
            <a:pPr algn="ctr">
              <a:lnSpc>
                <a:spcPct val="128000"/>
              </a:lnSpc>
            </a:pPr>
            <a:r>
              <a:rPr sz="850" b="1" i="0" dirty="0">
                <a:solidFill>
                  <a:srgbClr val="101A3C"/>
                </a:solidFill>
                <a:latin typeface="Segoe UI"/>
                <a:cs typeface="Segoe UI"/>
              </a:rPr>
              <a:t>CANCELED   ·   REJECTED</a:t>
            </a:r>
          </a:p>
        </p:txBody>
      </p:sp>
      <p:cxnSp>
        <p:nvCxnSpPr>
          <p:cNvPr id="12" name="Connector 11"/>
          <p:cNvCxnSpPr/>
          <p:nvPr/>
        </p:nvCxnSpPr>
        <p:spPr>
          <a:xfrm>
            <a:off x="4700016" y="2167128"/>
            <a:ext cx="841248"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645152" y="1947672"/>
            <a:ext cx="950976" cy="182880"/>
          </a:xfrm>
          <a:prstGeom prst="rect">
            <a:avLst/>
          </a:prstGeom>
          <a:noFill/>
        </p:spPr>
        <p:txBody>
          <a:bodyPr wrap="square" lIns="0" tIns="0" rIns="0" bIns="0" anchor="t">
            <a:spAutoFit/>
          </a:bodyPr>
          <a:lstStyle/>
          <a:p>
            <a:pPr algn="ctr">
              <a:lnSpc>
                <a:spcPct val="100000"/>
              </a:lnSpc>
            </a:pPr>
            <a:r>
              <a:rPr sz="750" b="0" i="0" dirty="0">
                <a:solidFill>
                  <a:srgbClr val="44495B"/>
                </a:solidFill>
                <a:latin typeface="Segoe UI"/>
                <a:cs typeface="Segoe UI"/>
              </a:rPr>
              <a:t>resolved</a:t>
            </a:r>
          </a:p>
        </p:txBody>
      </p:sp>
      <p:sp>
        <p:nvSpPr>
          <p:cNvPr id="14" name="TextBox 13"/>
          <p:cNvSpPr txBox="1"/>
          <p:nvPr/>
        </p:nvSpPr>
        <p:spPr>
          <a:xfrm>
            <a:off x="5541264" y="2706624"/>
            <a:ext cx="2615184" cy="310896"/>
          </a:xfrm>
          <a:prstGeom prst="rect">
            <a:avLst/>
          </a:prstGeom>
          <a:noFill/>
        </p:spPr>
        <p:txBody>
          <a:bodyPr wrap="square" lIns="0" tIns="0" rIns="0" bIns="0" anchor="t">
            <a:spAutoFit/>
          </a:bodyPr>
          <a:lstStyle/>
          <a:p>
            <a:pPr algn="ctr">
              <a:lnSpc>
                <a:spcPct val="116000"/>
              </a:lnSpc>
            </a:pPr>
            <a:r>
              <a:rPr sz="750" b="0" i="0" dirty="0">
                <a:solidFill>
                  <a:srgbClr val="44495B"/>
                </a:solidFill>
                <a:latin typeface="Segoe UI"/>
                <a:cs typeface="Segoe UI"/>
              </a:rPr>
              <a:t>Terminal. These states cannot resume; refinement</a:t>
            </a:r>
          </a:p>
          <a:p>
            <a:pPr algn="ctr">
              <a:lnSpc>
                <a:spcPct val="116000"/>
              </a:lnSpc>
            </a:pPr>
            <a:r>
              <a:rPr sz="750" b="0" i="0" dirty="0">
                <a:solidFill>
                  <a:srgbClr val="44495B"/>
                </a:solidFill>
                <a:latin typeface="Segoe UI"/>
                <a:cs typeface="Segoe UI"/>
              </a:rPr>
              <a:t>requires a new task in the same context.</a:t>
            </a:r>
          </a:p>
        </p:txBody>
      </p:sp>
      <p:sp>
        <p:nvSpPr>
          <p:cNvPr id="15" name="Rectangle 14"/>
          <p:cNvSpPr/>
          <p:nvPr/>
        </p:nvSpPr>
        <p:spPr>
          <a:xfrm>
            <a:off x="3383280" y="3054096"/>
            <a:ext cx="2743200" cy="603504"/>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26000"/>
              </a:lnSpc>
            </a:pPr>
            <a:r>
              <a:rPr sz="850" b="1" i="0" dirty="0">
                <a:solidFill>
                  <a:srgbClr val="101A3C"/>
                </a:solidFill>
                <a:latin typeface="Segoe UI"/>
                <a:cs typeface="Segoe UI"/>
              </a:rPr>
              <a:t>INPUT_REQUIRED   ·   AUTH_REQUIRED</a:t>
            </a:r>
          </a:p>
          <a:p>
            <a:pPr algn="ctr">
              <a:lnSpc>
                <a:spcPct val="126000"/>
              </a:lnSpc>
            </a:pPr>
            <a:r>
              <a:rPr sz="750" b="0" i="0" dirty="0">
                <a:solidFill>
                  <a:srgbClr val="44495B"/>
                </a:solidFill>
                <a:latin typeface="Segoe UI"/>
                <a:cs typeface="Segoe UI"/>
              </a:rPr>
              <a:t>suspended, not failed</a:t>
            </a:r>
          </a:p>
        </p:txBody>
      </p:sp>
      <p:cxnSp>
        <p:nvCxnSpPr>
          <p:cNvPr id="16" name="Connector 15"/>
          <p:cNvCxnSpPr/>
          <p:nvPr/>
        </p:nvCxnSpPr>
        <p:spPr>
          <a:xfrm>
            <a:off x="3931920" y="2450592"/>
            <a:ext cx="0" cy="603504"/>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023360" y="2633472"/>
            <a:ext cx="1005840" cy="182880"/>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suspends</a:t>
            </a:r>
          </a:p>
        </p:txBody>
      </p:sp>
      <p:cxnSp>
        <p:nvCxnSpPr>
          <p:cNvPr id="18" name="Connector 17"/>
          <p:cNvCxnSpPr/>
          <p:nvPr/>
        </p:nvCxnSpPr>
        <p:spPr>
          <a:xfrm flipV="1">
            <a:off x="5120640" y="2468880"/>
            <a:ext cx="0" cy="585216"/>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443984" y="2633472"/>
            <a:ext cx="603504" cy="182880"/>
          </a:xfrm>
          <a:prstGeom prst="rect">
            <a:avLst/>
          </a:prstGeom>
          <a:noFill/>
        </p:spPr>
        <p:txBody>
          <a:bodyPr wrap="square" lIns="0" tIns="0" rIns="0" bIns="0" anchor="t">
            <a:spAutoFit/>
          </a:bodyPr>
          <a:lstStyle/>
          <a:p>
            <a:pPr algn="r">
              <a:lnSpc>
                <a:spcPct val="100000"/>
              </a:lnSpc>
            </a:pPr>
            <a:r>
              <a:rPr sz="750" b="0" i="0" dirty="0">
                <a:solidFill>
                  <a:srgbClr val="44495B"/>
                </a:solidFill>
                <a:latin typeface="Segoe UI"/>
                <a:cs typeface="Segoe UI"/>
              </a:rPr>
              <a:t>resumes</a:t>
            </a:r>
          </a:p>
        </p:txBody>
      </p:sp>
      <p:sp>
        <p:nvSpPr>
          <p:cNvPr id="20" name="Rectangle 19"/>
          <p:cNvSpPr/>
          <p:nvPr/>
        </p:nvSpPr>
        <p:spPr>
          <a:xfrm>
            <a:off x="3383280" y="4005072"/>
            <a:ext cx="2743200"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Artifacts appended as output is produced</a:t>
            </a:r>
          </a:p>
        </p:txBody>
      </p:sp>
      <p:cxnSp>
        <p:nvCxnSpPr>
          <p:cNvPr id="21" name="Connector 20"/>
          <p:cNvCxnSpPr/>
          <p:nvPr/>
        </p:nvCxnSpPr>
        <p:spPr>
          <a:xfrm>
            <a:off x="3108960" y="2450592"/>
            <a:ext cx="0" cy="1810512"/>
          </a:xfrm>
          <a:prstGeom prst="line">
            <a:avLst/>
          </a:prstGeom>
          <a:ln w="1270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08960" y="4261104"/>
            <a:ext cx="274320" cy="0"/>
          </a:xfrm>
          <a:prstGeom prst="line">
            <a:avLst/>
          </a:prstGeom>
          <a:ln w="1270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57200" y="4658868"/>
            <a:ext cx="146304" cy="91440"/>
          </a:xfrm>
          <a:prstGeom prst="rect">
            <a:avLst/>
          </a:prstGeom>
          <a:solidFill>
            <a:srgbClr val="101A3C"/>
          </a:solidFill>
          <a:ln>
            <a:noFill/>
          </a:ln>
          <a:effectLst/>
        </p:spPr>
        <p:txBody>
          <a:bodyPr wrap="square" rtlCol="0" anchor="ctr"/>
          <a:lstStyle/>
          <a:p>
            <a:endParaRPr/>
          </a:p>
        </p:txBody>
      </p:sp>
      <p:sp>
        <p:nvSpPr>
          <p:cNvPr id="24" name="TextBox 23"/>
          <p:cNvSpPr txBox="1"/>
          <p:nvPr/>
        </p:nvSpPr>
        <p:spPr>
          <a:xfrm>
            <a:off x="676656" y="46314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Active state</a:t>
            </a:r>
          </a:p>
        </p:txBody>
      </p:sp>
      <p:sp>
        <p:nvSpPr>
          <p:cNvPr id="25" name="Rectangle 24"/>
          <p:cNvSpPr/>
          <p:nvPr/>
        </p:nvSpPr>
        <p:spPr>
          <a:xfrm>
            <a:off x="1392631" y="4658868"/>
            <a:ext cx="146304" cy="91440"/>
          </a:xfrm>
          <a:prstGeom prst="rect">
            <a:avLst/>
          </a:prstGeom>
          <a:solidFill>
            <a:srgbClr val="EBEFF7"/>
          </a:solidFill>
          <a:ln>
            <a:noFill/>
          </a:ln>
          <a:effectLst/>
        </p:spPr>
        <p:txBody>
          <a:bodyPr wrap="square" rtlCol="0" anchor="ctr"/>
          <a:lstStyle/>
          <a:p>
            <a:endParaRPr/>
          </a:p>
        </p:txBody>
      </p:sp>
      <p:sp>
        <p:nvSpPr>
          <p:cNvPr id="26" name="TextBox 25"/>
          <p:cNvSpPr txBox="1"/>
          <p:nvPr/>
        </p:nvSpPr>
        <p:spPr>
          <a:xfrm>
            <a:off x="1612087" y="46314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Interrupted state</a:t>
            </a:r>
          </a:p>
        </p:txBody>
      </p:sp>
      <p:sp>
        <p:nvSpPr>
          <p:cNvPr id="27" name="Rectangle 26"/>
          <p:cNvSpPr/>
          <p:nvPr/>
        </p:nvSpPr>
        <p:spPr>
          <a:xfrm>
            <a:off x="2592095" y="4658868"/>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28" name="TextBox 27"/>
          <p:cNvSpPr txBox="1"/>
          <p:nvPr/>
        </p:nvSpPr>
        <p:spPr>
          <a:xfrm>
            <a:off x="2811551" y="46314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Terminal group</a:t>
            </a:r>
          </a:p>
        </p:txBody>
      </p:sp>
      <p:cxnSp>
        <p:nvCxnSpPr>
          <p:cNvPr id="29" name="Connector 28"/>
          <p:cNvCxnSpPr/>
          <p:nvPr/>
        </p:nvCxnSpPr>
        <p:spPr>
          <a:xfrm>
            <a:off x="3633139" y="4704588"/>
            <a:ext cx="164592" cy="0"/>
          </a:xfrm>
          <a:prstGeom prst="line">
            <a:avLst/>
          </a:prstGeom>
          <a:ln w="13970">
            <a:solidFill>
              <a:srgbClr val="44495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852595" y="46314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Transition</a:t>
            </a:r>
          </a:p>
        </p:txBody>
      </p:sp>
      <p:cxnSp>
        <p:nvCxnSpPr>
          <p:cNvPr id="31" name="Connector 30"/>
          <p:cNvCxnSpPr/>
          <p:nvPr/>
        </p:nvCxnSpPr>
        <p:spPr>
          <a:xfrm>
            <a:off x="4462957" y="4704588"/>
            <a:ext cx="164592" cy="0"/>
          </a:xfrm>
          <a:prstGeom prst="line">
            <a:avLst/>
          </a:prstGeom>
          <a:ln w="1397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682413" y="46314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Output</a:t>
            </a:r>
          </a:p>
        </p:txBody>
      </p:sp>
      <p:sp>
        <p:nvSpPr>
          <p:cNvPr id="33" name="TextBox 32"/>
          <p:cNvSpPr txBox="1"/>
          <p:nvPr/>
        </p:nvSpPr>
        <p:spPr>
          <a:xfrm>
            <a:off x="8375904" y="1353312"/>
            <a:ext cx="33832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ENUMERATION VALUES AND CLASSIFICATION</a:t>
            </a:r>
          </a:p>
        </p:txBody>
      </p:sp>
      <p:sp>
        <p:nvSpPr>
          <p:cNvPr id="34" name="Rectangle 33"/>
          <p:cNvSpPr/>
          <p:nvPr/>
        </p:nvSpPr>
        <p:spPr>
          <a:xfrm>
            <a:off x="8375904" y="1591056"/>
            <a:ext cx="3355848" cy="310896"/>
          </a:xfrm>
          <a:prstGeom prst="rect">
            <a:avLst/>
          </a:prstGeom>
          <a:solidFill>
            <a:srgbClr val="101A3C"/>
          </a:solidFill>
          <a:ln>
            <a:noFill/>
          </a:ln>
          <a:effectLst/>
        </p:spPr>
        <p:txBody>
          <a:bodyPr wrap="square" rtlCol="0" anchor="ctr"/>
          <a:lstStyle/>
          <a:p>
            <a:endParaRPr/>
          </a:p>
        </p:txBody>
      </p:sp>
      <p:sp>
        <p:nvSpPr>
          <p:cNvPr id="35" name="TextBox 34"/>
          <p:cNvSpPr txBox="1"/>
          <p:nvPr/>
        </p:nvSpPr>
        <p:spPr>
          <a:xfrm>
            <a:off x="8503920" y="1668780"/>
            <a:ext cx="1931304"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Value</a:t>
            </a:r>
          </a:p>
        </p:txBody>
      </p:sp>
      <p:sp>
        <p:nvSpPr>
          <p:cNvPr id="36" name="TextBox 35"/>
          <p:cNvSpPr txBox="1"/>
          <p:nvPr/>
        </p:nvSpPr>
        <p:spPr>
          <a:xfrm>
            <a:off x="10618104" y="1668780"/>
            <a:ext cx="1058783"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Class</a:t>
            </a:r>
          </a:p>
        </p:txBody>
      </p:sp>
      <p:sp>
        <p:nvSpPr>
          <p:cNvPr id="37" name="Rectangle 36"/>
          <p:cNvSpPr/>
          <p:nvPr/>
        </p:nvSpPr>
        <p:spPr>
          <a:xfrm>
            <a:off x="8375904" y="1901952"/>
            <a:ext cx="3355848" cy="365760"/>
          </a:xfrm>
          <a:prstGeom prst="rect">
            <a:avLst/>
          </a:prstGeom>
          <a:solidFill>
            <a:srgbClr val="F6F8FD"/>
          </a:solidFill>
          <a:ln>
            <a:noFill/>
          </a:ln>
          <a:effectLst/>
        </p:spPr>
        <p:txBody>
          <a:bodyPr wrap="square" rtlCol="0" anchor="ctr"/>
          <a:lstStyle/>
          <a:p>
            <a:endParaRPr/>
          </a:p>
        </p:txBody>
      </p:sp>
      <p:cxnSp>
        <p:nvCxnSpPr>
          <p:cNvPr id="38" name="Connector 37"/>
          <p:cNvCxnSpPr/>
          <p:nvPr/>
        </p:nvCxnSpPr>
        <p:spPr>
          <a:xfrm>
            <a:off x="8375904" y="226771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503920" y="195224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TASK_STATE_SUBMITTED</a:t>
            </a:r>
          </a:p>
        </p:txBody>
      </p:sp>
      <p:sp>
        <p:nvSpPr>
          <p:cNvPr id="40" name="TextBox 39"/>
          <p:cNvSpPr txBox="1"/>
          <p:nvPr/>
        </p:nvSpPr>
        <p:spPr>
          <a:xfrm>
            <a:off x="10618104" y="195224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Active</a:t>
            </a:r>
          </a:p>
        </p:txBody>
      </p:sp>
      <p:cxnSp>
        <p:nvCxnSpPr>
          <p:cNvPr id="41" name="Connector 40"/>
          <p:cNvCxnSpPr/>
          <p:nvPr/>
        </p:nvCxnSpPr>
        <p:spPr>
          <a:xfrm>
            <a:off x="8375904" y="263347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03920" y="231800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TASK_STATE_WORKING</a:t>
            </a:r>
          </a:p>
        </p:txBody>
      </p:sp>
      <p:sp>
        <p:nvSpPr>
          <p:cNvPr id="43" name="TextBox 42"/>
          <p:cNvSpPr txBox="1"/>
          <p:nvPr/>
        </p:nvSpPr>
        <p:spPr>
          <a:xfrm>
            <a:off x="10618104" y="231800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Active</a:t>
            </a:r>
          </a:p>
        </p:txBody>
      </p:sp>
      <p:sp>
        <p:nvSpPr>
          <p:cNvPr id="44" name="Rectangle 43"/>
          <p:cNvSpPr/>
          <p:nvPr/>
        </p:nvSpPr>
        <p:spPr>
          <a:xfrm>
            <a:off x="8375904" y="2633472"/>
            <a:ext cx="3355848" cy="365760"/>
          </a:xfrm>
          <a:prstGeom prst="rect">
            <a:avLst/>
          </a:prstGeom>
          <a:solidFill>
            <a:srgbClr val="F6F8FD"/>
          </a:solidFill>
          <a:ln>
            <a:noFill/>
          </a:ln>
          <a:effectLst/>
        </p:spPr>
        <p:txBody>
          <a:bodyPr wrap="square" rtlCol="0" anchor="ctr"/>
          <a:lstStyle/>
          <a:p>
            <a:endParaRPr/>
          </a:p>
        </p:txBody>
      </p:sp>
      <p:cxnSp>
        <p:nvCxnSpPr>
          <p:cNvPr id="45" name="Connector 44"/>
          <p:cNvCxnSpPr/>
          <p:nvPr/>
        </p:nvCxnSpPr>
        <p:spPr>
          <a:xfrm>
            <a:off x="8375904" y="299923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503920" y="268376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TASK_STATE_INPUT_REQUIRED</a:t>
            </a:r>
          </a:p>
        </p:txBody>
      </p:sp>
      <p:sp>
        <p:nvSpPr>
          <p:cNvPr id="47" name="TextBox 46"/>
          <p:cNvSpPr txBox="1"/>
          <p:nvPr/>
        </p:nvSpPr>
        <p:spPr>
          <a:xfrm>
            <a:off x="10618104" y="268376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Interrupted</a:t>
            </a:r>
          </a:p>
        </p:txBody>
      </p:sp>
      <p:cxnSp>
        <p:nvCxnSpPr>
          <p:cNvPr id="48" name="Connector 47"/>
          <p:cNvCxnSpPr/>
          <p:nvPr/>
        </p:nvCxnSpPr>
        <p:spPr>
          <a:xfrm>
            <a:off x="8375904" y="3364991"/>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503920" y="304952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TASK_STATE_AUTH_REQUIRED</a:t>
            </a:r>
          </a:p>
        </p:txBody>
      </p:sp>
      <p:sp>
        <p:nvSpPr>
          <p:cNvPr id="50" name="TextBox 49"/>
          <p:cNvSpPr txBox="1"/>
          <p:nvPr/>
        </p:nvSpPr>
        <p:spPr>
          <a:xfrm>
            <a:off x="10618104" y="304952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Interrupted</a:t>
            </a:r>
          </a:p>
        </p:txBody>
      </p:sp>
      <p:sp>
        <p:nvSpPr>
          <p:cNvPr id="51" name="Rectangle 50"/>
          <p:cNvSpPr/>
          <p:nvPr/>
        </p:nvSpPr>
        <p:spPr>
          <a:xfrm>
            <a:off x="8375904" y="3364991"/>
            <a:ext cx="3355848" cy="365760"/>
          </a:xfrm>
          <a:prstGeom prst="rect">
            <a:avLst/>
          </a:prstGeom>
          <a:solidFill>
            <a:srgbClr val="F6F8FD"/>
          </a:solidFill>
          <a:ln>
            <a:noFill/>
          </a:ln>
          <a:effectLst/>
        </p:spPr>
        <p:txBody>
          <a:bodyPr wrap="square" rtlCol="0" anchor="ctr"/>
          <a:lstStyle/>
          <a:p>
            <a:endParaRPr/>
          </a:p>
        </p:txBody>
      </p:sp>
      <p:cxnSp>
        <p:nvCxnSpPr>
          <p:cNvPr id="52" name="Connector 51"/>
          <p:cNvCxnSpPr/>
          <p:nvPr/>
        </p:nvCxnSpPr>
        <p:spPr>
          <a:xfrm>
            <a:off x="8375904" y="373075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503920" y="341528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TASK_STATE_COMPLETED</a:t>
            </a:r>
          </a:p>
        </p:txBody>
      </p:sp>
      <p:sp>
        <p:nvSpPr>
          <p:cNvPr id="54" name="TextBox 53"/>
          <p:cNvSpPr txBox="1"/>
          <p:nvPr/>
        </p:nvSpPr>
        <p:spPr>
          <a:xfrm>
            <a:off x="10618104" y="341528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Terminal</a:t>
            </a:r>
          </a:p>
        </p:txBody>
      </p:sp>
      <p:cxnSp>
        <p:nvCxnSpPr>
          <p:cNvPr id="55" name="Connector 54"/>
          <p:cNvCxnSpPr/>
          <p:nvPr/>
        </p:nvCxnSpPr>
        <p:spPr>
          <a:xfrm>
            <a:off x="8375904" y="409651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503920" y="378104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TASK_STATE_FAILED</a:t>
            </a:r>
          </a:p>
        </p:txBody>
      </p:sp>
      <p:sp>
        <p:nvSpPr>
          <p:cNvPr id="57" name="TextBox 56"/>
          <p:cNvSpPr txBox="1"/>
          <p:nvPr/>
        </p:nvSpPr>
        <p:spPr>
          <a:xfrm>
            <a:off x="10618104" y="378104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Terminal</a:t>
            </a:r>
          </a:p>
        </p:txBody>
      </p:sp>
      <p:sp>
        <p:nvSpPr>
          <p:cNvPr id="58" name="Rectangle 57"/>
          <p:cNvSpPr/>
          <p:nvPr/>
        </p:nvSpPr>
        <p:spPr>
          <a:xfrm>
            <a:off x="8375904" y="4096512"/>
            <a:ext cx="3355848" cy="365760"/>
          </a:xfrm>
          <a:prstGeom prst="rect">
            <a:avLst/>
          </a:prstGeom>
          <a:solidFill>
            <a:srgbClr val="F6F8FD"/>
          </a:solidFill>
          <a:ln>
            <a:noFill/>
          </a:ln>
          <a:effectLst/>
        </p:spPr>
        <p:txBody>
          <a:bodyPr wrap="square" rtlCol="0" anchor="ctr"/>
          <a:lstStyle/>
          <a:p>
            <a:endParaRPr/>
          </a:p>
        </p:txBody>
      </p:sp>
      <p:cxnSp>
        <p:nvCxnSpPr>
          <p:cNvPr id="59" name="Connector 58"/>
          <p:cNvCxnSpPr/>
          <p:nvPr/>
        </p:nvCxnSpPr>
        <p:spPr>
          <a:xfrm>
            <a:off x="8375904" y="446227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8503920" y="414680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TASK_STATE_CANCELED</a:t>
            </a:r>
          </a:p>
        </p:txBody>
      </p:sp>
      <p:sp>
        <p:nvSpPr>
          <p:cNvPr id="61" name="TextBox 60"/>
          <p:cNvSpPr txBox="1"/>
          <p:nvPr/>
        </p:nvSpPr>
        <p:spPr>
          <a:xfrm>
            <a:off x="10618104" y="414680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Terminal</a:t>
            </a:r>
          </a:p>
        </p:txBody>
      </p:sp>
      <p:cxnSp>
        <p:nvCxnSpPr>
          <p:cNvPr id="62" name="Connector 61"/>
          <p:cNvCxnSpPr/>
          <p:nvPr/>
        </p:nvCxnSpPr>
        <p:spPr>
          <a:xfrm>
            <a:off x="8375904" y="482803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8503920" y="451256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TASK_STATE_REJECTED</a:t>
            </a:r>
          </a:p>
        </p:txBody>
      </p:sp>
      <p:sp>
        <p:nvSpPr>
          <p:cNvPr id="64" name="TextBox 63"/>
          <p:cNvSpPr txBox="1"/>
          <p:nvPr/>
        </p:nvSpPr>
        <p:spPr>
          <a:xfrm>
            <a:off x="10618104" y="451256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Terminal</a:t>
            </a:r>
          </a:p>
        </p:txBody>
      </p:sp>
      <p:sp>
        <p:nvSpPr>
          <p:cNvPr id="65" name="Rectangle 64"/>
          <p:cNvSpPr/>
          <p:nvPr/>
        </p:nvSpPr>
        <p:spPr>
          <a:xfrm>
            <a:off x="8375904" y="4828032"/>
            <a:ext cx="3355848" cy="365760"/>
          </a:xfrm>
          <a:prstGeom prst="rect">
            <a:avLst/>
          </a:prstGeom>
          <a:solidFill>
            <a:srgbClr val="F6F8FD"/>
          </a:solidFill>
          <a:ln>
            <a:noFill/>
          </a:ln>
          <a:effectLst/>
        </p:spPr>
        <p:txBody>
          <a:bodyPr wrap="square" rtlCol="0" anchor="ctr"/>
          <a:lstStyle/>
          <a:p>
            <a:endParaRPr/>
          </a:p>
        </p:txBody>
      </p:sp>
      <p:cxnSp>
        <p:nvCxnSpPr>
          <p:cNvPr id="66" name="Connector 65"/>
          <p:cNvCxnSpPr/>
          <p:nvPr/>
        </p:nvCxnSpPr>
        <p:spPr>
          <a:xfrm>
            <a:off x="8375904" y="519379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8503920" y="487832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TASK_STATE_UNSPECIFIED</a:t>
            </a:r>
          </a:p>
        </p:txBody>
      </p:sp>
      <p:sp>
        <p:nvSpPr>
          <p:cNvPr id="68" name="TextBox 67"/>
          <p:cNvSpPr txBox="1"/>
          <p:nvPr/>
        </p:nvSpPr>
        <p:spPr>
          <a:xfrm>
            <a:off x="10618104" y="487832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Indeterminate</a:t>
            </a:r>
          </a:p>
        </p:txBody>
      </p:sp>
      <p:cxnSp>
        <p:nvCxnSpPr>
          <p:cNvPr id="69" name="Connector 68"/>
          <p:cNvCxnSpPr/>
          <p:nvPr/>
        </p:nvCxnSpPr>
        <p:spPr>
          <a:xfrm>
            <a:off x="10490088" y="1901952"/>
            <a:ext cx="0" cy="329184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457200" y="5010912"/>
            <a:ext cx="7717536" cy="566928"/>
          </a:xfrm>
          <a:prstGeom prst="rect">
            <a:avLst/>
          </a:prstGeom>
          <a:solidFill>
            <a:srgbClr val="EBEFF7"/>
          </a:solidFill>
          <a:ln>
            <a:noFill/>
          </a:ln>
          <a:effectLst/>
        </p:spPr>
        <p:txBody>
          <a:bodyPr wrap="square" rtlCol="0" anchor="ctr"/>
          <a:lstStyle/>
          <a:p>
            <a:endParaRPr/>
          </a:p>
        </p:txBody>
      </p:sp>
      <p:sp>
        <p:nvSpPr>
          <p:cNvPr id="71" name="Rectangle 70"/>
          <p:cNvSpPr/>
          <p:nvPr/>
        </p:nvSpPr>
        <p:spPr>
          <a:xfrm>
            <a:off x="457200" y="5010912"/>
            <a:ext cx="41148" cy="566928"/>
          </a:xfrm>
          <a:prstGeom prst="rect">
            <a:avLst/>
          </a:prstGeom>
          <a:solidFill>
            <a:srgbClr val="00B39F"/>
          </a:solidFill>
          <a:ln>
            <a:noFill/>
          </a:ln>
          <a:effectLst/>
        </p:spPr>
        <p:txBody>
          <a:bodyPr wrap="square" rtlCol="0" anchor="ctr"/>
          <a:lstStyle/>
          <a:p>
            <a:endParaRPr/>
          </a:p>
        </p:txBody>
      </p:sp>
      <p:sp>
        <p:nvSpPr>
          <p:cNvPr id="72" name="TextBox 71"/>
          <p:cNvSpPr txBox="1"/>
          <p:nvPr/>
        </p:nvSpPr>
        <p:spPr>
          <a:xfrm>
            <a:off x="694944" y="5111496"/>
            <a:ext cx="7296912" cy="384048"/>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Version 1.0 serialises these values as the enumeration names shown, in accordance with the ProtoJSON convention. Version 0.3 used lowercase hyphenated forms such as input-required, which is a frequent source of migration defects.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PROTOCOL MECHANICS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Interaction modes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delivery mechanisms, selected by expected duration and whether the caller can hold a connection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a2a-protocol.org/latest/topics/streaming-and-async</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10</a:t>
            </a:r>
          </a:p>
        </p:txBody>
      </p:sp>
      <p:sp>
        <p:nvSpPr>
          <p:cNvPr id="7" name="Rectangle 6"/>
          <p:cNvSpPr/>
          <p:nvPr/>
        </p:nvSpPr>
        <p:spPr>
          <a:xfrm>
            <a:off x="457200" y="1371600"/>
            <a:ext cx="3621024" cy="3529584"/>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371600"/>
            <a:ext cx="3621024" cy="548640"/>
          </a:xfrm>
          <a:prstGeom prst="rect">
            <a:avLst/>
          </a:prstGeom>
          <a:solidFill>
            <a:srgbClr val="101A3C"/>
          </a:solidFill>
          <a:ln>
            <a:noFill/>
          </a:ln>
          <a:effectLst/>
        </p:spPr>
        <p:txBody>
          <a:bodyPr wrap="square" rtlCol="0" anchor="ctr"/>
          <a:lstStyle/>
          <a:p>
            <a:endParaRPr/>
          </a:p>
        </p:txBody>
      </p:sp>
      <p:sp>
        <p:nvSpPr>
          <p:cNvPr id="9" name="TextBox 8"/>
          <p:cNvSpPr txBox="1"/>
          <p:nvPr/>
        </p:nvSpPr>
        <p:spPr>
          <a:xfrm>
            <a:off x="640080" y="1463040"/>
            <a:ext cx="3255264" cy="201168"/>
          </a:xfrm>
          <a:prstGeom prst="rect">
            <a:avLst/>
          </a:prstGeom>
          <a:noFill/>
        </p:spPr>
        <p:txBody>
          <a:bodyPr wrap="square" lIns="0" tIns="0" rIns="0" bIns="0" anchor="t">
            <a:spAutoFit/>
          </a:bodyPr>
          <a:lstStyle/>
          <a:p>
            <a:pPr algn="l">
              <a:lnSpc>
                <a:spcPct val="100000"/>
              </a:lnSpc>
            </a:pPr>
            <a:r>
              <a:rPr sz="1200" b="1" i="0" dirty="0">
                <a:solidFill>
                  <a:srgbClr val="FFFFFF"/>
                </a:solidFill>
                <a:latin typeface="Segoe UI"/>
                <a:cs typeface="Segoe UI"/>
              </a:rPr>
              <a:t>Synchronous</a:t>
            </a:r>
          </a:p>
        </p:txBody>
      </p:sp>
      <p:sp>
        <p:nvSpPr>
          <p:cNvPr id="10" name="TextBox 9"/>
          <p:cNvSpPr txBox="1"/>
          <p:nvPr/>
        </p:nvSpPr>
        <p:spPr>
          <a:xfrm>
            <a:off x="640080" y="1691640"/>
            <a:ext cx="3255264" cy="164592"/>
          </a:xfrm>
          <a:prstGeom prst="rect">
            <a:avLst/>
          </a:prstGeom>
          <a:noFill/>
        </p:spPr>
        <p:txBody>
          <a:bodyPr wrap="square" lIns="0" tIns="0" rIns="0" bIns="0" anchor="t">
            <a:spAutoFit/>
          </a:bodyPr>
          <a:lstStyle/>
          <a:p>
            <a:pPr algn="l">
              <a:lnSpc>
                <a:spcPct val="100000"/>
              </a:lnSpc>
            </a:pPr>
            <a:r>
              <a:rPr sz="750" b="1" i="0" dirty="0">
                <a:solidFill>
                  <a:srgbClr val="00B39F"/>
                </a:solidFill>
                <a:latin typeface="Segoe UI"/>
                <a:cs typeface="Segoe UI"/>
              </a:rPr>
              <a:t>returnImmediately = false</a:t>
            </a:r>
          </a:p>
        </p:txBody>
      </p:sp>
      <p:sp>
        <p:nvSpPr>
          <p:cNvPr id="11" name="TextBox 10"/>
          <p:cNvSpPr txBox="1"/>
          <p:nvPr/>
        </p:nvSpPr>
        <p:spPr>
          <a:xfrm>
            <a:off x="640080" y="2066543"/>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MECHANISM</a:t>
            </a:r>
          </a:p>
        </p:txBody>
      </p:sp>
      <p:sp>
        <p:nvSpPr>
          <p:cNvPr id="12" name="TextBox 11"/>
          <p:cNvSpPr txBox="1"/>
          <p:nvPr/>
        </p:nvSpPr>
        <p:spPr>
          <a:xfrm>
            <a:off x="640080" y="2249424"/>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 single request that returns only when the task reaches a terminal or interrupted state.</a:t>
            </a:r>
          </a:p>
        </p:txBody>
      </p:sp>
      <p:sp>
        <p:nvSpPr>
          <p:cNvPr id="13" name="TextBox 12"/>
          <p:cNvSpPr txBox="1"/>
          <p:nvPr/>
        </p:nvSpPr>
        <p:spPr>
          <a:xfrm>
            <a:off x="640080" y="277977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TO</a:t>
            </a:r>
          </a:p>
        </p:txBody>
      </p:sp>
      <p:sp>
        <p:nvSpPr>
          <p:cNvPr id="14" name="TextBox 13"/>
          <p:cNvSpPr txBox="1"/>
          <p:nvPr/>
        </p:nvSpPr>
        <p:spPr>
          <a:xfrm>
            <a:off x="640080" y="2962656"/>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Work of short, bounded duration where the caller can hold the connection open.</a:t>
            </a:r>
          </a:p>
        </p:txBody>
      </p:sp>
      <p:sp>
        <p:nvSpPr>
          <p:cNvPr id="15" name="TextBox 14"/>
          <p:cNvSpPr txBox="1"/>
          <p:nvPr/>
        </p:nvSpPr>
        <p:spPr>
          <a:xfrm>
            <a:off x="640080" y="3493008"/>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PREREQUISITE</a:t>
            </a:r>
          </a:p>
        </p:txBody>
      </p:sp>
      <p:sp>
        <p:nvSpPr>
          <p:cNvPr id="16" name="TextBox 15"/>
          <p:cNvSpPr txBox="1"/>
          <p:nvPr/>
        </p:nvSpPr>
        <p:spPr>
          <a:xfrm>
            <a:off x="640080" y="3675888"/>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None beyond the base protocol.</a:t>
            </a:r>
          </a:p>
        </p:txBody>
      </p:sp>
      <p:sp>
        <p:nvSpPr>
          <p:cNvPr id="17" name="TextBox 16"/>
          <p:cNvSpPr txBox="1"/>
          <p:nvPr/>
        </p:nvSpPr>
        <p:spPr>
          <a:xfrm>
            <a:off x="640080" y="4206240"/>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DESIGN CONSIDERATION</a:t>
            </a:r>
          </a:p>
        </p:txBody>
      </p:sp>
      <p:sp>
        <p:nvSpPr>
          <p:cNvPr id="18" name="TextBox 17"/>
          <p:cNvSpPr txBox="1"/>
          <p:nvPr/>
        </p:nvSpPr>
        <p:spPr>
          <a:xfrm>
            <a:off x="640080" y="4389120"/>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effective limit is the connection and gateway timeout, not the protocol.</a:t>
            </a:r>
          </a:p>
        </p:txBody>
      </p:sp>
      <p:sp>
        <p:nvSpPr>
          <p:cNvPr id="19" name="Rectangle 18"/>
          <p:cNvSpPr/>
          <p:nvPr/>
        </p:nvSpPr>
        <p:spPr>
          <a:xfrm>
            <a:off x="4297680" y="1371600"/>
            <a:ext cx="3621024" cy="3529584"/>
          </a:xfrm>
          <a:prstGeom prst="rect">
            <a:avLst/>
          </a:prstGeom>
          <a:solidFill>
            <a:srgbClr val="F6F8FD"/>
          </a:solidFill>
          <a:ln w="9525">
            <a:solidFill>
              <a:srgbClr val="E1E7F4"/>
            </a:solidFill>
          </a:ln>
          <a:effectLst/>
        </p:spPr>
        <p:txBody>
          <a:bodyPr wrap="square" rtlCol="0" anchor="ctr"/>
          <a:lstStyle/>
          <a:p>
            <a:endParaRPr/>
          </a:p>
        </p:txBody>
      </p:sp>
      <p:sp>
        <p:nvSpPr>
          <p:cNvPr id="20" name="Rectangle 19"/>
          <p:cNvSpPr/>
          <p:nvPr/>
        </p:nvSpPr>
        <p:spPr>
          <a:xfrm>
            <a:off x="4297680" y="1371600"/>
            <a:ext cx="3621024" cy="548640"/>
          </a:xfrm>
          <a:prstGeom prst="rect">
            <a:avLst/>
          </a:prstGeom>
          <a:solidFill>
            <a:srgbClr val="101A3C"/>
          </a:solidFill>
          <a:ln>
            <a:noFill/>
          </a:ln>
          <a:effectLst/>
        </p:spPr>
        <p:txBody>
          <a:bodyPr wrap="square" rtlCol="0" anchor="ctr"/>
          <a:lstStyle/>
          <a:p>
            <a:endParaRPr/>
          </a:p>
        </p:txBody>
      </p:sp>
      <p:sp>
        <p:nvSpPr>
          <p:cNvPr id="21" name="TextBox 20"/>
          <p:cNvSpPr txBox="1"/>
          <p:nvPr/>
        </p:nvSpPr>
        <p:spPr>
          <a:xfrm>
            <a:off x="4480560" y="1463040"/>
            <a:ext cx="3255264" cy="201168"/>
          </a:xfrm>
          <a:prstGeom prst="rect">
            <a:avLst/>
          </a:prstGeom>
          <a:noFill/>
        </p:spPr>
        <p:txBody>
          <a:bodyPr wrap="square" lIns="0" tIns="0" rIns="0" bIns="0" anchor="t">
            <a:spAutoFit/>
          </a:bodyPr>
          <a:lstStyle/>
          <a:p>
            <a:pPr algn="l">
              <a:lnSpc>
                <a:spcPct val="100000"/>
              </a:lnSpc>
            </a:pPr>
            <a:r>
              <a:rPr sz="1200" b="1" i="0" dirty="0">
                <a:solidFill>
                  <a:srgbClr val="FFFFFF"/>
                </a:solidFill>
                <a:latin typeface="Segoe UI"/>
                <a:cs typeface="Segoe UI"/>
              </a:rPr>
              <a:t>Streaming</a:t>
            </a:r>
          </a:p>
        </p:txBody>
      </p:sp>
      <p:sp>
        <p:nvSpPr>
          <p:cNvPr id="22" name="TextBox 21"/>
          <p:cNvSpPr txBox="1"/>
          <p:nvPr/>
        </p:nvSpPr>
        <p:spPr>
          <a:xfrm>
            <a:off x="4480560" y="1691640"/>
            <a:ext cx="3255264" cy="164592"/>
          </a:xfrm>
          <a:prstGeom prst="rect">
            <a:avLst/>
          </a:prstGeom>
          <a:noFill/>
        </p:spPr>
        <p:txBody>
          <a:bodyPr wrap="square" lIns="0" tIns="0" rIns="0" bIns="0" anchor="t">
            <a:spAutoFit/>
          </a:bodyPr>
          <a:lstStyle/>
          <a:p>
            <a:pPr algn="l">
              <a:lnSpc>
                <a:spcPct val="100000"/>
              </a:lnSpc>
            </a:pPr>
            <a:r>
              <a:rPr sz="750" b="1" i="0" dirty="0">
                <a:solidFill>
                  <a:srgbClr val="00B39F"/>
                </a:solidFill>
                <a:latin typeface="Segoe UI"/>
                <a:cs typeface="Segoe UI"/>
              </a:rPr>
              <a:t>Server-Sent Events</a:t>
            </a:r>
          </a:p>
        </p:txBody>
      </p:sp>
      <p:sp>
        <p:nvSpPr>
          <p:cNvPr id="23" name="TextBox 22"/>
          <p:cNvSpPr txBox="1"/>
          <p:nvPr/>
        </p:nvSpPr>
        <p:spPr>
          <a:xfrm>
            <a:off x="4480560" y="2066543"/>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MECHANISM</a:t>
            </a:r>
          </a:p>
        </p:txBody>
      </p:sp>
      <p:sp>
        <p:nvSpPr>
          <p:cNvPr id="24" name="TextBox 23"/>
          <p:cNvSpPr txBox="1"/>
          <p:nvPr/>
        </p:nvSpPr>
        <p:spPr>
          <a:xfrm>
            <a:off x="4480560" y="2249424"/>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server opens a text/event-stream response and emits status and artifact update events.</a:t>
            </a:r>
          </a:p>
        </p:txBody>
      </p:sp>
      <p:sp>
        <p:nvSpPr>
          <p:cNvPr id="25" name="TextBox 24"/>
          <p:cNvSpPr txBox="1"/>
          <p:nvPr/>
        </p:nvSpPr>
        <p:spPr>
          <a:xfrm>
            <a:off x="4480560" y="277977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TO</a:t>
            </a:r>
          </a:p>
        </p:txBody>
      </p:sp>
      <p:sp>
        <p:nvSpPr>
          <p:cNvPr id="26" name="TextBox 25"/>
          <p:cNvSpPr txBox="1"/>
          <p:nvPr/>
        </p:nvSpPr>
        <p:spPr>
          <a:xfrm>
            <a:off x="4480560" y="2962656"/>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Incremental output and progress indication while a user is present.</a:t>
            </a:r>
          </a:p>
        </p:txBody>
      </p:sp>
      <p:sp>
        <p:nvSpPr>
          <p:cNvPr id="27" name="TextBox 26"/>
          <p:cNvSpPr txBox="1"/>
          <p:nvPr/>
        </p:nvSpPr>
        <p:spPr>
          <a:xfrm>
            <a:off x="4480560" y="3493008"/>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PREREQUISITE</a:t>
            </a:r>
          </a:p>
        </p:txBody>
      </p:sp>
      <p:sp>
        <p:nvSpPr>
          <p:cNvPr id="28" name="TextBox 27"/>
          <p:cNvSpPr txBox="1"/>
          <p:nvPr/>
        </p:nvSpPr>
        <p:spPr>
          <a:xfrm>
            <a:off x="4480560" y="3675888"/>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capabilities.streaming declared true in the Agent Card.</a:t>
            </a:r>
          </a:p>
        </p:txBody>
      </p:sp>
      <p:sp>
        <p:nvSpPr>
          <p:cNvPr id="29" name="TextBox 28"/>
          <p:cNvSpPr txBox="1"/>
          <p:nvPr/>
        </p:nvSpPr>
        <p:spPr>
          <a:xfrm>
            <a:off x="4480560" y="4206240"/>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DESIGN CONSIDERATION</a:t>
            </a:r>
          </a:p>
        </p:txBody>
      </p:sp>
      <p:sp>
        <p:nvSpPr>
          <p:cNvPr id="30" name="TextBox 29"/>
          <p:cNvSpPr txBox="1"/>
          <p:nvPr/>
        </p:nvSpPr>
        <p:spPr>
          <a:xfrm>
            <a:off x="4480560" y="4389120"/>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Event order is normative. Reconnection replays from the task, not from an offset.</a:t>
            </a:r>
          </a:p>
        </p:txBody>
      </p:sp>
      <p:sp>
        <p:nvSpPr>
          <p:cNvPr id="31" name="Rectangle 30"/>
          <p:cNvSpPr/>
          <p:nvPr/>
        </p:nvSpPr>
        <p:spPr>
          <a:xfrm>
            <a:off x="8138160" y="1371600"/>
            <a:ext cx="3621024" cy="3529584"/>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8138160" y="1371600"/>
            <a:ext cx="3621024" cy="548640"/>
          </a:xfrm>
          <a:prstGeom prst="rect">
            <a:avLst/>
          </a:prstGeom>
          <a:solidFill>
            <a:srgbClr val="101A3C"/>
          </a:solidFill>
          <a:ln>
            <a:noFill/>
          </a:ln>
          <a:effectLst/>
        </p:spPr>
        <p:txBody>
          <a:bodyPr wrap="square" rtlCol="0" anchor="ctr"/>
          <a:lstStyle/>
          <a:p>
            <a:endParaRPr/>
          </a:p>
        </p:txBody>
      </p:sp>
      <p:sp>
        <p:nvSpPr>
          <p:cNvPr id="33" name="TextBox 32"/>
          <p:cNvSpPr txBox="1"/>
          <p:nvPr/>
        </p:nvSpPr>
        <p:spPr>
          <a:xfrm>
            <a:off x="8321040" y="1463040"/>
            <a:ext cx="3255264" cy="201168"/>
          </a:xfrm>
          <a:prstGeom prst="rect">
            <a:avLst/>
          </a:prstGeom>
          <a:noFill/>
        </p:spPr>
        <p:txBody>
          <a:bodyPr wrap="square" lIns="0" tIns="0" rIns="0" bIns="0" anchor="t">
            <a:spAutoFit/>
          </a:bodyPr>
          <a:lstStyle/>
          <a:p>
            <a:pPr algn="l">
              <a:lnSpc>
                <a:spcPct val="100000"/>
              </a:lnSpc>
            </a:pPr>
            <a:r>
              <a:rPr sz="1200" b="1" i="0" dirty="0">
                <a:solidFill>
                  <a:srgbClr val="FFFFFF"/>
                </a:solidFill>
                <a:latin typeface="Segoe UI"/>
                <a:cs typeface="Segoe UI"/>
              </a:rPr>
              <a:t>Asynchronous</a:t>
            </a:r>
          </a:p>
        </p:txBody>
      </p:sp>
      <p:sp>
        <p:nvSpPr>
          <p:cNvPr id="34" name="TextBox 33"/>
          <p:cNvSpPr txBox="1"/>
          <p:nvPr/>
        </p:nvSpPr>
        <p:spPr>
          <a:xfrm>
            <a:off x="8321040" y="1691640"/>
            <a:ext cx="3255264" cy="164592"/>
          </a:xfrm>
          <a:prstGeom prst="rect">
            <a:avLst/>
          </a:prstGeom>
          <a:noFill/>
        </p:spPr>
        <p:txBody>
          <a:bodyPr wrap="square" lIns="0" tIns="0" rIns="0" bIns="0" anchor="t">
            <a:spAutoFit/>
          </a:bodyPr>
          <a:lstStyle/>
          <a:p>
            <a:pPr algn="l">
              <a:lnSpc>
                <a:spcPct val="100000"/>
              </a:lnSpc>
            </a:pPr>
            <a:r>
              <a:rPr sz="750" b="1" i="0" dirty="0">
                <a:solidFill>
                  <a:srgbClr val="00B39F"/>
                </a:solidFill>
                <a:latin typeface="Segoe UI"/>
                <a:cs typeface="Segoe UI"/>
              </a:rPr>
              <a:t>Push notification webhook</a:t>
            </a:r>
          </a:p>
        </p:txBody>
      </p:sp>
      <p:sp>
        <p:nvSpPr>
          <p:cNvPr id="35" name="TextBox 34"/>
          <p:cNvSpPr txBox="1"/>
          <p:nvPr/>
        </p:nvSpPr>
        <p:spPr>
          <a:xfrm>
            <a:off x="8321040" y="2066543"/>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MECHANISM</a:t>
            </a:r>
          </a:p>
        </p:txBody>
      </p:sp>
      <p:sp>
        <p:nvSpPr>
          <p:cNvPr id="36" name="TextBox 35"/>
          <p:cNvSpPr txBox="1"/>
          <p:nvPr/>
        </p:nvSpPr>
        <p:spPr>
          <a:xfrm>
            <a:off x="8321040" y="2249424"/>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server issues an HTTP POST to a client-registered endpoint on each state change.</a:t>
            </a:r>
          </a:p>
        </p:txBody>
      </p:sp>
      <p:sp>
        <p:nvSpPr>
          <p:cNvPr id="37" name="TextBox 36"/>
          <p:cNvSpPr txBox="1"/>
          <p:nvPr/>
        </p:nvSpPr>
        <p:spPr>
          <a:xfrm>
            <a:off x="8321040" y="277977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TO</a:t>
            </a:r>
          </a:p>
        </p:txBody>
      </p:sp>
      <p:sp>
        <p:nvSpPr>
          <p:cNvPr id="38" name="TextBox 37"/>
          <p:cNvSpPr txBox="1"/>
          <p:nvPr/>
        </p:nvSpPr>
        <p:spPr>
          <a:xfrm>
            <a:off x="8321040" y="2962656"/>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Long-running work and server-to-server integration with no held connection.</a:t>
            </a:r>
          </a:p>
        </p:txBody>
      </p:sp>
      <p:sp>
        <p:nvSpPr>
          <p:cNvPr id="39" name="TextBox 38"/>
          <p:cNvSpPr txBox="1"/>
          <p:nvPr/>
        </p:nvSpPr>
        <p:spPr>
          <a:xfrm>
            <a:off x="8321040" y="3493008"/>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PREREQUISITE</a:t>
            </a:r>
          </a:p>
        </p:txBody>
      </p:sp>
      <p:sp>
        <p:nvSpPr>
          <p:cNvPr id="40" name="TextBox 39"/>
          <p:cNvSpPr txBox="1"/>
          <p:nvPr/>
        </p:nvSpPr>
        <p:spPr>
          <a:xfrm>
            <a:off x="8321040" y="3675888"/>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capabilities.pushNotifications declared true, plus a webhook authentication scheme.</a:t>
            </a:r>
          </a:p>
        </p:txBody>
      </p:sp>
      <p:sp>
        <p:nvSpPr>
          <p:cNvPr id="41" name="TextBox 40"/>
          <p:cNvSpPr txBox="1"/>
          <p:nvPr/>
        </p:nvSpPr>
        <p:spPr>
          <a:xfrm>
            <a:off x="8321040" y="4206240"/>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DESIGN CONSIDERATION</a:t>
            </a:r>
          </a:p>
        </p:txBody>
      </p:sp>
      <p:sp>
        <p:nvSpPr>
          <p:cNvPr id="42" name="TextBox 41"/>
          <p:cNvSpPr txBox="1"/>
          <p:nvPr/>
        </p:nvSpPr>
        <p:spPr>
          <a:xfrm>
            <a:off x="8321040" y="4389120"/>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sender authenticates to the webhook; the receiver must verify every request.</a:t>
            </a:r>
          </a:p>
        </p:txBody>
      </p:sp>
      <p:sp>
        <p:nvSpPr>
          <p:cNvPr id="43" name="Rectangle 42"/>
          <p:cNvSpPr/>
          <p:nvPr/>
        </p:nvSpPr>
        <p:spPr>
          <a:xfrm>
            <a:off x="457200" y="5047488"/>
            <a:ext cx="11277295" cy="512064"/>
          </a:xfrm>
          <a:prstGeom prst="rect">
            <a:avLst/>
          </a:prstGeom>
          <a:solidFill>
            <a:srgbClr val="EBEFF7"/>
          </a:solidFill>
          <a:ln>
            <a:noFill/>
          </a:ln>
          <a:effectLst/>
        </p:spPr>
        <p:txBody>
          <a:bodyPr wrap="square" rtlCol="0" anchor="ctr"/>
          <a:lstStyle/>
          <a:p>
            <a:endParaRPr/>
          </a:p>
        </p:txBody>
      </p:sp>
      <p:sp>
        <p:nvSpPr>
          <p:cNvPr id="44" name="Rectangle 43"/>
          <p:cNvSpPr/>
          <p:nvPr/>
        </p:nvSpPr>
        <p:spPr>
          <a:xfrm>
            <a:off x="457200" y="5047488"/>
            <a:ext cx="41148" cy="512064"/>
          </a:xfrm>
          <a:prstGeom prst="rect">
            <a:avLst/>
          </a:prstGeom>
          <a:solidFill>
            <a:srgbClr val="00B39F"/>
          </a:solidFill>
          <a:ln>
            <a:noFill/>
          </a:ln>
          <a:effectLst/>
        </p:spPr>
        <p:txBody>
          <a:bodyPr wrap="square" rtlCol="0" anchor="ctr"/>
          <a:lstStyle/>
          <a:p>
            <a:endParaRPr/>
          </a:p>
        </p:txBody>
      </p:sp>
      <p:sp>
        <p:nvSpPr>
          <p:cNvPr id="45" name="TextBox 44"/>
          <p:cNvSpPr txBox="1"/>
          <p:nvPr/>
        </p:nvSpPr>
        <p:spPr>
          <a:xfrm>
            <a:off x="694944" y="5148072"/>
            <a:ext cx="10856671" cy="329184"/>
          </a:xfrm>
          <a:prstGeom prst="rect">
            <a:avLst/>
          </a:prstGeom>
          <a:noFill/>
        </p:spPr>
        <p:txBody>
          <a:bodyPr wrap="square" lIns="0" tIns="0" rIns="0" bIns="0" anchor="t">
            <a:spAutoFit/>
          </a:bodyPr>
          <a:lstStyle/>
          <a:p>
            <a:pPr algn="l">
              <a:lnSpc>
                <a:spcPct val="120000"/>
              </a:lnSpc>
            </a:pPr>
            <a:r>
              <a:rPr sz="900" b="0" i="0" dirty="0">
                <a:solidFill>
                  <a:srgbClr val="101A3C"/>
                </a:solidFill>
                <a:latin typeface="Segoe UI"/>
                <a:cs typeface="Segoe UI"/>
              </a:rPr>
              <a:t>Microsoft Foundry currently supports the synchronous mode only for A2A targets: JSON-RPC binding, text modality, and no Server-Sent Events. Remote units of work must therefore complete within the caller’s timeout.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MICROSOFT FOUNDRY IMPLEMENTATION</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Implementation architecture in Microsoft Foundry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Two independent capabilities: outbound invocation of a remote agent, and inbound exposure of a Foundry agent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learn.microsoft.com/azure/foundry/agents/how-to/tools/agent-to-agent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11</a:t>
            </a:r>
          </a:p>
        </p:txBody>
      </p:sp>
      <p:sp>
        <p:nvSpPr>
          <p:cNvPr id="7" name="Rectangle 6"/>
          <p:cNvSpPr/>
          <p:nvPr/>
        </p:nvSpPr>
        <p:spPr>
          <a:xfrm>
            <a:off x="3163824" y="1426464"/>
            <a:ext cx="5870448" cy="2249424"/>
          </a:xfrm>
          <a:prstGeom prst="rect">
            <a:avLst/>
          </a:prstGeom>
          <a:noFill/>
          <a:ln w="9525">
            <a:solidFill>
              <a:srgbClr val="44495B"/>
            </a:solidFill>
            <a:prstDash val="dash"/>
          </a:ln>
          <a:effectLst/>
        </p:spPr>
        <p:txBody>
          <a:bodyPr wrap="square" rtlCol="0" anchor="ctr"/>
          <a:lstStyle/>
          <a:p>
            <a:endParaRPr/>
          </a:p>
        </p:txBody>
      </p:sp>
      <p:sp>
        <p:nvSpPr>
          <p:cNvPr id="8" name="TextBox 7"/>
          <p:cNvSpPr txBox="1"/>
          <p:nvPr/>
        </p:nvSpPr>
        <p:spPr>
          <a:xfrm>
            <a:off x="3291840" y="1499616"/>
            <a:ext cx="3657600" cy="164592"/>
          </a:xfrm>
          <a:prstGeom prst="rect">
            <a:avLst/>
          </a:prstGeom>
          <a:noFill/>
        </p:spPr>
        <p:txBody>
          <a:bodyPr wrap="square" lIns="0" tIns="0" rIns="0" bIns="0" anchor="t">
            <a:spAutoFit/>
          </a:bodyPr>
          <a:lstStyle/>
          <a:p>
            <a:pPr algn="l">
              <a:lnSpc>
                <a:spcPct val="100000"/>
              </a:lnSpc>
            </a:pPr>
            <a:r>
              <a:rPr sz="750" b="1" i="0" spc="110" dirty="0">
                <a:solidFill>
                  <a:srgbClr val="44495B"/>
                </a:solidFill>
                <a:latin typeface="Segoe UI"/>
                <a:cs typeface="Segoe UI"/>
              </a:rPr>
              <a:t>MICROSOFT FOUNDRY PROJECT</a:t>
            </a:r>
          </a:p>
        </p:txBody>
      </p:sp>
      <p:sp>
        <p:nvSpPr>
          <p:cNvPr id="9" name="Rectangle 8"/>
          <p:cNvSpPr/>
          <p:nvPr/>
        </p:nvSpPr>
        <p:spPr>
          <a:xfrm>
            <a:off x="457200" y="1938528"/>
            <a:ext cx="2395728" cy="786384"/>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20000"/>
              </a:lnSpc>
            </a:pPr>
            <a:r>
              <a:rPr sz="1000" b="1" i="0" dirty="0">
                <a:solidFill>
                  <a:srgbClr val="101A3C"/>
                </a:solidFill>
                <a:latin typeface="Segoe UI"/>
                <a:cs typeface="Segoe UI"/>
              </a:rPr>
              <a:t>External client agent</a:t>
            </a:r>
          </a:p>
          <a:p>
            <a:pPr algn="ctr">
              <a:lnSpc>
                <a:spcPct val="120000"/>
              </a:lnSpc>
            </a:pPr>
            <a:r>
              <a:rPr sz="750" b="0" i="0" dirty="0">
                <a:solidFill>
                  <a:srgbClr val="44495B"/>
                </a:solidFill>
                <a:latin typeface="Segoe UI"/>
                <a:cs typeface="Segoe UI"/>
              </a:rPr>
              <a:t>any A2A-compliant runtime</a:t>
            </a:r>
          </a:p>
        </p:txBody>
      </p:sp>
      <p:sp>
        <p:nvSpPr>
          <p:cNvPr id="10" name="Rectangle 9"/>
          <p:cNvSpPr/>
          <p:nvPr/>
        </p:nvSpPr>
        <p:spPr>
          <a:xfrm>
            <a:off x="9345168" y="1938528"/>
            <a:ext cx="2386584" cy="786384"/>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20000"/>
              </a:lnSpc>
            </a:pPr>
            <a:r>
              <a:rPr sz="1000" b="1" i="0" dirty="0">
                <a:solidFill>
                  <a:srgbClr val="101A3C"/>
                </a:solidFill>
                <a:latin typeface="Segoe UI"/>
                <a:cs typeface="Segoe UI"/>
              </a:rPr>
              <a:t>Remote A2A agent</a:t>
            </a:r>
          </a:p>
          <a:p>
            <a:pPr algn="ctr">
              <a:lnSpc>
                <a:spcPct val="120000"/>
              </a:lnSpc>
            </a:pPr>
            <a:r>
              <a:rPr sz="750" b="0" i="0" dirty="0">
                <a:solidFill>
                  <a:srgbClr val="44495B"/>
                </a:solidFill>
                <a:latin typeface="Segoe UI"/>
                <a:cs typeface="Segoe UI"/>
              </a:rPr>
              <a:t>any vendor or framework</a:t>
            </a:r>
          </a:p>
        </p:txBody>
      </p:sp>
      <p:sp>
        <p:nvSpPr>
          <p:cNvPr id="11" name="Rectangle 10"/>
          <p:cNvSpPr/>
          <p:nvPr/>
        </p:nvSpPr>
        <p:spPr>
          <a:xfrm>
            <a:off x="3401568" y="1938528"/>
            <a:ext cx="2157984" cy="78638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20000"/>
              </a:lnSpc>
            </a:pPr>
            <a:r>
              <a:rPr sz="900" b="1" i="0" dirty="0">
                <a:solidFill>
                  <a:srgbClr val="101A3C"/>
                </a:solidFill>
                <a:latin typeface="Segoe UI"/>
                <a:cs typeface="Segoe UI"/>
              </a:rPr>
              <a:t>Inbound A2A endpoint*</a:t>
            </a:r>
          </a:p>
          <a:p>
            <a:pPr algn="ctr">
              <a:lnSpc>
                <a:spcPct val="120000"/>
              </a:lnSpc>
            </a:pPr>
            <a:r>
              <a:rPr sz="750" b="0" i="0" dirty="0">
                <a:solidFill>
                  <a:srgbClr val="44495B"/>
                </a:solidFill>
                <a:latin typeface="Segoe UI"/>
                <a:cs typeface="Segoe UI"/>
              </a:rPr>
              <a:t>/endpoint/protocols/a2a</a:t>
            </a:r>
          </a:p>
        </p:txBody>
      </p:sp>
      <p:sp>
        <p:nvSpPr>
          <p:cNvPr id="12" name="Rectangle 11"/>
          <p:cNvSpPr/>
          <p:nvPr/>
        </p:nvSpPr>
        <p:spPr>
          <a:xfrm>
            <a:off x="3401568" y="2871216"/>
            <a:ext cx="2157984"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Published Agent Card</a:t>
            </a:r>
          </a:p>
        </p:txBody>
      </p:sp>
      <p:sp>
        <p:nvSpPr>
          <p:cNvPr id="13" name="Rectangle 12"/>
          <p:cNvSpPr/>
          <p:nvPr/>
        </p:nvSpPr>
        <p:spPr>
          <a:xfrm>
            <a:off x="5779008" y="1938528"/>
            <a:ext cx="1737360" cy="1499616"/>
          </a:xfrm>
          <a:prstGeom prst="rect">
            <a:avLst/>
          </a:prstGeom>
          <a:solidFill>
            <a:srgbClr val="101A3C"/>
          </a:solidFill>
          <a:ln>
            <a:noFill/>
          </a:ln>
          <a:effectLst/>
        </p:spPr>
        <p:txBody>
          <a:bodyPr wrap="square" lIns="36576" tIns="18288" rIns="36576" bIns="18288" rtlCol="0" anchor="ctr"/>
          <a:lstStyle/>
          <a:p>
            <a:pPr algn="ctr">
              <a:lnSpc>
                <a:spcPct val="134000"/>
              </a:lnSpc>
            </a:pPr>
            <a:r>
              <a:rPr sz="1100" b="1" i="0" dirty="0">
                <a:solidFill>
                  <a:srgbClr val="FFFFFF"/>
                </a:solidFill>
                <a:latin typeface="Segoe UI"/>
                <a:cs typeface="Segoe UI"/>
              </a:rPr>
              <a:t>Foundry agent</a:t>
            </a:r>
          </a:p>
          <a:p>
            <a:pPr algn="ctr">
              <a:lnSpc>
                <a:spcPct val="134000"/>
              </a:lnSpc>
            </a:pPr>
            <a:r>
              <a:rPr sz="750" b="0" i="0" dirty="0">
                <a:solidFill>
                  <a:srgbClr val="00B39F"/>
                </a:solidFill>
                <a:latin typeface="Segoe UI"/>
                <a:cs typeface="Segoe UI"/>
              </a:rPr>
              <a:t>responses protocol</a:t>
            </a:r>
          </a:p>
        </p:txBody>
      </p:sp>
      <p:sp>
        <p:nvSpPr>
          <p:cNvPr id="14" name="Rectangle 13"/>
          <p:cNvSpPr/>
          <p:nvPr/>
        </p:nvSpPr>
        <p:spPr>
          <a:xfrm>
            <a:off x="7735824" y="1938528"/>
            <a:ext cx="1188720" cy="78638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900" b="1" i="0" dirty="0">
                <a:solidFill>
                  <a:srgbClr val="101A3C"/>
                </a:solidFill>
                <a:latin typeface="Segoe UI"/>
                <a:cs typeface="Segoe UI"/>
              </a:rPr>
              <a:t>a2a tool</a:t>
            </a:r>
          </a:p>
        </p:txBody>
      </p:sp>
      <p:sp>
        <p:nvSpPr>
          <p:cNvPr id="15" name="Rectangle 14"/>
          <p:cNvSpPr/>
          <p:nvPr/>
        </p:nvSpPr>
        <p:spPr>
          <a:xfrm>
            <a:off x="7735824" y="2871216"/>
            <a:ext cx="118872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6000"/>
              </a:lnSpc>
            </a:pPr>
            <a:r>
              <a:rPr sz="750" b="0" i="0" dirty="0">
                <a:solidFill>
                  <a:srgbClr val="101A3C"/>
                </a:solidFill>
                <a:latin typeface="Segoe UI"/>
                <a:cs typeface="Segoe UI"/>
              </a:rPr>
              <a:t>RemoteA2A</a:t>
            </a:r>
          </a:p>
          <a:p>
            <a:pPr algn="ctr">
              <a:lnSpc>
                <a:spcPct val="116000"/>
              </a:lnSpc>
            </a:pPr>
            <a:r>
              <a:rPr sz="750" b="0" i="0" dirty="0">
                <a:solidFill>
                  <a:srgbClr val="101A3C"/>
                </a:solidFill>
                <a:latin typeface="Segoe UI"/>
                <a:cs typeface="Segoe UI"/>
              </a:rPr>
              <a:t>connection</a:t>
            </a:r>
          </a:p>
        </p:txBody>
      </p:sp>
      <p:cxnSp>
        <p:nvCxnSpPr>
          <p:cNvPr id="16" name="Connector 15"/>
          <p:cNvCxnSpPr/>
          <p:nvPr/>
        </p:nvCxnSpPr>
        <p:spPr>
          <a:xfrm>
            <a:off x="2852928" y="2331720"/>
            <a:ext cx="548640"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022091" y="22265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cxnSp>
        <p:nvCxnSpPr>
          <p:cNvPr id="18" name="Connector 17"/>
          <p:cNvCxnSpPr/>
          <p:nvPr/>
        </p:nvCxnSpPr>
        <p:spPr>
          <a:xfrm>
            <a:off x="5559552" y="2331720"/>
            <a:ext cx="219456"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564124" y="22265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cxnSp>
        <p:nvCxnSpPr>
          <p:cNvPr id="20" name="Connector 19"/>
          <p:cNvCxnSpPr/>
          <p:nvPr/>
        </p:nvCxnSpPr>
        <p:spPr>
          <a:xfrm>
            <a:off x="7516368" y="2331720"/>
            <a:ext cx="219456"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520940" y="22265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cxnSp>
        <p:nvCxnSpPr>
          <p:cNvPr id="22" name="Connector 21"/>
          <p:cNvCxnSpPr/>
          <p:nvPr/>
        </p:nvCxnSpPr>
        <p:spPr>
          <a:xfrm>
            <a:off x="8924544" y="2331720"/>
            <a:ext cx="420624"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9029700" y="22265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cxnSp>
        <p:nvCxnSpPr>
          <p:cNvPr id="24" name="Connector 23"/>
          <p:cNvCxnSpPr/>
          <p:nvPr/>
        </p:nvCxnSpPr>
        <p:spPr>
          <a:xfrm flipV="1">
            <a:off x="4480560" y="2724912"/>
            <a:ext cx="0" cy="146304"/>
          </a:xfrm>
          <a:prstGeom prst="line">
            <a:avLst/>
          </a:prstGeom>
          <a:ln w="1270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330183" y="2724912"/>
            <a:ext cx="0" cy="146304"/>
          </a:xfrm>
          <a:prstGeom prst="line">
            <a:avLst/>
          </a:prstGeom>
          <a:ln w="1270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57200" y="3931920"/>
            <a:ext cx="11277295" cy="640080"/>
          </a:xfrm>
          <a:prstGeom prst="rect">
            <a:avLst/>
          </a:prstGeom>
          <a:solidFill>
            <a:srgbClr val="0B1229"/>
          </a:solidFill>
          <a:ln>
            <a:noFill/>
          </a:ln>
          <a:effectLst/>
        </p:spPr>
        <p:txBody>
          <a:bodyPr wrap="square" lIns="54864" tIns="18288" rIns="54864" bIns="18288" rtlCol="0" anchor="ctr"/>
          <a:lstStyle/>
          <a:p>
            <a:pPr algn="ctr">
              <a:lnSpc>
                <a:spcPct val="126000"/>
              </a:lnSpc>
            </a:pPr>
            <a:r>
              <a:rPr sz="950" b="1" i="0" dirty="0">
                <a:solidFill>
                  <a:srgbClr val="FFFFFF"/>
                </a:solidFill>
                <a:latin typeface="Segoe UI"/>
                <a:cs typeface="Segoe UI"/>
              </a:rPr>
              <a:t>Microsoft Entra ID  ·  agent identity, project managed identity, OAuth identity passthrough</a:t>
            </a:r>
          </a:p>
          <a:p>
            <a:pPr algn="ctr">
              <a:lnSpc>
                <a:spcPct val="126000"/>
              </a:lnSpc>
            </a:pPr>
            <a:r>
              <a:rPr sz="750" b="0" i="0" dirty="0">
                <a:solidFill>
                  <a:srgbClr val="B9C2D6"/>
                </a:solidFill>
                <a:latin typeface="Segoe UI"/>
                <a:cs typeface="Segoe UI"/>
              </a:rPr>
              <a:t>Every A2A endpoint on the Foundry side requires Entra ID authentication; anonymous retrieval of the agent card is not supported</a:t>
            </a:r>
          </a:p>
        </p:txBody>
      </p:sp>
      <p:cxnSp>
        <p:nvCxnSpPr>
          <p:cNvPr id="27" name="Connector 26"/>
          <p:cNvCxnSpPr/>
          <p:nvPr/>
        </p:nvCxnSpPr>
        <p:spPr>
          <a:xfrm>
            <a:off x="1655064" y="2724912"/>
            <a:ext cx="0" cy="1207008"/>
          </a:xfrm>
          <a:prstGeom prst="line">
            <a:avLst/>
          </a:prstGeom>
          <a:ln w="1143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47688" y="3438144"/>
            <a:ext cx="0" cy="493776"/>
          </a:xfrm>
          <a:prstGeom prst="line">
            <a:avLst/>
          </a:prstGeom>
          <a:ln w="1143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533888" y="2724912"/>
            <a:ext cx="0" cy="1207008"/>
          </a:xfrm>
          <a:prstGeom prst="line">
            <a:avLst/>
          </a:prstGeom>
          <a:ln w="1143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291840" y="3712463"/>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preview — no service level agreement.</a:t>
            </a:r>
          </a:p>
        </p:txBody>
      </p:sp>
      <p:sp>
        <p:nvSpPr>
          <p:cNvPr id="31" name="TextBox 30"/>
          <p:cNvSpPr txBox="1"/>
          <p:nvPr/>
        </p:nvSpPr>
        <p:spPr>
          <a:xfrm>
            <a:off x="457200" y="464515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REQUEST PATHS</a:t>
            </a:r>
          </a:p>
        </p:txBody>
      </p:sp>
      <p:sp>
        <p:nvSpPr>
          <p:cNvPr id="32" name="TextBox 31"/>
          <p:cNvSpPr txBox="1"/>
          <p:nvPr/>
        </p:nvSpPr>
        <p:spPr>
          <a:xfrm>
            <a:off x="457200" y="4882896"/>
            <a:ext cx="548640" cy="182880"/>
          </a:xfrm>
          <a:prstGeom prst="rect">
            <a:avLst/>
          </a:prstGeom>
          <a:noFill/>
        </p:spPr>
        <p:txBody>
          <a:bodyPr wrap="square" lIns="0" tIns="0" rIns="0" bIns="0" anchor="t">
            <a:spAutoFit/>
          </a:bodyPr>
          <a:lstStyle/>
          <a:p>
            <a:pPr algn="l">
              <a:lnSpc>
                <a:spcPct val="100000"/>
              </a:lnSpc>
            </a:pPr>
            <a:r>
              <a:rPr sz="900" b="1" i="0" dirty="0">
                <a:solidFill>
                  <a:srgbClr val="008173"/>
                </a:solidFill>
                <a:latin typeface="Segoe UI"/>
                <a:cs typeface="Segoe UI"/>
              </a:rPr>
              <a:t>1–2</a:t>
            </a:r>
          </a:p>
        </p:txBody>
      </p:sp>
      <p:sp>
        <p:nvSpPr>
          <p:cNvPr id="33" name="TextBox 32"/>
          <p:cNvSpPr txBox="1"/>
          <p:nvPr/>
        </p:nvSpPr>
        <p:spPr>
          <a:xfrm>
            <a:off x="1024128" y="4864608"/>
            <a:ext cx="484632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Inbound — the Foundry agent is the A2A server</a:t>
            </a:r>
          </a:p>
        </p:txBody>
      </p:sp>
      <p:sp>
        <p:nvSpPr>
          <p:cNvPr id="34" name="TextBox 33"/>
          <p:cNvSpPr txBox="1"/>
          <p:nvPr/>
        </p:nvSpPr>
        <p:spPr>
          <a:xfrm>
            <a:off x="1024128" y="5084064"/>
            <a:ext cx="4846320" cy="384048"/>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external client retrieves the published Agent Card, authenticates with Microsoft Entra ID, and submits a task to the agent’s A2A endpoint.</a:t>
            </a:r>
          </a:p>
        </p:txBody>
      </p:sp>
      <p:sp>
        <p:nvSpPr>
          <p:cNvPr id="35" name="TextBox 34"/>
          <p:cNvSpPr txBox="1"/>
          <p:nvPr/>
        </p:nvSpPr>
        <p:spPr>
          <a:xfrm>
            <a:off x="6217920" y="4882896"/>
            <a:ext cx="548640" cy="182880"/>
          </a:xfrm>
          <a:prstGeom prst="rect">
            <a:avLst/>
          </a:prstGeom>
          <a:noFill/>
        </p:spPr>
        <p:txBody>
          <a:bodyPr wrap="square" lIns="0" tIns="0" rIns="0" bIns="0" anchor="t">
            <a:spAutoFit/>
          </a:bodyPr>
          <a:lstStyle/>
          <a:p>
            <a:pPr algn="l">
              <a:lnSpc>
                <a:spcPct val="100000"/>
              </a:lnSpc>
            </a:pPr>
            <a:r>
              <a:rPr sz="900" b="1" i="0" dirty="0">
                <a:solidFill>
                  <a:srgbClr val="008173"/>
                </a:solidFill>
                <a:latin typeface="Segoe UI"/>
                <a:cs typeface="Segoe UI"/>
              </a:rPr>
              <a:t>3–4</a:t>
            </a:r>
          </a:p>
        </p:txBody>
      </p:sp>
      <p:sp>
        <p:nvSpPr>
          <p:cNvPr id="36" name="TextBox 35"/>
          <p:cNvSpPr txBox="1"/>
          <p:nvPr/>
        </p:nvSpPr>
        <p:spPr>
          <a:xfrm>
            <a:off x="6784848" y="4864608"/>
            <a:ext cx="484632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Outbound — the Foundry agent is the A2A client</a:t>
            </a:r>
          </a:p>
        </p:txBody>
      </p:sp>
      <p:sp>
        <p:nvSpPr>
          <p:cNvPr id="37" name="TextBox 36"/>
          <p:cNvSpPr txBox="1"/>
          <p:nvPr/>
        </p:nvSpPr>
        <p:spPr>
          <a:xfrm>
            <a:off x="6784848" y="5084064"/>
            <a:ext cx="4846320" cy="384048"/>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agent invokes its a2a tool, which resolves a RemoteA2A project connection holding the target endpoint and credential, and calls the remote agent.</a:t>
            </a:r>
          </a:p>
        </p:txBody>
      </p:sp>
      <p:sp>
        <p:nvSpPr>
          <p:cNvPr id="38" name="Rectangle 37"/>
          <p:cNvSpPr/>
          <p:nvPr/>
        </p:nvSpPr>
        <p:spPr>
          <a:xfrm>
            <a:off x="457200" y="5609844"/>
            <a:ext cx="146304" cy="91440"/>
          </a:xfrm>
          <a:prstGeom prst="rect">
            <a:avLst/>
          </a:prstGeom>
          <a:solidFill>
            <a:srgbClr val="101A3C"/>
          </a:solidFill>
          <a:ln>
            <a:noFill/>
          </a:ln>
          <a:effectLst/>
        </p:spPr>
        <p:txBody>
          <a:bodyPr wrap="square" rtlCol="0" anchor="ctr"/>
          <a:lstStyle/>
          <a:p>
            <a:endParaRPr/>
          </a:p>
        </p:txBody>
      </p:sp>
      <p:sp>
        <p:nvSpPr>
          <p:cNvPr id="39" name="TextBox 38"/>
          <p:cNvSpPr txBox="1"/>
          <p:nvPr/>
        </p:nvSpPr>
        <p:spPr>
          <a:xfrm>
            <a:off x="676656"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Foundry agent</a:t>
            </a:r>
          </a:p>
        </p:txBody>
      </p:sp>
      <p:sp>
        <p:nvSpPr>
          <p:cNvPr id="40" name="Rectangle 39"/>
          <p:cNvSpPr/>
          <p:nvPr/>
        </p:nvSpPr>
        <p:spPr>
          <a:xfrm>
            <a:off x="1445437" y="5609844"/>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41" name="TextBox 40"/>
          <p:cNvSpPr txBox="1"/>
          <p:nvPr/>
        </p:nvSpPr>
        <p:spPr>
          <a:xfrm>
            <a:off x="1664893"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Foundry capability</a:t>
            </a:r>
          </a:p>
        </p:txBody>
      </p:sp>
      <p:sp>
        <p:nvSpPr>
          <p:cNvPr id="42" name="Rectangle 41"/>
          <p:cNvSpPr/>
          <p:nvPr/>
        </p:nvSpPr>
        <p:spPr>
          <a:xfrm>
            <a:off x="2697708" y="5609844"/>
            <a:ext cx="146304" cy="91440"/>
          </a:xfrm>
          <a:prstGeom prst="rect">
            <a:avLst/>
          </a:prstGeom>
          <a:solidFill>
            <a:srgbClr val="EBEFF7"/>
          </a:solidFill>
          <a:ln>
            <a:noFill/>
          </a:ln>
          <a:effectLst/>
        </p:spPr>
        <p:txBody>
          <a:bodyPr wrap="square" rtlCol="0" anchor="ctr"/>
          <a:lstStyle/>
          <a:p>
            <a:endParaRPr/>
          </a:p>
        </p:txBody>
      </p:sp>
      <p:sp>
        <p:nvSpPr>
          <p:cNvPr id="43" name="TextBox 42"/>
          <p:cNvSpPr txBox="1"/>
          <p:nvPr/>
        </p:nvSpPr>
        <p:spPr>
          <a:xfrm>
            <a:off x="2917164"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External party</a:t>
            </a:r>
          </a:p>
        </p:txBody>
      </p:sp>
      <p:sp>
        <p:nvSpPr>
          <p:cNvPr id="44" name="Rectangle 43"/>
          <p:cNvSpPr/>
          <p:nvPr/>
        </p:nvSpPr>
        <p:spPr>
          <a:xfrm>
            <a:off x="3738753" y="5609844"/>
            <a:ext cx="146304" cy="91440"/>
          </a:xfrm>
          <a:prstGeom prst="rect">
            <a:avLst/>
          </a:prstGeom>
          <a:solidFill>
            <a:srgbClr val="0B1229"/>
          </a:solidFill>
          <a:ln>
            <a:noFill/>
          </a:ln>
          <a:effectLst/>
        </p:spPr>
        <p:txBody>
          <a:bodyPr wrap="square" rtlCol="0" anchor="ctr"/>
          <a:lstStyle/>
          <a:p>
            <a:endParaRPr/>
          </a:p>
        </p:txBody>
      </p:sp>
      <p:sp>
        <p:nvSpPr>
          <p:cNvPr id="45" name="TextBox 44"/>
          <p:cNvSpPr txBox="1"/>
          <p:nvPr/>
        </p:nvSpPr>
        <p:spPr>
          <a:xfrm>
            <a:off x="3958209"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Identity layer</a:t>
            </a:r>
          </a:p>
        </p:txBody>
      </p:sp>
      <p:sp>
        <p:nvSpPr>
          <p:cNvPr id="46" name="Rectangle 45"/>
          <p:cNvSpPr/>
          <p:nvPr/>
        </p:nvSpPr>
        <p:spPr>
          <a:xfrm>
            <a:off x="4779797" y="5596127"/>
            <a:ext cx="146304" cy="118872"/>
          </a:xfrm>
          <a:prstGeom prst="rect">
            <a:avLst/>
          </a:prstGeom>
          <a:noFill/>
          <a:ln w="9525">
            <a:solidFill>
              <a:srgbClr val="44495B"/>
            </a:solidFill>
            <a:prstDash val="dash"/>
          </a:ln>
          <a:effectLst/>
        </p:spPr>
        <p:txBody>
          <a:bodyPr wrap="square" rtlCol="0" anchor="ctr"/>
          <a:lstStyle/>
          <a:p>
            <a:endParaRPr/>
          </a:p>
        </p:txBody>
      </p:sp>
      <p:sp>
        <p:nvSpPr>
          <p:cNvPr id="47" name="TextBox 46"/>
          <p:cNvSpPr txBox="1"/>
          <p:nvPr/>
        </p:nvSpPr>
        <p:spPr>
          <a:xfrm>
            <a:off x="4999253"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Project boundary</a:t>
            </a:r>
          </a:p>
        </p:txBody>
      </p:sp>
      <p:cxnSp>
        <p:nvCxnSpPr>
          <p:cNvPr id="48" name="Connector 47"/>
          <p:cNvCxnSpPr/>
          <p:nvPr/>
        </p:nvCxnSpPr>
        <p:spPr>
          <a:xfrm>
            <a:off x="5926455" y="5655564"/>
            <a:ext cx="164592" cy="0"/>
          </a:xfrm>
          <a:prstGeom prst="line">
            <a:avLst/>
          </a:prstGeom>
          <a:ln w="13970">
            <a:solidFill>
              <a:srgbClr val="44495B"/>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145911"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A2A request</a:t>
            </a:r>
          </a:p>
        </p:txBody>
      </p:sp>
      <p:cxnSp>
        <p:nvCxnSpPr>
          <p:cNvPr id="50" name="Connector 49"/>
          <p:cNvCxnSpPr/>
          <p:nvPr/>
        </p:nvCxnSpPr>
        <p:spPr>
          <a:xfrm>
            <a:off x="6809079" y="5655564"/>
            <a:ext cx="164592" cy="0"/>
          </a:xfrm>
          <a:prstGeom prst="line">
            <a:avLst/>
          </a:prstGeom>
          <a:ln w="1397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028535"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Configuration, identity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MICROSOFT FOUNDRY IMPLEMENTATION</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Outbound integration: consuming a remote agent</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configuration artefacts — a project connection, a tool definition, and the agent version that carries it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learn.microsoft.com/azure/foundry/agents/how-to/tools/agent-to-agent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12</a:t>
            </a:r>
          </a:p>
        </p:txBody>
      </p:sp>
      <p:sp>
        <p:nvSpPr>
          <p:cNvPr id="7" name="Rectangle 6"/>
          <p:cNvSpPr/>
          <p:nvPr/>
        </p:nvSpPr>
        <p:spPr>
          <a:xfrm>
            <a:off x="457200" y="1426464"/>
            <a:ext cx="4846320" cy="1115568"/>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426464"/>
            <a:ext cx="41148" cy="1115568"/>
          </a:xfrm>
          <a:prstGeom prst="rect">
            <a:avLst/>
          </a:prstGeom>
          <a:solidFill>
            <a:srgbClr val="00B39F"/>
          </a:solidFill>
          <a:ln>
            <a:noFill/>
          </a:ln>
          <a:effectLst/>
        </p:spPr>
        <p:txBody>
          <a:bodyPr wrap="square" rtlCol="0" anchor="ctr"/>
          <a:lstStyle/>
          <a:p>
            <a:endParaRPr/>
          </a:p>
        </p:txBody>
      </p:sp>
      <p:sp>
        <p:nvSpPr>
          <p:cNvPr id="9" name="Oval 8"/>
          <p:cNvSpPr/>
          <p:nvPr/>
        </p:nvSpPr>
        <p:spPr>
          <a:xfrm>
            <a:off x="658368" y="1609344"/>
            <a:ext cx="310896" cy="310896"/>
          </a:xfrm>
          <a:prstGeom prst="ellipse">
            <a:avLst/>
          </a:prstGeom>
          <a:solidFill>
            <a:srgbClr val="00B39F"/>
          </a:solidFill>
          <a:ln>
            <a:noFill/>
          </a:ln>
          <a:effectLst/>
        </p:spPr>
        <p:txBody>
          <a:bodyPr wrap="square" lIns="0" tIns="18288" rIns="0" bIns="18288" rtlCol="0" anchor="ctr"/>
          <a:lstStyle/>
          <a:p>
            <a:pPr algn="ctr">
              <a:lnSpc>
                <a:spcPct val="100000"/>
              </a:lnSpc>
            </a:pPr>
            <a:r>
              <a:rPr sz="950" b="1" i="0" dirty="0">
                <a:solidFill>
                  <a:srgbClr val="FFFFFF"/>
                </a:solidFill>
                <a:latin typeface="Segoe UI"/>
                <a:cs typeface="Segoe UI"/>
              </a:rPr>
              <a:t>1</a:t>
            </a:r>
          </a:p>
        </p:txBody>
      </p:sp>
      <p:sp>
        <p:nvSpPr>
          <p:cNvPr id="10" name="TextBox 9"/>
          <p:cNvSpPr txBox="1"/>
          <p:nvPr/>
        </p:nvSpPr>
        <p:spPr>
          <a:xfrm>
            <a:off x="1097280" y="1627632"/>
            <a:ext cx="4023360" cy="182880"/>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Project connection</a:t>
            </a:r>
          </a:p>
        </p:txBody>
      </p:sp>
      <p:sp>
        <p:nvSpPr>
          <p:cNvPr id="11" name="TextBox 10"/>
          <p:cNvSpPr txBox="1"/>
          <p:nvPr/>
        </p:nvSpPr>
        <p:spPr>
          <a:xfrm>
            <a:off x="1097280" y="1883664"/>
            <a:ext cx="4059936" cy="548640"/>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Kind RemoteA2A, holding the target endpoint, the authentication type and the audience. Created in the portal, through the Azure Developer CLI, or by ARM template.</a:t>
            </a:r>
          </a:p>
        </p:txBody>
      </p:sp>
      <p:sp>
        <p:nvSpPr>
          <p:cNvPr id="12" name="Rectangle 11"/>
          <p:cNvSpPr/>
          <p:nvPr/>
        </p:nvSpPr>
        <p:spPr>
          <a:xfrm>
            <a:off x="457200" y="2670048"/>
            <a:ext cx="4846320" cy="1115568"/>
          </a:xfrm>
          <a:prstGeom prst="rect">
            <a:avLst/>
          </a:prstGeom>
          <a:solidFill>
            <a:srgbClr val="F6F8FD"/>
          </a:solidFill>
          <a:ln w="9525">
            <a:solidFill>
              <a:srgbClr val="E1E7F4"/>
            </a:solidFill>
          </a:ln>
          <a:effectLst/>
        </p:spPr>
        <p:txBody>
          <a:bodyPr wrap="square" rtlCol="0" anchor="ctr"/>
          <a:lstStyle/>
          <a:p>
            <a:endParaRPr/>
          </a:p>
        </p:txBody>
      </p:sp>
      <p:sp>
        <p:nvSpPr>
          <p:cNvPr id="13" name="Rectangle 12"/>
          <p:cNvSpPr/>
          <p:nvPr/>
        </p:nvSpPr>
        <p:spPr>
          <a:xfrm>
            <a:off x="457200" y="2670048"/>
            <a:ext cx="41148" cy="1115568"/>
          </a:xfrm>
          <a:prstGeom prst="rect">
            <a:avLst/>
          </a:prstGeom>
          <a:solidFill>
            <a:srgbClr val="00B39F"/>
          </a:solidFill>
          <a:ln>
            <a:noFill/>
          </a:ln>
          <a:effectLst/>
        </p:spPr>
        <p:txBody>
          <a:bodyPr wrap="square" rtlCol="0" anchor="ctr"/>
          <a:lstStyle/>
          <a:p>
            <a:endParaRPr/>
          </a:p>
        </p:txBody>
      </p:sp>
      <p:sp>
        <p:nvSpPr>
          <p:cNvPr id="14" name="Oval 13"/>
          <p:cNvSpPr/>
          <p:nvPr/>
        </p:nvSpPr>
        <p:spPr>
          <a:xfrm>
            <a:off x="658368" y="2852928"/>
            <a:ext cx="310896" cy="310896"/>
          </a:xfrm>
          <a:prstGeom prst="ellipse">
            <a:avLst/>
          </a:prstGeom>
          <a:solidFill>
            <a:srgbClr val="00B39F"/>
          </a:solidFill>
          <a:ln>
            <a:noFill/>
          </a:ln>
          <a:effectLst/>
        </p:spPr>
        <p:txBody>
          <a:bodyPr wrap="square" lIns="0" tIns="18288" rIns="0" bIns="18288" rtlCol="0" anchor="ctr"/>
          <a:lstStyle/>
          <a:p>
            <a:pPr algn="ctr">
              <a:lnSpc>
                <a:spcPct val="100000"/>
              </a:lnSpc>
            </a:pPr>
            <a:r>
              <a:rPr sz="950" b="1" i="0" dirty="0">
                <a:solidFill>
                  <a:srgbClr val="FFFFFF"/>
                </a:solidFill>
                <a:latin typeface="Segoe UI"/>
                <a:cs typeface="Segoe UI"/>
              </a:rPr>
              <a:t>2</a:t>
            </a:r>
          </a:p>
        </p:txBody>
      </p:sp>
      <p:sp>
        <p:nvSpPr>
          <p:cNvPr id="15" name="TextBox 14"/>
          <p:cNvSpPr txBox="1"/>
          <p:nvPr/>
        </p:nvSpPr>
        <p:spPr>
          <a:xfrm>
            <a:off x="1097280" y="2871216"/>
            <a:ext cx="4023360" cy="182880"/>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Tool definition</a:t>
            </a:r>
          </a:p>
        </p:txBody>
      </p:sp>
      <p:sp>
        <p:nvSpPr>
          <p:cNvPr id="16" name="TextBox 15"/>
          <p:cNvSpPr txBox="1"/>
          <p:nvPr/>
        </p:nvSpPr>
        <p:spPr>
          <a:xfrm>
            <a:off x="1097280" y="3127248"/>
            <a:ext cx="4059936" cy="548640"/>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Type a2a at protocol version 1.0, referencing the connection. Optional properties are the base URL and an agent card path.</a:t>
            </a:r>
          </a:p>
        </p:txBody>
      </p:sp>
      <p:sp>
        <p:nvSpPr>
          <p:cNvPr id="17" name="Rectangle 16"/>
          <p:cNvSpPr/>
          <p:nvPr/>
        </p:nvSpPr>
        <p:spPr>
          <a:xfrm>
            <a:off x="457200" y="3913632"/>
            <a:ext cx="4846320" cy="1115568"/>
          </a:xfrm>
          <a:prstGeom prst="rect">
            <a:avLst/>
          </a:prstGeom>
          <a:solidFill>
            <a:srgbClr val="F6F8FD"/>
          </a:solidFill>
          <a:ln w="9525">
            <a:solidFill>
              <a:srgbClr val="E1E7F4"/>
            </a:solidFill>
          </a:ln>
          <a:effectLst/>
        </p:spPr>
        <p:txBody>
          <a:bodyPr wrap="square" rtlCol="0" anchor="ctr"/>
          <a:lstStyle/>
          <a:p>
            <a:endParaRPr/>
          </a:p>
        </p:txBody>
      </p:sp>
      <p:sp>
        <p:nvSpPr>
          <p:cNvPr id="18" name="Rectangle 17"/>
          <p:cNvSpPr/>
          <p:nvPr/>
        </p:nvSpPr>
        <p:spPr>
          <a:xfrm>
            <a:off x="457200" y="3913632"/>
            <a:ext cx="41148" cy="1115568"/>
          </a:xfrm>
          <a:prstGeom prst="rect">
            <a:avLst/>
          </a:prstGeom>
          <a:solidFill>
            <a:srgbClr val="00B39F"/>
          </a:solidFill>
          <a:ln>
            <a:noFill/>
          </a:ln>
          <a:effectLst/>
        </p:spPr>
        <p:txBody>
          <a:bodyPr wrap="square" rtlCol="0" anchor="ctr"/>
          <a:lstStyle/>
          <a:p>
            <a:endParaRPr/>
          </a:p>
        </p:txBody>
      </p:sp>
      <p:sp>
        <p:nvSpPr>
          <p:cNvPr id="19" name="Oval 18"/>
          <p:cNvSpPr/>
          <p:nvPr/>
        </p:nvSpPr>
        <p:spPr>
          <a:xfrm>
            <a:off x="658368" y="4096512"/>
            <a:ext cx="310896" cy="310896"/>
          </a:xfrm>
          <a:prstGeom prst="ellipse">
            <a:avLst/>
          </a:prstGeom>
          <a:solidFill>
            <a:srgbClr val="00B39F"/>
          </a:solidFill>
          <a:ln>
            <a:noFill/>
          </a:ln>
          <a:effectLst/>
        </p:spPr>
        <p:txBody>
          <a:bodyPr wrap="square" lIns="0" tIns="18288" rIns="0" bIns="18288" rtlCol="0" anchor="ctr"/>
          <a:lstStyle/>
          <a:p>
            <a:pPr algn="ctr">
              <a:lnSpc>
                <a:spcPct val="100000"/>
              </a:lnSpc>
            </a:pPr>
            <a:r>
              <a:rPr sz="950" b="1" i="0" dirty="0">
                <a:solidFill>
                  <a:srgbClr val="FFFFFF"/>
                </a:solidFill>
                <a:latin typeface="Segoe UI"/>
                <a:cs typeface="Segoe UI"/>
              </a:rPr>
              <a:t>3</a:t>
            </a:r>
          </a:p>
        </p:txBody>
      </p:sp>
      <p:sp>
        <p:nvSpPr>
          <p:cNvPr id="20" name="TextBox 19"/>
          <p:cNvSpPr txBox="1"/>
          <p:nvPr/>
        </p:nvSpPr>
        <p:spPr>
          <a:xfrm>
            <a:off x="1097280" y="4114800"/>
            <a:ext cx="4023360" cy="182880"/>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Agent version</a:t>
            </a:r>
          </a:p>
        </p:txBody>
      </p:sp>
      <p:sp>
        <p:nvSpPr>
          <p:cNvPr id="21" name="TextBox 20"/>
          <p:cNvSpPr txBox="1"/>
          <p:nvPr/>
        </p:nvSpPr>
        <p:spPr>
          <a:xfrm>
            <a:off x="1097280" y="4370832"/>
            <a:ext cx="4059936" cy="548640"/>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The tool is attached to the agent definition and a new version created. Published samples attach it through a toolbox rather than directly.</a:t>
            </a:r>
          </a:p>
        </p:txBody>
      </p:sp>
      <p:sp>
        <p:nvSpPr>
          <p:cNvPr id="22" name="Rectangle 21"/>
          <p:cNvSpPr/>
          <p:nvPr/>
        </p:nvSpPr>
        <p:spPr>
          <a:xfrm>
            <a:off x="5687568" y="1426464"/>
            <a:ext cx="6044184" cy="1115568"/>
          </a:xfrm>
          <a:prstGeom prst="rect">
            <a:avLst/>
          </a:prstGeom>
          <a:solidFill>
            <a:srgbClr val="0B1229"/>
          </a:solidFill>
          <a:ln>
            <a:noFill/>
          </a:ln>
          <a:effectLst/>
        </p:spPr>
        <p:txBody>
          <a:bodyPr wrap="square" rtlCol="0" anchor="ctr"/>
          <a:lstStyle/>
          <a:p>
            <a:endParaRPr/>
          </a:p>
        </p:txBody>
      </p:sp>
      <p:sp>
        <p:nvSpPr>
          <p:cNvPr id="23" name="TextBox 22"/>
          <p:cNvSpPr txBox="1"/>
          <p:nvPr/>
        </p:nvSpPr>
        <p:spPr>
          <a:xfrm>
            <a:off x="5907024" y="1572768"/>
            <a:ext cx="5605272"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1 · PROJECT CONNECTION</a:t>
            </a:r>
          </a:p>
        </p:txBody>
      </p:sp>
      <p:sp>
        <p:nvSpPr>
          <p:cNvPr id="24" name="TextBox 23"/>
          <p:cNvSpPr txBox="1"/>
          <p:nvPr/>
        </p:nvSpPr>
        <p:spPr>
          <a:xfrm>
            <a:off x="5907024" y="1810512"/>
            <a:ext cx="5605272" cy="603504"/>
          </a:xfrm>
          <a:prstGeom prst="rect">
            <a:avLst/>
          </a:prstGeom>
          <a:noFill/>
        </p:spPr>
        <p:txBody>
          <a:bodyPr wrap="none" lIns="0" tIns="0" rIns="0" bIns="0" anchor="t">
            <a:spAutoFit/>
          </a:bodyPr>
          <a:lstStyle/>
          <a:p>
            <a:pPr algn="l">
              <a:lnSpc>
                <a:spcPct val="128000"/>
              </a:lnSpc>
            </a:pPr>
            <a:r>
              <a:rPr sz="800" b="0" i="0" dirty="0">
                <a:solidFill>
                  <a:srgbClr val="D6DEEE"/>
                </a:solidFill>
                <a:latin typeface="Consolas"/>
                <a:cs typeface="Consolas"/>
              </a:rPr>
              <a:t>azd ai connection create claims-a2a \</a:t>
            </a:r>
          </a:p>
          <a:p>
            <a:pPr algn="l">
              <a:lnSpc>
                <a:spcPct val="128000"/>
              </a:lnSpc>
            </a:pPr>
            <a:r>
              <a:rPr sz="800" b="0" i="0" dirty="0">
                <a:solidFill>
                  <a:srgbClr val="D6DEEE"/>
                </a:solidFill>
                <a:latin typeface="Consolas"/>
                <a:cs typeface="Consolas"/>
              </a:rPr>
              <a:t>  --kind remote-a2a \</a:t>
            </a:r>
          </a:p>
          <a:p>
            <a:pPr algn="l">
              <a:lnSpc>
                <a:spcPct val="128000"/>
              </a:lnSpc>
            </a:pPr>
            <a:r>
              <a:rPr sz="800" b="0" i="0" dirty="0">
                <a:solidFill>
                  <a:srgbClr val="D6DEEE"/>
                </a:solidFill>
                <a:latin typeface="Consolas"/>
                <a:cs typeface="Consolas"/>
              </a:rPr>
              <a:t>  --target https://claims.example.com/a2a \</a:t>
            </a:r>
          </a:p>
          <a:p>
            <a:pPr algn="l">
              <a:lnSpc>
                <a:spcPct val="128000"/>
              </a:lnSpc>
            </a:pPr>
            <a:r>
              <a:rPr sz="800" b="0" i="0" dirty="0">
                <a:solidFill>
                  <a:srgbClr val="D6DEEE"/>
                </a:solidFill>
                <a:latin typeface="Consolas"/>
                <a:cs typeface="Consolas"/>
              </a:rPr>
              <a:t>  --auth-type project-managed-identity</a:t>
            </a:r>
          </a:p>
        </p:txBody>
      </p:sp>
      <p:sp>
        <p:nvSpPr>
          <p:cNvPr id="25" name="Rectangle 24"/>
          <p:cNvSpPr/>
          <p:nvPr/>
        </p:nvSpPr>
        <p:spPr>
          <a:xfrm>
            <a:off x="5687568" y="2670048"/>
            <a:ext cx="6044184" cy="1243584"/>
          </a:xfrm>
          <a:prstGeom prst="rect">
            <a:avLst/>
          </a:prstGeom>
          <a:solidFill>
            <a:srgbClr val="0B1229"/>
          </a:solidFill>
          <a:ln>
            <a:noFill/>
          </a:ln>
          <a:effectLst/>
        </p:spPr>
        <p:txBody>
          <a:bodyPr wrap="square" rtlCol="0" anchor="ctr"/>
          <a:lstStyle/>
          <a:p>
            <a:endParaRPr/>
          </a:p>
        </p:txBody>
      </p:sp>
      <p:sp>
        <p:nvSpPr>
          <p:cNvPr id="26" name="TextBox 25"/>
          <p:cNvSpPr txBox="1"/>
          <p:nvPr/>
        </p:nvSpPr>
        <p:spPr>
          <a:xfrm>
            <a:off x="5907024" y="2816352"/>
            <a:ext cx="5605272"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2 · TOOL DEFINITION</a:t>
            </a:r>
          </a:p>
        </p:txBody>
      </p:sp>
      <p:sp>
        <p:nvSpPr>
          <p:cNvPr id="27" name="TextBox 26"/>
          <p:cNvSpPr txBox="1"/>
          <p:nvPr/>
        </p:nvSpPr>
        <p:spPr>
          <a:xfrm>
            <a:off x="5907024" y="3054096"/>
            <a:ext cx="5605272" cy="731520"/>
          </a:xfrm>
          <a:prstGeom prst="rect">
            <a:avLst/>
          </a:prstGeom>
          <a:noFill/>
        </p:spPr>
        <p:txBody>
          <a:bodyPr wrap="none" lIns="0" tIns="0" rIns="0" bIns="0" anchor="t">
            <a:spAutoFit/>
          </a:bodyPr>
          <a:lstStyle/>
          <a:p>
            <a:pPr algn="l">
              <a:lnSpc>
                <a:spcPct val="128000"/>
              </a:lnSpc>
            </a:pPr>
            <a:r>
              <a:rPr sz="800" b="0" i="0" dirty="0">
                <a:solidFill>
                  <a:srgbClr val="D6DEEE"/>
                </a:solidFill>
                <a:latin typeface="Consolas"/>
                <a:cs typeface="Consolas"/>
              </a:rPr>
              <a:t>{ "type": "a2a",</a:t>
            </a:r>
          </a:p>
          <a:p>
            <a:pPr algn="l">
              <a:lnSpc>
                <a:spcPct val="128000"/>
              </a:lnSpc>
            </a:pPr>
            <a:r>
              <a:rPr sz="800" b="0" i="0" dirty="0">
                <a:solidFill>
                  <a:srgbClr val="D6DEEE"/>
                </a:solidFill>
                <a:latin typeface="Consolas"/>
                <a:cs typeface="Consolas"/>
              </a:rPr>
              <a:t>  "a2a_version": "1.0",</a:t>
            </a:r>
          </a:p>
          <a:p>
            <a:pPr algn="l">
              <a:lnSpc>
                <a:spcPct val="128000"/>
              </a:lnSpc>
            </a:pPr>
            <a:r>
              <a:rPr sz="800" b="0" i="0" dirty="0">
                <a:solidFill>
                  <a:srgbClr val="D6DEEE"/>
                </a:solidFill>
                <a:latin typeface="Consolas"/>
                <a:cs typeface="Consolas"/>
              </a:rPr>
              <a:t>  "base_url": "https://claims.example.com/a2a",</a:t>
            </a:r>
          </a:p>
          <a:p>
            <a:pPr algn="l">
              <a:lnSpc>
                <a:spcPct val="128000"/>
              </a:lnSpc>
            </a:pPr>
            <a:r>
              <a:rPr sz="800" b="0" i="0" dirty="0">
                <a:solidFill>
                  <a:srgbClr val="D6DEEE"/>
                </a:solidFill>
                <a:latin typeface="Consolas"/>
                <a:cs typeface="Consolas"/>
              </a:rPr>
              <a:t>  "project_connection_id": "&lt;connection-id&gt;",</a:t>
            </a:r>
          </a:p>
          <a:p>
            <a:pPr algn="l">
              <a:lnSpc>
                <a:spcPct val="128000"/>
              </a:lnSpc>
            </a:pPr>
            <a:r>
              <a:rPr sz="800" b="0" i="0" dirty="0">
                <a:solidFill>
                  <a:srgbClr val="D6DEEE"/>
                </a:solidFill>
                <a:latin typeface="Consolas"/>
                <a:cs typeface="Consolas"/>
              </a:rPr>
              <a:t>  "send_credentials_for_agent_card": true }</a:t>
            </a:r>
          </a:p>
        </p:txBody>
      </p:sp>
      <p:sp>
        <p:nvSpPr>
          <p:cNvPr id="28" name="Rectangle 27"/>
          <p:cNvSpPr/>
          <p:nvPr/>
        </p:nvSpPr>
        <p:spPr>
          <a:xfrm>
            <a:off x="5687568" y="4242816"/>
            <a:ext cx="6044184" cy="841248"/>
          </a:xfrm>
          <a:prstGeom prst="rect">
            <a:avLst/>
          </a:prstGeom>
          <a:solidFill>
            <a:srgbClr val="0B1229"/>
          </a:solidFill>
          <a:ln>
            <a:noFill/>
          </a:ln>
          <a:effectLst/>
        </p:spPr>
        <p:txBody>
          <a:bodyPr wrap="square" rtlCol="0" anchor="ctr"/>
          <a:lstStyle/>
          <a:p>
            <a:endParaRPr/>
          </a:p>
        </p:txBody>
      </p:sp>
      <p:sp>
        <p:nvSpPr>
          <p:cNvPr id="29" name="TextBox 28"/>
          <p:cNvSpPr txBox="1"/>
          <p:nvPr/>
        </p:nvSpPr>
        <p:spPr>
          <a:xfrm>
            <a:off x="5907024" y="4389120"/>
            <a:ext cx="5605272"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3 · PYTHON — AZURE-AI-PROJECTS 2.5.0 OR LATER</a:t>
            </a:r>
          </a:p>
        </p:txBody>
      </p:sp>
      <p:sp>
        <p:nvSpPr>
          <p:cNvPr id="30" name="TextBox 29"/>
          <p:cNvSpPr txBox="1"/>
          <p:nvPr/>
        </p:nvSpPr>
        <p:spPr>
          <a:xfrm>
            <a:off x="5907024" y="4626864"/>
            <a:ext cx="5605272" cy="329184"/>
          </a:xfrm>
          <a:prstGeom prst="rect">
            <a:avLst/>
          </a:prstGeom>
          <a:noFill/>
        </p:spPr>
        <p:txBody>
          <a:bodyPr wrap="none" lIns="0" tIns="0" rIns="0" bIns="0" anchor="t">
            <a:spAutoFit/>
          </a:bodyPr>
          <a:lstStyle/>
          <a:p>
            <a:pPr algn="l">
              <a:lnSpc>
                <a:spcPct val="128000"/>
              </a:lnSpc>
            </a:pPr>
            <a:r>
              <a:rPr sz="800" b="0" i="0" dirty="0">
                <a:solidFill>
                  <a:srgbClr val="D6DEEE"/>
                </a:solidFill>
                <a:latin typeface="Consolas"/>
                <a:cs typeface="Consolas"/>
              </a:rPr>
              <a:t>tool = A2ATool(a2a_version=A2AProtocolVersion.V1_0,</a:t>
            </a:r>
          </a:p>
          <a:p>
            <a:pPr algn="l">
              <a:lnSpc>
                <a:spcPct val="128000"/>
              </a:lnSpc>
            </a:pPr>
            <a:r>
              <a:rPr sz="800" b="0" i="0" dirty="0">
                <a:solidFill>
                  <a:srgbClr val="D6DEEE"/>
                </a:solidFill>
                <a:latin typeface="Consolas"/>
                <a:cs typeface="Consolas"/>
              </a:rPr>
              <a:t>               project_connection_id=conn.id)</a:t>
            </a:r>
          </a:p>
        </p:txBody>
      </p:sp>
      <p:sp>
        <p:nvSpPr>
          <p:cNvPr id="31" name="Rectangle 30"/>
          <p:cNvSpPr/>
          <p:nvPr/>
        </p:nvSpPr>
        <p:spPr>
          <a:xfrm>
            <a:off x="457200" y="5230368"/>
            <a:ext cx="11277295" cy="420624"/>
          </a:xfrm>
          <a:prstGeom prst="rect">
            <a:avLst/>
          </a:prstGeom>
          <a:solidFill>
            <a:srgbClr val="EBEFF7"/>
          </a:solidFill>
          <a:ln>
            <a:noFill/>
          </a:ln>
          <a:effectLst/>
        </p:spPr>
        <p:txBody>
          <a:bodyPr wrap="square" rtlCol="0" anchor="ctr"/>
          <a:lstStyle/>
          <a:p>
            <a:endParaRPr/>
          </a:p>
        </p:txBody>
      </p:sp>
      <p:sp>
        <p:nvSpPr>
          <p:cNvPr id="32" name="Rectangle 31"/>
          <p:cNvSpPr/>
          <p:nvPr/>
        </p:nvSpPr>
        <p:spPr>
          <a:xfrm>
            <a:off x="457200" y="5230368"/>
            <a:ext cx="41148" cy="420624"/>
          </a:xfrm>
          <a:prstGeom prst="rect">
            <a:avLst/>
          </a:prstGeom>
          <a:solidFill>
            <a:srgbClr val="00B39F"/>
          </a:solidFill>
          <a:ln>
            <a:noFill/>
          </a:ln>
          <a:effectLst/>
        </p:spPr>
        <p:txBody>
          <a:bodyPr wrap="square" rtlCol="0" anchor="ctr"/>
          <a:lstStyle/>
          <a:p>
            <a:endParaRPr/>
          </a:p>
        </p:txBody>
      </p:sp>
      <p:sp>
        <p:nvSpPr>
          <p:cNvPr id="33" name="TextBox 32"/>
          <p:cNvSpPr txBox="1"/>
          <p:nvPr/>
        </p:nvSpPr>
        <p:spPr>
          <a:xfrm>
            <a:off x="694944" y="5330952"/>
            <a:ext cx="10856671" cy="237744"/>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The generally available a2a tool type targets protocol version 1.0. The earlier a2a_preview type targets version 0.3 and remains in preview for existing integrations only.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MICROSOFT FOUNDRY IMPLEMENTATION</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Inbound integration: exposing a Foundry agent*</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single PATCH operation sets the agent card and enables the protocol; Foundry then serves discovery and accepts tasks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learn.microsoft.com/azure/foundry/agents/how-to/enable-agent-to-agent-endpoint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13</a:t>
            </a:r>
          </a:p>
        </p:txBody>
      </p:sp>
      <p:sp>
        <p:nvSpPr>
          <p:cNvPr id="7" name="Rectangle 6"/>
          <p:cNvSpPr/>
          <p:nvPr/>
        </p:nvSpPr>
        <p:spPr>
          <a:xfrm>
            <a:off x="457200" y="1371600"/>
            <a:ext cx="6272784" cy="2432304"/>
          </a:xfrm>
          <a:prstGeom prst="rect">
            <a:avLst/>
          </a:prstGeom>
          <a:solidFill>
            <a:srgbClr val="0B1229"/>
          </a:solidFill>
          <a:ln>
            <a:noFill/>
          </a:ln>
          <a:effectLst/>
        </p:spPr>
        <p:txBody>
          <a:bodyPr wrap="square" rtlCol="0" anchor="ctr"/>
          <a:lstStyle/>
          <a:p>
            <a:endParaRPr/>
          </a:p>
        </p:txBody>
      </p:sp>
      <p:sp>
        <p:nvSpPr>
          <p:cNvPr id="8" name="TextBox 7"/>
          <p:cNvSpPr txBox="1"/>
          <p:nvPr/>
        </p:nvSpPr>
        <p:spPr>
          <a:xfrm>
            <a:off x="676656" y="1517904"/>
            <a:ext cx="5833872"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ENABLING THE INBOUND ENDPOINT</a:t>
            </a:r>
          </a:p>
        </p:txBody>
      </p:sp>
      <p:sp>
        <p:nvSpPr>
          <p:cNvPr id="9" name="TextBox 8"/>
          <p:cNvSpPr txBox="1"/>
          <p:nvPr/>
        </p:nvSpPr>
        <p:spPr>
          <a:xfrm>
            <a:off x="676656" y="1755648"/>
            <a:ext cx="5833872" cy="1920240"/>
          </a:xfrm>
          <a:prstGeom prst="rect">
            <a:avLst/>
          </a:prstGeom>
          <a:noFill/>
        </p:spPr>
        <p:txBody>
          <a:bodyPr wrap="none" lIns="0" tIns="0" rIns="0" bIns="0" anchor="t">
            <a:spAutoFit/>
          </a:bodyPr>
          <a:lstStyle/>
          <a:p>
            <a:pPr algn="l">
              <a:lnSpc>
                <a:spcPct val="128000"/>
              </a:lnSpc>
            </a:pPr>
            <a:r>
              <a:rPr sz="800" b="0" i="0" dirty="0">
                <a:solidFill>
                  <a:srgbClr val="D6DEEE"/>
                </a:solidFill>
                <a:latin typeface="Consolas"/>
                <a:cs typeface="Consolas"/>
              </a:rPr>
              <a:t>PATCH {BASE_URL}/agents/{agent}?api-version=v1</a:t>
            </a:r>
          </a:p>
          <a:p>
            <a:pPr algn="l">
              <a:lnSpc>
                <a:spcPct val="128000"/>
              </a:lnSpc>
            </a:pPr>
            <a:endParaRPr sz="800" b="0" i="0" dirty="0">
              <a:solidFill>
                <a:srgbClr val="D6DEEE"/>
              </a:solidFill>
              <a:latin typeface="Consolas"/>
              <a:cs typeface="Consolas"/>
            </a:endParaRPr>
          </a:p>
          <a:p>
            <a:pPr algn="l">
              <a:lnSpc>
                <a:spcPct val="128000"/>
              </a:lnSpc>
            </a:pPr>
            <a:r>
              <a:rPr sz="800" b="0" i="0" dirty="0">
                <a:solidFill>
                  <a:srgbClr val="D6DEEE"/>
                </a:solidFill>
                <a:latin typeface="Consolas"/>
                <a:cs typeface="Consolas"/>
              </a:rPr>
              <a:t>{ "agent_card": {</a:t>
            </a:r>
          </a:p>
          <a:p>
            <a:pPr algn="l">
              <a:lnSpc>
                <a:spcPct val="128000"/>
              </a:lnSpc>
            </a:pPr>
            <a:r>
              <a:rPr sz="800" b="0" i="0" dirty="0">
                <a:solidFill>
                  <a:srgbClr val="D6DEEE"/>
                </a:solidFill>
                <a:latin typeface="Consolas"/>
                <a:cs typeface="Consolas"/>
              </a:rPr>
              <a:t>    "description": "Answers claims policy questions",</a:t>
            </a:r>
          </a:p>
          <a:p>
            <a:pPr algn="l">
              <a:lnSpc>
                <a:spcPct val="128000"/>
              </a:lnSpc>
            </a:pPr>
            <a:r>
              <a:rPr sz="800" b="0" i="0" dirty="0">
                <a:solidFill>
                  <a:srgbClr val="D6DEEE"/>
                </a:solidFill>
                <a:latin typeface="Consolas"/>
                <a:cs typeface="Consolas"/>
              </a:rPr>
              <a:t>    "version": "1.0",</a:t>
            </a:r>
          </a:p>
          <a:p>
            <a:pPr algn="l">
              <a:lnSpc>
                <a:spcPct val="128000"/>
              </a:lnSpc>
            </a:pPr>
            <a:r>
              <a:rPr sz="800" b="0" i="0" dirty="0">
                <a:solidFill>
                  <a:srgbClr val="D6DEEE"/>
                </a:solidFill>
                <a:latin typeface="Consolas"/>
                <a:cs typeface="Consolas"/>
              </a:rPr>
              <a:t>    "skills": [ { "id": "claims-qa",</a:t>
            </a:r>
          </a:p>
          <a:p>
            <a:pPr algn="l">
              <a:lnSpc>
                <a:spcPct val="128000"/>
              </a:lnSpc>
            </a:pPr>
            <a:r>
              <a:rPr sz="800" b="0" i="0" dirty="0">
                <a:solidFill>
                  <a:srgbClr val="D6DEEE"/>
                </a:solidFill>
                <a:latin typeface="Consolas"/>
                <a:cs typeface="Consolas"/>
              </a:rPr>
              <a:t>                  "name": "Claims Q&amp;A",</a:t>
            </a:r>
          </a:p>
          <a:p>
            <a:pPr algn="l">
              <a:lnSpc>
                <a:spcPct val="128000"/>
              </a:lnSpc>
            </a:pPr>
            <a:r>
              <a:rPr sz="800" b="0" i="0" dirty="0">
                <a:solidFill>
                  <a:srgbClr val="D6DEEE"/>
                </a:solidFill>
                <a:latin typeface="Consolas"/>
                <a:cs typeface="Consolas"/>
              </a:rPr>
              <a:t>                  "description": "..." } ] },</a:t>
            </a:r>
          </a:p>
          <a:p>
            <a:pPr algn="l">
              <a:lnSpc>
                <a:spcPct val="128000"/>
              </a:lnSpc>
            </a:pPr>
            <a:r>
              <a:rPr sz="800" b="0" i="0" dirty="0">
                <a:solidFill>
                  <a:srgbClr val="D6DEEE"/>
                </a:solidFill>
                <a:latin typeface="Consolas"/>
                <a:cs typeface="Consolas"/>
              </a:rPr>
              <a:t>  "agent_endpoint": {</a:t>
            </a:r>
          </a:p>
          <a:p>
            <a:pPr algn="l">
              <a:lnSpc>
                <a:spcPct val="128000"/>
              </a:lnSpc>
            </a:pPr>
            <a:r>
              <a:rPr sz="800" b="0" i="0" dirty="0">
                <a:solidFill>
                  <a:srgbClr val="D6DEEE"/>
                </a:solidFill>
                <a:latin typeface="Consolas"/>
                <a:cs typeface="Consolas"/>
              </a:rPr>
              <a:t>    "protocol_configuration": {</a:t>
            </a:r>
          </a:p>
          <a:p>
            <a:pPr algn="l">
              <a:lnSpc>
                <a:spcPct val="128000"/>
              </a:lnSpc>
            </a:pPr>
            <a:r>
              <a:rPr sz="800" b="0" i="0" dirty="0">
                <a:solidFill>
                  <a:srgbClr val="D6DEEE"/>
                </a:solidFill>
                <a:latin typeface="Consolas"/>
                <a:cs typeface="Consolas"/>
              </a:rPr>
              <a:t>      "responses": {}, "a2a": {} } } }</a:t>
            </a:r>
          </a:p>
        </p:txBody>
      </p:sp>
      <p:sp>
        <p:nvSpPr>
          <p:cNvPr id="10" name="TextBox 9"/>
          <p:cNvSpPr txBox="1"/>
          <p:nvPr/>
        </p:nvSpPr>
        <p:spPr>
          <a:xfrm>
            <a:off x="6967728" y="1517904"/>
            <a:ext cx="48463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RESULTING SERVICE SURFACE</a:t>
            </a:r>
          </a:p>
        </p:txBody>
      </p:sp>
      <p:sp>
        <p:nvSpPr>
          <p:cNvPr id="11" name="TextBox 10"/>
          <p:cNvSpPr txBox="1"/>
          <p:nvPr/>
        </p:nvSpPr>
        <p:spPr>
          <a:xfrm>
            <a:off x="6967728" y="1773936"/>
            <a:ext cx="1623608" cy="402336"/>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Agent card path</a:t>
            </a:r>
          </a:p>
        </p:txBody>
      </p:sp>
      <p:sp>
        <p:nvSpPr>
          <p:cNvPr id="12" name="TextBox 11"/>
          <p:cNvSpPr txBox="1"/>
          <p:nvPr/>
        </p:nvSpPr>
        <p:spPr>
          <a:xfrm>
            <a:off x="8682776" y="1773936"/>
            <a:ext cx="3048975" cy="402336"/>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.../protocols/a2a/agentCard/v1.0</a:t>
            </a:r>
          </a:p>
        </p:txBody>
      </p:sp>
      <p:cxnSp>
        <p:nvCxnSpPr>
          <p:cNvPr id="13" name="Connector 12"/>
          <p:cNvCxnSpPr/>
          <p:nvPr/>
        </p:nvCxnSpPr>
        <p:spPr>
          <a:xfrm>
            <a:off x="6967728" y="2157984"/>
            <a:ext cx="47640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967728" y="2176272"/>
            <a:ext cx="1623608" cy="402336"/>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Task endpoint</a:t>
            </a:r>
          </a:p>
        </p:txBody>
      </p:sp>
      <p:sp>
        <p:nvSpPr>
          <p:cNvPr id="15" name="TextBox 14"/>
          <p:cNvSpPr txBox="1"/>
          <p:nvPr/>
        </p:nvSpPr>
        <p:spPr>
          <a:xfrm>
            <a:off x="8682776" y="2176272"/>
            <a:ext cx="3048975" cy="402336"/>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.../agents/{agent}/endpoint/protocols/a2a</a:t>
            </a:r>
          </a:p>
        </p:txBody>
      </p:sp>
      <p:cxnSp>
        <p:nvCxnSpPr>
          <p:cNvPr id="16" name="Connector 15"/>
          <p:cNvCxnSpPr/>
          <p:nvPr/>
        </p:nvCxnSpPr>
        <p:spPr>
          <a:xfrm>
            <a:off x="6967728" y="2560320"/>
            <a:ext cx="47640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967728" y="2578608"/>
            <a:ext cx="1623608" cy="402336"/>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Version selection</a:t>
            </a:r>
          </a:p>
        </p:txBody>
      </p:sp>
      <p:sp>
        <p:nvSpPr>
          <p:cNvPr id="18" name="TextBox 17"/>
          <p:cNvSpPr txBox="1"/>
          <p:nvPr/>
        </p:nvSpPr>
        <p:spPr>
          <a:xfrm>
            <a:off x="8682776" y="2578608"/>
            <a:ext cx="3048975" cy="402336"/>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Card discovery, A2A-Version header, or query string</a:t>
            </a:r>
          </a:p>
        </p:txBody>
      </p:sp>
      <p:cxnSp>
        <p:nvCxnSpPr>
          <p:cNvPr id="19" name="Connector 18"/>
          <p:cNvCxnSpPr/>
          <p:nvPr/>
        </p:nvCxnSpPr>
        <p:spPr>
          <a:xfrm>
            <a:off x="6967728" y="2962656"/>
            <a:ext cx="47640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967728" y="2980944"/>
            <a:ext cx="1623608" cy="402336"/>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Unversioned request</a:t>
            </a:r>
          </a:p>
        </p:txBody>
      </p:sp>
      <p:sp>
        <p:nvSpPr>
          <p:cNvPr id="21" name="TextBox 20"/>
          <p:cNvSpPr txBox="1"/>
          <p:nvPr/>
        </p:nvSpPr>
        <p:spPr>
          <a:xfrm>
            <a:off x="8682776" y="2980944"/>
            <a:ext cx="3048975" cy="402336"/>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Served as preview protocol version 0.3</a:t>
            </a:r>
          </a:p>
        </p:txBody>
      </p:sp>
      <p:cxnSp>
        <p:nvCxnSpPr>
          <p:cNvPr id="22" name="Connector 21"/>
          <p:cNvCxnSpPr/>
          <p:nvPr/>
        </p:nvCxnSpPr>
        <p:spPr>
          <a:xfrm>
            <a:off x="6967728" y="3364991"/>
            <a:ext cx="47640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967728" y="3383279"/>
            <a:ext cx="1623608" cy="402336"/>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Conflicting version</a:t>
            </a:r>
          </a:p>
        </p:txBody>
      </p:sp>
      <p:sp>
        <p:nvSpPr>
          <p:cNvPr id="24" name="TextBox 23"/>
          <p:cNvSpPr txBox="1"/>
          <p:nvPr/>
        </p:nvSpPr>
        <p:spPr>
          <a:xfrm>
            <a:off x="8682776" y="3383279"/>
            <a:ext cx="3048975" cy="402336"/>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HTTP 400, VERSION_AMBIGUOUS</a:t>
            </a:r>
          </a:p>
        </p:txBody>
      </p:sp>
      <p:cxnSp>
        <p:nvCxnSpPr>
          <p:cNvPr id="25" name="Connector 24"/>
          <p:cNvCxnSpPr/>
          <p:nvPr/>
        </p:nvCxnSpPr>
        <p:spPr>
          <a:xfrm>
            <a:off x="6967728" y="3767328"/>
            <a:ext cx="47640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400507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CONSTRAINTS</a:t>
            </a:r>
          </a:p>
        </p:txBody>
      </p:sp>
      <p:sp>
        <p:nvSpPr>
          <p:cNvPr id="27" name="Rectangle 26"/>
          <p:cNvSpPr/>
          <p:nvPr/>
        </p:nvSpPr>
        <p:spPr>
          <a:xfrm>
            <a:off x="457200" y="4242816"/>
            <a:ext cx="2651760" cy="932688"/>
          </a:xfrm>
          <a:prstGeom prst="rect">
            <a:avLst/>
          </a:prstGeom>
          <a:solidFill>
            <a:srgbClr val="F6F8FD"/>
          </a:solidFill>
          <a:ln w="9525">
            <a:solidFill>
              <a:srgbClr val="E1E7F4"/>
            </a:solidFill>
          </a:ln>
          <a:effectLst/>
        </p:spPr>
        <p:txBody>
          <a:bodyPr wrap="square" rtlCol="0" anchor="ctr"/>
          <a:lstStyle/>
          <a:p>
            <a:endParaRPr/>
          </a:p>
        </p:txBody>
      </p:sp>
      <p:sp>
        <p:nvSpPr>
          <p:cNvPr id="28" name="Rectangle 27"/>
          <p:cNvSpPr/>
          <p:nvPr/>
        </p:nvSpPr>
        <p:spPr>
          <a:xfrm>
            <a:off x="457200" y="4242816"/>
            <a:ext cx="2651760" cy="41148"/>
          </a:xfrm>
          <a:prstGeom prst="rect">
            <a:avLst/>
          </a:prstGeom>
          <a:solidFill>
            <a:srgbClr val="00B39F"/>
          </a:solidFill>
          <a:ln>
            <a:noFill/>
          </a:ln>
          <a:effectLst/>
        </p:spPr>
        <p:txBody>
          <a:bodyPr wrap="square" rtlCol="0" anchor="ctr"/>
          <a:lstStyle/>
          <a:p>
            <a:endParaRPr/>
          </a:p>
        </p:txBody>
      </p:sp>
      <p:sp>
        <p:nvSpPr>
          <p:cNvPr id="29" name="TextBox 28"/>
          <p:cNvSpPr txBox="1"/>
          <p:nvPr/>
        </p:nvSpPr>
        <p:spPr>
          <a:xfrm>
            <a:off x="621792" y="4389120"/>
            <a:ext cx="2322576" cy="310896"/>
          </a:xfrm>
          <a:prstGeom prst="rect">
            <a:avLst/>
          </a:prstGeom>
          <a:noFill/>
        </p:spPr>
        <p:txBody>
          <a:bodyPr wrap="square" lIns="0" tIns="0" rIns="0" bIns="0" anchor="t">
            <a:spAutoFit/>
          </a:bodyPr>
          <a:lstStyle/>
          <a:p>
            <a:pPr algn="l">
              <a:lnSpc>
                <a:spcPct val="110000"/>
              </a:lnSpc>
            </a:pPr>
            <a:r>
              <a:rPr sz="900" b="1" i="0" dirty="0">
                <a:solidFill>
                  <a:srgbClr val="101A3C"/>
                </a:solidFill>
                <a:latin typeface="Segoe UI"/>
                <a:cs typeface="Segoe UI"/>
              </a:rPr>
              <a:t>Responses protocol required</a:t>
            </a:r>
          </a:p>
        </p:txBody>
      </p:sp>
      <p:sp>
        <p:nvSpPr>
          <p:cNvPr id="30" name="TextBox 29"/>
          <p:cNvSpPr txBox="1"/>
          <p:nvPr/>
        </p:nvSpPr>
        <p:spPr>
          <a:xfrm>
            <a:off x="621792" y="4736592"/>
            <a:ext cx="2322576" cy="384048"/>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Prompt agents support it by default; other agent types must be verified before enabling.</a:t>
            </a:r>
          </a:p>
        </p:txBody>
      </p:sp>
      <p:sp>
        <p:nvSpPr>
          <p:cNvPr id="31" name="Rectangle 30"/>
          <p:cNvSpPr/>
          <p:nvPr/>
        </p:nvSpPr>
        <p:spPr>
          <a:xfrm>
            <a:off x="3300984" y="4242816"/>
            <a:ext cx="2651760" cy="932688"/>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3300984" y="4242816"/>
            <a:ext cx="2651760" cy="41148"/>
          </a:xfrm>
          <a:prstGeom prst="rect">
            <a:avLst/>
          </a:prstGeom>
          <a:solidFill>
            <a:srgbClr val="00B39F"/>
          </a:solidFill>
          <a:ln>
            <a:noFill/>
          </a:ln>
          <a:effectLst/>
        </p:spPr>
        <p:txBody>
          <a:bodyPr wrap="square" rtlCol="0" anchor="ctr"/>
          <a:lstStyle/>
          <a:p>
            <a:endParaRPr/>
          </a:p>
        </p:txBody>
      </p:sp>
      <p:sp>
        <p:nvSpPr>
          <p:cNvPr id="33" name="TextBox 32"/>
          <p:cNvSpPr txBox="1"/>
          <p:nvPr/>
        </p:nvSpPr>
        <p:spPr>
          <a:xfrm>
            <a:off x="3465576" y="4389120"/>
            <a:ext cx="2322576" cy="310896"/>
          </a:xfrm>
          <a:prstGeom prst="rect">
            <a:avLst/>
          </a:prstGeom>
          <a:noFill/>
        </p:spPr>
        <p:txBody>
          <a:bodyPr wrap="square" lIns="0" tIns="0" rIns="0" bIns="0" anchor="t">
            <a:spAutoFit/>
          </a:bodyPr>
          <a:lstStyle/>
          <a:p>
            <a:pPr algn="l">
              <a:lnSpc>
                <a:spcPct val="110000"/>
              </a:lnSpc>
            </a:pPr>
            <a:r>
              <a:rPr sz="900" b="1" i="0" dirty="0">
                <a:solidFill>
                  <a:srgbClr val="101A3C"/>
                </a:solidFill>
                <a:latin typeface="Segoe UI"/>
                <a:cs typeface="Segoe UI"/>
              </a:rPr>
              <a:t>No portal support</a:t>
            </a:r>
          </a:p>
        </p:txBody>
      </p:sp>
      <p:sp>
        <p:nvSpPr>
          <p:cNvPr id="34" name="TextBox 33"/>
          <p:cNvSpPr txBox="1"/>
          <p:nvPr/>
        </p:nvSpPr>
        <p:spPr>
          <a:xfrm>
            <a:off x="3465576" y="4736592"/>
            <a:ext cx="2322576" cy="384048"/>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Configuration is available through the REST API and the Python SDK only.</a:t>
            </a:r>
          </a:p>
        </p:txBody>
      </p:sp>
      <p:sp>
        <p:nvSpPr>
          <p:cNvPr id="35" name="Rectangle 34"/>
          <p:cNvSpPr/>
          <p:nvPr/>
        </p:nvSpPr>
        <p:spPr>
          <a:xfrm>
            <a:off x="6144768" y="4242816"/>
            <a:ext cx="2651760" cy="932688"/>
          </a:xfrm>
          <a:prstGeom prst="rect">
            <a:avLst/>
          </a:prstGeom>
          <a:solidFill>
            <a:srgbClr val="F6F8FD"/>
          </a:solidFill>
          <a:ln w="9525">
            <a:solidFill>
              <a:srgbClr val="E1E7F4"/>
            </a:solidFill>
          </a:ln>
          <a:effectLst/>
        </p:spPr>
        <p:txBody>
          <a:bodyPr wrap="square" rtlCol="0" anchor="ctr"/>
          <a:lstStyle/>
          <a:p>
            <a:endParaRPr/>
          </a:p>
        </p:txBody>
      </p:sp>
      <p:sp>
        <p:nvSpPr>
          <p:cNvPr id="36" name="Rectangle 35"/>
          <p:cNvSpPr/>
          <p:nvPr/>
        </p:nvSpPr>
        <p:spPr>
          <a:xfrm>
            <a:off x="6144768" y="4242816"/>
            <a:ext cx="2651760" cy="41148"/>
          </a:xfrm>
          <a:prstGeom prst="rect">
            <a:avLst/>
          </a:prstGeom>
          <a:solidFill>
            <a:srgbClr val="00B39F"/>
          </a:solidFill>
          <a:ln>
            <a:noFill/>
          </a:ln>
          <a:effectLst/>
        </p:spPr>
        <p:txBody>
          <a:bodyPr wrap="square" rtlCol="0" anchor="ctr"/>
          <a:lstStyle/>
          <a:p>
            <a:endParaRPr/>
          </a:p>
        </p:txBody>
      </p:sp>
      <p:sp>
        <p:nvSpPr>
          <p:cNvPr id="37" name="TextBox 36"/>
          <p:cNvSpPr txBox="1"/>
          <p:nvPr/>
        </p:nvSpPr>
        <p:spPr>
          <a:xfrm>
            <a:off x="6309359" y="4389120"/>
            <a:ext cx="2322576" cy="310896"/>
          </a:xfrm>
          <a:prstGeom prst="rect">
            <a:avLst/>
          </a:prstGeom>
          <a:noFill/>
        </p:spPr>
        <p:txBody>
          <a:bodyPr wrap="square" lIns="0" tIns="0" rIns="0" bIns="0" anchor="t">
            <a:spAutoFit/>
          </a:bodyPr>
          <a:lstStyle/>
          <a:p>
            <a:pPr algn="l">
              <a:lnSpc>
                <a:spcPct val="110000"/>
              </a:lnSpc>
            </a:pPr>
            <a:r>
              <a:rPr sz="900" b="1" i="0" dirty="0">
                <a:solidFill>
                  <a:srgbClr val="101A3C"/>
                </a:solidFill>
                <a:latin typeface="Segoe UI"/>
                <a:cs typeface="Segoe UI"/>
              </a:rPr>
              <a:t>Entra ID authentication only</a:t>
            </a:r>
          </a:p>
        </p:txBody>
      </p:sp>
      <p:sp>
        <p:nvSpPr>
          <p:cNvPr id="38" name="TextBox 37"/>
          <p:cNvSpPr txBox="1"/>
          <p:nvPr/>
        </p:nvSpPr>
        <p:spPr>
          <a:xfrm>
            <a:off x="6309359" y="4736592"/>
            <a:ext cx="2322576" cy="384048"/>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Key-based authentication and anonymous access are not supported, including for the agent card.</a:t>
            </a:r>
          </a:p>
        </p:txBody>
      </p:sp>
      <p:sp>
        <p:nvSpPr>
          <p:cNvPr id="39" name="Rectangle 38"/>
          <p:cNvSpPr/>
          <p:nvPr/>
        </p:nvSpPr>
        <p:spPr>
          <a:xfrm>
            <a:off x="8988552" y="4242816"/>
            <a:ext cx="2651760" cy="932688"/>
          </a:xfrm>
          <a:prstGeom prst="rect">
            <a:avLst/>
          </a:prstGeom>
          <a:solidFill>
            <a:srgbClr val="F6F8FD"/>
          </a:solidFill>
          <a:ln w="9525">
            <a:solidFill>
              <a:srgbClr val="E1E7F4"/>
            </a:solidFill>
          </a:ln>
          <a:effectLst/>
        </p:spPr>
        <p:txBody>
          <a:bodyPr wrap="square" rtlCol="0" anchor="ctr"/>
          <a:lstStyle/>
          <a:p>
            <a:endParaRPr/>
          </a:p>
        </p:txBody>
      </p:sp>
      <p:sp>
        <p:nvSpPr>
          <p:cNvPr id="40" name="Rectangle 39"/>
          <p:cNvSpPr/>
          <p:nvPr/>
        </p:nvSpPr>
        <p:spPr>
          <a:xfrm>
            <a:off x="8988552" y="4242816"/>
            <a:ext cx="2651760" cy="41148"/>
          </a:xfrm>
          <a:prstGeom prst="rect">
            <a:avLst/>
          </a:prstGeom>
          <a:solidFill>
            <a:srgbClr val="00B39F"/>
          </a:solidFill>
          <a:ln>
            <a:noFill/>
          </a:ln>
          <a:effectLst/>
        </p:spPr>
        <p:txBody>
          <a:bodyPr wrap="square" rtlCol="0" anchor="ctr"/>
          <a:lstStyle/>
          <a:p>
            <a:endParaRPr/>
          </a:p>
        </p:txBody>
      </p:sp>
      <p:sp>
        <p:nvSpPr>
          <p:cNvPr id="41" name="TextBox 40"/>
          <p:cNvSpPr txBox="1"/>
          <p:nvPr/>
        </p:nvSpPr>
        <p:spPr>
          <a:xfrm>
            <a:off x="9153144" y="4389120"/>
            <a:ext cx="2322576" cy="310896"/>
          </a:xfrm>
          <a:prstGeom prst="rect">
            <a:avLst/>
          </a:prstGeom>
          <a:noFill/>
        </p:spPr>
        <p:txBody>
          <a:bodyPr wrap="square" lIns="0" tIns="0" rIns="0" bIns="0" anchor="t">
            <a:spAutoFit/>
          </a:bodyPr>
          <a:lstStyle/>
          <a:p>
            <a:pPr algn="l">
              <a:lnSpc>
                <a:spcPct val="110000"/>
              </a:lnSpc>
            </a:pPr>
            <a:r>
              <a:rPr sz="900" b="1" i="0" dirty="0">
                <a:solidFill>
                  <a:srgbClr val="101A3C"/>
                </a:solidFill>
                <a:latin typeface="Segoe UI"/>
                <a:cs typeface="Segoe UI"/>
              </a:rPr>
              <a:t>Caller authorisation</a:t>
            </a:r>
          </a:p>
        </p:txBody>
      </p:sp>
      <p:sp>
        <p:nvSpPr>
          <p:cNvPr id="42" name="TextBox 41"/>
          <p:cNvSpPr txBox="1"/>
          <p:nvPr/>
        </p:nvSpPr>
        <p:spPr>
          <a:xfrm>
            <a:off x="9153144" y="4736592"/>
            <a:ext cx="2322576" cy="384048"/>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The calling principal requires the Foundry Agent Consumer role at project or agent scope.</a:t>
            </a:r>
          </a:p>
        </p:txBody>
      </p:sp>
      <p:sp>
        <p:nvSpPr>
          <p:cNvPr id="43" name="TextBox 42"/>
          <p:cNvSpPr txBox="1"/>
          <p:nvPr/>
        </p:nvSpPr>
        <p:spPr>
          <a:xfrm>
            <a:off x="457200" y="5303520"/>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SECURITY AND OPERATIONS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Authentication and identity propagation</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Identity is established at the transport layer and is never carried inside the A2A payload</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learn.microsoft.com/azure/foundry/agents/concepts/agent-to-agent-authentication</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14</a:t>
            </a:r>
          </a:p>
        </p:txBody>
      </p:sp>
      <p:sp>
        <p:nvSpPr>
          <p:cNvPr id="7" name="TextBox 6"/>
          <p:cNvSpPr txBox="1"/>
          <p:nvPr/>
        </p:nvSpPr>
        <p:spPr>
          <a:xfrm>
            <a:off x="457200" y="1353312"/>
            <a:ext cx="694944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OUTBOUND — HOW FOUNDRY AUTHENTICATES TO A REMOTE AGENT</a:t>
            </a:r>
          </a:p>
        </p:txBody>
      </p:sp>
      <p:sp>
        <p:nvSpPr>
          <p:cNvPr id="8" name="Rectangle 7"/>
          <p:cNvSpPr/>
          <p:nvPr/>
        </p:nvSpPr>
        <p:spPr>
          <a:xfrm>
            <a:off x="457200" y="1591056"/>
            <a:ext cx="6931152" cy="310896"/>
          </a:xfrm>
          <a:prstGeom prst="rect">
            <a:avLst/>
          </a:prstGeom>
          <a:solidFill>
            <a:srgbClr val="101A3C"/>
          </a:solidFill>
          <a:ln>
            <a:noFill/>
          </a:ln>
          <a:effectLst/>
        </p:spPr>
        <p:txBody>
          <a:bodyPr wrap="square" rtlCol="0" anchor="ctr"/>
          <a:lstStyle/>
          <a:p>
            <a:endParaRPr/>
          </a:p>
        </p:txBody>
      </p:sp>
      <p:sp>
        <p:nvSpPr>
          <p:cNvPr id="9" name="TextBox 8"/>
          <p:cNvSpPr txBox="1"/>
          <p:nvPr/>
        </p:nvSpPr>
        <p:spPr>
          <a:xfrm>
            <a:off x="585216" y="1668780"/>
            <a:ext cx="1757842"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Method</a:t>
            </a:r>
          </a:p>
        </p:txBody>
      </p:sp>
      <p:sp>
        <p:nvSpPr>
          <p:cNvPr id="10" name="TextBox 9"/>
          <p:cNvSpPr txBox="1"/>
          <p:nvPr/>
        </p:nvSpPr>
        <p:spPr>
          <a:xfrm>
            <a:off x="2525938" y="1668780"/>
            <a:ext cx="3144072"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Credential presented to the remote agent</a:t>
            </a:r>
          </a:p>
        </p:txBody>
      </p:sp>
      <p:sp>
        <p:nvSpPr>
          <p:cNvPr id="11" name="TextBox 10"/>
          <p:cNvSpPr txBox="1"/>
          <p:nvPr/>
        </p:nvSpPr>
        <p:spPr>
          <a:xfrm>
            <a:off x="5852891" y="1668780"/>
            <a:ext cx="1480596"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End-user context</a:t>
            </a:r>
          </a:p>
        </p:txBody>
      </p:sp>
      <p:sp>
        <p:nvSpPr>
          <p:cNvPr id="12" name="Rectangle 11"/>
          <p:cNvSpPr/>
          <p:nvPr/>
        </p:nvSpPr>
        <p:spPr>
          <a:xfrm>
            <a:off x="457200" y="1901952"/>
            <a:ext cx="6931152" cy="384048"/>
          </a:xfrm>
          <a:prstGeom prst="rect">
            <a:avLst/>
          </a:prstGeom>
          <a:solidFill>
            <a:srgbClr val="F6F8FD"/>
          </a:solidFill>
          <a:ln>
            <a:noFill/>
          </a:ln>
          <a:effectLst/>
        </p:spPr>
        <p:txBody>
          <a:bodyPr wrap="square" rtlCol="0" anchor="ctr"/>
          <a:lstStyle/>
          <a:p>
            <a:endParaRPr/>
          </a:p>
        </p:txBody>
      </p:sp>
      <p:cxnSp>
        <p:nvCxnSpPr>
          <p:cNvPr id="13" name="Connector 12"/>
          <p:cNvCxnSpPr/>
          <p:nvPr/>
        </p:nvCxnSpPr>
        <p:spPr>
          <a:xfrm>
            <a:off x="457200" y="2286000"/>
            <a:ext cx="693115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85216" y="1952244"/>
            <a:ext cx="1721266" cy="301751"/>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Key-based</a:t>
            </a:r>
          </a:p>
        </p:txBody>
      </p:sp>
      <p:sp>
        <p:nvSpPr>
          <p:cNvPr id="15" name="TextBox 14"/>
          <p:cNvSpPr txBox="1"/>
          <p:nvPr/>
        </p:nvSpPr>
        <p:spPr>
          <a:xfrm>
            <a:off x="2525938" y="1952244"/>
            <a:ext cx="3107496"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 header name and secret value, for example an API key</a:t>
            </a:r>
          </a:p>
        </p:txBody>
      </p:sp>
      <p:sp>
        <p:nvSpPr>
          <p:cNvPr id="16" name="TextBox 15"/>
          <p:cNvSpPr txBox="1"/>
          <p:nvPr/>
        </p:nvSpPr>
        <p:spPr>
          <a:xfrm>
            <a:off x="5852891" y="1952244"/>
            <a:ext cx="1444020"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preserved</a:t>
            </a:r>
          </a:p>
        </p:txBody>
      </p:sp>
      <p:cxnSp>
        <p:nvCxnSpPr>
          <p:cNvPr id="17" name="Connector 16"/>
          <p:cNvCxnSpPr/>
          <p:nvPr/>
        </p:nvCxnSpPr>
        <p:spPr>
          <a:xfrm>
            <a:off x="457200" y="2670048"/>
            <a:ext cx="693115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85216" y="2336292"/>
            <a:ext cx="1721266" cy="301751"/>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Entra ID — agent identity</a:t>
            </a:r>
          </a:p>
        </p:txBody>
      </p:sp>
      <p:sp>
        <p:nvSpPr>
          <p:cNvPr id="19" name="TextBox 18"/>
          <p:cNvSpPr txBox="1"/>
          <p:nvPr/>
        </p:nvSpPr>
        <p:spPr>
          <a:xfrm>
            <a:off x="2525938" y="2336292"/>
            <a:ext cx="3107496"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 token for the agent’s own managed identity</a:t>
            </a:r>
          </a:p>
        </p:txBody>
      </p:sp>
      <p:sp>
        <p:nvSpPr>
          <p:cNvPr id="20" name="TextBox 19"/>
          <p:cNvSpPr txBox="1"/>
          <p:nvPr/>
        </p:nvSpPr>
        <p:spPr>
          <a:xfrm>
            <a:off x="5852891" y="2336292"/>
            <a:ext cx="1444020"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preserved</a:t>
            </a:r>
          </a:p>
        </p:txBody>
      </p:sp>
      <p:sp>
        <p:nvSpPr>
          <p:cNvPr id="21" name="Rectangle 20"/>
          <p:cNvSpPr/>
          <p:nvPr/>
        </p:nvSpPr>
        <p:spPr>
          <a:xfrm>
            <a:off x="457200" y="2670048"/>
            <a:ext cx="6931152" cy="384048"/>
          </a:xfrm>
          <a:prstGeom prst="rect">
            <a:avLst/>
          </a:prstGeom>
          <a:solidFill>
            <a:srgbClr val="F6F8FD"/>
          </a:solidFill>
          <a:ln>
            <a:noFill/>
          </a:ln>
          <a:effectLst/>
        </p:spPr>
        <p:txBody>
          <a:bodyPr wrap="square" rtlCol="0" anchor="ctr"/>
          <a:lstStyle/>
          <a:p>
            <a:endParaRPr/>
          </a:p>
        </p:txBody>
      </p:sp>
      <p:cxnSp>
        <p:nvCxnSpPr>
          <p:cNvPr id="22" name="Connector 21"/>
          <p:cNvCxnSpPr/>
          <p:nvPr/>
        </p:nvCxnSpPr>
        <p:spPr>
          <a:xfrm>
            <a:off x="457200" y="3054096"/>
            <a:ext cx="693115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85216" y="2720340"/>
            <a:ext cx="1721266" cy="301751"/>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Entra ID — project identity</a:t>
            </a:r>
          </a:p>
        </p:txBody>
      </p:sp>
      <p:sp>
        <p:nvSpPr>
          <p:cNvPr id="24" name="TextBox 23"/>
          <p:cNvSpPr txBox="1"/>
          <p:nvPr/>
        </p:nvSpPr>
        <p:spPr>
          <a:xfrm>
            <a:off x="2525938" y="2720340"/>
            <a:ext cx="3107496"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 token for the project managed identity</a:t>
            </a:r>
          </a:p>
        </p:txBody>
      </p:sp>
      <p:sp>
        <p:nvSpPr>
          <p:cNvPr id="25" name="TextBox 24"/>
          <p:cNvSpPr txBox="1"/>
          <p:nvPr/>
        </p:nvSpPr>
        <p:spPr>
          <a:xfrm>
            <a:off x="5852891" y="2720340"/>
            <a:ext cx="1444020"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preserved</a:t>
            </a:r>
          </a:p>
        </p:txBody>
      </p:sp>
      <p:cxnSp>
        <p:nvCxnSpPr>
          <p:cNvPr id="26" name="Connector 25"/>
          <p:cNvCxnSpPr/>
          <p:nvPr/>
        </p:nvCxnSpPr>
        <p:spPr>
          <a:xfrm>
            <a:off x="457200" y="3438144"/>
            <a:ext cx="693115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85216" y="3104388"/>
            <a:ext cx="1721266" cy="301751"/>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OAuth identity passthrough</a:t>
            </a:r>
          </a:p>
        </p:txBody>
      </p:sp>
      <p:sp>
        <p:nvSpPr>
          <p:cNvPr id="28" name="TextBox 27"/>
          <p:cNvSpPr txBox="1"/>
          <p:nvPr/>
        </p:nvSpPr>
        <p:spPr>
          <a:xfrm>
            <a:off x="2525938" y="3104388"/>
            <a:ext cx="3107496"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calling user’s own token, forwarded unchanged</a:t>
            </a:r>
          </a:p>
        </p:txBody>
      </p:sp>
      <p:sp>
        <p:nvSpPr>
          <p:cNvPr id="29" name="TextBox 28"/>
          <p:cNvSpPr txBox="1"/>
          <p:nvPr/>
        </p:nvSpPr>
        <p:spPr>
          <a:xfrm>
            <a:off x="5852891" y="3104388"/>
            <a:ext cx="1444020"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Preserved</a:t>
            </a:r>
          </a:p>
        </p:txBody>
      </p:sp>
      <p:sp>
        <p:nvSpPr>
          <p:cNvPr id="30" name="Rectangle 29"/>
          <p:cNvSpPr/>
          <p:nvPr/>
        </p:nvSpPr>
        <p:spPr>
          <a:xfrm>
            <a:off x="457200" y="3438144"/>
            <a:ext cx="6931152" cy="384048"/>
          </a:xfrm>
          <a:prstGeom prst="rect">
            <a:avLst/>
          </a:prstGeom>
          <a:solidFill>
            <a:srgbClr val="F6F8FD"/>
          </a:solidFill>
          <a:ln>
            <a:noFill/>
          </a:ln>
          <a:effectLst/>
        </p:spPr>
        <p:txBody>
          <a:bodyPr wrap="square" rtlCol="0" anchor="ctr"/>
          <a:lstStyle/>
          <a:p>
            <a:endParaRPr/>
          </a:p>
        </p:txBody>
      </p:sp>
      <p:cxnSp>
        <p:nvCxnSpPr>
          <p:cNvPr id="31" name="Connector 30"/>
          <p:cNvCxnSpPr/>
          <p:nvPr/>
        </p:nvCxnSpPr>
        <p:spPr>
          <a:xfrm>
            <a:off x="457200" y="3822191"/>
            <a:ext cx="693115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5216" y="3488436"/>
            <a:ext cx="1721266" cy="301751"/>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Unauthenticated</a:t>
            </a:r>
          </a:p>
        </p:txBody>
      </p:sp>
      <p:sp>
        <p:nvSpPr>
          <p:cNvPr id="33" name="TextBox 32"/>
          <p:cNvSpPr txBox="1"/>
          <p:nvPr/>
        </p:nvSpPr>
        <p:spPr>
          <a:xfrm>
            <a:off x="2525938" y="3488436"/>
            <a:ext cx="3107496"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 credential</a:t>
            </a:r>
          </a:p>
        </p:txBody>
      </p:sp>
      <p:sp>
        <p:nvSpPr>
          <p:cNvPr id="34" name="TextBox 33"/>
          <p:cNvSpPr txBox="1"/>
          <p:nvPr/>
        </p:nvSpPr>
        <p:spPr>
          <a:xfrm>
            <a:off x="5852891" y="3488436"/>
            <a:ext cx="1444020"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preserved</a:t>
            </a:r>
          </a:p>
        </p:txBody>
      </p:sp>
      <p:cxnSp>
        <p:nvCxnSpPr>
          <p:cNvPr id="35" name="Connector 34"/>
          <p:cNvCxnSpPr/>
          <p:nvPr/>
        </p:nvCxnSpPr>
        <p:spPr>
          <a:xfrm>
            <a:off x="2397922" y="1901952"/>
            <a:ext cx="0" cy="1920239"/>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24875" y="1901952"/>
            <a:ext cx="0" cy="1920239"/>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57200" y="3950207"/>
            <a:ext cx="6931152" cy="182880"/>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Agent cards are retrieved anonymously unless send_credentials_for_agent_card is set; credentials reach only the host named in base_url.</a:t>
            </a:r>
          </a:p>
        </p:txBody>
      </p:sp>
      <p:sp>
        <p:nvSpPr>
          <p:cNvPr id="38" name="TextBox 37"/>
          <p:cNvSpPr txBox="1"/>
          <p:nvPr/>
        </p:nvSpPr>
        <p:spPr>
          <a:xfrm>
            <a:off x="457200" y="4187952"/>
            <a:ext cx="694944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PROTOCOL-LEVEL PRINCIPLES</a:t>
            </a:r>
          </a:p>
        </p:txBody>
      </p:sp>
      <p:sp>
        <p:nvSpPr>
          <p:cNvPr id="39" name="Rectangle 38"/>
          <p:cNvSpPr/>
          <p:nvPr/>
        </p:nvSpPr>
        <p:spPr>
          <a:xfrm>
            <a:off x="457200" y="4425696"/>
            <a:ext cx="6931152" cy="384048"/>
          </a:xfrm>
          <a:prstGeom prst="rect">
            <a:avLst/>
          </a:prstGeom>
          <a:solidFill>
            <a:srgbClr val="F6F8FD"/>
          </a:solidFill>
          <a:ln w="9525">
            <a:solidFill>
              <a:srgbClr val="E1E7F4"/>
            </a:solidFill>
          </a:ln>
          <a:effectLst/>
        </p:spPr>
        <p:txBody>
          <a:bodyPr wrap="square" rtlCol="0" anchor="ctr"/>
          <a:lstStyle/>
          <a:p>
            <a:endParaRPr/>
          </a:p>
        </p:txBody>
      </p:sp>
      <p:sp>
        <p:nvSpPr>
          <p:cNvPr id="40" name="TextBox 39"/>
          <p:cNvSpPr txBox="1"/>
          <p:nvPr/>
        </p:nvSpPr>
        <p:spPr>
          <a:xfrm>
            <a:off x="621792" y="4462272"/>
            <a:ext cx="2103120" cy="310896"/>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Transport-layer identity</a:t>
            </a:r>
          </a:p>
        </p:txBody>
      </p:sp>
      <p:sp>
        <p:nvSpPr>
          <p:cNvPr id="41" name="TextBox 40"/>
          <p:cNvSpPr txBox="1"/>
          <p:nvPr/>
        </p:nvSpPr>
        <p:spPr>
          <a:xfrm>
            <a:off x="2798064" y="4462272"/>
            <a:ext cx="4443984" cy="31089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A2A payloads carry no user or client identity. Credentials are obtained out of band and presented in standard HTTP headers.</a:t>
            </a:r>
          </a:p>
        </p:txBody>
      </p:sp>
      <p:sp>
        <p:nvSpPr>
          <p:cNvPr id="42" name="Rectangle 41"/>
          <p:cNvSpPr/>
          <p:nvPr/>
        </p:nvSpPr>
        <p:spPr>
          <a:xfrm>
            <a:off x="457200" y="4846320"/>
            <a:ext cx="6931152" cy="384048"/>
          </a:xfrm>
          <a:prstGeom prst="rect">
            <a:avLst/>
          </a:prstGeom>
          <a:solidFill>
            <a:srgbClr val="FFFFFF"/>
          </a:solidFill>
          <a:ln w="9525">
            <a:solidFill>
              <a:srgbClr val="E1E7F4"/>
            </a:solidFill>
          </a:ln>
          <a:effectLst/>
        </p:spPr>
        <p:txBody>
          <a:bodyPr wrap="square" rtlCol="0" anchor="ctr"/>
          <a:lstStyle/>
          <a:p>
            <a:endParaRPr/>
          </a:p>
        </p:txBody>
      </p:sp>
      <p:sp>
        <p:nvSpPr>
          <p:cNvPr id="43" name="TextBox 42"/>
          <p:cNvSpPr txBox="1"/>
          <p:nvPr/>
        </p:nvSpPr>
        <p:spPr>
          <a:xfrm>
            <a:off x="621792" y="4882896"/>
            <a:ext cx="2103120" cy="310896"/>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Schemes declared in the card</a:t>
            </a:r>
          </a:p>
        </p:txBody>
      </p:sp>
      <p:sp>
        <p:nvSpPr>
          <p:cNvPr id="44" name="TextBox 43"/>
          <p:cNvSpPr txBox="1"/>
          <p:nvPr/>
        </p:nvSpPr>
        <p:spPr>
          <a:xfrm>
            <a:off x="2798064" y="4882896"/>
            <a:ext cx="4443984" cy="31089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API key, HTTP bearer, OAuth 2.0, OpenID Connect or mutual TLS. Version 1.0 removed implicit and password flows and added device code and PKCE.</a:t>
            </a:r>
          </a:p>
        </p:txBody>
      </p:sp>
      <p:sp>
        <p:nvSpPr>
          <p:cNvPr id="45" name="Rectangle 44"/>
          <p:cNvSpPr/>
          <p:nvPr/>
        </p:nvSpPr>
        <p:spPr>
          <a:xfrm>
            <a:off x="457200" y="5266944"/>
            <a:ext cx="6931152" cy="384048"/>
          </a:xfrm>
          <a:prstGeom prst="rect">
            <a:avLst/>
          </a:prstGeom>
          <a:solidFill>
            <a:srgbClr val="F6F8FD"/>
          </a:solidFill>
          <a:ln w="9525">
            <a:solidFill>
              <a:srgbClr val="E1E7F4"/>
            </a:solidFill>
          </a:ln>
          <a:effectLst/>
        </p:spPr>
        <p:txBody>
          <a:bodyPr wrap="square" rtlCol="0" anchor="ctr"/>
          <a:lstStyle/>
          <a:p>
            <a:endParaRPr/>
          </a:p>
        </p:txBody>
      </p:sp>
      <p:sp>
        <p:nvSpPr>
          <p:cNvPr id="46" name="TextBox 45"/>
          <p:cNvSpPr txBox="1"/>
          <p:nvPr/>
        </p:nvSpPr>
        <p:spPr>
          <a:xfrm>
            <a:off x="621792" y="5303520"/>
            <a:ext cx="2103120" cy="310896"/>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Non-disclosing failures</a:t>
            </a:r>
          </a:p>
        </p:txBody>
      </p:sp>
      <p:sp>
        <p:nvSpPr>
          <p:cNvPr id="47" name="TextBox 46"/>
          <p:cNvSpPr txBox="1"/>
          <p:nvPr/>
        </p:nvSpPr>
        <p:spPr>
          <a:xfrm>
            <a:off x="2798064" y="5303520"/>
            <a:ext cx="4443984" cy="31089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HTTP 401 with a challenge where credentials are absent, HTTP 403 where insufficient, and no distinction between absent and unauthorised resources.</a:t>
            </a:r>
          </a:p>
        </p:txBody>
      </p:sp>
      <p:sp>
        <p:nvSpPr>
          <p:cNvPr id="48" name="TextBox 47"/>
          <p:cNvSpPr txBox="1"/>
          <p:nvPr/>
        </p:nvSpPr>
        <p:spPr>
          <a:xfrm>
            <a:off x="7717536" y="1353312"/>
            <a:ext cx="40233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INBOUND — AUTHORISING EXTERNAL CALLERS</a:t>
            </a:r>
          </a:p>
        </p:txBody>
      </p:sp>
      <p:sp>
        <p:nvSpPr>
          <p:cNvPr id="49" name="TextBox 48"/>
          <p:cNvSpPr txBox="1"/>
          <p:nvPr/>
        </p:nvSpPr>
        <p:spPr>
          <a:xfrm>
            <a:off x="7717536" y="159105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Authentication</a:t>
            </a:r>
          </a:p>
        </p:txBody>
      </p:sp>
      <p:sp>
        <p:nvSpPr>
          <p:cNvPr id="50" name="TextBox 49"/>
          <p:cNvSpPr txBox="1"/>
          <p:nvPr/>
        </p:nvSpPr>
        <p:spPr>
          <a:xfrm>
            <a:off x="9162653" y="159105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Microsoft Entra ID only</a:t>
            </a:r>
          </a:p>
        </p:txBody>
      </p:sp>
      <p:cxnSp>
        <p:nvCxnSpPr>
          <p:cNvPr id="51" name="Connector 50"/>
          <p:cNvCxnSpPr/>
          <p:nvPr/>
        </p:nvCxnSpPr>
        <p:spPr>
          <a:xfrm>
            <a:off x="7717536" y="193852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717536" y="195681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Anonymous card</a:t>
            </a:r>
          </a:p>
        </p:txBody>
      </p:sp>
      <p:sp>
        <p:nvSpPr>
          <p:cNvPr id="53" name="TextBox 52"/>
          <p:cNvSpPr txBox="1"/>
          <p:nvPr/>
        </p:nvSpPr>
        <p:spPr>
          <a:xfrm>
            <a:off x="9162653" y="195681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Not supported</a:t>
            </a:r>
          </a:p>
        </p:txBody>
      </p:sp>
      <p:cxnSp>
        <p:nvCxnSpPr>
          <p:cNvPr id="54" name="Connector 53"/>
          <p:cNvCxnSpPr/>
          <p:nvPr/>
        </p:nvCxnSpPr>
        <p:spPr>
          <a:xfrm>
            <a:off x="7717536" y="230428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7717536" y="232257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Role required</a:t>
            </a:r>
          </a:p>
        </p:txBody>
      </p:sp>
      <p:sp>
        <p:nvSpPr>
          <p:cNvPr id="56" name="TextBox 55"/>
          <p:cNvSpPr txBox="1"/>
          <p:nvPr/>
        </p:nvSpPr>
        <p:spPr>
          <a:xfrm>
            <a:off x="9162653" y="232257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Foundry Agent Consumer</a:t>
            </a:r>
          </a:p>
        </p:txBody>
      </p:sp>
      <p:cxnSp>
        <p:nvCxnSpPr>
          <p:cNvPr id="57" name="Connector 56"/>
          <p:cNvCxnSpPr/>
          <p:nvPr/>
        </p:nvCxnSpPr>
        <p:spPr>
          <a:xfrm>
            <a:off x="7717536" y="267004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717536" y="268833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Role scope</a:t>
            </a:r>
          </a:p>
        </p:txBody>
      </p:sp>
      <p:sp>
        <p:nvSpPr>
          <p:cNvPr id="59" name="TextBox 58"/>
          <p:cNvSpPr txBox="1"/>
          <p:nvPr/>
        </p:nvSpPr>
        <p:spPr>
          <a:xfrm>
            <a:off x="9162653" y="268833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Project, or an individual agent</a:t>
            </a:r>
          </a:p>
        </p:txBody>
      </p:sp>
      <p:cxnSp>
        <p:nvCxnSpPr>
          <p:cNvPr id="60" name="Connector 59"/>
          <p:cNvCxnSpPr/>
          <p:nvPr/>
        </p:nvCxnSpPr>
        <p:spPr>
          <a:xfrm>
            <a:off x="7717536" y="303580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7717536" y="305409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Token scope</a:t>
            </a:r>
          </a:p>
        </p:txBody>
      </p:sp>
      <p:sp>
        <p:nvSpPr>
          <p:cNvPr id="62" name="TextBox 61"/>
          <p:cNvSpPr txBox="1"/>
          <p:nvPr/>
        </p:nvSpPr>
        <p:spPr>
          <a:xfrm>
            <a:off x="9162653" y="305409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https://ai.azure.com/.default</a:t>
            </a:r>
          </a:p>
        </p:txBody>
      </p:sp>
      <p:cxnSp>
        <p:nvCxnSpPr>
          <p:cNvPr id="63" name="Connector 62"/>
          <p:cNvCxnSpPr/>
          <p:nvPr/>
        </p:nvCxnSpPr>
        <p:spPr>
          <a:xfrm>
            <a:off x="7717536" y="340156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7717536" y="341985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Supported patterns</a:t>
            </a:r>
          </a:p>
        </p:txBody>
      </p:sp>
      <p:sp>
        <p:nvSpPr>
          <p:cNvPr id="65" name="TextBox 64"/>
          <p:cNvSpPr txBox="1"/>
          <p:nvPr/>
        </p:nvSpPr>
        <p:spPr>
          <a:xfrm>
            <a:off x="9162653" y="341985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On-behalf-of the end user, or a service identity</a:t>
            </a:r>
          </a:p>
        </p:txBody>
      </p:sp>
      <p:cxnSp>
        <p:nvCxnSpPr>
          <p:cNvPr id="66" name="Connector 65"/>
          <p:cNvCxnSpPr/>
          <p:nvPr/>
        </p:nvCxnSpPr>
        <p:spPr>
          <a:xfrm>
            <a:off x="7717536" y="376732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7717536" y="4059936"/>
            <a:ext cx="40233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NETWORK PLACEMENT</a:t>
            </a:r>
          </a:p>
        </p:txBody>
      </p:sp>
      <p:sp>
        <p:nvSpPr>
          <p:cNvPr id="68" name="Rectangle 67"/>
          <p:cNvSpPr/>
          <p:nvPr/>
        </p:nvSpPr>
        <p:spPr>
          <a:xfrm>
            <a:off x="7717536" y="4297680"/>
            <a:ext cx="4014215" cy="566928"/>
          </a:xfrm>
          <a:prstGeom prst="rect">
            <a:avLst/>
          </a:prstGeom>
          <a:solidFill>
            <a:srgbClr val="F6F8FD"/>
          </a:solidFill>
          <a:ln w="9525">
            <a:solidFill>
              <a:srgbClr val="E1E7F4"/>
            </a:solidFill>
          </a:ln>
          <a:effectLst/>
        </p:spPr>
        <p:txBody>
          <a:bodyPr wrap="square" rtlCol="0" anchor="ctr"/>
          <a:lstStyle/>
          <a:p>
            <a:endParaRPr/>
          </a:p>
        </p:txBody>
      </p:sp>
      <p:sp>
        <p:nvSpPr>
          <p:cNvPr id="69" name="TextBox 68"/>
          <p:cNvSpPr txBox="1"/>
          <p:nvPr/>
        </p:nvSpPr>
        <p:spPr>
          <a:xfrm>
            <a:off x="7882127" y="4379976"/>
            <a:ext cx="3685032"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Virtual network integration</a:t>
            </a:r>
          </a:p>
        </p:txBody>
      </p:sp>
      <p:sp>
        <p:nvSpPr>
          <p:cNvPr id="70" name="TextBox 69"/>
          <p:cNvSpPr txBox="1"/>
          <p:nvPr/>
        </p:nvSpPr>
        <p:spPr>
          <a:xfrm>
            <a:off x="7882127" y="4562856"/>
            <a:ext cx="3685032" cy="256032"/>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A2A is listed as supported through a delegated virtual-network subnet in the toolbox network isolation matrix.</a:t>
            </a:r>
          </a:p>
        </p:txBody>
      </p:sp>
      <p:sp>
        <p:nvSpPr>
          <p:cNvPr id="71" name="Rectangle 70"/>
          <p:cNvSpPr/>
          <p:nvPr/>
        </p:nvSpPr>
        <p:spPr>
          <a:xfrm>
            <a:off x="7717536" y="4937760"/>
            <a:ext cx="4014215" cy="566928"/>
          </a:xfrm>
          <a:prstGeom prst="rect">
            <a:avLst/>
          </a:prstGeom>
          <a:solidFill>
            <a:srgbClr val="F6F8FD"/>
          </a:solidFill>
          <a:ln w="9525">
            <a:solidFill>
              <a:srgbClr val="E1E7F4"/>
            </a:solidFill>
          </a:ln>
          <a:effectLst/>
        </p:spPr>
        <p:txBody>
          <a:bodyPr wrap="square" rtlCol="0" anchor="ctr"/>
          <a:lstStyle/>
          <a:p>
            <a:endParaRPr/>
          </a:p>
        </p:txBody>
      </p:sp>
      <p:sp>
        <p:nvSpPr>
          <p:cNvPr id="72" name="TextBox 71"/>
          <p:cNvSpPr txBox="1"/>
          <p:nvPr/>
        </p:nvSpPr>
        <p:spPr>
          <a:xfrm>
            <a:off x="7882127" y="5020056"/>
            <a:ext cx="3685032"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Reachability of remote targets</a:t>
            </a:r>
          </a:p>
        </p:txBody>
      </p:sp>
      <p:sp>
        <p:nvSpPr>
          <p:cNvPr id="73" name="TextBox 72"/>
          <p:cNvSpPr txBox="1"/>
          <p:nvPr/>
        </p:nvSpPr>
        <p:spPr>
          <a:xfrm>
            <a:off x="7882127" y="5202936"/>
            <a:ext cx="3685032" cy="256032"/>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Troubleshooting guidance assumes a publicly resolvable endpoint with a valid certificate; verify before assuming private-only targets.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SECURITY AND OPERATIONS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Operational constraints and observability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Documented service limits that constrain design, and the signals that indicate correct operation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learn.microsoft.com/azure/foundry/agents/concepts/limits-quotas-regions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15</a:t>
            </a:r>
          </a:p>
        </p:txBody>
      </p:sp>
      <p:sp>
        <p:nvSpPr>
          <p:cNvPr id="7" name="TextBox 6"/>
          <p:cNvSpPr txBox="1"/>
          <p:nvPr/>
        </p:nvSpPr>
        <p:spPr>
          <a:xfrm>
            <a:off x="457200" y="135331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DOCUMENTED CONSTRAINTS FOR A2A TARGETS</a:t>
            </a:r>
          </a:p>
        </p:txBody>
      </p:sp>
      <p:sp>
        <p:nvSpPr>
          <p:cNvPr id="8" name="TextBox 7"/>
          <p:cNvSpPr txBox="1"/>
          <p:nvPr/>
        </p:nvSpPr>
        <p:spPr>
          <a:xfrm>
            <a:off x="457200" y="1591056"/>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Transport binding</a:t>
            </a:r>
          </a:p>
        </p:txBody>
      </p:sp>
      <p:sp>
        <p:nvSpPr>
          <p:cNvPr id="9" name="TextBox 8"/>
          <p:cNvSpPr txBox="1"/>
          <p:nvPr/>
        </p:nvSpPr>
        <p:spPr>
          <a:xfrm>
            <a:off x="2481681" y="1591056"/>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Protocol version 1.0 supports JSON-RPC only; version 0.3 also permitted HTTP+JSON</a:t>
            </a:r>
          </a:p>
        </p:txBody>
      </p:sp>
      <p:cxnSp>
        <p:nvCxnSpPr>
          <p:cNvPr id="10" name="Connector 9"/>
          <p:cNvCxnSpPr/>
          <p:nvPr/>
        </p:nvCxnSpPr>
        <p:spPr>
          <a:xfrm>
            <a:off x="457200" y="1975104"/>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993392"/>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Content modality</a:t>
            </a:r>
          </a:p>
        </p:txBody>
      </p:sp>
      <p:sp>
        <p:nvSpPr>
          <p:cNvPr id="12" name="TextBox 11"/>
          <p:cNvSpPr txBox="1"/>
          <p:nvPr/>
        </p:nvSpPr>
        <p:spPr>
          <a:xfrm>
            <a:off x="2481681" y="1993392"/>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Text only — file and structured data parts are not carried</a:t>
            </a:r>
          </a:p>
        </p:txBody>
      </p:sp>
      <p:cxnSp>
        <p:nvCxnSpPr>
          <p:cNvPr id="13" name="Connector 12"/>
          <p:cNvCxnSpPr/>
          <p:nvPr/>
        </p:nvCxnSpPr>
        <p:spPr>
          <a:xfrm>
            <a:off x="457200" y="2377440"/>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395728"/>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Streaming</a:t>
            </a:r>
          </a:p>
        </p:txBody>
      </p:sp>
      <p:sp>
        <p:nvSpPr>
          <p:cNvPr id="15" name="TextBox 14"/>
          <p:cNvSpPr txBox="1"/>
          <p:nvPr/>
        </p:nvSpPr>
        <p:spPr>
          <a:xfrm>
            <a:off x="2481681" y="2395728"/>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Server-Sent Events are not supported for A2A targets</a:t>
            </a:r>
          </a:p>
        </p:txBody>
      </p:sp>
      <p:cxnSp>
        <p:nvCxnSpPr>
          <p:cNvPr id="16" name="Connector 15"/>
          <p:cNvCxnSpPr/>
          <p:nvPr/>
        </p:nvCxnSpPr>
        <p:spPr>
          <a:xfrm>
            <a:off x="457200" y="2779776"/>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2798064"/>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Task retention</a:t>
            </a:r>
          </a:p>
        </p:txBody>
      </p:sp>
      <p:sp>
        <p:nvSpPr>
          <p:cNvPr id="18" name="TextBox 17"/>
          <p:cNvSpPr txBox="1"/>
          <p:nvPr/>
        </p:nvSpPr>
        <p:spPr>
          <a:xfrm>
            <a:off x="2481681" y="2798064"/>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Tasks and contexts retained 60 days from the most recent write</a:t>
            </a:r>
          </a:p>
        </p:txBody>
      </p:sp>
      <p:cxnSp>
        <p:nvCxnSpPr>
          <p:cNvPr id="19" name="Connector 18"/>
          <p:cNvCxnSpPr/>
          <p:nvPr/>
        </p:nvCxnSpPr>
        <p:spPr>
          <a:xfrm>
            <a:off x="457200" y="3182112"/>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3200400"/>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Tools per agent</a:t>
            </a:r>
          </a:p>
        </p:txBody>
      </p:sp>
      <p:sp>
        <p:nvSpPr>
          <p:cNvPr id="21" name="TextBox 20"/>
          <p:cNvSpPr txBox="1"/>
          <p:nvPr/>
        </p:nvSpPr>
        <p:spPr>
          <a:xfrm>
            <a:off x="2481681" y="3200400"/>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128 registered tools; no A2A-specific quota is published</a:t>
            </a:r>
          </a:p>
        </p:txBody>
      </p:sp>
      <p:cxnSp>
        <p:nvCxnSpPr>
          <p:cNvPr id="22" name="Connector 21"/>
          <p:cNvCxnSpPr/>
          <p:nvPr/>
        </p:nvCxnSpPr>
        <p:spPr>
          <a:xfrm>
            <a:off x="457200" y="3584448"/>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200" y="3602736"/>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Regional availability</a:t>
            </a:r>
          </a:p>
        </p:txBody>
      </p:sp>
      <p:sp>
        <p:nvSpPr>
          <p:cNvPr id="24" name="TextBox 23"/>
          <p:cNvSpPr txBox="1"/>
          <p:nvPr/>
        </p:nvSpPr>
        <p:spPr>
          <a:xfrm>
            <a:off x="2481681" y="3602736"/>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Listed as available in every region in the tool-by-region matrix</a:t>
            </a:r>
          </a:p>
        </p:txBody>
      </p:sp>
      <p:cxnSp>
        <p:nvCxnSpPr>
          <p:cNvPr id="25" name="Connector 24"/>
          <p:cNvCxnSpPr/>
          <p:nvPr/>
        </p:nvCxnSpPr>
        <p:spPr>
          <a:xfrm>
            <a:off x="457200" y="3986784"/>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4005072"/>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Request timeout</a:t>
            </a:r>
          </a:p>
        </p:txBody>
      </p:sp>
      <p:sp>
        <p:nvSpPr>
          <p:cNvPr id="27" name="TextBox 26"/>
          <p:cNvSpPr txBox="1"/>
          <p:nvPr/>
        </p:nvSpPr>
        <p:spPr>
          <a:xfrm>
            <a:off x="2481681" y="4005072"/>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No numeric value documented; retry with exponential backoff is the stated guidance</a:t>
            </a:r>
          </a:p>
        </p:txBody>
      </p:sp>
      <p:cxnSp>
        <p:nvCxnSpPr>
          <p:cNvPr id="28" name="Connector 27"/>
          <p:cNvCxnSpPr/>
          <p:nvPr/>
        </p:nvCxnSpPr>
        <p:spPr>
          <a:xfrm>
            <a:off x="457200" y="4389120"/>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534656" y="1353312"/>
            <a:ext cx="420624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RECOMMENDED INSTRUMENTATION</a:t>
            </a:r>
          </a:p>
        </p:txBody>
      </p:sp>
      <p:sp>
        <p:nvSpPr>
          <p:cNvPr id="30" name="Rectangle 29"/>
          <p:cNvSpPr/>
          <p:nvPr/>
        </p:nvSpPr>
        <p:spPr>
          <a:xfrm>
            <a:off x="7534656" y="1591056"/>
            <a:ext cx="4197096" cy="877824"/>
          </a:xfrm>
          <a:prstGeom prst="rect">
            <a:avLst/>
          </a:prstGeom>
          <a:solidFill>
            <a:srgbClr val="F6F8FD"/>
          </a:solidFill>
          <a:ln w="9525">
            <a:solidFill>
              <a:srgbClr val="E1E7F4"/>
            </a:solidFill>
          </a:ln>
          <a:effectLst/>
        </p:spPr>
        <p:txBody>
          <a:bodyPr wrap="square" rtlCol="0" anchor="ctr"/>
          <a:lstStyle/>
          <a:p>
            <a:endParaRPr/>
          </a:p>
        </p:txBody>
      </p:sp>
      <p:sp>
        <p:nvSpPr>
          <p:cNvPr id="31" name="Rectangle 30"/>
          <p:cNvSpPr/>
          <p:nvPr/>
        </p:nvSpPr>
        <p:spPr>
          <a:xfrm>
            <a:off x="7534656" y="1591056"/>
            <a:ext cx="41148" cy="877824"/>
          </a:xfrm>
          <a:prstGeom prst="rect">
            <a:avLst/>
          </a:prstGeom>
          <a:solidFill>
            <a:srgbClr val="00B39F"/>
          </a:solidFill>
          <a:ln>
            <a:noFill/>
          </a:ln>
          <a:effectLst/>
        </p:spPr>
        <p:txBody>
          <a:bodyPr wrap="square" rtlCol="0" anchor="ctr"/>
          <a:lstStyle/>
          <a:p>
            <a:endParaRPr/>
          </a:p>
        </p:txBody>
      </p:sp>
      <p:sp>
        <p:nvSpPr>
          <p:cNvPr id="32" name="TextBox 31"/>
          <p:cNvSpPr txBox="1"/>
          <p:nvPr/>
        </p:nvSpPr>
        <p:spPr>
          <a:xfrm>
            <a:off x="7717536" y="1709928"/>
            <a:ext cx="383133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Terminal state distribution</a:t>
            </a:r>
          </a:p>
        </p:txBody>
      </p:sp>
      <p:sp>
        <p:nvSpPr>
          <p:cNvPr id="33" name="TextBox 32"/>
          <p:cNvSpPr txBox="1"/>
          <p:nvPr/>
        </p:nvSpPr>
        <p:spPr>
          <a:xfrm>
            <a:off x="7717536" y="1920240"/>
            <a:ext cx="3831336" cy="45720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Count tasks entering each terminal state. A rising proportion of rejected tasks indicates a contract defect rather than a capacity problem.</a:t>
            </a:r>
          </a:p>
        </p:txBody>
      </p:sp>
      <p:sp>
        <p:nvSpPr>
          <p:cNvPr id="34" name="Rectangle 33"/>
          <p:cNvSpPr/>
          <p:nvPr/>
        </p:nvSpPr>
        <p:spPr>
          <a:xfrm>
            <a:off x="7534656" y="2578608"/>
            <a:ext cx="4197096" cy="877824"/>
          </a:xfrm>
          <a:prstGeom prst="rect">
            <a:avLst/>
          </a:prstGeom>
          <a:solidFill>
            <a:srgbClr val="F6F8FD"/>
          </a:solidFill>
          <a:ln w="9525">
            <a:solidFill>
              <a:srgbClr val="E1E7F4"/>
            </a:solidFill>
          </a:ln>
          <a:effectLst/>
        </p:spPr>
        <p:txBody>
          <a:bodyPr wrap="square" rtlCol="0" anchor="ctr"/>
          <a:lstStyle/>
          <a:p>
            <a:endParaRPr/>
          </a:p>
        </p:txBody>
      </p:sp>
      <p:sp>
        <p:nvSpPr>
          <p:cNvPr id="35" name="Rectangle 34"/>
          <p:cNvSpPr/>
          <p:nvPr/>
        </p:nvSpPr>
        <p:spPr>
          <a:xfrm>
            <a:off x="7534656" y="2578608"/>
            <a:ext cx="41148" cy="877824"/>
          </a:xfrm>
          <a:prstGeom prst="rect">
            <a:avLst/>
          </a:prstGeom>
          <a:solidFill>
            <a:srgbClr val="00B39F"/>
          </a:solidFill>
          <a:ln>
            <a:noFill/>
          </a:ln>
          <a:effectLst/>
        </p:spPr>
        <p:txBody>
          <a:bodyPr wrap="square" rtlCol="0" anchor="ctr"/>
          <a:lstStyle/>
          <a:p>
            <a:endParaRPr/>
          </a:p>
        </p:txBody>
      </p:sp>
      <p:sp>
        <p:nvSpPr>
          <p:cNvPr id="36" name="TextBox 35"/>
          <p:cNvSpPr txBox="1"/>
          <p:nvPr/>
        </p:nvSpPr>
        <p:spPr>
          <a:xfrm>
            <a:off x="7717536" y="2697480"/>
            <a:ext cx="383133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Unresolved interrupted tasks</a:t>
            </a:r>
          </a:p>
        </p:txBody>
      </p:sp>
      <p:sp>
        <p:nvSpPr>
          <p:cNvPr id="37" name="TextBox 36"/>
          <p:cNvSpPr txBox="1"/>
          <p:nvPr/>
        </p:nvSpPr>
        <p:spPr>
          <a:xfrm>
            <a:off x="7717536" y="2907792"/>
            <a:ext cx="3831336" cy="45720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Tasks held in input-required or auth-required that never resume represent silent failure in most implementations.</a:t>
            </a:r>
          </a:p>
        </p:txBody>
      </p:sp>
      <p:sp>
        <p:nvSpPr>
          <p:cNvPr id="38" name="Rectangle 37"/>
          <p:cNvSpPr/>
          <p:nvPr/>
        </p:nvSpPr>
        <p:spPr>
          <a:xfrm>
            <a:off x="7534656" y="3566160"/>
            <a:ext cx="4197096" cy="877824"/>
          </a:xfrm>
          <a:prstGeom prst="rect">
            <a:avLst/>
          </a:prstGeom>
          <a:solidFill>
            <a:srgbClr val="F6F8FD"/>
          </a:solidFill>
          <a:ln w="9525">
            <a:solidFill>
              <a:srgbClr val="E1E7F4"/>
            </a:solidFill>
          </a:ln>
          <a:effectLst/>
        </p:spPr>
        <p:txBody>
          <a:bodyPr wrap="square" rtlCol="0" anchor="ctr"/>
          <a:lstStyle/>
          <a:p>
            <a:endParaRPr/>
          </a:p>
        </p:txBody>
      </p:sp>
      <p:sp>
        <p:nvSpPr>
          <p:cNvPr id="39" name="Rectangle 38"/>
          <p:cNvSpPr/>
          <p:nvPr/>
        </p:nvSpPr>
        <p:spPr>
          <a:xfrm>
            <a:off x="7534656" y="3566160"/>
            <a:ext cx="41148" cy="877824"/>
          </a:xfrm>
          <a:prstGeom prst="rect">
            <a:avLst/>
          </a:prstGeom>
          <a:solidFill>
            <a:srgbClr val="00B39F"/>
          </a:solidFill>
          <a:ln>
            <a:noFill/>
          </a:ln>
          <a:effectLst/>
        </p:spPr>
        <p:txBody>
          <a:bodyPr wrap="square" rtlCol="0" anchor="ctr"/>
          <a:lstStyle/>
          <a:p>
            <a:endParaRPr/>
          </a:p>
        </p:txBody>
      </p:sp>
      <p:sp>
        <p:nvSpPr>
          <p:cNvPr id="40" name="TextBox 39"/>
          <p:cNvSpPr txBox="1"/>
          <p:nvPr/>
        </p:nvSpPr>
        <p:spPr>
          <a:xfrm>
            <a:off x="7717536" y="3685032"/>
            <a:ext cx="383133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Agent card version</a:t>
            </a:r>
          </a:p>
        </p:txBody>
      </p:sp>
      <p:sp>
        <p:nvSpPr>
          <p:cNvPr id="41" name="TextBox 40"/>
          <p:cNvSpPr txBox="1"/>
          <p:nvPr/>
        </p:nvSpPr>
        <p:spPr>
          <a:xfrm>
            <a:off x="7717536" y="3895344"/>
            <a:ext cx="3831336" cy="45720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Cache the card and alert on version change; declared skills and security schemes can change without notice.</a:t>
            </a:r>
          </a:p>
        </p:txBody>
      </p:sp>
      <p:sp>
        <p:nvSpPr>
          <p:cNvPr id="42" name="Rectangle 41"/>
          <p:cNvSpPr/>
          <p:nvPr/>
        </p:nvSpPr>
        <p:spPr>
          <a:xfrm>
            <a:off x="7534656" y="4553712"/>
            <a:ext cx="4197096" cy="877824"/>
          </a:xfrm>
          <a:prstGeom prst="rect">
            <a:avLst/>
          </a:prstGeom>
          <a:solidFill>
            <a:srgbClr val="F6F8FD"/>
          </a:solidFill>
          <a:ln w="9525">
            <a:solidFill>
              <a:srgbClr val="E1E7F4"/>
            </a:solidFill>
          </a:ln>
          <a:effectLst/>
        </p:spPr>
        <p:txBody>
          <a:bodyPr wrap="square" rtlCol="0" anchor="ctr"/>
          <a:lstStyle/>
          <a:p>
            <a:endParaRPr/>
          </a:p>
        </p:txBody>
      </p:sp>
      <p:sp>
        <p:nvSpPr>
          <p:cNvPr id="43" name="Rectangle 42"/>
          <p:cNvSpPr/>
          <p:nvPr/>
        </p:nvSpPr>
        <p:spPr>
          <a:xfrm>
            <a:off x="7534656" y="4553712"/>
            <a:ext cx="41148" cy="877824"/>
          </a:xfrm>
          <a:prstGeom prst="rect">
            <a:avLst/>
          </a:prstGeom>
          <a:solidFill>
            <a:srgbClr val="00B39F"/>
          </a:solidFill>
          <a:ln>
            <a:noFill/>
          </a:ln>
          <a:effectLst/>
        </p:spPr>
        <p:txBody>
          <a:bodyPr wrap="square" rtlCol="0" anchor="ctr"/>
          <a:lstStyle/>
          <a:p>
            <a:endParaRPr/>
          </a:p>
        </p:txBody>
      </p:sp>
      <p:sp>
        <p:nvSpPr>
          <p:cNvPr id="44" name="TextBox 43"/>
          <p:cNvSpPr txBox="1"/>
          <p:nvPr/>
        </p:nvSpPr>
        <p:spPr>
          <a:xfrm>
            <a:off x="7717536" y="4672584"/>
            <a:ext cx="383133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Latency and retry rate</a:t>
            </a:r>
          </a:p>
        </p:txBody>
      </p:sp>
      <p:sp>
        <p:nvSpPr>
          <p:cNvPr id="45" name="TextBox 44"/>
          <p:cNvSpPr txBox="1"/>
          <p:nvPr/>
        </p:nvSpPr>
        <p:spPr>
          <a:xfrm>
            <a:off x="7717536" y="4882896"/>
            <a:ext cx="3831336" cy="45720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The remote agent is an external dependency and should be instrumented as one, with its own error budget.</a:t>
            </a:r>
          </a:p>
        </p:txBody>
      </p:sp>
      <p:sp>
        <p:nvSpPr>
          <p:cNvPr id="46" name="TextBox 45"/>
          <p:cNvSpPr txBox="1"/>
          <p:nvPr/>
        </p:nvSpPr>
        <p:spPr>
          <a:xfrm>
            <a:off x="457200" y="4681728"/>
            <a:ext cx="67665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PLACEMENT BEHIND AZURE API MANAGEMENT</a:t>
            </a:r>
          </a:p>
        </p:txBody>
      </p:sp>
      <p:sp>
        <p:nvSpPr>
          <p:cNvPr id="47" name="TextBox 46"/>
          <p:cNvSpPr txBox="1"/>
          <p:nvPr/>
        </p:nvSpPr>
        <p:spPr>
          <a:xfrm>
            <a:off x="457200" y="4919472"/>
            <a:ext cx="6748272" cy="658368"/>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API Management can publish an A2A agent API from its agent card, mediate JSON-RPC to the backend, and emit the agent identifier and name as OpenTelemetry attributes. It rewrites the card it serves — host name, preferred transport and security scheme — and supports JSON-RPC agents only. The same component underlies custom agent registration in the Foundry control plane.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05 · ARCHITECTURAL POSITIONING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Protocol comparison: A2A and the Model Context Protocol</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same criteria applied to both specifications; they address different integration problems and compose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a2a-protocol.org/latest/topics/a2a-and-mcp</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16</a:t>
            </a:r>
          </a:p>
        </p:txBody>
      </p:sp>
      <p:sp>
        <p:nvSpPr>
          <p:cNvPr id="7" name="Rectangle 6"/>
          <p:cNvSpPr/>
          <p:nvPr/>
        </p:nvSpPr>
        <p:spPr>
          <a:xfrm>
            <a:off x="457200" y="1371600"/>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49324"/>
            <a:ext cx="2298124"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Criterion</a:t>
            </a:r>
          </a:p>
        </p:txBody>
      </p:sp>
      <p:sp>
        <p:nvSpPr>
          <p:cNvPr id="9" name="TextBox 8"/>
          <p:cNvSpPr txBox="1"/>
          <p:nvPr/>
        </p:nvSpPr>
        <p:spPr>
          <a:xfrm>
            <a:off x="3066220" y="1449324"/>
            <a:ext cx="4102492"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Model Context Protocol (MCP)</a:t>
            </a:r>
          </a:p>
        </p:txBody>
      </p:sp>
      <p:sp>
        <p:nvSpPr>
          <p:cNvPr id="10" name="TextBox 9"/>
          <p:cNvSpPr txBox="1"/>
          <p:nvPr/>
        </p:nvSpPr>
        <p:spPr>
          <a:xfrm>
            <a:off x="7351593" y="1449324"/>
            <a:ext cx="4328038"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Agent2Agent (A2A)</a:t>
            </a:r>
          </a:p>
        </p:txBody>
      </p:sp>
      <p:sp>
        <p:nvSpPr>
          <p:cNvPr id="11" name="Rectangle 10"/>
          <p:cNvSpPr/>
          <p:nvPr/>
        </p:nvSpPr>
        <p:spPr>
          <a:xfrm>
            <a:off x="457200" y="1682496"/>
            <a:ext cx="11277295" cy="402336"/>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08483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1732788"/>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Integration axis</a:t>
            </a:r>
          </a:p>
        </p:txBody>
      </p:sp>
      <p:sp>
        <p:nvSpPr>
          <p:cNvPr id="14" name="TextBox 13"/>
          <p:cNvSpPr txBox="1"/>
          <p:nvPr/>
        </p:nvSpPr>
        <p:spPr>
          <a:xfrm>
            <a:off x="3066220" y="1732788"/>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Increases the capability of a single agent</a:t>
            </a:r>
          </a:p>
        </p:txBody>
      </p:sp>
      <p:sp>
        <p:nvSpPr>
          <p:cNvPr id="15" name="TextBox 14"/>
          <p:cNvSpPr txBox="1"/>
          <p:nvPr/>
        </p:nvSpPr>
        <p:spPr>
          <a:xfrm>
            <a:off x="7351593" y="1732788"/>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Increases the set of agents a system can coordinate</a:t>
            </a:r>
          </a:p>
        </p:txBody>
      </p:sp>
      <p:cxnSp>
        <p:nvCxnSpPr>
          <p:cNvPr id="16" name="Connector 15"/>
          <p:cNvCxnSpPr/>
          <p:nvPr/>
        </p:nvCxnSpPr>
        <p:spPr>
          <a:xfrm>
            <a:off x="457200" y="248716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5216" y="2135124"/>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Counterpart</a:t>
            </a:r>
          </a:p>
        </p:txBody>
      </p:sp>
      <p:sp>
        <p:nvSpPr>
          <p:cNvPr id="18" name="TextBox 17"/>
          <p:cNvSpPr txBox="1"/>
          <p:nvPr/>
        </p:nvSpPr>
        <p:spPr>
          <a:xfrm>
            <a:off x="3066220" y="2135124"/>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 tool, resource or data source</a:t>
            </a:r>
          </a:p>
        </p:txBody>
      </p:sp>
      <p:sp>
        <p:nvSpPr>
          <p:cNvPr id="19" name="TextBox 18"/>
          <p:cNvSpPr txBox="1"/>
          <p:nvPr/>
        </p:nvSpPr>
        <p:spPr>
          <a:xfrm>
            <a:off x="7351593" y="2135124"/>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An autonomous agent that reasons and plans</a:t>
            </a:r>
          </a:p>
        </p:txBody>
      </p:sp>
      <p:sp>
        <p:nvSpPr>
          <p:cNvPr id="20" name="Rectangle 19"/>
          <p:cNvSpPr/>
          <p:nvPr/>
        </p:nvSpPr>
        <p:spPr>
          <a:xfrm>
            <a:off x="457200" y="2487168"/>
            <a:ext cx="11277295" cy="457200"/>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294436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2537460"/>
            <a:ext cx="2261548" cy="37490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Call semantics</a:t>
            </a:r>
          </a:p>
        </p:txBody>
      </p:sp>
      <p:sp>
        <p:nvSpPr>
          <p:cNvPr id="23" name="TextBox 22"/>
          <p:cNvSpPr txBox="1"/>
          <p:nvPr/>
        </p:nvSpPr>
        <p:spPr>
          <a:xfrm>
            <a:off x="3066220" y="2537460"/>
            <a:ext cx="4065916" cy="37490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Structured input and output, predominantly stateless</a:t>
            </a:r>
          </a:p>
        </p:txBody>
      </p:sp>
      <p:sp>
        <p:nvSpPr>
          <p:cNvPr id="24" name="TextBox 23"/>
          <p:cNvSpPr txBox="1"/>
          <p:nvPr/>
        </p:nvSpPr>
        <p:spPr>
          <a:xfrm>
            <a:off x="7351593" y="2537460"/>
            <a:ext cx="4291462" cy="37490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 task with a defined lifecycle, multi-turn, potentially long-running</a:t>
            </a:r>
          </a:p>
        </p:txBody>
      </p:sp>
      <p:cxnSp>
        <p:nvCxnSpPr>
          <p:cNvPr id="25" name="Connector 24"/>
          <p:cNvCxnSpPr/>
          <p:nvPr/>
        </p:nvCxnSpPr>
        <p:spPr>
          <a:xfrm>
            <a:off x="457200" y="3346704"/>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5216" y="2994660"/>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Typical ownership</a:t>
            </a:r>
          </a:p>
        </p:txBody>
      </p:sp>
      <p:sp>
        <p:nvSpPr>
          <p:cNvPr id="27" name="TextBox 26"/>
          <p:cNvSpPr txBox="1"/>
          <p:nvPr/>
        </p:nvSpPr>
        <p:spPr>
          <a:xfrm>
            <a:off x="3066220" y="2994660"/>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The same team, or a trusted library</a:t>
            </a:r>
          </a:p>
        </p:txBody>
      </p:sp>
      <p:sp>
        <p:nvSpPr>
          <p:cNvPr id="28" name="TextBox 27"/>
          <p:cNvSpPr txBox="1"/>
          <p:nvPr/>
        </p:nvSpPr>
        <p:spPr>
          <a:xfrm>
            <a:off x="7351593" y="2994660"/>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Another team, business unit or organisation</a:t>
            </a:r>
          </a:p>
        </p:txBody>
      </p:sp>
      <p:sp>
        <p:nvSpPr>
          <p:cNvPr id="29" name="Rectangle 28"/>
          <p:cNvSpPr/>
          <p:nvPr/>
        </p:nvSpPr>
        <p:spPr>
          <a:xfrm>
            <a:off x="457200" y="3346704"/>
            <a:ext cx="11277295" cy="402336"/>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749040"/>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85216" y="3396996"/>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Expressive range</a:t>
            </a:r>
          </a:p>
        </p:txBody>
      </p:sp>
      <p:sp>
        <p:nvSpPr>
          <p:cNvPr id="32" name="TextBox 31"/>
          <p:cNvSpPr txBox="1"/>
          <p:nvPr/>
        </p:nvSpPr>
        <p:spPr>
          <a:xfrm>
            <a:off x="3066220" y="3396996"/>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Invoke this capability with these arguments</a:t>
            </a:r>
          </a:p>
        </p:txBody>
      </p:sp>
      <p:sp>
        <p:nvSpPr>
          <p:cNvPr id="33" name="TextBox 32"/>
          <p:cNvSpPr txBox="1"/>
          <p:nvPr/>
        </p:nvSpPr>
        <p:spPr>
          <a:xfrm>
            <a:off x="7351593" y="3396996"/>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Accept this objective; request further input if required</a:t>
            </a:r>
          </a:p>
        </p:txBody>
      </p:sp>
      <p:cxnSp>
        <p:nvCxnSpPr>
          <p:cNvPr id="34" name="Connector 33"/>
          <p:cNvCxnSpPr/>
          <p:nvPr/>
        </p:nvCxnSpPr>
        <p:spPr>
          <a:xfrm>
            <a:off x="457200" y="4151376"/>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85216" y="3799332"/>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Discovery</a:t>
            </a:r>
          </a:p>
        </p:txBody>
      </p:sp>
      <p:sp>
        <p:nvSpPr>
          <p:cNvPr id="36" name="TextBox 35"/>
          <p:cNvSpPr txBox="1"/>
          <p:nvPr/>
        </p:nvSpPr>
        <p:spPr>
          <a:xfrm>
            <a:off x="3066220" y="3799332"/>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The server enumerates its tools and resources</a:t>
            </a:r>
          </a:p>
        </p:txBody>
      </p:sp>
      <p:sp>
        <p:nvSpPr>
          <p:cNvPr id="37" name="TextBox 36"/>
          <p:cNvSpPr txBox="1"/>
          <p:nvPr/>
        </p:nvSpPr>
        <p:spPr>
          <a:xfrm>
            <a:off x="7351593" y="3799332"/>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An Agent Card at a well-known URI, a registry, or direct configuration</a:t>
            </a:r>
          </a:p>
        </p:txBody>
      </p:sp>
      <p:sp>
        <p:nvSpPr>
          <p:cNvPr id="38" name="Rectangle 37"/>
          <p:cNvSpPr/>
          <p:nvPr/>
        </p:nvSpPr>
        <p:spPr>
          <a:xfrm>
            <a:off x="457200" y="4151376"/>
            <a:ext cx="11277295" cy="402336"/>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455371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5216" y="4201668"/>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Failure modes designed for</a:t>
            </a:r>
          </a:p>
        </p:txBody>
      </p:sp>
      <p:sp>
        <p:nvSpPr>
          <p:cNvPr id="41" name="TextBox 40"/>
          <p:cNvSpPr txBox="1"/>
          <p:nvPr/>
        </p:nvSpPr>
        <p:spPr>
          <a:xfrm>
            <a:off x="3066220" y="4201668"/>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Invalid argument or unavailable dependency</a:t>
            </a:r>
          </a:p>
        </p:txBody>
      </p:sp>
      <p:sp>
        <p:nvSpPr>
          <p:cNvPr id="42" name="TextBox 41"/>
          <p:cNvSpPr txBox="1"/>
          <p:nvPr/>
        </p:nvSpPr>
        <p:spPr>
          <a:xfrm>
            <a:off x="7351593" y="4201668"/>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Rejected task, suspension pending input, extended execution time</a:t>
            </a:r>
          </a:p>
        </p:txBody>
      </p:sp>
      <p:cxnSp>
        <p:nvCxnSpPr>
          <p:cNvPr id="43" name="Connector 42"/>
          <p:cNvCxnSpPr/>
          <p:nvPr/>
        </p:nvCxnSpPr>
        <p:spPr>
          <a:xfrm>
            <a:off x="457200" y="495604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85216" y="4604004"/>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Execution boundary</a:t>
            </a:r>
          </a:p>
        </p:txBody>
      </p:sp>
      <p:sp>
        <p:nvSpPr>
          <p:cNvPr id="45" name="TextBox 44"/>
          <p:cNvSpPr txBox="1"/>
          <p:nvPr/>
        </p:nvSpPr>
        <p:spPr>
          <a:xfrm>
            <a:off x="3066220" y="4604004"/>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Within the agent’s own trust boundary</a:t>
            </a:r>
          </a:p>
        </p:txBody>
      </p:sp>
      <p:sp>
        <p:nvSpPr>
          <p:cNvPr id="46" name="TextBox 45"/>
          <p:cNvSpPr txBox="1"/>
          <p:nvPr/>
        </p:nvSpPr>
        <p:spPr>
          <a:xfrm>
            <a:off x="7351593" y="4604004"/>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Across a trust boundary the caller does not control</a:t>
            </a:r>
          </a:p>
        </p:txBody>
      </p:sp>
      <p:cxnSp>
        <p:nvCxnSpPr>
          <p:cNvPr id="47" name="Connector 46"/>
          <p:cNvCxnSpPr/>
          <p:nvPr/>
        </p:nvCxnSpPr>
        <p:spPr>
          <a:xfrm>
            <a:off x="2938204" y="1682496"/>
            <a:ext cx="0" cy="3273552"/>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223577" y="1682496"/>
            <a:ext cx="0" cy="3273552"/>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457200" y="5120640"/>
            <a:ext cx="11277295" cy="566928"/>
          </a:xfrm>
          <a:prstGeom prst="rect">
            <a:avLst/>
          </a:prstGeom>
          <a:solidFill>
            <a:srgbClr val="101A3C"/>
          </a:solidFill>
          <a:ln>
            <a:noFill/>
          </a:ln>
          <a:effectLst/>
        </p:spPr>
        <p:txBody>
          <a:bodyPr wrap="square" rtlCol="0" anchor="ctr"/>
          <a:lstStyle/>
          <a:p>
            <a:endParaRPr/>
          </a:p>
        </p:txBody>
      </p:sp>
      <p:sp>
        <p:nvSpPr>
          <p:cNvPr id="50" name="TextBox 49"/>
          <p:cNvSpPr txBox="1"/>
          <p:nvPr/>
        </p:nvSpPr>
        <p:spPr>
          <a:xfrm>
            <a:off x="694944" y="5248656"/>
            <a:ext cx="10801807" cy="329184"/>
          </a:xfrm>
          <a:prstGeom prst="rect">
            <a:avLst/>
          </a:prstGeom>
          <a:noFill/>
        </p:spPr>
        <p:txBody>
          <a:bodyPr wrap="square" lIns="0" tIns="0" rIns="0" bIns="0" anchor="t">
            <a:spAutoFit/>
          </a:bodyPr>
          <a:lstStyle/>
          <a:p>
            <a:pPr algn="l">
              <a:lnSpc>
                <a:spcPct val="122000"/>
              </a:lnSpc>
            </a:pPr>
            <a:r>
              <a:rPr sz="950" b="0" i="0" dirty="0">
                <a:solidFill>
                  <a:srgbClr val="FFFFFF"/>
                </a:solidFill>
                <a:latin typeface="Segoe UI"/>
                <a:cs typeface="Segoe UI"/>
              </a:rPr>
              <a:t>The two are complementary: the Model Context Protocol operates within an agent, A2A operates between agents. Both are hosted by the Agentic AI Foundation, and a single agent is commonly a client of the first and a client or server of the second.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05 · ARCHITECTURAL POSITIONING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Selecting an integration mechanism in Microsoft Foundry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supported mechanisms for agent-to-agent interaction, and one that has been withdrawn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learn.microsoft.com/azure/foundry/agents/concepts/workflow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17</a:t>
            </a:r>
          </a:p>
        </p:txBody>
      </p:sp>
      <p:sp>
        <p:nvSpPr>
          <p:cNvPr id="7" name="Rectangle 6"/>
          <p:cNvSpPr/>
          <p:nvPr/>
        </p:nvSpPr>
        <p:spPr>
          <a:xfrm>
            <a:off x="457200" y="1371600"/>
            <a:ext cx="3621024" cy="3291840"/>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371600"/>
            <a:ext cx="3621024" cy="548640"/>
          </a:xfrm>
          <a:prstGeom prst="rect">
            <a:avLst/>
          </a:prstGeom>
          <a:solidFill>
            <a:srgbClr val="101A3C"/>
          </a:solidFill>
          <a:ln>
            <a:noFill/>
          </a:ln>
          <a:effectLst/>
        </p:spPr>
        <p:txBody>
          <a:bodyPr wrap="square" rtlCol="0" anchor="ctr"/>
          <a:lstStyle/>
          <a:p>
            <a:endParaRPr/>
          </a:p>
        </p:txBody>
      </p:sp>
      <p:sp>
        <p:nvSpPr>
          <p:cNvPr id="9" name="TextBox 8"/>
          <p:cNvSpPr txBox="1"/>
          <p:nvPr/>
        </p:nvSpPr>
        <p:spPr>
          <a:xfrm>
            <a:off x="640080" y="1463040"/>
            <a:ext cx="3255264" cy="201168"/>
          </a:xfrm>
          <a:prstGeom prst="rect">
            <a:avLst/>
          </a:prstGeom>
          <a:noFill/>
        </p:spPr>
        <p:txBody>
          <a:bodyPr wrap="square" lIns="0" tIns="0" rIns="0" bIns="0" anchor="t">
            <a:spAutoFit/>
          </a:bodyPr>
          <a:lstStyle/>
          <a:p>
            <a:pPr algn="l">
              <a:lnSpc>
                <a:spcPct val="100000"/>
              </a:lnSpc>
            </a:pPr>
            <a:r>
              <a:rPr sz="1150" b="1" i="0" dirty="0">
                <a:solidFill>
                  <a:srgbClr val="FFFFFF"/>
                </a:solidFill>
                <a:latin typeface="Segoe UI"/>
                <a:cs typeface="Segoe UI"/>
              </a:rPr>
              <a:t>A2A tool</a:t>
            </a:r>
          </a:p>
        </p:txBody>
      </p:sp>
      <p:sp>
        <p:nvSpPr>
          <p:cNvPr id="10" name="TextBox 9"/>
          <p:cNvSpPr txBox="1"/>
          <p:nvPr/>
        </p:nvSpPr>
        <p:spPr>
          <a:xfrm>
            <a:off x="640080" y="1691640"/>
            <a:ext cx="3255264"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GENERALLY AVAILABLE</a:t>
            </a:r>
          </a:p>
        </p:txBody>
      </p:sp>
      <p:sp>
        <p:nvSpPr>
          <p:cNvPr id="11" name="TextBox 10"/>
          <p:cNvSpPr txBox="1"/>
          <p:nvPr/>
        </p:nvSpPr>
        <p:spPr>
          <a:xfrm>
            <a:off x="640080" y="204825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WHEN</a:t>
            </a:r>
          </a:p>
        </p:txBody>
      </p:sp>
      <p:sp>
        <p:nvSpPr>
          <p:cNvPr id="12" name="TextBox 11"/>
          <p:cNvSpPr txBox="1"/>
          <p:nvPr/>
        </p:nvSpPr>
        <p:spPr>
          <a:xfrm>
            <a:off x="640080" y="222199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One agent delegates to another without a defined multi-step process.</a:t>
            </a:r>
          </a:p>
        </p:txBody>
      </p:sp>
      <p:sp>
        <p:nvSpPr>
          <p:cNvPr id="13" name="TextBox 12"/>
          <p:cNvSpPr txBox="1"/>
          <p:nvPr/>
        </p:nvSpPr>
        <p:spPr>
          <a:xfrm>
            <a:off x="640080" y="268833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ORCHESTRATION</a:t>
            </a:r>
          </a:p>
        </p:txBody>
      </p:sp>
      <p:sp>
        <p:nvSpPr>
          <p:cNvPr id="14" name="TextBox 13"/>
          <p:cNvSpPr txBox="1"/>
          <p:nvPr/>
        </p:nvSpPr>
        <p:spPr>
          <a:xfrm>
            <a:off x="640080" y="286207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Retained by the calling agent, which remains in control of the interaction.</a:t>
            </a:r>
          </a:p>
        </p:txBody>
      </p:sp>
      <p:sp>
        <p:nvSpPr>
          <p:cNvPr id="15" name="TextBox 14"/>
          <p:cNvSpPr txBox="1"/>
          <p:nvPr/>
        </p:nvSpPr>
        <p:spPr>
          <a:xfrm>
            <a:off x="640080" y="332841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COUPLING</a:t>
            </a:r>
          </a:p>
        </p:txBody>
      </p:sp>
      <p:sp>
        <p:nvSpPr>
          <p:cNvPr id="16" name="TextBox 15"/>
          <p:cNvSpPr txBox="1"/>
          <p:nvPr/>
        </p:nvSpPr>
        <p:spPr>
          <a:xfrm>
            <a:off x="640080" y="350215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Loose — an endpoint and a capability manifest. The counterpart may be any implementation.</a:t>
            </a:r>
          </a:p>
        </p:txBody>
      </p:sp>
      <p:sp>
        <p:nvSpPr>
          <p:cNvPr id="17" name="TextBox 16"/>
          <p:cNvSpPr txBox="1"/>
          <p:nvPr/>
        </p:nvSpPr>
        <p:spPr>
          <a:xfrm>
            <a:off x="640080" y="396849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REACH</a:t>
            </a:r>
          </a:p>
        </p:txBody>
      </p:sp>
      <p:sp>
        <p:nvSpPr>
          <p:cNvPr id="18" name="TextBox 17"/>
          <p:cNvSpPr txBox="1"/>
          <p:nvPr/>
        </p:nvSpPr>
        <p:spPr>
          <a:xfrm>
            <a:off x="640080" y="414223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Any A2A-compliant agent, including another Foundry agent exposed for inbound A2A.</a:t>
            </a:r>
          </a:p>
        </p:txBody>
      </p:sp>
      <p:sp>
        <p:nvSpPr>
          <p:cNvPr id="19" name="Rectangle 18"/>
          <p:cNvSpPr/>
          <p:nvPr/>
        </p:nvSpPr>
        <p:spPr>
          <a:xfrm>
            <a:off x="4297680" y="1371600"/>
            <a:ext cx="3621024" cy="3291840"/>
          </a:xfrm>
          <a:prstGeom prst="rect">
            <a:avLst/>
          </a:prstGeom>
          <a:solidFill>
            <a:srgbClr val="F6F8FD"/>
          </a:solidFill>
          <a:ln w="9525">
            <a:solidFill>
              <a:srgbClr val="E1E7F4"/>
            </a:solidFill>
          </a:ln>
          <a:effectLst/>
        </p:spPr>
        <p:txBody>
          <a:bodyPr wrap="square" rtlCol="0" anchor="ctr"/>
          <a:lstStyle/>
          <a:p>
            <a:endParaRPr/>
          </a:p>
        </p:txBody>
      </p:sp>
      <p:sp>
        <p:nvSpPr>
          <p:cNvPr id="20" name="Rectangle 19"/>
          <p:cNvSpPr/>
          <p:nvPr/>
        </p:nvSpPr>
        <p:spPr>
          <a:xfrm>
            <a:off x="4297680" y="1371600"/>
            <a:ext cx="3621024" cy="548640"/>
          </a:xfrm>
          <a:prstGeom prst="rect">
            <a:avLst/>
          </a:prstGeom>
          <a:solidFill>
            <a:srgbClr val="2A3355"/>
          </a:solidFill>
          <a:ln>
            <a:noFill/>
          </a:ln>
          <a:effectLst/>
        </p:spPr>
        <p:txBody>
          <a:bodyPr wrap="square" rtlCol="0" anchor="ctr"/>
          <a:lstStyle/>
          <a:p>
            <a:endParaRPr/>
          </a:p>
        </p:txBody>
      </p:sp>
      <p:sp>
        <p:nvSpPr>
          <p:cNvPr id="21" name="TextBox 20"/>
          <p:cNvSpPr txBox="1"/>
          <p:nvPr/>
        </p:nvSpPr>
        <p:spPr>
          <a:xfrm>
            <a:off x="4480560" y="1463040"/>
            <a:ext cx="3255264" cy="201168"/>
          </a:xfrm>
          <a:prstGeom prst="rect">
            <a:avLst/>
          </a:prstGeom>
          <a:noFill/>
        </p:spPr>
        <p:txBody>
          <a:bodyPr wrap="square" lIns="0" tIns="0" rIns="0" bIns="0" anchor="t">
            <a:spAutoFit/>
          </a:bodyPr>
          <a:lstStyle/>
          <a:p>
            <a:pPr algn="l">
              <a:lnSpc>
                <a:spcPct val="100000"/>
              </a:lnSpc>
            </a:pPr>
            <a:r>
              <a:rPr sz="1150" b="1" i="0" dirty="0">
                <a:solidFill>
                  <a:srgbClr val="FFFFFF"/>
                </a:solidFill>
                <a:latin typeface="Segoe UI"/>
                <a:cs typeface="Segoe UI"/>
              </a:rPr>
              <a:t>Microsoft Agent Framework</a:t>
            </a:r>
          </a:p>
        </p:txBody>
      </p:sp>
      <p:sp>
        <p:nvSpPr>
          <p:cNvPr id="22" name="TextBox 21"/>
          <p:cNvSpPr txBox="1"/>
          <p:nvPr/>
        </p:nvSpPr>
        <p:spPr>
          <a:xfrm>
            <a:off x="4480560" y="1691640"/>
            <a:ext cx="3255264"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CODE-FIRST ORCHESTRATION</a:t>
            </a:r>
          </a:p>
        </p:txBody>
      </p:sp>
      <p:sp>
        <p:nvSpPr>
          <p:cNvPr id="23" name="TextBox 22"/>
          <p:cNvSpPr txBox="1"/>
          <p:nvPr/>
        </p:nvSpPr>
        <p:spPr>
          <a:xfrm>
            <a:off x="4480560" y="204825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WHEN</a:t>
            </a:r>
          </a:p>
        </p:txBody>
      </p:sp>
      <p:sp>
        <p:nvSpPr>
          <p:cNvPr id="24" name="TextBox 23"/>
          <p:cNvSpPr txBox="1"/>
          <p:nvPr/>
        </p:nvSpPr>
        <p:spPr>
          <a:xfrm>
            <a:off x="4480560" y="222199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 defined multi-agent process is required: sequential, concurrent, hand-off or group chat.</a:t>
            </a:r>
          </a:p>
        </p:txBody>
      </p:sp>
      <p:sp>
        <p:nvSpPr>
          <p:cNvPr id="25" name="TextBox 24"/>
          <p:cNvSpPr txBox="1"/>
          <p:nvPr/>
        </p:nvSpPr>
        <p:spPr>
          <a:xfrm>
            <a:off x="4480560" y="268833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ORCHESTRATION</a:t>
            </a:r>
          </a:p>
        </p:txBody>
      </p:sp>
      <p:sp>
        <p:nvSpPr>
          <p:cNvPr id="26" name="TextBox 25"/>
          <p:cNvSpPr txBox="1"/>
          <p:nvPr/>
        </p:nvSpPr>
        <p:spPr>
          <a:xfrm>
            <a:off x="4480560" y="286207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Explicit, expressed in application code on a supported runtime.</a:t>
            </a:r>
          </a:p>
        </p:txBody>
      </p:sp>
      <p:sp>
        <p:nvSpPr>
          <p:cNvPr id="27" name="TextBox 26"/>
          <p:cNvSpPr txBox="1"/>
          <p:nvPr/>
        </p:nvSpPr>
        <p:spPr>
          <a:xfrm>
            <a:off x="4480560" y="332841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COUPLING</a:t>
            </a:r>
          </a:p>
        </p:txBody>
      </p:sp>
      <p:sp>
        <p:nvSpPr>
          <p:cNvPr id="28" name="TextBox 27"/>
          <p:cNvSpPr txBox="1"/>
          <p:nvPr/>
        </p:nvSpPr>
        <p:spPr>
          <a:xfrm>
            <a:off x="4480560" y="350215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Tighter — though a remote A2A agent participates as a first-class member of a workflow.</a:t>
            </a:r>
          </a:p>
        </p:txBody>
      </p:sp>
      <p:sp>
        <p:nvSpPr>
          <p:cNvPr id="29" name="TextBox 28"/>
          <p:cNvSpPr txBox="1"/>
          <p:nvPr/>
        </p:nvSpPr>
        <p:spPr>
          <a:xfrm>
            <a:off x="4480560" y="396849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REACH</a:t>
            </a:r>
          </a:p>
        </p:txBody>
      </p:sp>
      <p:sp>
        <p:nvSpPr>
          <p:cNvPr id="30" name="TextBox 29"/>
          <p:cNvSpPr txBox="1"/>
          <p:nvPr/>
        </p:nvSpPr>
        <p:spPr>
          <a:xfrm>
            <a:off x="4480560" y="414223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Agents from any provider, composed within a single workflow definition.</a:t>
            </a:r>
          </a:p>
        </p:txBody>
      </p:sp>
      <p:sp>
        <p:nvSpPr>
          <p:cNvPr id="31" name="Rectangle 30"/>
          <p:cNvSpPr/>
          <p:nvPr/>
        </p:nvSpPr>
        <p:spPr>
          <a:xfrm>
            <a:off x="8138160" y="1371600"/>
            <a:ext cx="3621024" cy="3291840"/>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8138160" y="1371600"/>
            <a:ext cx="3621024" cy="548640"/>
          </a:xfrm>
          <a:prstGeom prst="rect">
            <a:avLst/>
          </a:prstGeom>
          <a:solidFill>
            <a:srgbClr val="2A3355"/>
          </a:solidFill>
          <a:ln>
            <a:noFill/>
          </a:ln>
          <a:effectLst/>
        </p:spPr>
        <p:txBody>
          <a:bodyPr wrap="square" rtlCol="0" anchor="ctr"/>
          <a:lstStyle/>
          <a:p>
            <a:endParaRPr/>
          </a:p>
        </p:txBody>
      </p:sp>
      <p:sp>
        <p:nvSpPr>
          <p:cNvPr id="33" name="TextBox 32"/>
          <p:cNvSpPr txBox="1"/>
          <p:nvPr/>
        </p:nvSpPr>
        <p:spPr>
          <a:xfrm>
            <a:off x="8321040" y="1463040"/>
            <a:ext cx="3255264" cy="201168"/>
          </a:xfrm>
          <a:prstGeom prst="rect">
            <a:avLst/>
          </a:prstGeom>
          <a:noFill/>
        </p:spPr>
        <p:txBody>
          <a:bodyPr wrap="square" lIns="0" tIns="0" rIns="0" bIns="0" anchor="t">
            <a:spAutoFit/>
          </a:bodyPr>
          <a:lstStyle/>
          <a:p>
            <a:pPr algn="l">
              <a:lnSpc>
                <a:spcPct val="100000"/>
              </a:lnSpc>
            </a:pPr>
            <a:r>
              <a:rPr sz="1150" b="1" i="0" dirty="0">
                <a:solidFill>
                  <a:srgbClr val="FFFFFF"/>
                </a:solidFill>
                <a:latin typeface="Segoe UI"/>
                <a:cs typeface="Segoe UI"/>
              </a:rPr>
              <a:t>Azure Logic Apps</a:t>
            </a:r>
          </a:p>
        </p:txBody>
      </p:sp>
      <p:sp>
        <p:nvSpPr>
          <p:cNvPr id="34" name="TextBox 33"/>
          <p:cNvSpPr txBox="1"/>
          <p:nvPr/>
        </p:nvSpPr>
        <p:spPr>
          <a:xfrm>
            <a:off x="8321040" y="1691640"/>
            <a:ext cx="3255264"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LOW-CODE ORCHESTRATION</a:t>
            </a:r>
          </a:p>
        </p:txBody>
      </p:sp>
      <p:sp>
        <p:nvSpPr>
          <p:cNvPr id="35" name="TextBox 34"/>
          <p:cNvSpPr txBox="1"/>
          <p:nvPr/>
        </p:nvSpPr>
        <p:spPr>
          <a:xfrm>
            <a:off x="8321040" y="204825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WHEN</a:t>
            </a:r>
          </a:p>
        </p:txBody>
      </p:sp>
      <p:sp>
        <p:nvSpPr>
          <p:cNvPr id="36" name="TextBox 35"/>
          <p:cNvSpPr txBox="1"/>
          <p:nvPr/>
        </p:nvSpPr>
        <p:spPr>
          <a:xfrm>
            <a:off x="8321040" y="222199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 visual designer is required and the process is business-process automation.</a:t>
            </a:r>
          </a:p>
        </p:txBody>
      </p:sp>
      <p:sp>
        <p:nvSpPr>
          <p:cNvPr id="37" name="TextBox 36"/>
          <p:cNvSpPr txBox="1"/>
          <p:nvPr/>
        </p:nvSpPr>
        <p:spPr>
          <a:xfrm>
            <a:off x="8321040" y="268833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ORCHESTRATION</a:t>
            </a:r>
          </a:p>
        </p:txBody>
      </p:sp>
      <p:sp>
        <p:nvSpPr>
          <p:cNvPr id="38" name="TextBox 37"/>
          <p:cNvSpPr txBox="1"/>
          <p:nvPr/>
        </p:nvSpPr>
        <p:spPr>
          <a:xfrm>
            <a:off x="8321040" y="286207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Held in the Logic App, external to the agent.</a:t>
            </a:r>
          </a:p>
        </p:txBody>
      </p:sp>
      <p:sp>
        <p:nvSpPr>
          <p:cNvPr id="39" name="TextBox 38"/>
          <p:cNvSpPr txBox="1"/>
          <p:nvPr/>
        </p:nvSpPr>
        <p:spPr>
          <a:xfrm>
            <a:off x="8321040" y="332841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COUPLING</a:t>
            </a:r>
          </a:p>
        </p:txBody>
      </p:sp>
      <p:sp>
        <p:nvSpPr>
          <p:cNvPr id="40" name="TextBox 39"/>
          <p:cNvSpPr txBox="1"/>
          <p:nvPr/>
        </p:nvSpPr>
        <p:spPr>
          <a:xfrm>
            <a:off x="8321040" y="350215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Connector-based, with the operational characteristics that implies.</a:t>
            </a:r>
          </a:p>
        </p:txBody>
      </p:sp>
      <p:sp>
        <p:nvSpPr>
          <p:cNvPr id="41" name="TextBox 40"/>
          <p:cNvSpPr txBox="1"/>
          <p:nvPr/>
        </p:nvSpPr>
        <p:spPr>
          <a:xfrm>
            <a:off x="8321040" y="396849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REACH</a:t>
            </a:r>
          </a:p>
        </p:txBody>
      </p:sp>
      <p:sp>
        <p:nvSpPr>
          <p:cNvPr id="42" name="TextBox 41"/>
          <p:cNvSpPr txBox="1"/>
          <p:nvPr/>
        </p:nvSpPr>
        <p:spPr>
          <a:xfrm>
            <a:off x="8321040" y="414223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systems addressable by the available connectors.</a:t>
            </a:r>
          </a:p>
        </p:txBody>
      </p:sp>
      <p:sp>
        <p:nvSpPr>
          <p:cNvPr id="43" name="Rectangle 42"/>
          <p:cNvSpPr/>
          <p:nvPr/>
        </p:nvSpPr>
        <p:spPr>
          <a:xfrm>
            <a:off x="457200" y="4809744"/>
            <a:ext cx="11277295" cy="713232"/>
          </a:xfrm>
          <a:prstGeom prst="rect">
            <a:avLst/>
          </a:prstGeom>
          <a:solidFill>
            <a:srgbClr val="EBEFF7"/>
          </a:solidFill>
          <a:ln>
            <a:noFill/>
          </a:ln>
          <a:effectLst/>
        </p:spPr>
        <p:txBody>
          <a:bodyPr wrap="square" rtlCol="0" anchor="ctr"/>
          <a:lstStyle/>
          <a:p>
            <a:endParaRPr/>
          </a:p>
        </p:txBody>
      </p:sp>
      <p:sp>
        <p:nvSpPr>
          <p:cNvPr id="44" name="Rectangle 43"/>
          <p:cNvSpPr/>
          <p:nvPr/>
        </p:nvSpPr>
        <p:spPr>
          <a:xfrm>
            <a:off x="457200" y="4809744"/>
            <a:ext cx="41148" cy="713232"/>
          </a:xfrm>
          <a:prstGeom prst="rect">
            <a:avLst/>
          </a:prstGeom>
          <a:solidFill>
            <a:srgbClr val="00B39F"/>
          </a:solidFill>
          <a:ln>
            <a:noFill/>
          </a:ln>
          <a:effectLst/>
        </p:spPr>
        <p:txBody>
          <a:bodyPr wrap="square" rtlCol="0" anchor="ctr"/>
          <a:lstStyle/>
          <a:p>
            <a:endParaRPr/>
          </a:p>
        </p:txBody>
      </p:sp>
      <p:sp>
        <p:nvSpPr>
          <p:cNvPr id="45" name="TextBox 44"/>
          <p:cNvSpPr txBox="1"/>
          <p:nvPr/>
        </p:nvSpPr>
        <p:spPr>
          <a:xfrm>
            <a:off x="694944" y="4910328"/>
            <a:ext cx="10856671" cy="530352"/>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Two changes to note. The Connected Agents tool from the classic Agents API is not present in the new Foundry Agent Service; the documented replacements are the A2A tool and workflows. Visual workflows are scheduled for retirement on 1 December 2026, with new development directed to Microsoft Agent Framework.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05 · ARCHITECTURAL POSITIONING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Applicability criteria</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Conditions under which A2A is the appropriate mechanism, and conditions under which it is not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learn.microsoft.com/azure/foundry/agents/how-to/tools/agent-to-agent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18</a:t>
            </a:r>
          </a:p>
        </p:txBody>
      </p:sp>
      <p:sp>
        <p:nvSpPr>
          <p:cNvPr id="7" name="TextBox 6"/>
          <p:cNvSpPr txBox="1"/>
          <p:nvPr/>
        </p:nvSpPr>
        <p:spPr>
          <a:xfrm>
            <a:off x="457200" y="1353312"/>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A2A IS THE APPROPRIATE MECHANISM WHERE</a:t>
            </a:r>
          </a:p>
        </p:txBody>
      </p:sp>
      <p:sp>
        <p:nvSpPr>
          <p:cNvPr id="8" name="TextBox 7"/>
          <p:cNvSpPr txBox="1"/>
          <p:nvPr/>
        </p:nvSpPr>
        <p:spPr>
          <a:xfrm>
            <a:off x="6345936" y="1353312"/>
            <a:ext cx="5486400" cy="182880"/>
          </a:xfrm>
          <a:prstGeom prst="rect">
            <a:avLst/>
          </a:prstGeom>
          <a:noFill/>
        </p:spPr>
        <p:txBody>
          <a:bodyPr wrap="square" lIns="0" tIns="0" rIns="0" bIns="0" anchor="t">
            <a:spAutoFit/>
          </a:bodyPr>
          <a:lstStyle/>
          <a:p>
            <a:pPr algn="l">
              <a:lnSpc>
                <a:spcPct val="100000"/>
              </a:lnSpc>
            </a:pPr>
            <a:r>
              <a:rPr sz="800" b="1" i="0" spc="120" dirty="0">
                <a:solidFill>
                  <a:srgbClr val="44495B"/>
                </a:solidFill>
                <a:latin typeface="Segoe UI"/>
                <a:cs typeface="Segoe UI"/>
              </a:rPr>
              <a:t>A2A IS NOT THE APPROPRIATE MECHANISM WHERE</a:t>
            </a:r>
          </a:p>
        </p:txBody>
      </p:sp>
      <p:sp>
        <p:nvSpPr>
          <p:cNvPr id="9" name="Rectangle 8"/>
          <p:cNvSpPr/>
          <p:nvPr/>
        </p:nvSpPr>
        <p:spPr>
          <a:xfrm>
            <a:off x="457200" y="1609344"/>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10" name="Rectangle 9"/>
          <p:cNvSpPr/>
          <p:nvPr/>
        </p:nvSpPr>
        <p:spPr>
          <a:xfrm>
            <a:off x="457200" y="1609344"/>
            <a:ext cx="41148" cy="859536"/>
          </a:xfrm>
          <a:prstGeom prst="rect">
            <a:avLst/>
          </a:prstGeom>
          <a:solidFill>
            <a:srgbClr val="00B39F"/>
          </a:solidFill>
          <a:ln>
            <a:noFill/>
          </a:ln>
          <a:effectLst/>
        </p:spPr>
        <p:txBody>
          <a:bodyPr wrap="square" rtlCol="0" anchor="ctr"/>
          <a:lstStyle/>
          <a:p>
            <a:endParaRPr/>
          </a:p>
        </p:txBody>
      </p:sp>
      <p:sp>
        <p:nvSpPr>
          <p:cNvPr id="11" name="TextBox 10"/>
          <p:cNvSpPr txBox="1"/>
          <p:nvPr/>
        </p:nvSpPr>
        <p:spPr>
          <a:xfrm>
            <a:off x="658368" y="1728216"/>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External ownership</a:t>
            </a:r>
          </a:p>
        </p:txBody>
      </p:sp>
      <p:sp>
        <p:nvSpPr>
          <p:cNvPr id="12" name="TextBox 11"/>
          <p:cNvSpPr txBox="1"/>
          <p:nvPr/>
        </p:nvSpPr>
        <p:spPr>
          <a:xfrm>
            <a:off x="658368" y="1956816"/>
            <a:ext cx="4992624" cy="420624"/>
          </a:xfrm>
          <a:prstGeom prst="rect">
            <a:avLst/>
          </a:prstGeom>
          <a:noFill/>
        </p:spPr>
        <p:txBody>
          <a:bodyPr wrap="square" lIns="0" tIns="0" rIns="0" bIns="0" anchor="t">
            <a:spAutoFit/>
          </a:bodyPr>
          <a:lstStyle/>
          <a:p>
            <a:pPr algn="l">
              <a:lnSpc>
                <a:spcPct val="116000"/>
              </a:lnSpc>
            </a:pPr>
            <a:r>
              <a:rPr lang="en-US" sz="800" b="0" i="0" dirty="0">
                <a:solidFill>
                  <a:srgbClr val="44495B"/>
                </a:solidFill>
                <a:latin typeface="Segoe UI"/>
                <a:cs typeface="Segoe UI"/>
              </a:rPr>
              <a:t>The counterpart is operated by another team, business unit or organisation and changes independently of the caller's release cycle.</a:t>
            </a:r>
            <a:endParaRPr sz="800" b="0" i="0" dirty="0">
              <a:solidFill>
                <a:srgbClr val="44495B"/>
              </a:solidFill>
              <a:latin typeface="Segoe UI"/>
              <a:cs typeface="Segoe UI"/>
            </a:endParaRPr>
          </a:p>
        </p:txBody>
      </p:sp>
      <p:sp>
        <p:nvSpPr>
          <p:cNvPr id="13" name="Rectangle 12"/>
          <p:cNvSpPr/>
          <p:nvPr/>
        </p:nvSpPr>
        <p:spPr>
          <a:xfrm>
            <a:off x="6345936" y="1609344"/>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14" name="Rectangle 13"/>
          <p:cNvSpPr/>
          <p:nvPr/>
        </p:nvSpPr>
        <p:spPr>
          <a:xfrm>
            <a:off x="6345936" y="1609344"/>
            <a:ext cx="41148" cy="859536"/>
          </a:xfrm>
          <a:prstGeom prst="rect">
            <a:avLst/>
          </a:prstGeom>
          <a:solidFill>
            <a:srgbClr val="8A91A6"/>
          </a:solidFill>
          <a:ln>
            <a:noFill/>
          </a:ln>
          <a:effectLst/>
        </p:spPr>
        <p:txBody>
          <a:bodyPr wrap="square" rtlCol="0" anchor="ctr"/>
          <a:lstStyle/>
          <a:p>
            <a:endParaRPr/>
          </a:p>
        </p:txBody>
      </p:sp>
      <p:sp>
        <p:nvSpPr>
          <p:cNvPr id="15" name="TextBox 14"/>
          <p:cNvSpPr txBox="1"/>
          <p:nvPr/>
        </p:nvSpPr>
        <p:spPr>
          <a:xfrm>
            <a:off x="6547104" y="1728216"/>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Fixed-schema operation</a:t>
            </a:r>
          </a:p>
        </p:txBody>
      </p:sp>
      <p:sp>
        <p:nvSpPr>
          <p:cNvPr id="16" name="TextBox 15"/>
          <p:cNvSpPr txBox="1"/>
          <p:nvPr/>
        </p:nvSpPr>
        <p:spPr>
          <a:xfrm>
            <a:off x="6547104" y="1956816"/>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Defined inputs, defined outputs, no retained state. This is a tool; the Model Context Protocol applies and the failure model is simpler.</a:t>
            </a:r>
          </a:p>
        </p:txBody>
      </p:sp>
      <p:sp>
        <p:nvSpPr>
          <p:cNvPr id="17" name="Rectangle 16"/>
          <p:cNvSpPr/>
          <p:nvPr/>
        </p:nvSpPr>
        <p:spPr>
          <a:xfrm>
            <a:off x="457200" y="2560320"/>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18" name="Rectangle 17"/>
          <p:cNvSpPr/>
          <p:nvPr/>
        </p:nvSpPr>
        <p:spPr>
          <a:xfrm>
            <a:off x="457200" y="2560320"/>
            <a:ext cx="41148" cy="859536"/>
          </a:xfrm>
          <a:prstGeom prst="rect">
            <a:avLst/>
          </a:prstGeom>
          <a:solidFill>
            <a:srgbClr val="00B39F"/>
          </a:solidFill>
          <a:ln>
            <a:noFill/>
          </a:ln>
          <a:effectLst/>
        </p:spPr>
        <p:txBody>
          <a:bodyPr wrap="square" rtlCol="0" anchor="ctr"/>
          <a:lstStyle/>
          <a:p>
            <a:endParaRPr/>
          </a:p>
        </p:txBody>
      </p:sp>
      <p:sp>
        <p:nvSpPr>
          <p:cNvPr id="19" name="TextBox 18"/>
          <p:cNvSpPr txBox="1"/>
          <p:nvPr/>
        </p:nvSpPr>
        <p:spPr>
          <a:xfrm>
            <a:off x="658368" y="2679191"/>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Objective-level delegation</a:t>
            </a:r>
          </a:p>
        </p:txBody>
      </p:sp>
      <p:sp>
        <p:nvSpPr>
          <p:cNvPr id="20" name="TextBox 19"/>
          <p:cNvSpPr txBox="1"/>
          <p:nvPr/>
        </p:nvSpPr>
        <p:spPr>
          <a:xfrm>
            <a:off x="658368" y="2907791"/>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The remote agent may legitimately require clarification before it can proceed, and suspension must not be treated as failure.</a:t>
            </a:r>
          </a:p>
        </p:txBody>
      </p:sp>
      <p:sp>
        <p:nvSpPr>
          <p:cNvPr id="21" name="Rectangle 20"/>
          <p:cNvSpPr/>
          <p:nvPr/>
        </p:nvSpPr>
        <p:spPr>
          <a:xfrm>
            <a:off x="6345936" y="2560320"/>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22" name="Rectangle 21"/>
          <p:cNvSpPr/>
          <p:nvPr/>
        </p:nvSpPr>
        <p:spPr>
          <a:xfrm>
            <a:off x="6345936" y="2560320"/>
            <a:ext cx="41148" cy="859536"/>
          </a:xfrm>
          <a:prstGeom prst="rect">
            <a:avLst/>
          </a:prstGeom>
          <a:solidFill>
            <a:srgbClr val="8A91A6"/>
          </a:solidFill>
          <a:ln>
            <a:noFill/>
          </a:ln>
          <a:effectLst/>
        </p:spPr>
        <p:txBody>
          <a:bodyPr wrap="square" rtlCol="0" anchor="ctr"/>
          <a:lstStyle/>
          <a:p>
            <a:endParaRPr/>
          </a:p>
        </p:txBody>
      </p:sp>
      <p:sp>
        <p:nvSpPr>
          <p:cNvPr id="23" name="TextBox 22"/>
          <p:cNvSpPr txBox="1"/>
          <p:nvPr/>
        </p:nvSpPr>
        <p:spPr>
          <a:xfrm>
            <a:off x="6547104" y="2679191"/>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Defined multi-step process</a:t>
            </a:r>
          </a:p>
        </p:txBody>
      </p:sp>
      <p:sp>
        <p:nvSpPr>
          <p:cNvPr id="24" name="TextBox 23"/>
          <p:cNvSpPr txBox="1"/>
          <p:nvPr/>
        </p:nvSpPr>
        <p:spPr>
          <a:xfrm>
            <a:off x="6547104" y="2907791"/>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Branching, approval or compensation across several agents. Orchestration belongs in a workflow where the control flow is explicit.</a:t>
            </a:r>
          </a:p>
        </p:txBody>
      </p:sp>
      <p:sp>
        <p:nvSpPr>
          <p:cNvPr id="25" name="Rectangle 24"/>
          <p:cNvSpPr/>
          <p:nvPr/>
        </p:nvSpPr>
        <p:spPr>
          <a:xfrm>
            <a:off x="457200" y="3511296"/>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26" name="Rectangle 25"/>
          <p:cNvSpPr/>
          <p:nvPr/>
        </p:nvSpPr>
        <p:spPr>
          <a:xfrm>
            <a:off x="457200" y="3511296"/>
            <a:ext cx="41148" cy="859536"/>
          </a:xfrm>
          <a:prstGeom prst="rect">
            <a:avLst/>
          </a:prstGeom>
          <a:solidFill>
            <a:srgbClr val="00B39F"/>
          </a:solidFill>
          <a:ln>
            <a:noFill/>
          </a:ln>
          <a:effectLst/>
        </p:spPr>
        <p:txBody>
          <a:bodyPr wrap="square" rtlCol="0" anchor="ctr"/>
          <a:lstStyle/>
          <a:p>
            <a:endParaRPr/>
          </a:p>
        </p:txBody>
      </p:sp>
      <p:sp>
        <p:nvSpPr>
          <p:cNvPr id="27" name="TextBox 26"/>
          <p:cNvSpPr txBox="1"/>
          <p:nvPr/>
        </p:nvSpPr>
        <p:spPr>
          <a:xfrm>
            <a:off x="658368" y="3630168"/>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Uniform integration surface</a:t>
            </a:r>
          </a:p>
        </p:txBody>
      </p:sp>
      <p:sp>
        <p:nvSpPr>
          <p:cNvPr id="28" name="TextBox 27"/>
          <p:cNvSpPr txBox="1"/>
          <p:nvPr/>
        </p:nvSpPr>
        <p:spPr>
          <a:xfrm>
            <a:off x="658368" y="3858768"/>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A single discovery mechanism and task model is preferred over a bespoke contract negotiated per counterpart.</a:t>
            </a:r>
          </a:p>
        </p:txBody>
      </p:sp>
      <p:sp>
        <p:nvSpPr>
          <p:cNvPr id="29" name="Rectangle 28"/>
          <p:cNvSpPr/>
          <p:nvPr/>
        </p:nvSpPr>
        <p:spPr>
          <a:xfrm>
            <a:off x="6345936" y="3511296"/>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30" name="Rectangle 29"/>
          <p:cNvSpPr/>
          <p:nvPr/>
        </p:nvSpPr>
        <p:spPr>
          <a:xfrm>
            <a:off x="6345936" y="3511296"/>
            <a:ext cx="41148" cy="859536"/>
          </a:xfrm>
          <a:prstGeom prst="rect">
            <a:avLst/>
          </a:prstGeom>
          <a:solidFill>
            <a:srgbClr val="8A91A6"/>
          </a:solidFill>
          <a:ln>
            <a:noFill/>
          </a:ln>
          <a:effectLst/>
        </p:spPr>
        <p:txBody>
          <a:bodyPr wrap="square" rtlCol="0" anchor="ctr"/>
          <a:lstStyle/>
          <a:p>
            <a:endParaRPr/>
          </a:p>
        </p:txBody>
      </p:sp>
      <p:sp>
        <p:nvSpPr>
          <p:cNvPr id="31" name="TextBox 30"/>
          <p:cNvSpPr txBox="1"/>
          <p:nvPr/>
        </p:nvSpPr>
        <p:spPr>
          <a:xfrm>
            <a:off x="6547104" y="3630168"/>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Non-text payloads</a:t>
            </a:r>
          </a:p>
        </p:txBody>
      </p:sp>
      <p:sp>
        <p:nvSpPr>
          <p:cNvPr id="32" name="TextBox 31"/>
          <p:cNvSpPr txBox="1"/>
          <p:nvPr/>
        </p:nvSpPr>
        <p:spPr>
          <a:xfrm>
            <a:off x="6547104" y="3858768"/>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Foundry A2A targets carry the text modality only; file and structured data parts are not transmitted.</a:t>
            </a:r>
          </a:p>
        </p:txBody>
      </p:sp>
      <p:sp>
        <p:nvSpPr>
          <p:cNvPr id="33" name="Rectangle 32"/>
          <p:cNvSpPr/>
          <p:nvPr/>
        </p:nvSpPr>
        <p:spPr>
          <a:xfrm>
            <a:off x="457200" y="4462272"/>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34" name="Rectangle 33"/>
          <p:cNvSpPr/>
          <p:nvPr/>
        </p:nvSpPr>
        <p:spPr>
          <a:xfrm>
            <a:off x="457200" y="4462272"/>
            <a:ext cx="41148" cy="859536"/>
          </a:xfrm>
          <a:prstGeom prst="rect">
            <a:avLst/>
          </a:prstGeom>
          <a:solidFill>
            <a:srgbClr val="00B39F"/>
          </a:solidFill>
          <a:ln>
            <a:noFill/>
          </a:ln>
          <a:effectLst/>
        </p:spPr>
        <p:txBody>
          <a:bodyPr wrap="square" rtlCol="0" anchor="ctr"/>
          <a:lstStyle/>
          <a:p>
            <a:endParaRPr/>
          </a:p>
        </p:txBody>
      </p:sp>
      <p:sp>
        <p:nvSpPr>
          <p:cNvPr id="35" name="TextBox 34"/>
          <p:cNvSpPr txBox="1"/>
          <p:nvPr/>
        </p:nvSpPr>
        <p:spPr>
          <a:xfrm>
            <a:off x="658368" y="4581144"/>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Capability publication</a:t>
            </a:r>
          </a:p>
        </p:txBody>
      </p:sp>
      <p:sp>
        <p:nvSpPr>
          <p:cNvPr id="36" name="TextBox 35"/>
          <p:cNvSpPr txBox="1"/>
          <p:nvPr/>
        </p:nvSpPr>
        <p:spPr>
          <a:xfrm>
            <a:off x="658368" y="4809744"/>
            <a:ext cx="4992624" cy="420624"/>
          </a:xfrm>
          <a:prstGeom prst="rect">
            <a:avLst/>
          </a:prstGeom>
          <a:noFill/>
        </p:spPr>
        <p:txBody>
          <a:bodyPr wrap="square" lIns="0" tIns="0" rIns="0" bIns="0" anchor="t">
            <a:spAutoFit/>
          </a:bodyPr>
          <a:lstStyle/>
          <a:p>
            <a:pPr algn="l">
              <a:lnSpc>
                <a:spcPct val="116000"/>
              </a:lnSpc>
            </a:pPr>
            <a:r>
              <a:rPr lang="en-US" sz="800" b="0" i="0" dirty="0">
                <a:solidFill>
                  <a:srgbClr val="44495B"/>
                </a:solidFill>
                <a:latin typeface="Segoe UI"/>
                <a:cs typeface="Segoe UI"/>
              </a:rPr>
              <a:t>Other parties should be able to discover and invoke the agent without a proprietary client library.</a:t>
            </a:r>
            <a:endParaRPr sz="800" b="0" i="0" dirty="0">
              <a:solidFill>
                <a:srgbClr val="44495B"/>
              </a:solidFill>
              <a:latin typeface="Segoe UI"/>
              <a:cs typeface="Segoe UI"/>
            </a:endParaRPr>
          </a:p>
        </p:txBody>
      </p:sp>
      <p:sp>
        <p:nvSpPr>
          <p:cNvPr id="37" name="Rectangle 36"/>
          <p:cNvSpPr/>
          <p:nvPr/>
        </p:nvSpPr>
        <p:spPr>
          <a:xfrm>
            <a:off x="6345936" y="4462272"/>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38" name="Rectangle 37"/>
          <p:cNvSpPr/>
          <p:nvPr/>
        </p:nvSpPr>
        <p:spPr>
          <a:xfrm>
            <a:off x="6345936" y="4462272"/>
            <a:ext cx="41148" cy="859536"/>
          </a:xfrm>
          <a:prstGeom prst="rect">
            <a:avLst/>
          </a:prstGeom>
          <a:solidFill>
            <a:srgbClr val="8A91A6"/>
          </a:solidFill>
          <a:ln>
            <a:noFill/>
          </a:ln>
          <a:effectLst/>
        </p:spPr>
        <p:txBody>
          <a:bodyPr wrap="square" rtlCol="0" anchor="ctr"/>
          <a:lstStyle/>
          <a:p>
            <a:endParaRPr/>
          </a:p>
        </p:txBody>
      </p:sp>
      <p:sp>
        <p:nvSpPr>
          <p:cNvPr id="39" name="TextBox 38"/>
          <p:cNvSpPr txBox="1"/>
          <p:nvPr/>
        </p:nvSpPr>
        <p:spPr>
          <a:xfrm>
            <a:off x="6547104" y="4581144"/>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Progress reporting required</a:t>
            </a:r>
          </a:p>
        </p:txBody>
      </p:sp>
      <p:sp>
        <p:nvSpPr>
          <p:cNvPr id="40" name="TextBox 39"/>
          <p:cNvSpPr txBox="1"/>
          <p:nvPr/>
        </p:nvSpPr>
        <p:spPr>
          <a:xfrm>
            <a:off x="6547104" y="4809744"/>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Server-Sent Events are not supported for Foundry A2A targets, so no intermediate state is available to present.</a:t>
            </a:r>
          </a:p>
        </p:txBody>
      </p:sp>
      <p:sp>
        <p:nvSpPr>
          <p:cNvPr id="41" name="TextBox 40"/>
          <p:cNvSpPr txBox="1"/>
          <p:nvPr/>
        </p:nvSpPr>
        <p:spPr>
          <a:xfrm>
            <a:off x="457200" y="5449824"/>
            <a:ext cx="11277295" cy="182880"/>
          </a:xfrm>
          <a:prstGeom prst="rect">
            <a:avLst/>
          </a:prstGeom>
          <a:noFill/>
        </p:spPr>
        <p:txBody>
          <a:bodyPr wrap="square" lIns="0" tIns="0" rIns="0" bIns="0" anchor="t">
            <a:spAutoFit/>
          </a:bodyPr>
          <a:lstStyle/>
          <a:p>
            <a:pPr algn="l">
              <a:lnSpc>
                <a:spcPct val="100000"/>
              </a:lnSpc>
            </a:pPr>
            <a:r>
              <a:rPr sz="800" b="0" i="1" dirty="0">
                <a:solidFill>
                  <a:srgbClr val="44495B"/>
                </a:solidFill>
                <a:latin typeface="Segoe UI"/>
                <a:cs typeface="Segoe UI"/>
              </a:rPr>
              <a:t>Selection test: where the counterpart can be invoked with a fixed schema and requires no interaction until completion, it is a tool, not an agent.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06 · ADOPTION AND STATUS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Implementation phases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sequence in which each phase establishes a precondition for the next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learn.microsoft.com/azure/foundry/agents/how-to/tools/agent-to-agent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19</a:t>
            </a:r>
          </a:p>
        </p:txBody>
      </p:sp>
      <p:sp>
        <p:nvSpPr>
          <p:cNvPr id="7" name="Rectangle 6"/>
          <p:cNvSpPr/>
          <p:nvPr/>
        </p:nvSpPr>
        <p:spPr>
          <a:xfrm>
            <a:off x="457200" y="1554480"/>
            <a:ext cx="2148840" cy="2249424"/>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554480"/>
            <a:ext cx="2148840" cy="41148"/>
          </a:xfrm>
          <a:prstGeom prst="rect">
            <a:avLst/>
          </a:prstGeom>
          <a:solidFill>
            <a:srgbClr val="00B39F"/>
          </a:solidFill>
          <a:ln>
            <a:noFill/>
          </a:ln>
          <a:effectLst/>
        </p:spPr>
        <p:txBody>
          <a:bodyPr wrap="square" rtlCol="0" anchor="ctr"/>
          <a:lstStyle/>
          <a:p>
            <a:endParaRPr/>
          </a:p>
        </p:txBody>
      </p:sp>
      <p:sp>
        <p:nvSpPr>
          <p:cNvPr id="9" name="TextBox 8"/>
          <p:cNvSpPr txBox="1"/>
          <p:nvPr/>
        </p:nvSpPr>
        <p:spPr>
          <a:xfrm>
            <a:off x="640080" y="1755648"/>
            <a:ext cx="1783080" cy="256032"/>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01</a:t>
            </a:r>
          </a:p>
        </p:txBody>
      </p:sp>
      <p:sp>
        <p:nvSpPr>
          <p:cNvPr id="10" name="TextBox 9"/>
          <p:cNvSpPr txBox="1"/>
          <p:nvPr/>
        </p:nvSpPr>
        <p:spPr>
          <a:xfrm>
            <a:off x="640080" y="2121408"/>
            <a:ext cx="1783080" cy="420624"/>
          </a:xfrm>
          <a:prstGeom prst="rect">
            <a:avLst/>
          </a:prstGeom>
          <a:noFill/>
        </p:spPr>
        <p:txBody>
          <a:bodyPr wrap="square" lIns="0" tIns="0" rIns="0" bIns="0" anchor="t">
            <a:spAutoFit/>
          </a:bodyPr>
          <a:lstStyle/>
          <a:p>
            <a:pPr algn="l">
              <a:lnSpc>
                <a:spcPct val="110000"/>
              </a:lnSpc>
            </a:pPr>
            <a:r>
              <a:rPr sz="1000" b="1" i="0" dirty="0">
                <a:solidFill>
                  <a:srgbClr val="101A3C"/>
                </a:solidFill>
                <a:latin typeface="Segoe UI"/>
                <a:cs typeface="Segoe UI"/>
              </a:rPr>
              <a:t>Establish connectivity</a:t>
            </a:r>
          </a:p>
        </p:txBody>
      </p:sp>
      <p:sp>
        <p:nvSpPr>
          <p:cNvPr id="11" name="TextBox 10"/>
          <p:cNvSpPr txBox="1"/>
          <p:nvPr/>
        </p:nvSpPr>
        <p:spPr>
          <a:xfrm>
            <a:off x="640080" y="2670048"/>
            <a:ext cx="1783080" cy="106070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Attach the generally available a2a tool to a test agent and invoke a known-good remote endpoint. Confirm card resolution and completion of a single task.</a:t>
            </a:r>
          </a:p>
        </p:txBody>
      </p:sp>
      <p:cxnSp>
        <p:nvCxnSpPr>
          <p:cNvPr id="12" name="Connector 11"/>
          <p:cNvCxnSpPr/>
          <p:nvPr/>
        </p:nvCxnSpPr>
        <p:spPr>
          <a:xfrm>
            <a:off x="2610612" y="2679192"/>
            <a:ext cx="109728" cy="0"/>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724912" y="1554480"/>
            <a:ext cx="2148840" cy="2249424"/>
          </a:xfrm>
          <a:prstGeom prst="rect">
            <a:avLst/>
          </a:prstGeom>
          <a:solidFill>
            <a:srgbClr val="F6F8FD"/>
          </a:solidFill>
          <a:ln w="9525">
            <a:solidFill>
              <a:srgbClr val="E1E7F4"/>
            </a:solidFill>
          </a:ln>
          <a:effectLst/>
        </p:spPr>
        <p:txBody>
          <a:bodyPr wrap="square" rtlCol="0" anchor="ctr"/>
          <a:lstStyle/>
          <a:p>
            <a:endParaRPr/>
          </a:p>
        </p:txBody>
      </p:sp>
      <p:sp>
        <p:nvSpPr>
          <p:cNvPr id="14" name="Rectangle 13"/>
          <p:cNvSpPr/>
          <p:nvPr/>
        </p:nvSpPr>
        <p:spPr>
          <a:xfrm>
            <a:off x="2724912" y="1554480"/>
            <a:ext cx="2148840" cy="41148"/>
          </a:xfrm>
          <a:prstGeom prst="rect">
            <a:avLst/>
          </a:prstGeom>
          <a:solidFill>
            <a:srgbClr val="00B39F"/>
          </a:solidFill>
          <a:ln>
            <a:noFill/>
          </a:ln>
          <a:effectLst/>
        </p:spPr>
        <p:txBody>
          <a:bodyPr wrap="square" rtlCol="0" anchor="ctr"/>
          <a:lstStyle/>
          <a:p>
            <a:endParaRPr/>
          </a:p>
        </p:txBody>
      </p:sp>
      <p:sp>
        <p:nvSpPr>
          <p:cNvPr id="15" name="TextBox 14"/>
          <p:cNvSpPr txBox="1"/>
          <p:nvPr/>
        </p:nvSpPr>
        <p:spPr>
          <a:xfrm>
            <a:off x="2907792" y="1755648"/>
            <a:ext cx="1783080" cy="256032"/>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02</a:t>
            </a:r>
          </a:p>
        </p:txBody>
      </p:sp>
      <p:sp>
        <p:nvSpPr>
          <p:cNvPr id="16" name="TextBox 15"/>
          <p:cNvSpPr txBox="1"/>
          <p:nvPr/>
        </p:nvSpPr>
        <p:spPr>
          <a:xfrm>
            <a:off x="2907792" y="2121408"/>
            <a:ext cx="1783080" cy="420624"/>
          </a:xfrm>
          <a:prstGeom prst="rect">
            <a:avLst/>
          </a:prstGeom>
          <a:noFill/>
        </p:spPr>
        <p:txBody>
          <a:bodyPr wrap="square" lIns="0" tIns="0" rIns="0" bIns="0" anchor="t">
            <a:spAutoFit/>
          </a:bodyPr>
          <a:lstStyle/>
          <a:p>
            <a:pPr algn="l">
              <a:lnSpc>
                <a:spcPct val="110000"/>
              </a:lnSpc>
            </a:pPr>
            <a:r>
              <a:rPr sz="1000" b="1" i="0" dirty="0">
                <a:solidFill>
                  <a:srgbClr val="101A3C"/>
                </a:solidFill>
                <a:latin typeface="Segoe UI"/>
                <a:cs typeface="Segoe UI"/>
              </a:rPr>
              <a:t>Determine the identity model</a:t>
            </a:r>
          </a:p>
        </p:txBody>
      </p:sp>
      <p:sp>
        <p:nvSpPr>
          <p:cNvPr id="17" name="TextBox 16"/>
          <p:cNvSpPr txBox="1"/>
          <p:nvPr/>
        </p:nvSpPr>
        <p:spPr>
          <a:xfrm>
            <a:off x="2907792" y="2670048"/>
            <a:ext cx="1783080" cy="106070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Select the authentication type deliberately. Where the remote agent authorises per user, validate OAuth identity passthrough now.</a:t>
            </a:r>
          </a:p>
        </p:txBody>
      </p:sp>
      <p:cxnSp>
        <p:nvCxnSpPr>
          <p:cNvPr id="18" name="Connector 17"/>
          <p:cNvCxnSpPr/>
          <p:nvPr/>
        </p:nvCxnSpPr>
        <p:spPr>
          <a:xfrm>
            <a:off x="4878324" y="2679192"/>
            <a:ext cx="109728" cy="0"/>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992624" y="1554480"/>
            <a:ext cx="2148840" cy="2249424"/>
          </a:xfrm>
          <a:prstGeom prst="rect">
            <a:avLst/>
          </a:prstGeom>
          <a:solidFill>
            <a:srgbClr val="F6F8FD"/>
          </a:solidFill>
          <a:ln w="9525">
            <a:solidFill>
              <a:srgbClr val="E1E7F4"/>
            </a:solidFill>
          </a:ln>
          <a:effectLst/>
        </p:spPr>
        <p:txBody>
          <a:bodyPr wrap="square" rtlCol="0" anchor="ctr"/>
          <a:lstStyle/>
          <a:p>
            <a:endParaRPr/>
          </a:p>
        </p:txBody>
      </p:sp>
      <p:sp>
        <p:nvSpPr>
          <p:cNvPr id="20" name="Rectangle 19"/>
          <p:cNvSpPr/>
          <p:nvPr/>
        </p:nvSpPr>
        <p:spPr>
          <a:xfrm>
            <a:off x="4992624" y="1554480"/>
            <a:ext cx="2148840" cy="41148"/>
          </a:xfrm>
          <a:prstGeom prst="rect">
            <a:avLst/>
          </a:prstGeom>
          <a:solidFill>
            <a:srgbClr val="00B39F"/>
          </a:solidFill>
          <a:ln>
            <a:noFill/>
          </a:ln>
          <a:effectLst/>
        </p:spPr>
        <p:txBody>
          <a:bodyPr wrap="square" rtlCol="0" anchor="ctr"/>
          <a:lstStyle/>
          <a:p>
            <a:endParaRPr/>
          </a:p>
        </p:txBody>
      </p:sp>
      <p:sp>
        <p:nvSpPr>
          <p:cNvPr id="21" name="TextBox 20"/>
          <p:cNvSpPr txBox="1"/>
          <p:nvPr/>
        </p:nvSpPr>
        <p:spPr>
          <a:xfrm>
            <a:off x="5175504" y="1755648"/>
            <a:ext cx="1783080" cy="256032"/>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03</a:t>
            </a:r>
          </a:p>
        </p:txBody>
      </p:sp>
      <p:sp>
        <p:nvSpPr>
          <p:cNvPr id="22" name="TextBox 21"/>
          <p:cNvSpPr txBox="1"/>
          <p:nvPr/>
        </p:nvSpPr>
        <p:spPr>
          <a:xfrm>
            <a:off x="5175504" y="2121408"/>
            <a:ext cx="1783080" cy="420624"/>
          </a:xfrm>
          <a:prstGeom prst="rect">
            <a:avLst/>
          </a:prstGeom>
          <a:noFill/>
        </p:spPr>
        <p:txBody>
          <a:bodyPr wrap="square" lIns="0" tIns="0" rIns="0" bIns="0" anchor="t">
            <a:spAutoFit/>
          </a:bodyPr>
          <a:lstStyle/>
          <a:p>
            <a:pPr algn="l">
              <a:lnSpc>
                <a:spcPct val="110000"/>
              </a:lnSpc>
            </a:pPr>
            <a:r>
              <a:rPr sz="1000" b="1" i="0" dirty="0">
                <a:solidFill>
                  <a:srgbClr val="101A3C"/>
                </a:solidFill>
                <a:latin typeface="Segoe UI"/>
                <a:cs typeface="Segoe UI"/>
              </a:rPr>
              <a:t>Establish observability</a:t>
            </a:r>
          </a:p>
        </p:txBody>
      </p:sp>
      <p:sp>
        <p:nvSpPr>
          <p:cNvPr id="23" name="TextBox 22"/>
          <p:cNvSpPr txBox="1"/>
          <p:nvPr/>
        </p:nvSpPr>
        <p:spPr>
          <a:xfrm>
            <a:off x="5175504" y="2670048"/>
            <a:ext cx="1783080" cy="106070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Record task and context identifiers and terminal states. Alert on rejected and on unresolved interrupted tasks. Monitor the remote card version.</a:t>
            </a:r>
          </a:p>
        </p:txBody>
      </p:sp>
      <p:cxnSp>
        <p:nvCxnSpPr>
          <p:cNvPr id="24" name="Connector 23"/>
          <p:cNvCxnSpPr/>
          <p:nvPr/>
        </p:nvCxnSpPr>
        <p:spPr>
          <a:xfrm>
            <a:off x="7146036" y="2679192"/>
            <a:ext cx="109728" cy="0"/>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260336" y="1554480"/>
            <a:ext cx="2148840" cy="2249424"/>
          </a:xfrm>
          <a:prstGeom prst="rect">
            <a:avLst/>
          </a:prstGeom>
          <a:solidFill>
            <a:srgbClr val="F6F8FD"/>
          </a:solidFill>
          <a:ln w="9525">
            <a:solidFill>
              <a:srgbClr val="E1E7F4"/>
            </a:solidFill>
          </a:ln>
          <a:effectLst/>
        </p:spPr>
        <p:txBody>
          <a:bodyPr wrap="square" rtlCol="0" anchor="ctr"/>
          <a:lstStyle/>
          <a:p>
            <a:endParaRPr/>
          </a:p>
        </p:txBody>
      </p:sp>
      <p:sp>
        <p:nvSpPr>
          <p:cNvPr id="26" name="Rectangle 25"/>
          <p:cNvSpPr/>
          <p:nvPr/>
        </p:nvSpPr>
        <p:spPr>
          <a:xfrm>
            <a:off x="7260336" y="1554480"/>
            <a:ext cx="2148840" cy="41148"/>
          </a:xfrm>
          <a:prstGeom prst="rect">
            <a:avLst/>
          </a:prstGeom>
          <a:solidFill>
            <a:srgbClr val="00B39F"/>
          </a:solidFill>
          <a:ln>
            <a:noFill/>
          </a:ln>
          <a:effectLst/>
        </p:spPr>
        <p:txBody>
          <a:bodyPr wrap="square" rtlCol="0" anchor="ctr"/>
          <a:lstStyle/>
          <a:p>
            <a:endParaRPr/>
          </a:p>
        </p:txBody>
      </p:sp>
      <p:sp>
        <p:nvSpPr>
          <p:cNvPr id="27" name="TextBox 26"/>
          <p:cNvSpPr txBox="1"/>
          <p:nvPr/>
        </p:nvSpPr>
        <p:spPr>
          <a:xfrm>
            <a:off x="7443215" y="1755648"/>
            <a:ext cx="1783080" cy="256032"/>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04</a:t>
            </a:r>
          </a:p>
        </p:txBody>
      </p:sp>
      <p:sp>
        <p:nvSpPr>
          <p:cNvPr id="28" name="TextBox 27"/>
          <p:cNvSpPr txBox="1"/>
          <p:nvPr/>
        </p:nvSpPr>
        <p:spPr>
          <a:xfrm>
            <a:off x="7443215" y="2121408"/>
            <a:ext cx="1783080" cy="420624"/>
          </a:xfrm>
          <a:prstGeom prst="rect">
            <a:avLst/>
          </a:prstGeom>
          <a:noFill/>
        </p:spPr>
        <p:txBody>
          <a:bodyPr wrap="square" lIns="0" tIns="0" rIns="0" bIns="0" anchor="t">
            <a:spAutoFit/>
          </a:bodyPr>
          <a:lstStyle/>
          <a:p>
            <a:pPr algn="l">
              <a:lnSpc>
                <a:spcPct val="110000"/>
              </a:lnSpc>
            </a:pPr>
            <a:r>
              <a:rPr sz="1000" b="1" i="0" dirty="0">
                <a:solidFill>
                  <a:srgbClr val="101A3C"/>
                </a:solidFill>
                <a:latin typeface="Segoe UI"/>
                <a:cs typeface="Segoe UI"/>
              </a:rPr>
              <a:t>Decide the orchestration topology</a:t>
            </a:r>
          </a:p>
        </p:txBody>
      </p:sp>
      <p:sp>
        <p:nvSpPr>
          <p:cNvPr id="29" name="TextBox 28"/>
          <p:cNvSpPr txBox="1"/>
          <p:nvPr/>
        </p:nvSpPr>
        <p:spPr>
          <a:xfrm>
            <a:off x="7443215" y="2670048"/>
            <a:ext cx="1783080" cy="106070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Single-agent delegation, or a workflow with A2A participants. Resolve this before the estate reaches three agents without a defined orchestration model.</a:t>
            </a:r>
          </a:p>
        </p:txBody>
      </p:sp>
      <p:cxnSp>
        <p:nvCxnSpPr>
          <p:cNvPr id="30" name="Connector 29"/>
          <p:cNvCxnSpPr/>
          <p:nvPr/>
        </p:nvCxnSpPr>
        <p:spPr>
          <a:xfrm>
            <a:off x="9413748" y="2679192"/>
            <a:ext cx="109728" cy="0"/>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528048" y="1554480"/>
            <a:ext cx="2148840" cy="2249424"/>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9528048" y="1554480"/>
            <a:ext cx="2148840" cy="41148"/>
          </a:xfrm>
          <a:prstGeom prst="rect">
            <a:avLst/>
          </a:prstGeom>
          <a:solidFill>
            <a:srgbClr val="00B39F"/>
          </a:solidFill>
          <a:ln>
            <a:noFill/>
          </a:ln>
          <a:effectLst/>
        </p:spPr>
        <p:txBody>
          <a:bodyPr wrap="square" rtlCol="0" anchor="ctr"/>
          <a:lstStyle/>
          <a:p>
            <a:endParaRPr/>
          </a:p>
        </p:txBody>
      </p:sp>
      <p:sp>
        <p:nvSpPr>
          <p:cNvPr id="33" name="TextBox 32"/>
          <p:cNvSpPr txBox="1"/>
          <p:nvPr/>
        </p:nvSpPr>
        <p:spPr>
          <a:xfrm>
            <a:off x="9710928" y="1755648"/>
            <a:ext cx="1783080" cy="256032"/>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05</a:t>
            </a:r>
          </a:p>
        </p:txBody>
      </p:sp>
      <p:sp>
        <p:nvSpPr>
          <p:cNvPr id="34" name="TextBox 33"/>
          <p:cNvSpPr txBox="1"/>
          <p:nvPr/>
        </p:nvSpPr>
        <p:spPr>
          <a:xfrm>
            <a:off x="9710928" y="2121408"/>
            <a:ext cx="1783080" cy="420624"/>
          </a:xfrm>
          <a:prstGeom prst="rect">
            <a:avLst/>
          </a:prstGeom>
          <a:noFill/>
        </p:spPr>
        <p:txBody>
          <a:bodyPr wrap="square" lIns="0" tIns="0" rIns="0" bIns="0" anchor="t">
            <a:spAutoFit/>
          </a:bodyPr>
          <a:lstStyle/>
          <a:p>
            <a:pPr algn="l">
              <a:lnSpc>
                <a:spcPct val="110000"/>
              </a:lnSpc>
            </a:pPr>
            <a:r>
              <a:rPr sz="1000" b="1" i="0" dirty="0">
                <a:solidFill>
                  <a:srgbClr val="101A3C"/>
                </a:solidFill>
                <a:latin typeface="Segoe UI"/>
                <a:cs typeface="Segoe UI"/>
              </a:rPr>
              <a:t>Consider inbound exposure</a:t>
            </a:r>
          </a:p>
        </p:txBody>
      </p:sp>
      <p:sp>
        <p:nvSpPr>
          <p:cNvPr id="35" name="TextBox 34"/>
          <p:cNvSpPr txBox="1"/>
          <p:nvPr/>
        </p:nvSpPr>
        <p:spPr>
          <a:xfrm>
            <a:off x="9710928" y="2670048"/>
            <a:ext cx="1783080" cy="106070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Only at this point. The capability is preview, it creates a versioned public contract, and each consumer requires a tenant identity and a role assignment.</a:t>
            </a:r>
          </a:p>
        </p:txBody>
      </p:sp>
      <p:sp>
        <p:nvSpPr>
          <p:cNvPr id="36" name="TextBox 35"/>
          <p:cNvSpPr txBox="1"/>
          <p:nvPr/>
        </p:nvSpPr>
        <p:spPr>
          <a:xfrm>
            <a:off x="457200" y="3950208"/>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PRECONDITIONS FOR PHASE ONE</a:t>
            </a:r>
          </a:p>
        </p:txBody>
      </p:sp>
      <p:sp>
        <p:nvSpPr>
          <p:cNvPr id="37" name="Rectangle 36"/>
          <p:cNvSpPr/>
          <p:nvPr/>
        </p:nvSpPr>
        <p:spPr>
          <a:xfrm>
            <a:off x="457200" y="4187952"/>
            <a:ext cx="2651760" cy="950976"/>
          </a:xfrm>
          <a:prstGeom prst="rect">
            <a:avLst/>
          </a:prstGeom>
          <a:solidFill>
            <a:srgbClr val="FFFFFF"/>
          </a:solidFill>
          <a:ln w="9525">
            <a:solidFill>
              <a:srgbClr val="E1E7F4"/>
            </a:solidFill>
          </a:ln>
          <a:effectLst/>
        </p:spPr>
        <p:txBody>
          <a:bodyPr wrap="square" rtlCol="0" anchor="ctr"/>
          <a:lstStyle/>
          <a:p>
            <a:endParaRPr/>
          </a:p>
        </p:txBody>
      </p:sp>
      <p:sp>
        <p:nvSpPr>
          <p:cNvPr id="38" name="TextBox 37"/>
          <p:cNvSpPr txBox="1"/>
          <p:nvPr/>
        </p:nvSpPr>
        <p:spPr>
          <a:xfrm>
            <a:off x="621792" y="4315968"/>
            <a:ext cx="232257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Role assignments</a:t>
            </a:r>
          </a:p>
        </p:txBody>
      </p:sp>
      <p:sp>
        <p:nvSpPr>
          <p:cNvPr id="39" name="TextBox 38"/>
          <p:cNvSpPr txBox="1"/>
          <p:nvPr/>
        </p:nvSpPr>
        <p:spPr>
          <a:xfrm>
            <a:off x="621792" y="4517136"/>
            <a:ext cx="2322576" cy="54864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Foundry Project Manager to create the connection; Foundry User to create and test the agent.</a:t>
            </a:r>
          </a:p>
        </p:txBody>
      </p:sp>
      <p:sp>
        <p:nvSpPr>
          <p:cNvPr id="40" name="Rectangle 39"/>
          <p:cNvSpPr/>
          <p:nvPr/>
        </p:nvSpPr>
        <p:spPr>
          <a:xfrm>
            <a:off x="3300984" y="4187952"/>
            <a:ext cx="2651760" cy="950976"/>
          </a:xfrm>
          <a:prstGeom prst="rect">
            <a:avLst/>
          </a:prstGeom>
          <a:solidFill>
            <a:srgbClr val="FFFFFF"/>
          </a:solidFill>
          <a:ln w="9525">
            <a:solidFill>
              <a:srgbClr val="E1E7F4"/>
            </a:solidFill>
          </a:ln>
          <a:effectLst/>
        </p:spPr>
        <p:txBody>
          <a:bodyPr wrap="square" rtlCol="0" anchor="ctr"/>
          <a:lstStyle/>
          <a:p>
            <a:endParaRPr/>
          </a:p>
        </p:txBody>
      </p:sp>
      <p:sp>
        <p:nvSpPr>
          <p:cNvPr id="41" name="TextBox 40"/>
          <p:cNvSpPr txBox="1"/>
          <p:nvPr/>
        </p:nvSpPr>
        <p:spPr>
          <a:xfrm>
            <a:off x="3465576" y="4315968"/>
            <a:ext cx="232257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Software development kit</a:t>
            </a:r>
          </a:p>
        </p:txBody>
      </p:sp>
      <p:sp>
        <p:nvSpPr>
          <p:cNvPr id="42" name="TextBox 41"/>
          <p:cNvSpPr txBox="1"/>
          <p:nvPr/>
        </p:nvSpPr>
        <p:spPr>
          <a:xfrm>
            <a:off x="3465576" y="4517136"/>
            <a:ext cx="2322576" cy="54864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azure-ai-projects 2.5.0 or later for Python; the .NET packages exposing these models are prerelease.</a:t>
            </a:r>
          </a:p>
        </p:txBody>
      </p:sp>
      <p:sp>
        <p:nvSpPr>
          <p:cNvPr id="43" name="Rectangle 42"/>
          <p:cNvSpPr/>
          <p:nvPr/>
        </p:nvSpPr>
        <p:spPr>
          <a:xfrm>
            <a:off x="6144768" y="4187952"/>
            <a:ext cx="2651760" cy="950976"/>
          </a:xfrm>
          <a:prstGeom prst="rect">
            <a:avLst/>
          </a:prstGeom>
          <a:solidFill>
            <a:srgbClr val="FFFFFF"/>
          </a:solidFill>
          <a:ln w="9525">
            <a:solidFill>
              <a:srgbClr val="E1E7F4"/>
            </a:solidFill>
          </a:ln>
          <a:effectLst/>
        </p:spPr>
        <p:txBody>
          <a:bodyPr wrap="square" rtlCol="0" anchor="ctr"/>
          <a:lstStyle/>
          <a:p>
            <a:endParaRPr/>
          </a:p>
        </p:txBody>
      </p:sp>
      <p:sp>
        <p:nvSpPr>
          <p:cNvPr id="44" name="TextBox 43"/>
          <p:cNvSpPr txBox="1"/>
          <p:nvPr/>
        </p:nvSpPr>
        <p:spPr>
          <a:xfrm>
            <a:off x="6309359" y="4315968"/>
            <a:ext cx="232257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 validated target</a:t>
            </a:r>
          </a:p>
        </p:txBody>
      </p:sp>
      <p:sp>
        <p:nvSpPr>
          <p:cNvPr id="45" name="TextBox 44"/>
          <p:cNvSpPr txBox="1"/>
          <p:nvPr/>
        </p:nvSpPr>
        <p:spPr>
          <a:xfrm>
            <a:off x="6309359" y="4517136"/>
            <a:ext cx="2322576" cy="54864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A remote A2A endpoint under known ownership, with a valid certificate and a retrievable agent card.</a:t>
            </a:r>
          </a:p>
        </p:txBody>
      </p:sp>
      <p:sp>
        <p:nvSpPr>
          <p:cNvPr id="46" name="Rectangle 45"/>
          <p:cNvSpPr/>
          <p:nvPr/>
        </p:nvSpPr>
        <p:spPr>
          <a:xfrm>
            <a:off x="8988552" y="4187952"/>
            <a:ext cx="2651760" cy="950976"/>
          </a:xfrm>
          <a:prstGeom prst="rect">
            <a:avLst/>
          </a:prstGeom>
          <a:solidFill>
            <a:srgbClr val="FFFFFF"/>
          </a:solidFill>
          <a:ln w="9525">
            <a:solidFill>
              <a:srgbClr val="E1E7F4"/>
            </a:solidFill>
          </a:ln>
          <a:effectLst/>
        </p:spPr>
        <p:txBody>
          <a:bodyPr wrap="square" rtlCol="0" anchor="ctr"/>
          <a:lstStyle/>
          <a:p>
            <a:endParaRPr/>
          </a:p>
        </p:txBody>
      </p:sp>
      <p:sp>
        <p:nvSpPr>
          <p:cNvPr id="47" name="TextBox 46"/>
          <p:cNvSpPr txBox="1"/>
          <p:nvPr/>
        </p:nvSpPr>
        <p:spPr>
          <a:xfrm>
            <a:off x="9153144" y="4315968"/>
            <a:ext cx="232257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An identity decision</a:t>
            </a:r>
          </a:p>
        </p:txBody>
      </p:sp>
      <p:sp>
        <p:nvSpPr>
          <p:cNvPr id="48" name="TextBox 47"/>
          <p:cNvSpPr txBox="1"/>
          <p:nvPr/>
        </p:nvSpPr>
        <p:spPr>
          <a:xfrm>
            <a:off x="9153144" y="4517136"/>
            <a:ext cx="2322576" cy="54864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The authentication type, and whether the remote agent must enforce per-user authorisation.</a:t>
            </a:r>
          </a:p>
        </p:txBody>
      </p:sp>
      <p:sp>
        <p:nvSpPr>
          <p:cNvPr id="49" name="Rectangle 48"/>
          <p:cNvSpPr/>
          <p:nvPr/>
        </p:nvSpPr>
        <p:spPr>
          <a:xfrm>
            <a:off x="457200" y="5266944"/>
            <a:ext cx="11277295" cy="402336"/>
          </a:xfrm>
          <a:prstGeom prst="rect">
            <a:avLst/>
          </a:prstGeom>
          <a:solidFill>
            <a:srgbClr val="EBEFF7"/>
          </a:solidFill>
          <a:ln>
            <a:noFill/>
          </a:ln>
          <a:effectLst/>
        </p:spPr>
        <p:txBody>
          <a:bodyPr wrap="square" rtlCol="0" anchor="ctr"/>
          <a:lstStyle/>
          <a:p>
            <a:endParaRPr/>
          </a:p>
        </p:txBody>
      </p:sp>
      <p:sp>
        <p:nvSpPr>
          <p:cNvPr id="50" name="Rectangle 49"/>
          <p:cNvSpPr/>
          <p:nvPr/>
        </p:nvSpPr>
        <p:spPr>
          <a:xfrm>
            <a:off x="457200" y="5266944"/>
            <a:ext cx="41148" cy="402336"/>
          </a:xfrm>
          <a:prstGeom prst="rect">
            <a:avLst/>
          </a:prstGeom>
          <a:solidFill>
            <a:srgbClr val="00B39F"/>
          </a:solidFill>
          <a:ln>
            <a:noFill/>
          </a:ln>
          <a:effectLst/>
        </p:spPr>
        <p:txBody>
          <a:bodyPr wrap="square" rtlCol="0" anchor="ctr"/>
          <a:lstStyle/>
          <a:p>
            <a:endParaRPr/>
          </a:p>
        </p:txBody>
      </p:sp>
      <p:sp>
        <p:nvSpPr>
          <p:cNvPr id="51" name="TextBox 50"/>
          <p:cNvSpPr txBox="1"/>
          <p:nvPr/>
        </p:nvSpPr>
        <p:spPr>
          <a:xfrm>
            <a:off x="694944" y="5367528"/>
            <a:ext cx="10856671" cy="219456"/>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Microsoft does not test or verify third-party A2A endpoints. Prefer endpoints operated by the service provider itself rather than by an intermediary.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06 · ADOPTION AND STATUS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Release status and version compatibility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Current specification and implementation status, and the changes that invalidate earlier client code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learn.microsoft.com/azure/foundry/agents/how-to/migrate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20</a:t>
            </a:r>
          </a:p>
        </p:txBody>
      </p:sp>
      <p:sp>
        <p:nvSpPr>
          <p:cNvPr id="7" name="TextBox 6"/>
          <p:cNvSpPr txBox="1"/>
          <p:nvPr/>
        </p:nvSpPr>
        <p:spPr>
          <a:xfrm>
            <a:off x="457200" y="1353312"/>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SPECIFICATION</a:t>
            </a:r>
          </a:p>
        </p:txBody>
      </p:sp>
      <p:sp>
        <p:nvSpPr>
          <p:cNvPr id="8" name="TextBox 7"/>
          <p:cNvSpPr txBox="1"/>
          <p:nvPr/>
        </p:nvSpPr>
        <p:spPr>
          <a:xfrm>
            <a:off x="457200" y="1591056"/>
            <a:ext cx="1958644" cy="42062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Current specification</a:t>
            </a:r>
          </a:p>
        </p:txBody>
      </p:sp>
      <p:sp>
        <p:nvSpPr>
          <p:cNvPr id="9" name="TextBox 8"/>
          <p:cNvSpPr txBox="1"/>
          <p:nvPr/>
        </p:nvSpPr>
        <p:spPr>
          <a:xfrm>
            <a:off x="2507284" y="1591056"/>
            <a:ext cx="3344875" cy="42062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1.0.1, published May 2026</a:t>
            </a:r>
          </a:p>
        </p:txBody>
      </p:sp>
      <p:cxnSp>
        <p:nvCxnSpPr>
          <p:cNvPr id="10" name="Connector 9"/>
          <p:cNvCxnSpPr/>
          <p:nvPr/>
        </p:nvCxnSpPr>
        <p:spPr>
          <a:xfrm>
            <a:off x="457200" y="1993392"/>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011680"/>
            <a:ext cx="1958644" cy="42062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Negotiated version</a:t>
            </a:r>
          </a:p>
        </p:txBody>
      </p:sp>
      <p:sp>
        <p:nvSpPr>
          <p:cNvPr id="12" name="TextBox 11"/>
          <p:cNvSpPr txBox="1"/>
          <p:nvPr/>
        </p:nvSpPr>
        <p:spPr>
          <a:xfrm>
            <a:off x="2507284" y="2011680"/>
            <a:ext cx="3344875" cy="42062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1.0 — patch versions are excluded from negotiation</a:t>
            </a:r>
          </a:p>
        </p:txBody>
      </p:sp>
      <p:cxnSp>
        <p:nvCxnSpPr>
          <p:cNvPr id="13" name="Connector 12"/>
          <p:cNvCxnSpPr/>
          <p:nvPr/>
        </p:nvCxnSpPr>
        <p:spPr>
          <a:xfrm>
            <a:off x="457200" y="2414016"/>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432304"/>
            <a:ext cx="1958644" cy="42062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Preceding line</a:t>
            </a:r>
          </a:p>
        </p:txBody>
      </p:sp>
      <p:sp>
        <p:nvSpPr>
          <p:cNvPr id="15" name="TextBox 14"/>
          <p:cNvSpPr txBox="1"/>
          <p:nvPr/>
        </p:nvSpPr>
        <p:spPr>
          <a:xfrm>
            <a:off x="2507284" y="2432304"/>
            <a:ext cx="3344875" cy="42062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0.3, still widely implemented and supported</a:t>
            </a:r>
          </a:p>
        </p:txBody>
      </p:sp>
      <p:cxnSp>
        <p:nvCxnSpPr>
          <p:cNvPr id="16" name="Connector 15"/>
          <p:cNvCxnSpPr/>
          <p:nvPr/>
        </p:nvCxnSpPr>
        <p:spPr>
          <a:xfrm>
            <a:off x="457200" y="2834640"/>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2852928"/>
            <a:ext cx="1958644" cy="42062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Governance</a:t>
            </a:r>
          </a:p>
        </p:txBody>
      </p:sp>
      <p:sp>
        <p:nvSpPr>
          <p:cNvPr id="18" name="TextBox 17"/>
          <p:cNvSpPr txBox="1"/>
          <p:nvPr/>
        </p:nvSpPr>
        <p:spPr>
          <a:xfrm>
            <a:off x="2507284" y="2852928"/>
            <a:ext cx="3344875" cy="42062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Growth Stage project at the Agentic AI Foundation since 27 August 2026</a:t>
            </a:r>
          </a:p>
        </p:txBody>
      </p:sp>
      <p:cxnSp>
        <p:nvCxnSpPr>
          <p:cNvPr id="19" name="Connector 18"/>
          <p:cNvCxnSpPr/>
          <p:nvPr/>
        </p:nvCxnSpPr>
        <p:spPr>
          <a:xfrm>
            <a:off x="457200" y="3255264"/>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3273552"/>
            <a:ext cx="1958644" cy="42062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Official SDKs</a:t>
            </a:r>
          </a:p>
        </p:txBody>
      </p:sp>
      <p:sp>
        <p:nvSpPr>
          <p:cNvPr id="21" name="TextBox 20"/>
          <p:cNvSpPr txBox="1"/>
          <p:nvPr/>
        </p:nvSpPr>
        <p:spPr>
          <a:xfrm>
            <a:off x="2507284" y="3273552"/>
            <a:ext cx="3344875" cy="42062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Python, JavaScript, .NET, Go, Java and Rust</a:t>
            </a:r>
          </a:p>
        </p:txBody>
      </p:sp>
      <p:cxnSp>
        <p:nvCxnSpPr>
          <p:cNvPr id="22" name="Connector 21"/>
          <p:cNvCxnSpPr/>
          <p:nvPr/>
        </p:nvCxnSpPr>
        <p:spPr>
          <a:xfrm>
            <a:off x="457200" y="3675888"/>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200" y="3895344"/>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BREAKING CHANGES INTRODUCED IN VERSION 1.0</a:t>
            </a:r>
          </a:p>
        </p:txBody>
      </p:sp>
      <p:sp>
        <p:nvSpPr>
          <p:cNvPr id="24" name="Oval 23"/>
          <p:cNvSpPr/>
          <p:nvPr/>
        </p:nvSpPr>
        <p:spPr>
          <a:xfrm>
            <a:off x="457200" y="4206240"/>
            <a:ext cx="91440" cy="91440"/>
          </a:xfrm>
          <a:prstGeom prst="ellipse">
            <a:avLst/>
          </a:prstGeom>
          <a:solidFill>
            <a:srgbClr val="00B39F"/>
          </a:solidFill>
          <a:ln>
            <a:noFill/>
          </a:ln>
          <a:effectLst/>
        </p:spPr>
        <p:txBody>
          <a:bodyPr wrap="square" rtlCol="0" anchor="ctr"/>
          <a:lstStyle/>
          <a:p>
            <a:endParaRPr/>
          </a:p>
        </p:txBody>
      </p:sp>
      <p:sp>
        <p:nvSpPr>
          <p:cNvPr id="25" name="TextBox 24"/>
          <p:cNvSpPr txBox="1"/>
          <p:nvPr/>
        </p:nvSpPr>
        <p:spPr>
          <a:xfrm>
            <a:off x="676656" y="4151376"/>
            <a:ext cx="5175504" cy="201168"/>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JSON-RPC method names changed form: message/send became SendMessage</a:t>
            </a:r>
          </a:p>
        </p:txBody>
      </p:sp>
      <p:sp>
        <p:nvSpPr>
          <p:cNvPr id="26" name="Oval 25"/>
          <p:cNvSpPr/>
          <p:nvPr/>
        </p:nvSpPr>
        <p:spPr>
          <a:xfrm>
            <a:off x="457200" y="4462272"/>
            <a:ext cx="91440" cy="91440"/>
          </a:xfrm>
          <a:prstGeom prst="ellipse">
            <a:avLst/>
          </a:prstGeom>
          <a:solidFill>
            <a:srgbClr val="00B39F"/>
          </a:solidFill>
          <a:ln>
            <a:noFill/>
          </a:ln>
          <a:effectLst/>
        </p:spPr>
        <p:txBody>
          <a:bodyPr wrap="square" rtlCol="0" anchor="ctr"/>
          <a:lstStyle/>
          <a:p>
            <a:endParaRPr/>
          </a:p>
        </p:txBody>
      </p:sp>
      <p:sp>
        <p:nvSpPr>
          <p:cNvPr id="27" name="TextBox 26"/>
          <p:cNvSpPr txBox="1"/>
          <p:nvPr/>
        </p:nvSpPr>
        <p:spPr>
          <a:xfrm>
            <a:off x="676656" y="4407408"/>
            <a:ext cx="5175504" cy="201168"/>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TextPart, FilePart and DataPart consolidated into a single Part object</a:t>
            </a:r>
          </a:p>
        </p:txBody>
      </p:sp>
      <p:sp>
        <p:nvSpPr>
          <p:cNvPr id="28" name="Oval 27"/>
          <p:cNvSpPr/>
          <p:nvPr/>
        </p:nvSpPr>
        <p:spPr>
          <a:xfrm>
            <a:off x="457200" y="4718304"/>
            <a:ext cx="91440" cy="91440"/>
          </a:xfrm>
          <a:prstGeom prst="ellipse">
            <a:avLst/>
          </a:prstGeom>
          <a:solidFill>
            <a:srgbClr val="00B39F"/>
          </a:solidFill>
          <a:ln>
            <a:noFill/>
          </a:ln>
          <a:effectLst/>
        </p:spPr>
        <p:txBody>
          <a:bodyPr wrap="square" rtlCol="0" anchor="ctr"/>
          <a:lstStyle/>
          <a:p>
            <a:endParaRPr/>
          </a:p>
        </p:txBody>
      </p:sp>
      <p:sp>
        <p:nvSpPr>
          <p:cNvPr id="29" name="TextBox 28"/>
          <p:cNvSpPr txBox="1"/>
          <p:nvPr/>
        </p:nvSpPr>
        <p:spPr>
          <a:xfrm>
            <a:off x="676656" y="4663440"/>
            <a:ext cx="5175504" cy="201168"/>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Task states serialised as TASK_STATE_COMPLETED rather than completed</a:t>
            </a:r>
          </a:p>
        </p:txBody>
      </p:sp>
      <p:sp>
        <p:nvSpPr>
          <p:cNvPr id="30" name="Oval 29"/>
          <p:cNvSpPr/>
          <p:nvPr/>
        </p:nvSpPr>
        <p:spPr>
          <a:xfrm>
            <a:off x="457200" y="4974336"/>
            <a:ext cx="91440" cy="91440"/>
          </a:xfrm>
          <a:prstGeom prst="ellipse">
            <a:avLst/>
          </a:prstGeom>
          <a:solidFill>
            <a:srgbClr val="00B39F"/>
          </a:solidFill>
          <a:ln>
            <a:noFill/>
          </a:ln>
          <a:effectLst/>
        </p:spPr>
        <p:txBody>
          <a:bodyPr wrap="square" rtlCol="0" anchor="ctr"/>
          <a:lstStyle/>
          <a:p>
            <a:endParaRPr/>
          </a:p>
        </p:txBody>
      </p:sp>
      <p:sp>
        <p:nvSpPr>
          <p:cNvPr id="31" name="TextBox 30"/>
          <p:cNvSpPr txBox="1"/>
          <p:nvPr/>
        </p:nvSpPr>
        <p:spPr>
          <a:xfrm>
            <a:off x="676656" y="4919472"/>
            <a:ext cx="5175504" cy="201168"/>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url, preferredTransport and additionalInterfaces merged into supportedInterfaces</a:t>
            </a:r>
          </a:p>
        </p:txBody>
      </p:sp>
      <p:sp>
        <p:nvSpPr>
          <p:cNvPr id="32" name="Oval 31"/>
          <p:cNvSpPr/>
          <p:nvPr/>
        </p:nvSpPr>
        <p:spPr>
          <a:xfrm>
            <a:off x="457200" y="5230368"/>
            <a:ext cx="91440" cy="91440"/>
          </a:xfrm>
          <a:prstGeom prst="ellipse">
            <a:avLst/>
          </a:prstGeom>
          <a:solidFill>
            <a:srgbClr val="00B39F"/>
          </a:solidFill>
          <a:ln>
            <a:noFill/>
          </a:ln>
          <a:effectLst/>
        </p:spPr>
        <p:txBody>
          <a:bodyPr wrap="square" rtlCol="0" anchor="ctr"/>
          <a:lstStyle/>
          <a:p>
            <a:endParaRPr/>
          </a:p>
        </p:txBody>
      </p:sp>
      <p:sp>
        <p:nvSpPr>
          <p:cNvPr id="33" name="TextBox 32"/>
          <p:cNvSpPr txBox="1"/>
          <p:nvPr/>
        </p:nvSpPr>
        <p:spPr>
          <a:xfrm>
            <a:off x="676656" y="5175504"/>
            <a:ext cx="5175504" cy="201168"/>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The blocking parameter replaced by returnImmediately, with inverted sense</a:t>
            </a:r>
          </a:p>
        </p:txBody>
      </p:sp>
      <p:sp>
        <p:nvSpPr>
          <p:cNvPr id="34" name="TextBox 33"/>
          <p:cNvSpPr txBox="1"/>
          <p:nvPr/>
        </p:nvSpPr>
        <p:spPr>
          <a:xfrm>
            <a:off x="6345936" y="1353312"/>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MICROSOFT FOUNDRY</a:t>
            </a:r>
          </a:p>
        </p:txBody>
      </p:sp>
      <p:sp>
        <p:nvSpPr>
          <p:cNvPr id="35" name="Rectangle 34"/>
          <p:cNvSpPr/>
          <p:nvPr/>
        </p:nvSpPr>
        <p:spPr>
          <a:xfrm>
            <a:off x="6345936" y="1591056"/>
            <a:ext cx="5385816" cy="310896"/>
          </a:xfrm>
          <a:prstGeom prst="rect">
            <a:avLst/>
          </a:prstGeom>
          <a:solidFill>
            <a:srgbClr val="101A3C"/>
          </a:solidFill>
          <a:ln>
            <a:noFill/>
          </a:ln>
          <a:effectLst/>
        </p:spPr>
        <p:txBody>
          <a:bodyPr wrap="square" rtlCol="0" anchor="ctr"/>
          <a:lstStyle/>
          <a:p>
            <a:endParaRPr/>
          </a:p>
        </p:txBody>
      </p:sp>
      <p:sp>
        <p:nvSpPr>
          <p:cNvPr id="36" name="TextBox 35"/>
          <p:cNvSpPr txBox="1"/>
          <p:nvPr/>
        </p:nvSpPr>
        <p:spPr>
          <a:xfrm>
            <a:off x="6473952" y="1668780"/>
            <a:ext cx="2079162"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Capability</a:t>
            </a:r>
          </a:p>
        </p:txBody>
      </p:sp>
      <p:sp>
        <p:nvSpPr>
          <p:cNvPr id="37" name="TextBox 36"/>
          <p:cNvSpPr txBox="1"/>
          <p:nvPr/>
        </p:nvSpPr>
        <p:spPr>
          <a:xfrm>
            <a:off x="8735994" y="1668780"/>
            <a:ext cx="78656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Protocol</a:t>
            </a:r>
          </a:p>
        </p:txBody>
      </p:sp>
      <p:sp>
        <p:nvSpPr>
          <p:cNvPr id="38" name="TextBox 37"/>
          <p:cNvSpPr txBox="1"/>
          <p:nvPr/>
        </p:nvSpPr>
        <p:spPr>
          <a:xfrm>
            <a:off x="9705441" y="1668780"/>
            <a:ext cx="197144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Status</a:t>
            </a:r>
          </a:p>
        </p:txBody>
      </p:sp>
      <p:sp>
        <p:nvSpPr>
          <p:cNvPr id="39" name="Rectangle 38"/>
          <p:cNvSpPr/>
          <p:nvPr/>
        </p:nvSpPr>
        <p:spPr>
          <a:xfrm>
            <a:off x="6345936" y="1901952"/>
            <a:ext cx="5385816" cy="420624"/>
          </a:xfrm>
          <a:prstGeom prst="rect">
            <a:avLst/>
          </a:prstGeom>
          <a:solidFill>
            <a:srgbClr val="F6F8FD"/>
          </a:solidFill>
          <a:ln>
            <a:noFill/>
          </a:ln>
          <a:effectLst/>
        </p:spPr>
        <p:txBody>
          <a:bodyPr wrap="square" rtlCol="0" anchor="ctr"/>
          <a:lstStyle/>
          <a:p>
            <a:endParaRPr/>
          </a:p>
        </p:txBody>
      </p:sp>
      <p:cxnSp>
        <p:nvCxnSpPr>
          <p:cNvPr id="40" name="Connector 39"/>
          <p:cNvCxnSpPr/>
          <p:nvPr/>
        </p:nvCxnSpPr>
        <p:spPr>
          <a:xfrm>
            <a:off x="6345936" y="2322576"/>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73952" y="1952244"/>
            <a:ext cx="2042586"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a2a tool — outbound</a:t>
            </a:r>
          </a:p>
        </p:txBody>
      </p:sp>
      <p:sp>
        <p:nvSpPr>
          <p:cNvPr id="42" name="TextBox 41"/>
          <p:cNvSpPr txBox="1"/>
          <p:nvPr/>
        </p:nvSpPr>
        <p:spPr>
          <a:xfrm>
            <a:off x="8735994" y="1952244"/>
            <a:ext cx="74999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1.0</a:t>
            </a:r>
          </a:p>
        </p:txBody>
      </p:sp>
      <p:sp>
        <p:nvSpPr>
          <p:cNvPr id="43" name="TextBox 42"/>
          <p:cNvSpPr txBox="1"/>
          <p:nvPr/>
        </p:nvSpPr>
        <p:spPr>
          <a:xfrm>
            <a:off x="9705441" y="1952244"/>
            <a:ext cx="193487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Generally available</a:t>
            </a:r>
          </a:p>
        </p:txBody>
      </p:sp>
      <p:cxnSp>
        <p:nvCxnSpPr>
          <p:cNvPr id="44" name="Connector 43"/>
          <p:cNvCxnSpPr/>
          <p:nvPr/>
        </p:nvCxnSpPr>
        <p:spPr>
          <a:xfrm>
            <a:off x="6345936" y="2743200"/>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473952" y="2372868"/>
            <a:ext cx="2042586"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a2a_preview tool — outbound</a:t>
            </a:r>
          </a:p>
        </p:txBody>
      </p:sp>
      <p:sp>
        <p:nvSpPr>
          <p:cNvPr id="46" name="TextBox 45"/>
          <p:cNvSpPr txBox="1"/>
          <p:nvPr/>
        </p:nvSpPr>
        <p:spPr>
          <a:xfrm>
            <a:off x="8735994" y="2372868"/>
            <a:ext cx="74999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0.3</a:t>
            </a:r>
          </a:p>
        </p:txBody>
      </p:sp>
      <p:sp>
        <p:nvSpPr>
          <p:cNvPr id="47" name="TextBox 46"/>
          <p:cNvSpPr txBox="1"/>
          <p:nvPr/>
        </p:nvSpPr>
        <p:spPr>
          <a:xfrm>
            <a:off x="9705441" y="2372868"/>
            <a:ext cx="193487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Preview</a:t>
            </a:r>
          </a:p>
        </p:txBody>
      </p:sp>
      <p:sp>
        <p:nvSpPr>
          <p:cNvPr id="48" name="Rectangle 47"/>
          <p:cNvSpPr/>
          <p:nvPr/>
        </p:nvSpPr>
        <p:spPr>
          <a:xfrm>
            <a:off x="6345936" y="2743200"/>
            <a:ext cx="5385816" cy="420624"/>
          </a:xfrm>
          <a:prstGeom prst="rect">
            <a:avLst/>
          </a:prstGeom>
          <a:solidFill>
            <a:srgbClr val="F6F8FD"/>
          </a:solidFill>
          <a:ln>
            <a:noFill/>
          </a:ln>
          <a:effectLst/>
        </p:spPr>
        <p:txBody>
          <a:bodyPr wrap="square" rtlCol="0" anchor="ctr"/>
          <a:lstStyle/>
          <a:p>
            <a:endParaRPr/>
          </a:p>
        </p:txBody>
      </p:sp>
      <p:cxnSp>
        <p:nvCxnSpPr>
          <p:cNvPr id="49" name="Connector 48"/>
          <p:cNvCxnSpPr/>
          <p:nvPr/>
        </p:nvCxnSpPr>
        <p:spPr>
          <a:xfrm>
            <a:off x="6345936" y="3163824"/>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73952" y="2793492"/>
            <a:ext cx="2042586"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Inbound A2A endpoint</a:t>
            </a:r>
          </a:p>
        </p:txBody>
      </p:sp>
      <p:sp>
        <p:nvSpPr>
          <p:cNvPr id="51" name="TextBox 50"/>
          <p:cNvSpPr txBox="1"/>
          <p:nvPr/>
        </p:nvSpPr>
        <p:spPr>
          <a:xfrm>
            <a:off x="8735994" y="2793492"/>
            <a:ext cx="74999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1.0 and 0.3</a:t>
            </a:r>
          </a:p>
        </p:txBody>
      </p:sp>
      <p:sp>
        <p:nvSpPr>
          <p:cNvPr id="52" name="TextBox 51"/>
          <p:cNvSpPr txBox="1"/>
          <p:nvPr/>
        </p:nvSpPr>
        <p:spPr>
          <a:xfrm>
            <a:off x="9705441" y="2793492"/>
            <a:ext cx="193487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Preview</a:t>
            </a:r>
          </a:p>
        </p:txBody>
      </p:sp>
      <p:cxnSp>
        <p:nvCxnSpPr>
          <p:cNvPr id="53" name="Connector 52"/>
          <p:cNvCxnSpPr/>
          <p:nvPr/>
        </p:nvCxnSpPr>
        <p:spPr>
          <a:xfrm>
            <a:off x="6345936" y="358444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473952" y="3214116"/>
            <a:ext cx="2042586"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Connected Agents tool</a:t>
            </a:r>
          </a:p>
        </p:txBody>
      </p:sp>
      <p:sp>
        <p:nvSpPr>
          <p:cNvPr id="55" name="TextBox 54"/>
          <p:cNvSpPr txBox="1"/>
          <p:nvPr/>
        </p:nvSpPr>
        <p:spPr>
          <a:xfrm>
            <a:off x="8735994" y="3214116"/>
            <a:ext cx="74999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t>
            </a:r>
          </a:p>
        </p:txBody>
      </p:sp>
      <p:sp>
        <p:nvSpPr>
          <p:cNvPr id="56" name="TextBox 55"/>
          <p:cNvSpPr txBox="1"/>
          <p:nvPr/>
        </p:nvSpPr>
        <p:spPr>
          <a:xfrm>
            <a:off x="9705441" y="3214116"/>
            <a:ext cx="193487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Withdrawn from the new Agent Service</a:t>
            </a:r>
          </a:p>
        </p:txBody>
      </p:sp>
      <p:sp>
        <p:nvSpPr>
          <p:cNvPr id="57" name="Rectangle 56"/>
          <p:cNvSpPr/>
          <p:nvPr/>
        </p:nvSpPr>
        <p:spPr>
          <a:xfrm>
            <a:off x="6345936" y="3584448"/>
            <a:ext cx="5385816" cy="420624"/>
          </a:xfrm>
          <a:prstGeom prst="rect">
            <a:avLst/>
          </a:prstGeom>
          <a:solidFill>
            <a:srgbClr val="F6F8FD"/>
          </a:solidFill>
          <a:ln>
            <a:noFill/>
          </a:ln>
          <a:effectLst/>
        </p:spPr>
        <p:txBody>
          <a:bodyPr wrap="square" rtlCol="0" anchor="ctr"/>
          <a:lstStyle/>
          <a:p>
            <a:endParaRPr/>
          </a:p>
        </p:txBody>
      </p:sp>
      <p:cxnSp>
        <p:nvCxnSpPr>
          <p:cNvPr id="58" name="Connector 57"/>
          <p:cNvCxnSpPr/>
          <p:nvPr/>
        </p:nvCxnSpPr>
        <p:spPr>
          <a:xfrm>
            <a:off x="6345936" y="4005072"/>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473952" y="3634740"/>
            <a:ext cx="2042586"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Visual workflows</a:t>
            </a:r>
          </a:p>
        </p:txBody>
      </p:sp>
      <p:sp>
        <p:nvSpPr>
          <p:cNvPr id="60" name="TextBox 59"/>
          <p:cNvSpPr txBox="1"/>
          <p:nvPr/>
        </p:nvSpPr>
        <p:spPr>
          <a:xfrm>
            <a:off x="8735994" y="3634740"/>
            <a:ext cx="74999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t>
            </a:r>
          </a:p>
        </p:txBody>
      </p:sp>
      <p:sp>
        <p:nvSpPr>
          <p:cNvPr id="61" name="TextBox 60"/>
          <p:cNvSpPr txBox="1"/>
          <p:nvPr/>
        </p:nvSpPr>
        <p:spPr>
          <a:xfrm>
            <a:off x="9705441" y="3634740"/>
            <a:ext cx="193487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Retiring 1 December 2026</a:t>
            </a:r>
          </a:p>
        </p:txBody>
      </p:sp>
      <p:cxnSp>
        <p:nvCxnSpPr>
          <p:cNvPr id="62" name="Connector 61"/>
          <p:cNvCxnSpPr/>
          <p:nvPr/>
        </p:nvCxnSpPr>
        <p:spPr>
          <a:xfrm>
            <a:off x="8607978" y="1901952"/>
            <a:ext cx="0" cy="21031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577425" y="1901952"/>
            <a:ext cx="0" cy="21031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6345936" y="4206240"/>
            <a:ext cx="5385816" cy="1188720"/>
          </a:xfrm>
          <a:prstGeom prst="rect">
            <a:avLst/>
          </a:prstGeom>
          <a:solidFill>
            <a:srgbClr val="F6F8FD"/>
          </a:solidFill>
          <a:ln w="9525">
            <a:solidFill>
              <a:srgbClr val="E1E7F4"/>
            </a:solidFill>
          </a:ln>
          <a:effectLst/>
        </p:spPr>
        <p:txBody>
          <a:bodyPr wrap="square" rtlCol="0" anchor="ctr"/>
          <a:lstStyle/>
          <a:p>
            <a:endParaRPr/>
          </a:p>
        </p:txBody>
      </p:sp>
      <p:sp>
        <p:nvSpPr>
          <p:cNvPr id="65" name="Rectangle 64"/>
          <p:cNvSpPr/>
          <p:nvPr/>
        </p:nvSpPr>
        <p:spPr>
          <a:xfrm>
            <a:off x="6345936" y="4206240"/>
            <a:ext cx="41148" cy="1188720"/>
          </a:xfrm>
          <a:prstGeom prst="rect">
            <a:avLst/>
          </a:prstGeom>
          <a:solidFill>
            <a:srgbClr val="00B39F"/>
          </a:solidFill>
          <a:ln>
            <a:noFill/>
          </a:ln>
          <a:effectLst/>
        </p:spPr>
        <p:txBody>
          <a:bodyPr wrap="square" rtlCol="0" anchor="ctr"/>
          <a:lstStyle/>
          <a:p>
            <a:endParaRPr/>
          </a:p>
        </p:txBody>
      </p:sp>
      <p:sp>
        <p:nvSpPr>
          <p:cNvPr id="66" name="TextBox 65"/>
          <p:cNvSpPr txBox="1"/>
          <p:nvPr/>
        </p:nvSpPr>
        <p:spPr>
          <a:xfrm>
            <a:off x="6547104" y="4334256"/>
            <a:ext cx="4983480"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TWO ITEMS TO VERIFY BEFORE DEVELOPMENT</a:t>
            </a:r>
          </a:p>
        </p:txBody>
      </p:sp>
      <p:sp>
        <p:nvSpPr>
          <p:cNvPr id="67" name="TextBox 66"/>
          <p:cNvSpPr txBox="1"/>
          <p:nvPr/>
        </p:nvSpPr>
        <p:spPr>
          <a:xfrm>
            <a:off x="6547104" y="4553712"/>
            <a:ext cx="4983480"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Published samples and the Azure Developer CLI toolbox flow continue to create the preview a2a_preview tool at protocol version 0.3, while the documentation directs new development to the generally available a2a tool at version 1.0. A request that does not state a protocol version is served version 0.3 by default.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REFERENCES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Sources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All content verified against these pages on 17 September 2026</a:t>
            </a:r>
          </a:p>
        </p:txBody>
      </p:sp>
      <p:sp>
        <p:nvSpPr>
          <p:cNvPr id="5" name="TextBox 4"/>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21</a:t>
            </a:r>
          </a:p>
        </p:txBody>
      </p:sp>
      <p:sp>
        <p:nvSpPr>
          <p:cNvPr id="6" name="TextBox 5"/>
          <p:cNvSpPr txBox="1"/>
          <p:nvPr/>
        </p:nvSpPr>
        <p:spPr>
          <a:xfrm>
            <a:off x="457200" y="1353312"/>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SPECIFICATION AND PROTOCOL</a:t>
            </a:r>
          </a:p>
        </p:txBody>
      </p:sp>
      <p:sp>
        <p:nvSpPr>
          <p:cNvPr id="7" name="TextBox 6"/>
          <p:cNvSpPr txBox="1"/>
          <p:nvPr/>
        </p:nvSpPr>
        <p:spPr>
          <a:xfrm>
            <a:off x="457200" y="1627632"/>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Specification</a:t>
            </a:r>
          </a:p>
        </p:txBody>
      </p:sp>
      <p:sp>
        <p:nvSpPr>
          <p:cNvPr id="8" name="TextBox 7"/>
          <p:cNvSpPr txBox="1"/>
          <p:nvPr/>
        </p:nvSpPr>
        <p:spPr>
          <a:xfrm>
            <a:off x="457200" y="1810512"/>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a2a-protocol.org/latest/specification</a:t>
            </a:r>
          </a:p>
        </p:txBody>
      </p:sp>
      <p:cxnSp>
        <p:nvCxnSpPr>
          <p:cNvPr id="9" name="Connector 8"/>
          <p:cNvCxnSpPr/>
          <p:nvPr/>
        </p:nvCxnSpPr>
        <p:spPr>
          <a:xfrm>
            <a:off x="457200" y="2048256"/>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2139696"/>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Protocol overview</a:t>
            </a:r>
          </a:p>
        </p:txBody>
      </p:sp>
      <p:sp>
        <p:nvSpPr>
          <p:cNvPr id="11" name="TextBox 10"/>
          <p:cNvSpPr txBox="1"/>
          <p:nvPr/>
        </p:nvSpPr>
        <p:spPr>
          <a:xfrm>
            <a:off x="457200" y="2322576"/>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a2a-protocol.org/latest/topics/what-is-a2a</a:t>
            </a:r>
          </a:p>
        </p:txBody>
      </p:sp>
      <p:cxnSp>
        <p:nvCxnSpPr>
          <p:cNvPr id="12" name="Connector 11"/>
          <p:cNvCxnSpPr/>
          <p:nvPr/>
        </p:nvCxnSpPr>
        <p:spPr>
          <a:xfrm>
            <a:off x="457200" y="2560320"/>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2651760"/>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A2A and the Model Context Protocol</a:t>
            </a:r>
          </a:p>
        </p:txBody>
      </p:sp>
      <p:sp>
        <p:nvSpPr>
          <p:cNvPr id="14" name="TextBox 13"/>
          <p:cNvSpPr txBox="1"/>
          <p:nvPr/>
        </p:nvSpPr>
        <p:spPr>
          <a:xfrm>
            <a:off x="457200" y="2834640"/>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a2a-protocol.org/latest/topics/a2a-and-mcp</a:t>
            </a:r>
          </a:p>
        </p:txBody>
      </p:sp>
      <p:cxnSp>
        <p:nvCxnSpPr>
          <p:cNvPr id="15" name="Connector 14"/>
          <p:cNvCxnSpPr/>
          <p:nvPr/>
        </p:nvCxnSpPr>
        <p:spPr>
          <a:xfrm>
            <a:off x="457200" y="3072384"/>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3163824"/>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Task lifecycle</a:t>
            </a:r>
          </a:p>
        </p:txBody>
      </p:sp>
      <p:sp>
        <p:nvSpPr>
          <p:cNvPr id="17" name="TextBox 16"/>
          <p:cNvSpPr txBox="1"/>
          <p:nvPr/>
        </p:nvSpPr>
        <p:spPr>
          <a:xfrm>
            <a:off x="457200" y="3346704"/>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a2a-protocol.org/latest/topics/life-of-a-task</a:t>
            </a:r>
          </a:p>
        </p:txBody>
      </p:sp>
      <p:cxnSp>
        <p:nvCxnSpPr>
          <p:cNvPr id="18" name="Connector 17"/>
          <p:cNvCxnSpPr/>
          <p:nvPr/>
        </p:nvCxnSpPr>
        <p:spPr>
          <a:xfrm>
            <a:off x="457200" y="3584448"/>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3675887"/>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Agent discovery</a:t>
            </a:r>
          </a:p>
        </p:txBody>
      </p:sp>
      <p:sp>
        <p:nvSpPr>
          <p:cNvPr id="20" name="TextBox 19"/>
          <p:cNvSpPr txBox="1"/>
          <p:nvPr/>
        </p:nvSpPr>
        <p:spPr>
          <a:xfrm>
            <a:off x="457200" y="3858768"/>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a2a-protocol.org/latest/topics/agent-discovery</a:t>
            </a:r>
          </a:p>
        </p:txBody>
      </p:sp>
      <p:cxnSp>
        <p:nvCxnSpPr>
          <p:cNvPr id="21" name="Connector 20"/>
          <p:cNvCxnSpPr/>
          <p:nvPr/>
        </p:nvCxnSpPr>
        <p:spPr>
          <a:xfrm>
            <a:off x="457200" y="4096511"/>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4187952"/>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Streaming and asynchronous delivery</a:t>
            </a:r>
          </a:p>
        </p:txBody>
      </p:sp>
      <p:sp>
        <p:nvSpPr>
          <p:cNvPr id="23" name="TextBox 22"/>
          <p:cNvSpPr txBox="1"/>
          <p:nvPr/>
        </p:nvSpPr>
        <p:spPr>
          <a:xfrm>
            <a:off x="457200" y="4370832"/>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a2a-protocol.org/latest/topics/streaming-and-async</a:t>
            </a:r>
          </a:p>
        </p:txBody>
      </p:sp>
      <p:cxnSp>
        <p:nvCxnSpPr>
          <p:cNvPr id="24" name="Connector 23"/>
          <p:cNvCxnSpPr/>
          <p:nvPr/>
        </p:nvCxnSpPr>
        <p:spPr>
          <a:xfrm>
            <a:off x="457200" y="4608576"/>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 y="4700016"/>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Enterprise considerations</a:t>
            </a:r>
          </a:p>
        </p:txBody>
      </p:sp>
      <p:sp>
        <p:nvSpPr>
          <p:cNvPr id="26" name="TextBox 25"/>
          <p:cNvSpPr txBox="1"/>
          <p:nvPr/>
        </p:nvSpPr>
        <p:spPr>
          <a:xfrm>
            <a:off x="457200" y="4882896"/>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a2a-protocol.org/latest/topics/enterprise-ready</a:t>
            </a:r>
          </a:p>
        </p:txBody>
      </p:sp>
      <p:cxnSp>
        <p:nvCxnSpPr>
          <p:cNvPr id="27" name="Connector 26"/>
          <p:cNvCxnSpPr/>
          <p:nvPr/>
        </p:nvCxnSpPr>
        <p:spPr>
          <a:xfrm>
            <a:off x="457200" y="5120640"/>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5212080"/>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Normative data model and releases</a:t>
            </a:r>
          </a:p>
        </p:txBody>
      </p:sp>
      <p:sp>
        <p:nvSpPr>
          <p:cNvPr id="29" name="TextBox 28"/>
          <p:cNvSpPr txBox="1"/>
          <p:nvPr/>
        </p:nvSpPr>
        <p:spPr>
          <a:xfrm>
            <a:off x="457200" y="5394960"/>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github.com/a2aproject/A2A</a:t>
            </a:r>
          </a:p>
        </p:txBody>
      </p:sp>
      <p:cxnSp>
        <p:nvCxnSpPr>
          <p:cNvPr id="30" name="Connector 29"/>
          <p:cNvCxnSpPr/>
          <p:nvPr/>
        </p:nvCxnSpPr>
        <p:spPr>
          <a:xfrm>
            <a:off x="457200" y="5632704"/>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345936" y="1353312"/>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MICROSOFT FOUNDRY AND AGENT FRAMEWORK</a:t>
            </a:r>
          </a:p>
        </p:txBody>
      </p:sp>
      <p:sp>
        <p:nvSpPr>
          <p:cNvPr id="32" name="TextBox 31"/>
          <p:cNvSpPr txBox="1"/>
          <p:nvPr/>
        </p:nvSpPr>
        <p:spPr>
          <a:xfrm>
            <a:off x="6345936" y="1627632"/>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A2A tool</a:t>
            </a:r>
          </a:p>
        </p:txBody>
      </p:sp>
      <p:sp>
        <p:nvSpPr>
          <p:cNvPr id="33" name="TextBox 32"/>
          <p:cNvSpPr txBox="1"/>
          <p:nvPr/>
        </p:nvSpPr>
        <p:spPr>
          <a:xfrm>
            <a:off x="6345936" y="1810512"/>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learn.microsoft.com/azure/foundry/agents/how-to/tools/agent-to-agent</a:t>
            </a:r>
          </a:p>
        </p:txBody>
      </p:sp>
      <p:cxnSp>
        <p:nvCxnSpPr>
          <p:cNvPr id="34" name="Connector 33"/>
          <p:cNvCxnSpPr/>
          <p:nvPr/>
        </p:nvCxnSpPr>
        <p:spPr>
          <a:xfrm>
            <a:off x="6345936" y="2048256"/>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345936" y="2139696"/>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Inbound A2A endpoint</a:t>
            </a:r>
          </a:p>
        </p:txBody>
      </p:sp>
      <p:sp>
        <p:nvSpPr>
          <p:cNvPr id="36" name="TextBox 35"/>
          <p:cNvSpPr txBox="1"/>
          <p:nvPr/>
        </p:nvSpPr>
        <p:spPr>
          <a:xfrm>
            <a:off x="6345936" y="2322576"/>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learn.microsoft.com/azure/foundry/agents/how-to/enable-agent-to-agent-endpoint</a:t>
            </a:r>
          </a:p>
        </p:txBody>
      </p:sp>
      <p:cxnSp>
        <p:nvCxnSpPr>
          <p:cNvPr id="37" name="Connector 36"/>
          <p:cNvCxnSpPr/>
          <p:nvPr/>
        </p:nvCxnSpPr>
        <p:spPr>
          <a:xfrm>
            <a:off x="6345936" y="2560320"/>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345936" y="2651760"/>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A2A authentication</a:t>
            </a:r>
          </a:p>
        </p:txBody>
      </p:sp>
      <p:sp>
        <p:nvSpPr>
          <p:cNvPr id="39" name="TextBox 38"/>
          <p:cNvSpPr txBox="1"/>
          <p:nvPr/>
        </p:nvSpPr>
        <p:spPr>
          <a:xfrm>
            <a:off x="6345936" y="2834640"/>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learn.microsoft.com/azure/foundry/agents/concepts/agent-to-agent-authentication</a:t>
            </a:r>
          </a:p>
        </p:txBody>
      </p:sp>
      <p:cxnSp>
        <p:nvCxnSpPr>
          <p:cNvPr id="40" name="Connector 39"/>
          <p:cNvCxnSpPr/>
          <p:nvPr/>
        </p:nvCxnSpPr>
        <p:spPr>
          <a:xfrm>
            <a:off x="6345936" y="3072384"/>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45936" y="3163824"/>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Migration to the new Agent Service</a:t>
            </a:r>
          </a:p>
        </p:txBody>
      </p:sp>
      <p:sp>
        <p:nvSpPr>
          <p:cNvPr id="42" name="TextBox 41"/>
          <p:cNvSpPr txBox="1"/>
          <p:nvPr/>
        </p:nvSpPr>
        <p:spPr>
          <a:xfrm>
            <a:off x="6345936" y="3346704"/>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learn.microsoft.com/azure/foundry/agents/how-to/migrate</a:t>
            </a:r>
          </a:p>
        </p:txBody>
      </p:sp>
      <p:cxnSp>
        <p:nvCxnSpPr>
          <p:cNvPr id="43" name="Connector 42"/>
          <p:cNvCxnSpPr/>
          <p:nvPr/>
        </p:nvCxnSpPr>
        <p:spPr>
          <a:xfrm>
            <a:off x="6345936" y="3584448"/>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345936" y="3675887"/>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Workflows and mechanism selection</a:t>
            </a:r>
          </a:p>
        </p:txBody>
      </p:sp>
      <p:sp>
        <p:nvSpPr>
          <p:cNvPr id="45" name="TextBox 44"/>
          <p:cNvSpPr txBox="1"/>
          <p:nvPr/>
        </p:nvSpPr>
        <p:spPr>
          <a:xfrm>
            <a:off x="6345936" y="3858768"/>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learn.microsoft.com/azure/foundry/agents/concepts/workflow</a:t>
            </a:r>
          </a:p>
        </p:txBody>
      </p:sp>
      <p:cxnSp>
        <p:nvCxnSpPr>
          <p:cNvPr id="46" name="Connector 45"/>
          <p:cNvCxnSpPr/>
          <p:nvPr/>
        </p:nvCxnSpPr>
        <p:spPr>
          <a:xfrm>
            <a:off x="6345936" y="4096511"/>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345936" y="4187952"/>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Limits, quotas and regions</a:t>
            </a:r>
          </a:p>
        </p:txBody>
      </p:sp>
      <p:sp>
        <p:nvSpPr>
          <p:cNvPr id="48" name="TextBox 47"/>
          <p:cNvSpPr txBox="1"/>
          <p:nvPr/>
        </p:nvSpPr>
        <p:spPr>
          <a:xfrm>
            <a:off x="6345936" y="4370832"/>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learn.microsoft.com/azure/foundry/agents/concepts/limits-quotas-regions</a:t>
            </a:r>
          </a:p>
        </p:txBody>
      </p:sp>
      <p:cxnSp>
        <p:nvCxnSpPr>
          <p:cNvPr id="49" name="Connector 48"/>
          <p:cNvCxnSpPr/>
          <p:nvPr/>
        </p:nvCxnSpPr>
        <p:spPr>
          <a:xfrm>
            <a:off x="6345936" y="4608576"/>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345936" y="4700016"/>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Agent Framework A2A integration</a:t>
            </a:r>
          </a:p>
        </p:txBody>
      </p:sp>
      <p:sp>
        <p:nvSpPr>
          <p:cNvPr id="51" name="TextBox 50"/>
          <p:cNvSpPr txBox="1"/>
          <p:nvPr/>
        </p:nvSpPr>
        <p:spPr>
          <a:xfrm>
            <a:off x="6345936" y="4882896"/>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learn.microsoft.com/agent-framework/integrations/by-component/agent-services/a2a</a:t>
            </a:r>
          </a:p>
        </p:txBody>
      </p:sp>
      <p:cxnSp>
        <p:nvCxnSpPr>
          <p:cNvPr id="52" name="Connector 51"/>
          <p:cNvCxnSpPr/>
          <p:nvPr/>
        </p:nvCxnSpPr>
        <p:spPr>
          <a:xfrm>
            <a:off x="6345936" y="5120640"/>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345936" y="5212080"/>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Delegation reference sample</a:t>
            </a:r>
          </a:p>
        </p:txBody>
      </p:sp>
      <p:sp>
        <p:nvSpPr>
          <p:cNvPr id="54" name="TextBox 53"/>
          <p:cNvSpPr txBox="1"/>
          <p:nvPr/>
        </p:nvSpPr>
        <p:spPr>
          <a:xfrm>
            <a:off x="6345936" y="5394960"/>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github.com/microsoft-foundry/foundry-samples</a:t>
            </a:r>
          </a:p>
        </p:txBody>
      </p:sp>
      <p:cxnSp>
        <p:nvCxnSpPr>
          <p:cNvPr id="55" name="Connector 54"/>
          <p:cNvCxnSpPr/>
          <p:nvPr/>
        </p:nvCxnSpPr>
        <p:spPr>
          <a:xfrm>
            <a:off x="6345936" y="5632704"/>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10012</Words>
  <Application>Microsoft Office PowerPoint</Application>
  <PresentationFormat>Widescreen</PresentationFormat>
  <Paragraphs>854</Paragraphs>
  <Slides>21</Slides>
  <Notes>21</Notes>
  <HiddenSlides>2</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84</cp:revision>
  <dcterms:created xsi:type="dcterms:W3CDTF">2013-01-27T09:14:16Z</dcterms:created>
  <dcterms:modified xsi:type="dcterms:W3CDTF">2026-10-15T19:37:04Z</dcterms:modified>
  <cp:category/>
</cp:coreProperties>
</file>