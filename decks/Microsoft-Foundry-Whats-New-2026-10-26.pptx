
<file path=[Content_Types].xml><?xml version="1.0" encoding="utf-8"?>
<Types xmlns="http://schemas.openxmlformats.org/package/2006/content-types">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microsoft.com/office/2020/02/relationships/classificationlabels" Target="docMetadata/LabelInfo.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29"/>
  </p:notesMasterIdLst>
  <p:sldIdLst>
    <p:sldId id="256" r:id="rId2"/>
    <p:sldId id="257" r:id="rId3"/>
    <p:sldId id="258" r:id="rId4"/>
    <p:sldId id="260" r:id="rId5"/>
    <p:sldId id="261" r:id="rId6"/>
    <p:sldId id="262" r:id="rId7"/>
    <p:sldId id="263" r:id="rId8"/>
    <p:sldId id="264" r:id="rId9"/>
    <p:sldId id="265" r:id="rId10"/>
    <p:sldId id="266" r:id="rId11"/>
    <p:sldId id="283" r:id="rId12"/>
    <p:sldId id="267" r:id="rId13"/>
    <p:sldId id="282" r:id="rId14"/>
    <p:sldId id="268" r:id="rId15"/>
    <p:sldId id="269" r:id="rId16"/>
    <p:sldId id="270" r:id="rId17"/>
    <p:sldId id="271" r:id="rId18"/>
    <p:sldId id="280" r:id="rId19"/>
    <p:sldId id="272" r:id="rId20"/>
    <p:sldId id="281" r:id="rId21"/>
    <p:sldId id="273" r:id="rId22"/>
    <p:sldId id="274" r:id="rId23"/>
    <p:sldId id="275" r:id="rId24"/>
    <p:sldId id="276" r:id="rId25"/>
    <p:sldId id="277" r:id="rId26"/>
    <p:sldId id="278" r:id="rId27"/>
    <p:sldId id="279"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snapToObjects="1">
      <p:cViewPr varScale="1">
        <p:scale>
          <a:sx n="123" d="100"/>
          <a:sy n="123" d="100"/>
        </p:scale>
        <p:origin x="96" y="269"/>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microsoft.com/office/2016/11/relationships/changesInfo" Target="changesInfos/changesInfo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x Sachelarescu" userId="S::alexsac@microsoft.com::774a4e7a-2386-4e79-97d5-603ed92c67ae" providerId="AD" clId="Web-{CECDF9B1-627F-F7E9-0ADF-6327A288E88D}"/>
    <pc:docChg chg="modSld">
      <pc:chgData name="Alex Sachelarescu" userId="S::alexsac@microsoft.com::774a4e7a-2386-4e79-97d5-603ed92c67ae" providerId="AD" clId="Web-{CECDF9B1-627F-F7E9-0ADF-6327A288E88D}" dt="2026-10-13T20:26:06.918" v="5"/>
      <pc:docMkLst>
        <pc:docMk/>
      </pc:docMkLst>
      <pc:sldChg chg="modNotes">
        <pc:chgData name="Alex Sachelarescu" userId="S::alexsac@microsoft.com::774a4e7a-2386-4e79-97d5-603ed92c67ae" providerId="AD" clId="Web-{CECDF9B1-627F-F7E9-0ADF-6327A288E88D}" dt="2026-10-13T20:21:54.919" v="2"/>
        <pc:sldMkLst>
          <pc:docMk/>
          <pc:sldMk cId="0" sldId="267"/>
        </pc:sldMkLst>
      </pc:sldChg>
      <pc:sldChg chg="modNotes">
        <pc:chgData name="Alex Sachelarescu" userId="S::alexsac@microsoft.com::774a4e7a-2386-4e79-97d5-603ed92c67ae" providerId="AD" clId="Web-{CECDF9B1-627F-F7E9-0ADF-6327A288E88D}" dt="2026-10-13T20:26:06.918" v="5"/>
        <pc:sldMkLst>
          <pc:docMk/>
          <pc:sldMk cId="0" sldId="268"/>
        </pc:sldMkLst>
      </pc:sldChg>
    </pc:docChg>
  </pc:docChgLst>
  <pc:docChgLst>
    <pc:chgData name="Alex Sachelarescu" userId="S::alexsac@microsoft.com::774a4e7a-2386-4e79-97d5-603ed92c67ae" providerId="AD" clId="Web-{9ED056C7-44F9-6923-A5AC-F55B3418A7F5}"/>
    <pc:docChg chg="modSld">
      <pc:chgData name="Alex Sachelarescu" userId="S::alexsac@microsoft.com::774a4e7a-2386-4e79-97d5-603ed92c67ae" providerId="AD" clId="Web-{9ED056C7-44F9-6923-A5AC-F55B3418A7F5}" dt="2026-10-13T12:27:31.796" v="18"/>
      <pc:docMkLst>
        <pc:docMk/>
      </pc:docMkLst>
      <pc:sldChg chg="modNotes">
        <pc:chgData name="Alex Sachelarescu" userId="S::alexsac@microsoft.com::774a4e7a-2386-4e79-97d5-603ed92c67ae" providerId="AD" clId="Web-{9ED056C7-44F9-6923-A5AC-F55B3418A7F5}" dt="2026-10-13T11:48:31.263" v="2"/>
        <pc:sldMkLst>
          <pc:docMk/>
          <pc:sldMk cId="0" sldId="257"/>
        </pc:sldMkLst>
      </pc:sldChg>
      <pc:sldChg chg="modNotes">
        <pc:chgData name="Alex Sachelarescu" userId="S::alexsac@microsoft.com::774a4e7a-2386-4e79-97d5-603ed92c67ae" providerId="AD" clId="Web-{9ED056C7-44F9-6923-A5AC-F55B3418A7F5}" dt="2026-10-13T11:55:20.545" v="11"/>
        <pc:sldMkLst>
          <pc:docMk/>
          <pc:sldMk cId="0" sldId="258"/>
        </pc:sldMkLst>
      </pc:sldChg>
      <pc:sldChg chg="modNotes">
        <pc:chgData name="Alex Sachelarescu" userId="S::alexsac@microsoft.com::774a4e7a-2386-4e79-97d5-603ed92c67ae" providerId="AD" clId="Web-{9ED056C7-44F9-6923-A5AC-F55B3418A7F5}" dt="2026-10-13T12:01:27.123" v="14"/>
        <pc:sldMkLst>
          <pc:docMk/>
          <pc:sldMk cId="0" sldId="260"/>
        </pc:sldMkLst>
      </pc:sldChg>
      <pc:sldChg chg="modNotes">
        <pc:chgData name="Alex Sachelarescu" userId="S::alexsac@microsoft.com::774a4e7a-2386-4e79-97d5-603ed92c67ae" providerId="AD" clId="Web-{9ED056C7-44F9-6923-A5AC-F55B3418A7F5}" dt="2026-10-13T12:27:31.796" v="18"/>
        <pc:sldMkLst>
          <pc:docMk/>
          <pc:sldMk cId="0" sldId="262"/>
        </pc:sldMkLst>
      </pc:sldChg>
    </pc:docChg>
  </pc:docChgLst>
  <pc:docChgLst>
    <pc:chgData name="Alex Sachelarescu" userId="774a4e7a-2386-4e79-97d5-603ed92c67ae" providerId="ADAL" clId="{F2CD099A-A2FA-4A19-AC36-AF9E45599568}"/>
    <pc:docChg chg="custSel modSld">
      <pc:chgData name="Alex Sachelarescu" userId="774a4e7a-2386-4e79-97d5-603ed92c67ae" providerId="ADAL" clId="{F2CD099A-A2FA-4A19-AC36-AF9E45599568}" dt="2026-10-24T18:43:05.808" v="1" actId="478"/>
      <pc:docMkLst>
        <pc:docMk/>
      </pc:docMkLst>
      <pc:sldChg chg="delSp modSp mod">
        <pc:chgData name="Alex Sachelarescu" userId="774a4e7a-2386-4e79-97d5-603ed92c67ae" providerId="ADAL" clId="{F2CD099A-A2FA-4A19-AC36-AF9E45599568}" dt="2026-10-24T18:43:05.808" v="1" actId="478"/>
        <pc:sldMkLst>
          <pc:docMk/>
          <pc:sldMk cId="0" sldId="256"/>
        </pc:sldMkLst>
      </pc:sldChg>
    </pc:docChg>
  </pc:docChgLst>
  <pc:docChgLst>
    <pc:chgData name="Alex Sachelarescu" userId="S::alexsac@microsoft.com::774a4e7a-2386-4e79-97d5-603ed92c67ae" providerId="AD" clId="Web-{00000000-0000-0000-0000-000000000000}"/>
    <pc:docChg chg="modSld">
      <pc:chgData name="Alex Sachelarescu" userId="S::alexsac@microsoft.com::774a4e7a-2386-4e79-97d5-603ed92c67ae" providerId="AD" clId="Web-{00000000-0000-0000-0000-000000000000}" dt="2026-10-13T13:36:10.943" v="13"/>
      <pc:docMkLst>
        <pc:docMk/>
      </pc:docMkLst>
      <pc:sldChg chg="modNotes">
        <pc:chgData name="Alex Sachelarescu" userId="S::alexsac@microsoft.com::774a4e7a-2386-4e79-97d5-603ed92c67ae" providerId="AD" clId="Web-{00000000-0000-0000-0000-000000000000}" dt="2026-10-13T13:29:33.962" v="3"/>
        <pc:sldMkLst>
          <pc:docMk/>
          <pc:sldMk cId="0" sldId="263"/>
        </pc:sldMkLst>
      </pc:sldChg>
      <pc:sldChg chg="modNotes">
        <pc:chgData name="Alex Sachelarescu" userId="S::alexsac@microsoft.com::774a4e7a-2386-4e79-97d5-603ed92c67ae" providerId="AD" clId="Web-{00000000-0000-0000-0000-000000000000}" dt="2026-10-13T13:32:49.578" v="7"/>
        <pc:sldMkLst>
          <pc:docMk/>
          <pc:sldMk cId="0" sldId="264"/>
        </pc:sldMkLst>
      </pc:sldChg>
      <pc:sldChg chg="modNotes">
        <pc:chgData name="Alex Sachelarescu" userId="S::alexsac@microsoft.com::774a4e7a-2386-4e79-97d5-603ed92c67ae" providerId="AD" clId="Web-{00000000-0000-0000-0000-000000000000}" dt="2026-10-13T13:36:10.943" v="13"/>
        <pc:sldMkLst>
          <pc:docMk/>
          <pc:sldMk cId="0" sldId="265"/>
        </pc:sldMkLst>
      </pc:sldChg>
    </pc:docChg>
  </pc:docChgLst>
  <pc:docChgLst>
    <pc:chgData name="Alex Sachelarescu" userId="S::alexsac@microsoft.com::774a4e7a-2386-4e79-97d5-603ed92c67ae" providerId="AD" clId="Web-{EE11A01B-C928-5B3D-B0A6-C2C8C7C7F3CD}"/>
    <pc:docChg chg="modSld">
      <pc:chgData name="Alex Sachelarescu" userId="S::alexsac@microsoft.com::774a4e7a-2386-4e79-97d5-603ed92c67ae" providerId="AD" clId="Web-{EE11A01B-C928-5B3D-B0A6-C2C8C7C7F3CD}" dt="2026-10-14T13:18:41.700" v="25"/>
      <pc:docMkLst>
        <pc:docMk/>
      </pc:docMkLst>
      <pc:sldChg chg="modNotes">
        <pc:chgData name="Alex Sachelarescu" userId="S::alexsac@microsoft.com::774a4e7a-2386-4e79-97d5-603ed92c67ae" providerId="AD" clId="Web-{EE11A01B-C928-5B3D-B0A6-C2C8C7C7F3CD}" dt="2026-10-14T13:00:42.296" v="1"/>
        <pc:sldMkLst>
          <pc:docMk/>
          <pc:sldMk cId="0" sldId="269"/>
        </pc:sldMkLst>
      </pc:sldChg>
      <pc:sldChg chg="modNotes">
        <pc:chgData name="Alex Sachelarescu" userId="S::alexsac@microsoft.com::774a4e7a-2386-4e79-97d5-603ed92c67ae" providerId="AD" clId="Web-{EE11A01B-C928-5B3D-B0A6-C2C8C7C7F3CD}" dt="2026-10-14T13:00:48.453" v="2"/>
        <pc:sldMkLst>
          <pc:docMk/>
          <pc:sldMk cId="0" sldId="270"/>
        </pc:sldMkLst>
      </pc:sldChg>
      <pc:sldChg chg="modNotes">
        <pc:chgData name="Alex Sachelarescu" userId="S::alexsac@microsoft.com::774a4e7a-2386-4e79-97d5-603ed92c67ae" providerId="AD" clId="Web-{EE11A01B-C928-5B3D-B0A6-C2C8C7C7F3CD}" dt="2026-10-14T13:04:19.080" v="10"/>
        <pc:sldMkLst>
          <pc:docMk/>
          <pc:sldMk cId="0" sldId="271"/>
        </pc:sldMkLst>
      </pc:sldChg>
      <pc:sldChg chg="modNotes">
        <pc:chgData name="Alex Sachelarescu" userId="S::alexsac@microsoft.com::774a4e7a-2386-4e79-97d5-603ed92c67ae" providerId="AD" clId="Web-{EE11A01B-C928-5B3D-B0A6-C2C8C7C7F3CD}" dt="2026-10-14T13:04:08.252" v="7"/>
        <pc:sldMkLst>
          <pc:docMk/>
          <pc:sldMk cId="0" sldId="272"/>
        </pc:sldMkLst>
      </pc:sldChg>
      <pc:sldChg chg="modNotes">
        <pc:chgData name="Alex Sachelarescu" userId="S::alexsac@microsoft.com::774a4e7a-2386-4e79-97d5-603ed92c67ae" providerId="AD" clId="Web-{EE11A01B-C928-5B3D-B0A6-C2C8C7C7F3CD}" dt="2026-10-14T13:08:34.443" v="15"/>
        <pc:sldMkLst>
          <pc:docMk/>
          <pc:sldMk cId="0" sldId="273"/>
        </pc:sldMkLst>
      </pc:sldChg>
      <pc:sldChg chg="modNotes">
        <pc:chgData name="Alex Sachelarescu" userId="S::alexsac@microsoft.com::774a4e7a-2386-4e79-97d5-603ed92c67ae" providerId="AD" clId="Web-{EE11A01B-C928-5B3D-B0A6-C2C8C7C7F3CD}" dt="2026-10-14T13:13:47.681" v="18"/>
        <pc:sldMkLst>
          <pc:docMk/>
          <pc:sldMk cId="0" sldId="274"/>
        </pc:sldMkLst>
      </pc:sldChg>
      <pc:sldChg chg="modNotes">
        <pc:chgData name="Alex Sachelarescu" userId="S::alexsac@microsoft.com::774a4e7a-2386-4e79-97d5-603ed92c67ae" providerId="AD" clId="Web-{EE11A01B-C928-5B3D-B0A6-C2C8C7C7F3CD}" dt="2026-10-14T13:13:55.353" v="20"/>
        <pc:sldMkLst>
          <pc:docMk/>
          <pc:sldMk cId="0" sldId="275"/>
        </pc:sldMkLst>
      </pc:sldChg>
      <pc:sldChg chg="modNotes">
        <pc:chgData name="Alex Sachelarescu" userId="S::alexsac@microsoft.com::774a4e7a-2386-4e79-97d5-603ed92c67ae" providerId="AD" clId="Web-{EE11A01B-C928-5B3D-B0A6-C2C8C7C7F3CD}" dt="2026-10-14T13:18:18.966" v="23"/>
        <pc:sldMkLst>
          <pc:docMk/>
          <pc:sldMk cId="0" sldId="276"/>
        </pc:sldMkLst>
      </pc:sldChg>
      <pc:sldChg chg="modNotes">
        <pc:chgData name="Alex Sachelarescu" userId="S::alexsac@microsoft.com::774a4e7a-2386-4e79-97d5-603ed92c67ae" providerId="AD" clId="Web-{EE11A01B-C928-5B3D-B0A6-C2C8C7C7F3CD}" dt="2026-10-14T13:18:41.700" v="25"/>
        <pc:sldMkLst>
          <pc:docMk/>
          <pc:sldMk cId="0" sldId="277"/>
        </pc:sldMkLst>
      </pc:sldChg>
      <pc:sldChg chg="modNotes">
        <pc:chgData name="Alex Sachelarescu" userId="S::alexsac@microsoft.com::774a4e7a-2386-4e79-97d5-603ed92c67ae" providerId="AD" clId="Web-{EE11A01B-C928-5B3D-B0A6-C2C8C7C7F3CD}" dt="2026-10-14T13:04:15.221" v="9"/>
        <pc:sldMkLst>
          <pc:docMk/>
          <pc:sldMk cId="0" sldId="280"/>
        </pc:sldMkLst>
      </pc:sldChg>
      <pc:sldChg chg="modNotes">
        <pc:chgData name="Alex Sachelarescu" userId="S::alexsac@microsoft.com::774a4e7a-2386-4e79-97d5-603ed92c67ae" providerId="AD" clId="Web-{EE11A01B-C928-5B3D-B0A6-C2C8C7C7F3CD}" dt="2026-10-14T13:05:35.050" v="13"/>
        <pc:sldMkLst>
          <pc:docMk/>
          <pc:sldMk cId="0" sldId="281"/>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F08D2D6-B216-4F90-A60B-C08DD324B53F}" type="datetimeFigureOut">
              <a:t>10/30/2026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9413479-2E92-4FDE-93BB-3E5B3A01EA27}" type="slidenum">
              <a:t>‹#›</a:t>
            </a:fld>
            <a:endParaRPr lang="en-US"/>
          </a:p>
        </p:txBody>
      </p:sp>
    </p:spTree>
    <p:extLst>
      <p:ext uri="{BB962C8B-B14F-4D97-AF65-F5344CB8AC3E}">
        <p14:creationId xmlns:p14="http://schemas.microsoft.com/office/powerpoint/2010/main" val="251870941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Open by placing the session in time. Everything here was checked against Microsoft Learn, the Foundry developer blog and GitHub on 11 September 2026. The two events that matter are Build 2026 on 2 June and the July-August roundup published on 9 September; Ignite 2026 has not happened, so nothing in this deck is Ignite news. Flag the rename early: Azure AI Foundry is now Microsoft Foundry, Azure AI Services are now Foundry Tools, the old portal is Foundry (classic), and the documentation moved from slash azure slash ai-foundry to slash azure slash foundry. The deck follows the platform's own layer model - models first, then data and tools, then agents, then the control plane - because that is the order in which you make design decisions. Status labels appear on every slide: GA means generally available, Preview means public preview with no SLA. Likely question: is Microsoft Foundry a new service or a rename? Answer: largely a rename and a consolidation onto one resource provider namespace, with genuinely new surfaces such as the Control Plane and hosted agents added on top.</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Today we will explore Microsoft Foundry layer by layer, following the path from initial architecture to a governed, production-ready AI solution.</a:t>
            </a:r>
          </a:p>
          <a:p>
            <a:r>
              <a:rPr lang="en-US"/>
              <a:t>We begin with the </a:t>
            </a:r>
            <a:r>
              <a:rPr lang="en-US" b="1"/>
              <a:t>Foundry architecture</a:t>
            </a:r>
            <a:r>
              <a:rPr lang="en-US"/>
              <a:t> and the core development experience: how applications and agents are structured, which resources sit underneath them, and how developers interact with the platform through APIs, SDKs and tools.</a:t>
            </a:r>
          </a:p>
          <a:p>
            <a:r>
              <a:rPr lang="en-US"/>
              <a:t>We then examine </a:t>
            </a:r>
            <a:r>
              <a:rPr lang="en-US" b="1"/>
              <a:t>Foundry Models</a:t>
            </a:r>
            <a:r>
              <a:rPr lang="en-US"/>
              <a:t>. The focus is model choice and deployment: Microsoft and partner models, available processing options, and routing requests to the right model based on quality, cost, latency and workload requirements. The section closes with decision models, a new class of model that answers a fixed question with a probability, a choice or a score instead of generated text.</a:t>
            </a:r>
          </a:p>
          <a:p>
            <a:r>
              <a:rPr lang="en-US" dirty="0"/>
              <a:t>The third section covers </a:t>
            </a:r>
            <a:r>
              <a:rPr lang="en-US" b="1" dirty="0"/>
              <a:t>Tools and Microsoft IQ</a:t>
            </a:r>
            <a:r>
              <a:rPr lang="en-US" dirty="0"/>
              <a:t>. Models provide reasoning, but tools allow AI systems to take action, while IQ capabilities connect them to relevant enterprise knowledge and context. This edition adds a dedicated slide on the browser automation tool, which became generally available on 19 October 2026.</a:t>
            </a:r>
            <a:endParaRPr lang="en-US" dirty="0">
              <a:ea typeface="Calibri"/>
              <a:cs typeface="Calibri"/>
            </a:endParaRPr>
          </a:p>
          <a:p>
            <a:r>
              <a:rPr lang="en-US"/>
              <a:t>Next, we move to </a:t>
            </a:r>
            <a:r>
              <a:rPr lang="en-US" b="1"/>
              <a:t>Agent Service and Agent Framework</a:t>
            </a:r>
            <a:r>
              <a:rPr lang="en-US"/>
              <a:t>. We will distinguish the managed service from the development framework and examine how agents use protocols, APIs, reusable routines and publishing channels to execute workflows.</a:t>
            </a:r>
          </a:p>
          <a:p>
            <a:r>
              <a:rPr lang="en-US" dirty="0"/>
              <a:t>The fifth section addresses the </a:t>
            </a:r>
            <a:r>
              <a:rPr lang="en-US" b="1" dirty="0"/>
              <a:t>Foundry control plane</a:t>
            </a:r>
            <a:r>
              <a:rPr lang="en-US" dirty="0"/>
              <a:t>: the capabilities needed to operate AI responsibly in production. This includes guardrails, content safety, evaluation and end-to-end tracing with </a:t>
            </a:r>
            <a:r>
              <a:rPr lang="en-US" dirty="0" err="1"/>
              <a:t>OpenTelemetry</a:t>
            </a:r>
            <a:r>
              <a:rPr lang="en-US" dirty="0"/>
              <a:t>.</a:t>
            </a:r>
            <a:endParaRPr lang="en-US" dirty="0">
              <a:ea typeface="Calibri"/>
              <a:cs typeface="Calibri"/>
            </a:endParaRPr>
          </a:p>
          <a:p>
            <a:r>
              <a:rPr lang="en-US"/>
              <a:t>We will close with the key changes since Build 2026 and a set of references for further exploration.</a:t>
            </a:r>
          </a:p>
          <a:p>
            <a:r>
              <a:rPr lang="en-US"/>
              <a:t>The overall narrative is simple: </a:t>
            </a:r>
            <a:r>
              <a:rPr lang="en-US" b="1"/>
              <a:t>architecture establishes the foundation, models provide intelligence, data and tools add context and action, agents orchestrate the workflow, and the control plane makes the solution observable and governable at scale.</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provides the </a:t>
            </a:r>
            <a:r>
              <a:rPr lang="en-US" b="1"/>
              <a:t>high-level architecture of Microsoft Foundry.</a:t>
            </a:r>
            <a:endParaRPr lang="en-US" b="1">
              <a:ea typeface="Calibri"/>
              <a:cs typeface="Calibri"/>
            </a:endParaRPr>
          </a:p>
          <a:p>
            <a:r>
              <a:rPr lang="en-US"/>
              <a:t>The core idea is that Foundry brings the main building blocks for AI applications and agents into a unified Azure resource model. Developers can access these capabilities through the</a:t>
            </a:r>
            <a:r>
              <a:rPr lang="en-US" b="1"/>
              <a:t> Foundry portal, SDKs, Visual Studio Code, the Azure Developer CLI, MCP tooling, templates and samples</a:t>
            </a:r>
            <a:r>
              <a:rPr lang="en-US"/>
              <a:t>.</a:t>
            </a:r>
          </a:p>
          <a:p>
            <a:r>
              <a:rPr lang="en-US" dirty="0"/>
              <a:t>The platform is </a:t>
            </a:r>
            <a:r>
              <a:rPr lang="en-US" dirty="0" err="1"/>
              <a:t>organised</a:t>
            </a:r>
            <a:r>
              <a:rPr lang="en-US" dirty="0"/>
              <a:t> around three main pillars.</a:t>
            </a:r>
            <a:endParaRPr lang="en-US" dirty="0">
              <a:ea typeface="Calibri"/>
              <a:cs typeface="Calibri"/>
            </a:endParaRPr>
          </a:p>
          <a:p>
            <a:r>
              <a:rPr lang="en-US" b="1"/>
              <a:t>First, Foundry Models.</a:t>
            </a:r>
            <a:endParaRPr lang="en-US"/>
          </a:p>
          <a:p>
            <a:r>
              <a:rPr lang="en-US"/>
              <a:t> This is the intelligence layer. It provides access to Microsoft, partner and community models, with different deployment options for varying performance, capacity and cost requirements. It also includes model routing and fine-tuning capabilities, so applications can use the appropriate model rather than defaulting to a single model for every request.</a:t>
            </a:r>
          </a:p>
          <a:p>
            <a:r>
              <a:rPr lang="en-US" b="1"/>
              <a:t>Second, Foundry Agent Service.</a:t>
            </a:r>
            <a:endParaRPr lang="en-US"/>
          </a:p>
          <a:p>
            <a:r>
              <a:rPr lang="en-US"/>
              <a:t> This is the managed runtime for building and operating agents. It combines model interaction with workflows, routines, agent-to-agent communication, identity, versioning and stable endpoints. Agents can then be published into channels such as Microsoft Teams and Microsoft 365 Copilot. Agent-to-agent delegation is now generally available, and voice-based prompt agents have entered preview as a managed option for real-time spoken conversations.</a:t>
            </a:r>
          </a:p>
          <a:p>
            <a:r>
              <a:rPr lang="en-US" b="1"/>
              <a:t>Third, Foundry Tools and Knowledge.</a:t>
            </a:r>
            <a:endParaRPr lang="en-US"/>
          </a:p>
          <a:p>
            <a:r>
              <a:rPr lang="en-US" dirty="0"/>
              <a:t> This layer connects models and agents to enterprise context and actions. Tools allow an agent to call functions, search information, execute code or interact through standard interfaces such as MCP and </a:t>
            </a:r>
            <a:r>
              <a:rPr lang="en-US" dirty="0" err="1"/>
              <a:t>OpenAPI</a:t>
            </a:r>
            <a:r>
              <a:rPr lang="en-US" dirty="0"/>
              <a:t>. Knowledge capabilities provide grounding, memory and access to </a:t>
            </a:r>
            <a:r>
              <a:rPr lang="en-US" dirty="0" err="1"/>
              <a:t>organisational</a:t>
            </a:r>
            <a:r>
              <a:rPr lang="en-US" dirty="0"/>
              <a:t> context through Foundry IQ, Work IQ and Fabric IQ. The browser automation tool, which lets an agent drive a managed cloud browser, became generally available on 19 October 2026.</a:t>
            </a:r>
            <a:endParaRPr lang="en-US" dirty="0">
              <a:ea typeface="Calibri"/>
              <a:cs typeface="Calibri"/>
            </a:endParaRPr>
          </a:p>
          <a:p>
            <a:r>
              <a:rPr lang="en-US" dirty="0"/>
              <a:t>Across these three pillars sits the </a:t>
            </a:r>
            <a:r>
              <a:rPr lang="en-US" b="1" dirty="0"/>
              <a:t>Foundry Control Plane</a:t>
            </a:r>
            <a:r>
              <a:rPr lang="en-US" dirty="0"/>
              <a:t>. This provides the operational foundation for production: observability, evaluation, tracing, safety controls, identity, role-based access, network isolation, policy and security monitoring. Insights, in preview, now analyses production traces and groups recurring behaviour into reviewable findings.</a:t>
            </a:r>
            <a:endParaRPr lang="en-US" dirty="0">
              <a:ea typeface="Calibri"/>
              <a:cs typeface="Calibri"/>
            </a:endParaRPr>
          </a:p>
          <a:p>
            <a:r>
              <a:rPr lang="en-US"/>
              <a:t>Underneath, the Foundry resource provides a common Azure management boundary for projects, connections, access control, networking and policy. This is important because the application is managed as a connected system, rather than as an unrelated collection of AI services.</a:t>
            </a:r>
          </a:p>
          <a:p>
            <a:r>
              <a:rPr lang="en-US"/>
              <a:t>On the right, </a:t>
            </a:r>
            <a:r>
              <a:rPr lang="en-US" b="1"/>
              <a:t>Foundry Local</a:t>
            </a:r>
            <a:r>
              <a:rPr lang="en-US"/>
              <a:t> extends selected model capabilities to the device. It supports local inference through ONNX Runtime and OpenAI-compatible APIs across Windows, macOS and Linux. However, it runs outside the Azure Foundry resource, so the cloud control-plane capabilities shown at the bottom do not automatically apply.</a:t>
            </a:r>
          </a:p>
          <a:p>
            <a:r>
              <a:rPr lang="en-US"/>
              <a:t>The key takeaway is that Foundry is more than a model catalogue. It is an integrated platform for selecting intelligence, grounding it with data, enabling actions, orchestrating agents and governing the complete solution from development through production.</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turns the high-level Foundry architecture into an end-to-end workload design. Read it from left to right as the path of a user request, with the control plane operating across the entire solution.</a:t>
            </a:r>
          </a:p>
          <a:p>
            <a:r>
              <a:rPr lang="en-US" b="1"/>
              <a:t>First, the request enters through a channel.</a:t>
            </a:r>
            <a:endParaRPr lang="en-US"/>
          </a:p>
          <a:p>
            <a:r>
              <a:rPr lang="en-US"/>
              <a:t> This could be Microsoft 365 Copilot, Teams, a web application or another agent. Microsoft Entra ID establishes the user identity before the request enters the AI workload.</a:t>
            </a:r>
          </a:p>
          <a:p>
            <a:r>
              <a:rPr lang="en-US" b="1"/>
              <a:t>Second, Azure API Management acts as the AI gateway.</a:t>
            </a:r>
            <a:endParaRPr lang="en-US"/>
          </a:p>
          <a:p>
            <a:r>
              <a:rPr lang="en-US"/>
              <a:t> It provides a central enforcement point for authentication, token quotas, rate limits, load balancing, semantic caching, content-safety policies and telemetry. It can also expose MCP servers and peer agents as managed APIs.</a:t>
            </a:r>
          </a:p>
          <a:p>
            <a:r>
              <a:rPr lang="en-US" b="1"/>
              <a:t>Third, the request reaches the hosted agent in Foundry Agent Service.</a:t>
            </a:r>
            <a:endParaRPr lang="en-US"/>
          </a:p>
          <a:p>
            <a:r>
              <a:rPr lang="en-US" dirty="0"/>
              <a:t> The agent runs application-defined orchestration code, whether built with Microsoft Agent Framework, </a:t>
            </a:r>
            <a:r>
              <a:rPr lang="en-US" dirty="0" err="1"/>
              <a:t>LangGraph</a:t>
            </a:r>
            <a:r>
              <a:rPr lang="en-US" dirty="0"/>
              <a:t> or a custom implementation. The agent receives a dedicated identity and executes inside the Foundry project boundary, with guardrails applied around user input, tool calls and model output.</a:t>
            </a:r>
            <a:endParaRPr lang="en-US" dirty="0">
              <a:ea typeface="Calibri"/>
              <a:cs typeface="Calibri"/>
            </a:endParaRPr>
          </a:p>
          <a:p>
            <a:r>
              <a:rPr lang="en-US" dirty="0"/>
              <a:t>From there, the agent can use three capability types.</a:t>
            </a:r>
            <a:endParaRPr lang="en-US" dirty="0">
              <a:ea typeface="Calibri"/>
              <a:cs typeface="Calibri"/>
            </a:endParaRPr>
          </a:p>
          <a:p>
            <a:r>
              <a:rPr lang="en-US" b="1"/>
              <a:t>Fourth, models provide reasoning and generation.</a:t>
            </a:r>
            <a:endParaRPr lang="en-US"/>
          </a:p>
          <a:p>
            <a:r>
              <a:rPr lang="en-US"/>
              <a:t> Deployments can use different capacity models, while Model Router can select an appropriate model based on the workload.</a:t>
            </a:r>
          </a:p>
          <a:p>
            <a:r>
              <a:rPr lang="en-US" b="1"/>
              <a:t>Fifth, tools provide actions.</a:t>
            </a:r>
          </a:p>
          <a:p>
            <a:r>
              <a:rPr lang="en-US" dirty="0"/>
              <a:t> The toolbox presents MCP, </a:t>
            </a:r>
            <a:r>
              <a:rPr lang="en-US" dirty="0" err="1"/>
              <a:t>OpenAPI</a:t>
            </a:r>
            <a:r>
              <a:rPr lang="en-US" dirty="0"/>
              <a:t> and function-based capabilities through a controlled endpoint. Entra ID, OAuth, versioning and tool discovery provide a consistent access pattern.</a:t>
            </a:r>
            <a:endParaRPr lang="en-US" dirty="0">
              <a:ea typeface="Calibri"/>
              <a:cs typeface="Calibri"/>
            </a:endParaRPr>
          </a:p>
          <a:p>
            <a:r>
              <a:rPr lang="en-US" b="1"/>
              <a:t>Sixth, knowledge and peer agents extend the workflow.</a:t>
            </a:r>
            <a:endParaRPr lang="en-US"/>
          </a:p>
          <a:p>
            <a:r>
              <a:rPr lang="en-US" dirty="0"/>
              <a:t> Foundry IQ can ground responses in an Azure AI Search-backed knowledge base. Work IQ and Fabric IQ provide additional enterprise context. For </a:t>
            </a:r>
            <a:r>
              <a:rPr lang="en-US" dirty="0" err="1"/>
              <a:t>specialised</a:t>
            </a:r>
            <a:r>
              <a:rPr lang="en-US" dirty="0"/>
              <a:t> tasks, the agent can delegate to peer agents through A2A rather than placing every capability inside one agent.</a:t>
            </a:r>
            <a:endParaRPr lang="en-US" dirty="0">
              <a:ea typeface="Calibri"/>
              <a:cs typeface="Calibri"/>
            </a:endParaRPr>
          </a:p>
          <a:p>
            <a:r>
              <a:rPr lang="en-US" b="1" dirty="0"/>
              <a:t>Seventh, application state remains explicit.</a:t>
            </a:r>
            <a:endParaRPr lang="en-US" b="1" dirty="0">
              <a:ea typeface="Calibri"/>
              <a:cs typeface="Calibri"/>
            </a:endParaRPr>
          </a:p>
          <a:p>
            <a:r>
              <a:rPr lang="en-US"/>
              <a:t> Conversation state, files, search indexes and secrets stay in customer-managed services such as Cosmos DB, Storage, Azure AI Search and Key Vault. The agent runtime orchestrates the workflow, but the application retains control of its business state and data.</a:t>
            </a:r>
          </a:p>
          <a:p>
            <a:r>
              <a:rPr lang="en-US" b="1"/>
              <a:t>Finally, the Foundry Control Plane governs the complete lifecycle.</a:t>
            </a:r>
            <a:endParaRPr lang="en-US"/>
          </a:p>
          <a:p>
            <a:r>
              <a:rPr lang="en-US" dirty="0"/>
              <a:t> </a:t>
            </a:r>
            <a:r>
              <a:rPr lang="en-US" dirty="0" err="1"/>
              <a:t>OpenTelemetry</a:t>
            </a:r>
            <a:r>
              <a:rPr lang="en-US" dirty="0"/>
              <a:t> traces and Application Insights provide observability. Evaluations and AI red teaming measure quality and risk. Guardrail policies, token controls, identity, Microsoft Defender and Microsoft Purview support security and governance.</a:t>
            </a:r>
            <a:endParaRPr lang="en-US" dirty="0">
              <a:ea typeface="Calibri"/>
              <a:cs typeface="Calibri"/>
            </a:endParaRPr>
          </a:p>
          <a:p>
            <a:r>
              <a:rPr lang="en-US"/>
              <a:t>The architectural principle is separation of concerns: </a:t>
            </a:r>
            <a:r>
              <a:rPr lang="en-US" b="1"/>
              <a:t>channels manage the user experience, the AI gateway controls access and consumption, Agent Service provides orchestration, models supply intelligence, tools and knowledge connect the agent to the business, and the control plane makes the workload observable, evaluable and governable.</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Read the slide left to right: your code, the Foundry API, and why it is designed this way. The Foundry API is one project endpoint, secured with Microsoft Entra ID and managed identity, that exposes three surfaces. The OpenAI-compatible surface means existing OpenAI SDK code keeps working; the Anthropic Messages surface does the same for Claude; the Foundry-native surface adds what a platform needs around a model call: agents and hosted agents, toolboxes, evaluations, tracing, datasets, indexes and connections. The headline change this year is versioning. Monthly API versions are gone; Foundry-native routes take a single stable identifier, v1, and preview capabilities are opted into explicitly per request rather than by picking a newer version, so production code is not broken by a release. The Foundry SDK reached its 2.x line with hosted agent and toolbox operations out of beta, and evaluation jobs now run as long-running operations that you poll. One practical limit: the project endpoint does not route embeddings, so call the OpenAI-compatible surface directly for those. An Azure OpenAI resource only exposes the OpenAI-compatible surface; a Foundry resource exposes all three, and an existing Azure OpenAI resource can be upgraded in place keeping its endpoint and keys. Likely question: does my existing OpenAI SDK code still work? Answer: yes, unchanged, against the OpenAI-compatible surface.</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dirty="0"/>
              <a:t>The main change in 2026 is that Foundry development is no longer </a:t>
            </a:r>
            <a:r>
              <a:rPr lang="en-US" dirty="0" err="1"/>
              <a:t>centred</a:t>
            </a:r>
            <a:r>
              <a:rPr lang="en-US" dirty="0"/>
              <a:t> on a single SDK experience. The SDK remains the programmatic foundation, but it is now surrounded by tools that support different developer workflows.</a:t>
            </a:r>
            <a:endParaRPr lang="en-US" b="1" dirty="0">
              <a:ea typeface="Calibri"/>
              <a:cs typeface="Calibri"/>
            </a:endParaRPr>
          </a:p>
          <a:p>
            <a:r>
              <a:rPr lang="en-US" b="1" dirty="0"/>
              <a:t>Foundry Toolkit for Visual Studio Code</a:t>
            </a:r>
            <a:r>
              <a:rPr lang="en-US" dirty="0"/>
              <a:t> provides the integrated development experience. Developers can start from templates or GitHub Copilot, debug locally with trace </a:t>
            </a:r>
            <a:r>
              <a:rPr lang="en-US" dirty="0" err="1"/>
              <a:t>visualisation</a:t>
            </a:r>
            <a:r>
              <a:rPr lang="en-US" dirty="0"/>
              <a:t>, connect tools and then deploy the application to Agent Service.</a:t>
            </a:r>
            <a:endParaRPr lang="en-US" dirty="0">
              <a:ea typeface="Calibri"/>
              <a:cs typeface="Calibri"/>
            </a:endParaRPr>
          </a:p>
          <a:p>
            <a:r>
              <a:rPr lang="en-US" b="1" dirty="0"/>
              <a:t>The </a:t>
            </a:r>
            <a:r>
              <a:rPr lang="en-US" b="1" dirty="0" err="1"/>
              <a:t>azd</a:t>
            </a:r>
            <a:r>
              <a:rPr lang="en-US" b="1" dirty="0"/>
              <a:t> ai agent workflow</a:t>
            </a:r>
            <a:r>
              <a:rPr lang="en-US" dirty="0"/>
              <a:t> brings agent lifecycle operations to the command line. It supports a repeatable path to </a:t>
            </a:r>
            <a:r>
              <a:rPr lang="en-US" dirty="0" err="1"/>
              <a:t>initialise</a:t>
            </a:r>
            <a:r>
              <a:rPr lang="en-US" dirty="0"/>
              <a:t>, run, invoke and manage agents, making the workflow easier to integrate into scripts and delivery pipelines. The Foundry extension, azure.ai.agents, reached beta.18 on 30 September. It requires azd 1.34.2 or later, expects runtime definitions directly in azure.yaml and moves long-running invocation to the invocations command group, so scripts written for earlier betas should be checked before upgrading.</a:t>
            </a:r>
            <a:endParaRPr lang="en-US" dirty="0">
              <a:ea typeface="Calibri"/>
              <a:cs typeface="Calibri"/>
            </a:endParaRPr>
          </a:p>
          <a:p>
            <a:r>
              <a:rPr lang="en-US" b="1" dirty="0"/>
              <a:t>Foundry </a:t>
            </a:r>
            <a:r>
              <a:rPr lang="en-US" b="1" dirty="0" err="1"/>
              <a:t>DevPack</a:t>
            </a:r>
            <a:r>
              <a:rPr lang="en-US" dirty="0"/>
              <a:t> simplifies workstation setup. It installs the Azure CLI, Azure Developer CLI and required extensions, then connects Foundry capabilities to coding assistants such as GitHub Copilot CLI and Claude Code. The important distinction is that </a:t>
            </a:r>
            <a:r>
              <a:rPr lang="en-US" dirty="0" err="1"/>
              <a:t>DevPack</a:t>
            </a:r>
            <a:r>
              <a:rPr lang="en-US" dirty="0"/>
              <a:t> is an installer and configuration layer, not another runtime.</a:t>
            </a:r>
            <a:endParaRPr lang="en-US" dirty="0">
              <a:ea typeface="Calibri"/>
              <a:cs typeface="Calibri"/>
            </a:endParaRPr>
          </a:p>
          <a:p>
            <a:r>
              <a:rPr lang="en-US" b="1" dirty="0"/>
              <a:t>Foundry MCP Server</a:t>
            </a:r>
            <a:r>
              <a:rPr lang="en-US" dirty="0"/>
              <a:t> provides the agentic development interface. It allows compatible coding agents to work with Foundry resources through MCP, including from development environments such as GitHub Copilot App.</a:t>
            </a:r>
            <a:endParaRPr lang="en-US" dirty="0">
              <a:ea typeface="Calibri"/>
              <a:cs typeface="Calibri"/>
            </a:endParaRPr>
          </a:p>
          <a:p>
            <a:r>
              <a:rPr lang="en-US" b="1"/>
              <a:t>Foundry Local</a:t>
            </a:r>
            <a:r>
              <a:rPr lang="en-US"/>
              <a:t> addresses a different requirement: on-device inference. It provides SDKs across multiple languages, uses ONNX Runtime and exposes an OpenAI-compatible API, including the Responses API format. Because execution is local, it can operate without an Azure subscription. Version 2.1, released on 30 September, adds bring-your-own-model support: compatible ONNX Runtime GenAI models already on disk can be registered without copying them, from C++, C#, Python, JavaScript and TypeScript, and Rust.</a:t>
            </a:r>
          </a:p>
          <a:p>
            <a:r>
              <a:rPr lang="en-US" dirty="0"/>
              <a:t>The overall workflow has two paths. The inner loop happens locally through the toolkit, coding agents and Foundry Local. The outer loop uses </a:t>
            </a:r>
            <a:r>
              <a:rPr lang="en-US" dirty="0" err="1"/>
              <a:t>azd</a:t>
            </a:r>
            <a:r>
              <a:rPr lang="en-US" dirty="0"/>
              <a:t> to provision and deploy the solution into Foundry Agent Service.</a:t>
            </a:r>
            <a:endParaRPr lang="en-US" dirty="0">
              <a:ea typeface="Calibri"/>
              <a:cs typeface="Calibri"/>
            </a:endParaRPr>
          </a:p>
          <a:p>
            <a:r>
              <a:rPr lang="en-US"/>
              <a:t>The key takeaway is not that developers must use every tool. Microsoft Foundry now supports multiple entry points into the same development lifecycle: </a:t>
            </a:r>
            <a:r>
              <a:rPr lang="en-US" b="1"/>
              <a:t>IDE-first, CLI-first, coding-agent-assisted or local-first</a:t>
            </a:r>
            <a:r>
              <a:rPr lang="en-US"/>
              <a:t>, depending on the team and workload.</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Foundry provides a unified catalogue of more than </a:t>
            </a:r>
            <a:r>
              <a:rPr lang="en-US" b="1"/>
              <a:t>10,000 models</a:t>
            </a:r>
            <a:r>
              <a:rPr lang="en-US"/>
              <a:t>, but the catalogue contains two distinct commercial categories. The important distinction is not where the model appears, but </a:t>
            </a:r>
            <a:r>
              <a:rPr lang="en-US" b="1"/>
              <a:t>who operates it, who bills for it and which support terms apply</a:t>
            </a:r>
            <a:r>
              <a:rPr lang="en-US"/>
              <a:t>.</a:t>
            </a:r>
            <a:endParaRPr lang="en-GB"/>
          </a:p>
          <a:p>
            <a:r>
              <a:rPr lang="en-US" b="1"/>
              <a:t>The first category is Foundry Models sold by Azure.</a:t>
            </a:r>
            <a:endParaRPr lang="en-GB"/>
          </a:p>
          <a:p>
            <a:r>
              <a:rPr lang="en-US" dirty="0"/>
              <a:t> Azure hosts and operates the model, consumption is billed through the customer’s Azure subscription, and the Azure SLA and Microsoft support model apply. This category includes Azure OpenAI models, Microsoft models and selected models from providers such as Cohere, DeepSeek, Meta, Mistral AI and </a:t>
            </a:r>
            <a:r>
              <a:rPr lang="en-US" dirty="0" err="1"/>
              <a:t>xAI</a:t>
            </a:r>
            <a:r>
              <a:rPr lang="en-US" dirty="0"/>
              <a:t>.</a:t>
            </a:r>
            <a:endParaRPr lang="en-GB" dirty="0"/>
          </a:p>
          <a:p>
            <a:r>
              <a:rPr lang="en-US" b="1"/>
              <a:t>The second category is models from partners and the community.</a:t>
            </a:r>
            <a:endParaRPr lang="en-GB"/>
          </a:p>
          <a:p>
            <a:r>
              <a:rPr lang="en-US" dirty="0"/>
              <a:t> These models are made available through Azure Marketplace, but may be operated by the provider on Azure infrastructure or on the provider’s own platform. Billing follows the Marketplace commercial relationship, and the provider’s terms, support model and SLA apply. Marketplace purchasing permissions may therefore be required.</a:t>
            </a:r>
            <a:endParaRPr lang="en-GB" dirty="0"/>
          </a:p>
          <a:p>
            <a:r>
              <a:rPr lang="en-US"/>
              <a:t>This distinction matters for enterprise architecture. Two models may appear side by side in the same catalogue, but have different implications for procurement, support, data processing, availability commitments and operational ownership.</a:t>
            </a:r>
            <a:endParaRPr lang="en-GB"/>
          </a:p>
          <a:p>
            <a:r>
              <a:rPr lang="en-US" dirty="0"/>
              <a:t>The lower section illustrates how quickly the catalogue is expanding. The newer entries cover general-purpose models, </a:t>
            </a:r>
            <a:r>
              <a:rPr lang="en-US" dirty="0" err="1"/>
              <a:t>specialised</a:t>
            </a:r>
            <a:r>
              <a:rPr lang="en-US" dirty="0"/>
              <a:t> reasoning, multimodal processing, voice, transcription and very large context windows, in some cases approaching one million tokens. Since the previous edition, claude-fable-5-1 carries its documented status: on Anthropic infrastructure it remains in preview, while the Claude 5.5 family is generally available in both hosting versions and now includes a faster Opus 5.5 variant hosted on Azure. The GPT-6 family has also gained Flex processing, which is covered on slide 9. Microsoft-Decision-1, a Microsoft decision model in preview since 9 October, is not in this table; it is covered with the Decisions API on slide 11.</a:t>
            </a:r>
            <a:endParaRPr lang="en-GB" dirty="0"/>
          </a:p>
          <a:p>
            <a:r>
              <a:rPr lang="en-US"/>
              <a:t>However, a larger context window or a newer model does not automatically make it the right production choice. Selection should be based on measured quality, latency, throughput, regional availability, data requirements, commercial terms and total cost for the specific workload.</a:t>
            </a:r>
            <a:endParaRPr lang="en-GB"/>
          </a:p>
          <a:p>
            <a:r>
              <a:rPr lang="en-US"/>
              <a:t>Also note the difference between </a:t>
            </a:r>
            <a:r>
              <a:rPr lang="en-US" b="1"/>
              <a:t>GA and preview</a:t>
            </a:r>
            <a:r>
              <a:rPr lang="en-US"/>
              <a:t>. Preview models are valuable for experimentation, but do not carry a service-level agreement and should not be treated as production-ready by default.</a:t>
            </a:r>
            <a:endParaRPr lang="en-GB"/>
          </a:p>
          <a:p>
            <a:r>
              <a:rPr lang="en-US"/>
              <a:t>The CSA takeaway is simple: </a:t>
            </a:r>
            <a:r>
              <a:rPr lang="en-US" b="1"/>
              <a:t>the catalogue simplifies discovery, not due diligence</a:t>
            </a:r>
            <a:r>
              <a:rPr lang="en-US"/>
              <a:t>. Before selecting a model, validate both its technical fit and its commercial operating model.</a:t>
            </a:r>
            <a:endParaRPr lang="en-GB"/>
          </a:p>
          <a:p>
            <a:endParaRPr lang="en-US" b="1"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 Foundry deployment type combines two choices: the </a:t>
            </a:r>
            <a:r>
              <a:rPr lang="en-US" b="1"/>
              <a:t>billing model</a:t>
            </a:r>
            <a:r>
              <a:rPr lang="en-US"/>
              <a:t>, shown in the rows, and the </a:t>
            </a:r>
            <a:r>
              <a:rPr lang="en-US" b="1"/>
              <a:t>processing scope</a:t>
            </a:r>
            <a:r>
              <a:rPr lang="en-US"/>
              <a:t>, shown in the columns. The intersection is the deployment type we create.</a:t>
            </a:r>
            <a:endParaRPr lang="en-GB"/>
          </a:p>
          <a:p>
            <a:r>
              <a:rPr lang="en-US"/>
              <a:t>Start with the processing scope, because this determines where inference may run.</a:t>
            </a:r>
            <a:endParaRPr lang="en-GB"/>
          </a:p>
          <a:p>
            <a:r>
              <a:rPr lang="en-US" b="1"/>
              <a:t>Global</a:t>
            </a:r>
            <a:r>
              <a:rPr lang="en-US"/>
              <a:t> provides the broadest routing flexibility across supported Azure regions.</a:t>
            </a:r>
            <a:endParaRPr lang="en-GB"/>
          </a:p>
          <a:p>
            <a:r>
              <a:rPr lang="en-US" dirty="0"/>
              <a:t> </a:t>
            </a:r>
            <a:r>
              <a:rPr lang="en-US" b="1"/>
              <a:t>Data Zone</a:t>
            </a:r>
            <a:r>
              <a:rPr lang="en-US"/>
              <a:t> keeps processing within a defined geography, such as the EU, US or Asia-Pacific data zone.</a:t>
            </a:r>
            <a:endParaRPr lang="en-GB"/>
          </a:p>
          <a:p>
            <a:r>
              <a:rPr lang="en-US" dirty="0"/>
              <a:t> </a:t>
            </a:r>
            <a:r>
              <a:rPr lang="en-US" b="1"/>
              <a:t>Regional</a:t>
            </a:r>
            <a:r>
              <a:rPr lang="en-US"/>
              <a:t> keeps processing within a single Azure geography.</a:t>
            </a:r>
            <a:endParaRPr lang="en-GB"/>
          </a:p>
          <a:p>
            <a:r>
              <a:rPr lang="en-US"/>
              <a:t>In all three cases, data at rest remains in the designated geography. The difference is where the inference request may be processed.</a:t>
            </a:r>
            <a:endParaRPr lang="en-GB"/>
          </a:p>
          <a:p>
            <a:r>
              <a:rPr lang="en-US"/>
              <a:t>The second decision is the</a:t>
            </a:r>
            <a:r>
              <a:rPr lang="en-US" b="1"/>
              <a:t> billing and capacity model.</a:t>
            </a:r>
            <a:endParaRPr lang="en-US" b="1">
              <a:ea typeface="Calibri"/>
              <a:cs typeface="Calibri"/>
            </a:endParaRPr>
          </a:p>
          <a:p>
            <a:r>
              <a:rPr lang="en-US" b="1"/>
              <a:t>Standard</a:t>
            </a:r>
            <a:r>
              <a:rPr lang="en-US"/>
              <a:t> is pay-per-token and best effort. It is appropriate for variable demand when strict throughput guarantees are not required.</a:t>
            </a:r>
            <a:endParaRPr lang="en-GB"/>
          </a:p>
          <a:p>
            <a:r>
              <a:rPr lang="en-US" b="1"/>
              <a:t>Provisioned</a:t>
            </a:r>
            <a:r>
              <a:rPr lang="en-US"/>
              <a:t> reserves throughput through PTUs. It provides guaranteed capacity and more predictable latency, making it suitable for stable, business-critical workloads.</a:t>
            </a:r>
          </a:p>
          <a:p>
            <a:r>
              <a:rPr lang="en-US" b="1" dirty="0"/>
              <a:t>Batch</a:t>
            </a:r>
            <a:r>
              <a:rPr lang="en-US" dirty="0"/>
              <a:t> is designed for asynchronous, delay-tolerant processing. It offers a lower token price, but does not target real-time response times.</a:t>
            </a:r>
            <a:endParaRPr lang="en-US" dirty="0">
              <a:ea typeface="Calibri"/>
              <a:cs typeface="Calibri"/>
            </a:endParaRPr>
          </a:p>
          <a:p>
            <a:r>
              <a:rPr lang="en-US"/>
              <a:t>The </a:t>
            </a:r>
            <a:r>
              <a:rPr lang="en-US" b="1"/>
              <a:t>Developer tier</a:t>
            </a:r>
            <a:r>
              <a:rPr lang="en-US"/>
              <a:t> is intended for evaluating fine-tuned models. It is time-limited and has no SLA, so it should not be treated as a production deployment.</a:t>
            </a:r>
            <a:endParaRPr lang="en-GB"/>
          </a:p>
          <a:p>
            <a:r>
              <a:rPr lang="en-US" dirty="0"/>
              <a:t>There are also </a:t>
            </a:r>
            <a:r>
              <a:rPr lang="en-US" dirty="0" err="1"/>
              <a:t>optimisation</a:t>
            </a:r>
            <a:r>
              <a:rPr lang="en-US" dirty="0"/>
              <a:t> options. </a:t>
            </a:r>
            <a:r>
              <a:rPr lang="en-US" b="1" dirty="0"/>
              <a:t>Priority processing</a:t>
            </a:r>
            <a:r>
              <a:rPr lang="en-US" dirty="0"/>
              <a:t> targets lower and more consistent latency while retaining pay-as-you-go billing. </a:t>
            </a:r>
            <a:r>
              <a:rPr lang="en-US" b="1" dirty="0"/>
              <a:t>Flex processing</a:t>
            </a:r>
            <a:r>
              <a:rPr lang="en-US" dirty="0"/>
              <a:t> targets lower cost for requests that can tolerate variable completion time.</a:t>
            </a:r>
            <a:endParaRPr lang="en-US" dirty="0">
              <a:ea typeface="Calibri"/>
              <a:cs typeface="Calibri"/>
            </a:endParaRPr>
          </a:p>
          <a:p>
            <a:r>
              <a:rPr lang="en-US"/>
              <a:t>For selected models, </a:t>
            </a:r>
            <a:r>
              <a:rPr lang="en-US" b="1"/>
              <a:t>instant access</a:t>
            </a:r>
            <a:r>
              <a:rPr lang="en-US"/>
              <a:t> removes the need to create an explicit deployment. </a:t>
            </a:r>
            <a:r>
              <a:rPr lang="en-US" b="1"/>
              <a:t>Managed compute</a:t>
            </a:r>
            <a:r>
              <a:rPr lang="en-US"/>
              <a:t> is the alternative when dedicated virtual-machine capacity is required for open or custom models.</a:t>
            </a:r>
            <a:endParaRPr lang="en-GB"/>
          </a:p>
          <a:p>
            <a:r>
              <a:rPr lang="en-US"/>
              <a:t>The selection sequence is therefore straightforward:</a:t>
            </a:r>
          </a:p>
          <a:p>
            <a:pPr marL="171450" indent="-171450">
              <a:buFont typeface="Arial"/>
              <a:buChar char="•"/>
            </a:pPr>
            <a:r>
              <a:rPr lang="en-US"/>
              <a:t>Decide where inference is permitted to run.</a:t>
            </a:r>
            <a:endParaRPr lang="en-GB"/>
          </a:p>
          <a:p>
            <a:pPr marL="171450" indent="-171450">
              <a:buFont typeface="Arial"/>
              <a:buChar char="•"/>
            </a:pPr>
            <a:r>
              <a:rPr lang="en-US"/>
              <a:t>Define the required throughput and latency predictability.</a:t>
            </a:r>
            <a:endParaRPr lang="en-GB"/>
          </a:p>
          <a:p>
            <a:pPr marL="171450" indent="-171450">
              <a:buFont typeface="Arial"/>
              <a:buChar char="•"/>
            </a:pPr>
            <a:r>
              <a:rPr lang="en-US"/>
              <a:t>Choose the commercial model that matches the workload’s price sensitivity.</a:t>
            </a:r>
          </a:p>
          <a:p>
            <a:r>
              <a:rPr lang="en-US"/>
              <a:t>One important caveat is that global and data-zone deployments distribute processing, but the request still enters through a specific Azure region. That entry region can remain part of the failure domain, so deployment scope should not be confused with automatic application-level resilience.</a:t>
            </a:r>
            <a:endParaRPr lang="en-GB"/>
          </a:p>
          <a:p>
            <a:r>
              <a:rPr lang="en-US" dirty="0"/>
              <a:t>The CSA takeaway is: </a:t>
            </a:r>
            <a:r>
              <a:rPr lang="en-US" b="1" dirty="0"/>
              <a:t>choose the processing boundary for compliance, the capacity model for performance, and the billing model for workload economics.</a:t>
            </a:r>
            <a:r>
              <a:rPr lang="en-US" dirty="0"/>
              <a:t> These are architecture decisions, not simply deployment settings.</a:t>
            </a:r>
            <a:endParaRPr lang="en-US" dirty="0">
              <a:ea typeface="Calibri"/>
              <a:cs typeface="Calibri"/>
            </a:endParaRP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Priority and Flex processing let the application select a service tier for each request, without creating a separate model deployment.</a:t>
            </a:r>
            <a:endParaRPr lang="en-GB"/>
          </a:p>
          <a:p>
            <a:r>
              <a:rPr lang="en-US" dirty="0"/>
              <a:t>Both operate on a supported </a:t>
            </a:r>
            <a:r>
              <a:rPr lang="en-US" b="1" dirty="0"/>
              <a:t>Standard deployment</a:t>
            </a:r>
            <a:r>
              <a:rPr lang="en-US" dirty="0"/>
              <a:t>, but </a:t>
            </a:r>
            <a:r>
              <a:rPr lang="en-US" dirty="0" err="1"/>
              <a:t>optimise</a:t>
            </a:r>
            <a:r>
              <a:rPr lang="en-US" dirty="0"/>
              <a:t> for different outcomes:</a:t>
            </a:r>
            <a:endParaRPr lang="en-GB" dirty="0"/>
          </a:p>
          <a:p>
            <a:pPr marL="171450" indent="-171450">
              <a:buFont typeface="Arial"/>
              <a:buChar char="•"/>
            </a:pPr>
            <a:r>
              <a:rPr lang="en-US" b="1"/>
              <a:t>Priority processing</a:t>
            </a:r>
            <a:r>
              <a:rPr lang="en-US"/>
              <a:t> targets lower and more consistent latency.</a:t>
            </a:r>
            <a:endParaRPr lang="en-GB"/>
          </a:p>
          <a:p>
            <a:pPr marL="171450" indent="-171450">
              <a:buFont typeface="Arial"/>
              <a:buChar char="•"/>
            </a:pPr>
            <a:r>
              <a:rPr lang="en-US" b="1"/>
              <a:t>Flex processing</a:t>
            </a:r>
            <a:r>
              <a:rPr lang="en-US"/>
              <a:t> targets lower cost for delay-tolerant workloads.</a:t>
            </a:r>
            <a:endParaRPr lang="en-GB"/>
          </a:p>
          <a:p>
            <a:pPr marL="171450" indent="-171450">
              <a:buFont typeface="Arial"/>
              <a:buChar char="•"/>
            </a:pPr>
            <a:r>
              <a:rPr lang="en-US" b="1"/>
              <a:t>Standard processing</a:t>
            </a:r>
            <a:r>
              <a:rPr lang="en-US"/>
              <a:t> remains the best-effort default.</a:t>
            </a:r>
          </a:p>
          <a:p>
            <a:r>
              <a:rPr lang="en-US" dirty="0"/>
              <a:t>With Priority, the request includes the appropriate </a:t>
            </a:r>
            <a:r>
              <a:rPr lang="en-US" dirty="0" err="1"/>
              <a:t>service_tier</a:t>
            </a:r>
            <a:r>
              <a:rPr lang="en-US" dirty="0"/>
              <a:t> value. Eligible requests are routed through the Priority lane, while using the same quota pool as the Standard deployment. The response reports which tier was actually applied, so the application can verify the routing outcome.</a:t>
            </a:r>
            <a:endParaRPr lang="en-GB" dirty="0"/>
          </a:p>
          <a:p>
            <a:r>
              <a:rPr lang="en-US"/>
              <a:t>Priority provides model-specific latency targets, measured as median token throughput over five-minute windows. This is a service objective rather than dedicated capacity. Priority may be downgraded to Standard during rapid traffic increases, periods of peak demand, or when a request exceeds the supported context threshold.</a:t>
            </a:r>
          </a:p>
          <a:p>
            <a:r>
              <a:rPr lang="en-US"/>
              <a:t>For workloads requiring stronger throughput guarantees, </a:t>
            </a:r>
            <a:r>
              <a:rPr lang="en-US" b="1"/>
              <a:t>Provisioned Throughput</a:t>
            </a:r>
            <a:r>
              <a:rPr lang="en-US"/>
              <a:t> remains the more appropriate choice. Priority improves the latency profile of pay-as-you-go processing, but it does not reserve capacity.</a:t>
            </a:r>
            <a:endParaRPr lang="en-GB"/>
          </a:p>
          <a:p>
            <a:endParaRPr lang="en-US" dirty="0"/>
          </a:p>
          <a:p>
            <a:r>
              <a:rPr lang="en-US" b="1" dirty="0"/>
              <a:t>Flex </a:t>
            </a:r>
            <a:r>
              <a:rPr lang="en-US" dirty="0"/>
              <a:t>makes the opposite trade-off. The application selects Flex per request and receives the same model output at a lower token price, but with variable latency and no service-level agreement. If Flex capacity is unavailable, the service can return HTTP 429 rather than automatically falling back. The application must explicitly retry with the Standard tier if that </a:t>
            </a:r>
            <a:r>
              <a:rPr lang="en-US" dirty="0" err="1"/>
              <a:t>behaviour</a:t>
            </a:r>
            <a:r>
              <a:rPr lang="en-US" dirty="0"/>
              <a:t> is required. Support has widened since launch: besides the three GPT-5.6 models, gpt-6.1-sol, gpt-6-astra, gpt-6-sol and gpt-6-luna now accept Flex requests on Global Standard deployments, while any other model still returns HTTP 400 rather than falling back. A gateway can also select the tier with the x-ms-service-tier request header, without changing the request body. Flex usage is billed on dedicated meters, and a request rejected for lack of Flex capacity is not billed, although Flex and Standard requests share the deployment quota.</a:t>
            </a:r>
            <a:endParaRPr lang="en-US" dirty="0">
              <a:ea typeface="Calibri"/>
              <a:cs typeface="Calibri"/>
            </a:endParaRPr>
          </a:p>
          <a:p>
            <a:r>
              <a:rPr lang="en-US" dirty="0"/>
              <a:t>Operationally, tier selection should be visible in Azure Monitor. Comparing the requested and applied service tiers helps confirm whether Priority was honoured or downgraded.</a:t>
            </a:r>
            <a:endParaRPr lang="en-US" dirty="0">
              <a:ea typeface="Calibri" panose="020F0502020204030204"/>
              <a:cs typeface="Calibri" panose="020F0502020204030204"/>
            </a:endParaRPr>
          </a:p>
          <a:p>
            <a:r>
              <a:rPr lang="en-US"/>
              <a:t>The architectural pattern is straightforward: use </a:t>
            </a:r>
            <a:r>
              <a:rPr lang="en-US" b="1"/>
              <a:t>Priority for interactive, latency-sensitive requests</a:t>
            </a:r>
            <a:r>
              <a:rPr lang="en-US"/>
              <a:t>, </a:t>
            </a:r>
            <a:r>
              <a:rPr lang="en-US" b="1"/>
              <a:t>Standard for general-purpose traffic</a:t>
            </a:r>
            <a:r>
              <a:rPr lang="en-US"/>
              <a:t>, and </a:t>
            </a:r>
            <a:r>
              <a:rPr lang="en-US" b="1"/>
              <a:t>Flex for background work where cost matters more than completion time</a:t>
            </a:r>
            <a:r>
              <a:rPr lang="en-US"/>
              <a:t>.</a:t>
            </a:r>
            <a:endParaRPr lang="en-GB"/>
          </a:p>
          <a:p>
            <a:r>
              <a:rPr lang="en-US"/>
              <a:t>The key point is that these tiers can be selected dynamically. A single application can classify each request and choose the appropriate balance of responsiveness, cost and capacity at runtime.</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slide explains Model Router: a single deployment that selects an underlying model for each request.</a:t>
            </a:r>
          </a:p>
          <a:p>
            <a:r>
              <a:rPr lang="en-GB"/>
              <a:t>The core idea is that model selection becomes a runtime decision rather than a design-time constant. Model Router is itself a trained model. It reads each prompt, assesses complexity, reasoning need and task type, and forwards the request to the most suitable eligible model. It does not store prompts, and it routes only to models the deployment is allowed to use, honouring data-zone boundaries.</a:t>
            </a:r>
          </a:p>
          <a:p>
            <a:r>
              <a:rPr lang="en-GB"/>
              <a:t>Read the slide from left to right.</a:t>
            </a:r>
          </a:p>
          <a:p>
            <a:r>
              <a:rPr lang="en-GB" b="1"/>
              <a:t>First, the routing mode.</a:t>
            </a:r>
          </a:p>
          <a:p>
            <a:r>
              <a:rPr lang="en-GB"/>
              <a:t> Balanced is the default and considers the models within roughly one to two per cent of the best quality for that prompt, then picks the most cost-effective one. Cost widens that band to roughly five to six per cent. Quality ignores cost and picks the highest-rated model.</a:t>
            </a:r>
          </a:p>
          <a:p>
            <a:r>
              <a:rPr lang="en-GB" b="1"/>
              <a:t>Second, the routing pool.</a:t>
            </a:r>
          </a:p>
          <a:p>
            <a:r>
              <a:rPr lang="en-GB"/>
              <a:t> The current version, 2025-11-18, is updated in place, so new models join without a new version number. The pool now spans OpenAI, Anthropic, xAI, Fireworks, DeepSeek and Meta. Since the previous edition, gpt-6-astra, claude-fable-5-1, claude-opus-5, claude-sonnet-5, grok-4.6 and three Fireworks models, FW-GLM-5.3, FW-GLM-5.3-Flash and FW-Kimi-K3, appear in the documented pool. Claude is the exception to the managed pool: the Claude models must be deployed from the catalogue first, and the router then invokes those deployments.</a:t>
            </a:r>
          </a:p>
          <a:p>
            <a:r>
              <a:rPr lang="en-GB" b="1"/>
              <a:t>Third, control.</a:t>
            </a:r>
          </a:p>
          <a:p>
            <a:r>
              <a:rPr lang="en-GB"/>
              <a:t> A model subset restricts routing to approved models, and new models are not added to a subset automatically. Automatic failover is on by default, and within a subset the same models act as the fallback set, so a subset needs at least two models. Session affinity and routing metadata, both in preview, keep related Chat Completions turns on the same model where possible and report which model served the request and which attempts were made.</a:t>
            </a:r>
          </a:p>
          <a:p>
            <a:r>
              <a:rPr lang="en-GB"/>
              <a:t>The cards on the right cover operations. The router is charged for input prompts at its own rate, while the selected model's tokens are billed normally. Quota scales with the subscription tier, from 1,000 requests and one million tokens per minute on Global Standard Tier 1 to 15,000 requests and 15 million tokens on Tier 6. The effective context window is that of the smallest model in the pool, which is another reason to use a subset for long-context workloads. Azure Policy can govern which subsets developers may deploy, and the router is now available in 32 regions, 23 of them with Data Zone Standard.</a:t>
            </a:r>
          </a:p>
          <a:p>
            <a:r>
              <a:rPr lang="en-GB"/>
              <a:t>A common question is whether session affinity guarantees a prompt-cache hit. It does not. It improves the chance that the same model handles consecutive turns, but a legitimate fallback can still switch models, so the routing metadata should be logged rather than inferred from the deployment name.</a:t>
            </a:r>
          </a:p>
          <a:p>
            <a:r>
              <a:rPr lang="en-GB"/>
              <a:t>The key takeaway is that Model Router is both a drop-in deployment and an optimisation layer. It should still be evaluated against the current single-model baseline before it replaces a fixed model in production.</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slide introduces decision models: models that answer a fixed question with a number or a label instead of writing text.</a:t>
            </a:r>
          </a:p>
          <a:p>
            <a:r>
              <a:rPr lang="en-GB"/>
              <a:t>The core idea is that many steps in an application or an agent are small decisions, not writing tasks. Is this message a refund request? Which team should handle this ticket? How severe is this incident? A decision model answers questions like these with a probability, one of the options supplied, or a score. Because it does not generate prose, it is faster and cheaper, and the answer arrives in a shape that code can act on directly.</a:t>
            </a:r>
          </a:p>
          <a:p>
            <a:r>
              <a:rPr lang="en-GB"/>
              <a:t>Microsoft Foundry now offers two ways to do this.</a:t>
            </a:r>
          </a:p>
          <a:p>
            <a:r>
              <a:rPr lang="en-GB" b="1"/>
              <a:t>First, the Azure OpenAI Decisions API.</a:t>
            </a:r>
          </a:p>
          <a:p>
            <a:r>
              <a:rPr lang="en-GB"/>
              <a:t> This is a dedicated endpoint, /openai/v1/decisions, called with the OpenAI SDKs or REST. It currently runs only on gpt-6-luna and is rolling out to the regions where gpt-6-luna is available, except East US 2. The input can be text, structured JSON or images, with up to 128 images and 32 MB per request, and one request can carry up to 400 independent questions about the same input.</a:t>
            </a:r>
          </a:p>
          <a:p>
            <a:r>
              <a:rPr lang="en-GB" b="1"/>
              <a:t>Second, Microsoft-Decision-1.</a:t>
            </a:r>
          </a:p>
          <a:p>
            <a:r>
              <a:rPr lang="en-GB"/>
              <a:t> This is a Microsoft model in the Foundry catalog, built on the open-weight Qwen3.5-9B and trained by Microsoft for decisions. It is in preview. It is deployed like any other model, as Global Standard or Data Zone Standard in selected regions, and called on the Microsoft decision endpoint of the Foundry resource. It accepts text or JSON with a context of 32,768 tokens; it does not accept images.</a:t>
            </a:r>
          </a:p>
          <a:p>
            <a:r>
              <a:rPr lang="en-GB"/>
              <a:t>Both use the same three kinds of question. A yes-or-no question returns the probability that the condition is true; the Decisions API calls it a predicate and Microsoft-Decision-1 calls it noul. A choice question returns one of the options with a probability for each. A score question places the input on an ordered scale and returns a probability-weighted average of the levels, so the result can fall between two levels. Any single question can also return a refusal, which is not the same as a low probability.</a:t>
            </a:r>
          </a:p>
          <a:p>
            <a:r>
              <a:rPr lang="en-GB"/>
              <a:t>A common question is how this differs from structured outputs. Structured outputs return an object in a custom JSON schema, such as extracted fields or a written explanation. The decision endpoints return only these three answer types, with no rationale. For text that has to be written, summarised or explained, a generative model through the Responses API is still the right choice, and the two work well together: a decision model can route or gate a request before a generative model handles it.</a:t>
            </a:r>
          </a:p>
          <a:p>
            <a:r>
              <a:rPr lang="en-GB"/>
              <a:t>Good practice is the same for both. Thresholds should be set from labelled examples in the real workload, a fallback option such as other or cannot tell avoids forced choices, and the answers should never be the only basis for consequential decisions about people. The status of the Decisions API in Azure, which became generally available on the OpenAI platform on 22 October, should be confirmed before presenting.</a:t>
            </a:r>
          </a:p>
          <a:p>
            <a:r>
              <a:rPr lang="en-GB"/>
              <a:t>The key takeaway is that decision models add a fast, low-cost layer for classification, routing and scoring, so the larger generative models can be kept for the work that really needs them.</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clarifies three related concepts that are often used interchangeably: </a:t>
            </a:r>
            <a:r>
              <a:rPr lang="en-US" b="1"/>
              <a:t>tools, toolboxes and skills</a:t>
            </a:r>
            <a:r>
              <a:rPr lang="en-US"/>
              <a:t>.</a:t>
            </a:r>
            <a:endParaRPr lang="en-GB"/>
          </a:p>
          <a:p>
            <a:r>
              <a:rPr lang="en-US"/>
              <a:t>A </a:t>
            </a:r>
            <a:r>
              <a:rPr lang="en-US" b="1"/>
              <a:t>tool</a:t>
            </a:r>
            <a:r>
              <a:rPr lang="en-US"/>
              <a:t> is a single capability an agent can invoke, such as web search, file search or code execution. The model decides when to call the tool based on its instructions and the tool description, but the actual operation is executed by the connected service or application.</a:t>
            </a:r>
            <a:endParaRPr lang="en-GB"/>
          </a:p>
          <a:p>
            <a:r>
              <a:rPr lang="en-US"/>
              <a:t>A </a:t>
            </a:r>
            <a:r>
              <a:rPr lang="en-US" b="1"/>
              <a:t>toolbox</a:t>
            </a:r>
            <a:r>
              <a:rPr lang="en-US"/>
              <a:t> is the integration and governance layer. It groups multiple tools behind one MCP-compatible endpoint, so the same curated toolset can be consumed by prompt agents, hosted agents or custom agent runtimes.</a:t>
            </a:r>
          </a:p>
          <a:p>
            <a:r>
              <a:rPr lang="en-US" dirty="0"/>
              <a:t>The architectural benefit is </a:t>
            </a:r>
            <a:r>
              <a:rPr lang="en-US" dirty="0" err="1"/>
              <a:t>centralisation</a:t>
            </a:r>
            <a:r>
              <a:rPr lang="en-US" dirty="0"/>
              <a:t>. Authentication, input and output guardrails, tool versioning and the promoted default configuration can be managed once at the toolbox layer rather than implemented separately for every agent.</a:t>
            </a:r>
            <a:endParaRPr lang="en-GB" dirty="0"/>
          </a:p>
          <a:p>
            <a:r>
              <a:rPr lang="en-US"/>
              <a:t>A </a:t>
            </a:r>
            <a:r>
              <a:rPr lang="en-US" b="1"/>
              <a:t>skill</a:t>
            </a:r>
            <a:r>
              <a:rPr lang="en-US"/>
              <a:t> operates at a higher level. Tools define what an agent can do; skills define how the agent should complete a task. A skill packages a reusable, versioned multi-step procedure that an agent can discover and follow. For example, a tool might retrieve documents, while a skill could define the sequence for researching a topic, validating the evidence and producing a structured report.</a:t>
            </a:r>
            <a:endParaRPr lang="en-GB"/>
          </a:p>
          <a:p>
            <a:r>
              <a:rPr lang="en-US"/>
              <a:t>The lower section shows the current integration model.</a:t>
            </a:r>
          </a:p>
          <a:p>
            <a:r>
              <a:rPr lang="en-US"/>
              <a:t>Many capabilities, including search, code execution, MCP servers and Foundry IQ, can be exposed through a toolbox. Some capabilities, such as tool discovery and skills, are toolbox-specific. Other capabilities still require direct integration with the agent runtime rather than being delivered through the toolbox. Since the previous edition, tool search and agent-to-agent (A2A) have become generally available, the browser automation tool reached general availability on 19 October and has its own slide next, and attaching a toolbox to a prompt agent has entered public preview; toolboxes for hosted agents were already generally available.</a:t>
            </a:r>
            <a:endParaRPr lang="en-GB"/>
          </a:p>
          <a:p>
            <a:r>
              <a:rPr lang="en-US"/>
              <a:t>The practical takeaway is separation of concerns:</a:t>
            </a:r>
            <a:endParaRPr lang="en-GB"/>
          </a:p>
          <a:p>
            <a:pPr marL="171450" indent="-171450">
              <a:buFont typeface="Arial"/>
              <a:buChar char="•"/>
            </a:pPr>
            <a:r>
              <a:rPr lang="en-US" b="1"/>
              <a:t>Tools provide individual actions.</a:t>
            </a:r>
            <a:endParaRPr lang="en-GB"/>
          </a:p>
          <a:p>
            <a:pPr marL="171450" indent="-171450">
              <a:buFont typeface="Arial"/>
              <a:buChar char="•"/>
            </a:pPr>
            <a:r>
              <a:rPr lang="en-US" b="1" dirty="0"/>
              <a:t>Toolboxes provide reusable connectivity and </a:t>
            </a:r>
            <a:r>
              <a:rPr lang="en-US" b="1" dirty="0" err="1"/>
              <a:t>centralised</a:t>
            </a:r>
            <a:r>
              <a:rPr lang="en-US" b="1" dirty="0"/>
              <a:t> governance.</a:t>
            </a:r>
            <a:endParaRPr lang="en-GB" dirty="0"/>
          </a:p>
          <a:p>
            <a:pPr marL="171450" indent="-171450">
              <a:buFont typeface="Arial"/>
              <a:buChar char="•"/>
            </a:pPr>
            <a:r>
              <a:rPr lang="en-US" b="1"/>
              <a:t>Skills provide repeatable task execution patterns.</a:t>
            </a:r>
          </a:p>
          <a:p>
            <a:r>
              <a:rPr lang="en-US"/>
              <a:t>This enables teams to reuse the same governed capabilities across different agent frameworks without rebuilding every integration. The asterisk identifies preview capabilities, so availability, support commitments and production suitability should be validated before adopting them.</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slide introduces the browser automation tool, which became generally available on 19 October 2026.</a:t>
            </a:r>
          </a:p>
          <a:p>
            <a:r>
              <a:rPr lang="en-GB"/>
              <a:t>The core idea is that many business processes still sit behind web interfaces with no usable API: vendor portals, administrative consoles, internal line-of-business applications and legacy systems. The browser automation tool gives an agent a managed cloud browser, so it can navigate those sites, read and validate information, complete forms and carry out multistep workflows from natural-language instructions.</a:t>
            </a:r>
          </a:p>
          <a:p>
            <a:r>
              <a:rPr lang="en-GB"/>
              <a:t>Read the diagram from left to right.</a:t>
            </a:r>
          </a:p>
          <a:p>
            <a:r>
              <a:rPr lang="en-GB" b="1"/>
              <a:t>First, the agent.</a:t>
            </a:r>
          </a:p>
          <a:p>
            <a:r>
              <a:rPr lang="en-GB"/>
              <a:t> Any Foundry agent type can use the tool: a prompt agent for the fastest start, a prompt agent running on the GitHub Copilot harness that Foundry operates, or a hosted agent built with Microsoft Agent Framework or another framework such as LangGraph.</a:t>
            </a:r>
          </a:p>
          <a:p>
            <a:r>
              <a:rPr lang="en-GB" b="1"/>
              <a:t>Second, the toolbox.</a:t>
            </a:r>
          </a:p>
          <a:p>
            <a:r>
              <a:rPr lang="en-GB"/>
              <a:t> The recommended integration is to add the tool to a toolbox and attach the toolbox's MCP-compatible endpoint to the agent. That gives one place to manage the connection, restrict which browser operations are enabled and require approval before sensitive actions.</a:t>
            </a:r>
          </a:p>
          <a:p>
            <a:r>
              <a:rPr lang="en-GB" b="1"/>
              <a:t>Third, the Playwright Workspace.</a:t>
            </a:r>
          </a:p>
          <a:p>
            <a:r>
              <a:rPr lang="en-GB"/>
              <a:t> The browser itself runs in a Playwright Workspace, a separate Azure resource that has to be provisioned before the tool is connected. The Foundry project reaches it through a project connection that uses an API key, the project managed identity or, for a hosted agent, its own agent identity. The workspace creates an isolated browser session, and the session ID carries the context from one operation to the next.</a:t>
            </a:r>
          </a:p>
          <a:p>
            <a:r>
              <a:rPr lang="en-GB" b="1"/>
              <a:t>Fourth, the observe-and-act loop.</a:t>
            </a:r>
          </a:p>
          <a:p>
            <a:r>
              <a:rPr lang="en-GB"/>
              <a:t> The agent inspects the page, chooses the next operation, acts and checks the result before it continues. This is what lets it cope with dynamic pages, dialogs and changing flows. When the task is finished, the session is closed and its browser resources are released.</a:t>
            </a:r>
          </a:p>
          <a:p>
            <a:r>
              <a:rPr lang="en-GB"/>
              <a:t>The dark band shows the human controls. Live View lets developers and operators watch a session as it runs, Take control lets a person step in and then hand the browser back to the agent, and screenshot recording captures page state for later review.</a:t>
            </a:r>
          </a:p>
          <a:p>
            <a:r>
              <a:rPr lang="en-GB"/>
              <a:t>The cards on the right are the practical boundaries. The tool is available in seven regions, including Switzerland North and West Europe, and when a hosted agent uses it, the workspace must be in a region that also supports hosted agents. Private websites behind an Azure virtual network are supported in public preview, and the private network connection has to be added when the workspace is provisioned.</a:t>
            </a:r>
          </a:p>
          <a:p>
            <a:r>
              <a:rPr lang="en-GB"/>
              <a:t>A common question is how this differs from the computer use tool. Browser automation drives a managed remote browser and is attached through a toolbox; computer use operates a virtual computer interface, attaches directly to an agent and remains in preview.</a:t>
            </a:r>
          </a:p>
          <a:p>
            <a:r>
              <a:rPr lang="en-GB"/>
              <a:t>Governance matters because browser actions change real systems. Navigation and reading should come first, with clicking, typing or uploads enabled only where the scenario needs them. Page content should be treated as untrusted input, and access to trace content, which can include prompts and tool results, should be restricted.</a:t>
            </a:r>
          </a:p>
          <a:p>
            <a:r>
              <a:rPr lang="en-GB"/>
              <a:t>The key takeaway is that browser automation closes the gap where APIs end. It is best introduced as a supervised capability, with approvals and Live View, before it runs unattended.</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Foundry IQ provides a managed knowledge layer for agents, with </a:t>
            </a:r>
            <a:r>
              <a:rPr lang="en-GB" b="1"/>
              <a:t>Azure AI Search</a:t>
            </a:r>
            <a:r>
              <a:rPr lang="en-GB"/>
              <a:t> underneath and a knowledge base coordinating the retrieval process.</a:t>
            </a:r>
            <a:endParaRPr lang="en-US"/>
          </a:p>
          <a:p>
            <a:r>
              <a:rPr lang="en-GB"/>
              <a:t>The important shift is from a single search operation to </a:t>
            </a:r>
            <a:r>
              <a:rPr lang="en-GB" b="1"/>
              <a:t>agentic retrieval</a:t>
            </a:r>
            <a:r>
              <a:rPr lang="en-GB"/>
              <a:t>. Instead of sending the user’s question directly to one index, the knowledge base plans how to find and assemble the answer.</a:t>
            </a:r>
          </a:p>
          <a:p>
            <a:r>
              <a:rPr lang="en-GB"/>
              <a:t>The process has four stages.</a:t>
            </a:r>
          </a:p>
          <a:p>
            <a:r>
              <a:rPr lang="en-GB" b="1"/>
              <a:t>First, workflow initiation.</a:t>
            </a:r>
            <a:endParaRPr lang="en-GB"/>
          </a:p>
          <a:p>
            <a:r>
              <a:rPr lang="en-GB"/>
              <a:t> The knowledge base receives the query together with the relevant conversation history. This preserves context for follow-up questions.</a:t>
            </a:r>
          </a:p>
          <a:p>
            <a:r>
              <a:rPr lang="en-GB" b="1"/>
              <a:t>Second, query planning.</a:t>
            </a:r>
            <a:endParaRPr lang="en-GB"/>
          </a:p>
          <a:p>
            <a:r>
              <a:rPr lang="en-GB"/>
              <a:t> A language model analyses the request and decomposes it into focused subqueries. This is useful when a question spans several topics or cannot be answered reliably by one search.</a:t>
            </a:r>
          </a:p>
          <a:p>
            <a:r>
              <a:rPr lang="en-GB" b="1"/>
              <a:t>Third, parallel execution and reranking.</a:t>
            </a:r>
            <a:endParaRPr lang="en-GB"/>
          </a:p>
          <a:p>
            <a:r>
              <a:rPr lang="en-GB"/>
              <a:t> The subqueries run across the configured knowledge sources. Results are then semantically ranked so the strongest evidence is prioritised.</a:t>
            </a:r>
          </a:p>
          <a:p>
            <a:r>
              <a:rPr lang="en-GB" b="1"/>
              <a:t>Fourth, result synthesis.</a:t>
            </a:r>
            <a:endParaRPr lang="en-GB"/>
          </a:p>
          <a:p>
            <a:r>
              <a:rPr lang="en-GB"/>
              <a:t> The knowledge base combines the retrieved evidence into a structured response with citations and execution details. The agent can then use that grounded result in its broader workflow.</a:t>
            </a:r>
          </a:p>
          <a:p>
            <a:r>
              <a:rPr lang="en-GB"/>
              <a:t>The sources fall into two categories. </a:t>
            </a:r>
            <a:r>
              <a:rPr lang="en-GB" b="1"/>
              <a:t>Indexed sources</a:t>
            </a:r>
            <a:r>
              <a:rPr lang="en-GB"/>
              <a:t>, such as search indexes and supported data stores, are ingested before the query. </a:t>
            </a:r>
            <a:r>
              <a:rPr lang="en-GB" b="1"/>
              <a:t>Remote sources</a:t>
            </a:r>
            <a:r>
              <a:rPr lang="en-GB"/>
              <a:t>, such as web, SharePoint, Fabric or MCP-connected systems, are queried at runtime through their native interfaces.</a:t>
            </a:r>
          </a:p>
          <a:p>
            <a:r>
              <a:rPr lang="en-GB"/>
              <a:t>Access control remains part of the retrieval path. For supported sources, permission information can be ingested or evaluated at query time so retrieval respects the user’s identity and document-level access.</a:t>
            </a:r>
          </a:p>
          <a:p>
            <a:r>
              <a:rPr lang="en-GB"/>
              <a:t>From an architecture perspective, Foundry IQ separates the </a:t>
            </a:r>
            <a:r>
              <a:rPr lang="en-GB" b="1"/>
              <a:t>agent’s business workflow</a:t>
            </a:r>
            <a:r>
              <a:rPr lang="en-GB"/>
              <a:t> from the </a:t>
            </a:r>
            <a:r>
              <a:rPr lang="en-GB" b="1"/>
              <a:t>retrieval workflow</a:t>
            </a:r>
            <a:r>
              <a:rPr lang="en-GB"/>
              <a:t>. The agent decides when knowledge is needed, while the knowledge base handles planning, source selection, parallel retrieval, ranking and synthesis.</a:t>
            </a:r>
          </a:p>
          <a:p>
            <a:r>
              <a:rPr lang="en-GB"/>
              <a:t>The key takeaway is that this is more than traditional single-query RAG. It is a managed retrieval pipeline designed for complex, multi-source questions. That can improve relevance and explainability, but it also introduces additional model and retrieval operations. Quality, latency and token consumption should therefore be evaluated against representative workloads.</a:t>
            </a:r>
          </a:p>
          <a:p>
            <a:r>
              <a:rPr lang="en-GB"/>
              <a:t>Finally, maturity matters. Knowledge bases are generally available, while several connectors and access-control capabilities shown here remain in preview. Production designs should verify regional availability, support status and source-specific security behaviour.</a:t>
            </a:r>
          </a:p>
          <a:p>
            <a:endParaRPr lang="en-GB"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b="1"/>
              <a:t>Speaker notes</a:t>
            </a:r>
            <a:endParaRPr lang="en-US"/>
          </a:p>
          <a:p>
            <a:r>
              <a:rPr lang="en-US"/>
              <a:t>Microsoft IQ is best understood as </a:t>
            </a:r>
            <a:r>
              <a:rPr lang="en-US" b="1"/>
              <a:t>three complementary intelligence layers</a:t>
            </a:r>
            <a:r>
              <a:rPr lang="en-US"/>
              <a:t>, each grounding agents in a different type of enterprise context.</a:t>
            </a:r>
          </a:p>
          <a:p>
            <a:r>
              <a:rPr lang="en-US" b="1" dirty="0"/>
              <a:t>Foundry IQ</a:t>
            </a:r>
            <a:r>
              <a:rPr lang="en-US" dirty="0"/>
              <a:t> is the knowledge and retrieval layer. Built on Azure AI Search, it supports agentic retrieval across indexed sources such as documents and databases, as well as remote sources such as web, SharePoint, Fabric and MCP-connected systems. It is designed to plan searches, execute subqueries, rank evidence and return </a:t>
            </a:r>
            <a:r>
              <a:rPr lang="en-US" dirty="0" err="1"/>
              <a:t>synthesised</a:t>
            </a:r>
            <a:r>
              <a:rPr lang="en-US" dirty="0"/>
              <a:t>, cited results.</a:t>
            </a:r>
            <a:endParaRPr lang="en-US" dirty="0">
              <a:ea typeface="Calibri"/>
              <a:cs typeface="Calibri"/>
            </a:endParaRPr>
          </a:p>
          <a:p>
            <a:r>
              <a:rPr lang="en-US" b="1" dirty="0"/>
              <a:t>Work IQ</a:t>
            </a:r>
            <a:r>
              <a:rPr lang="en-US" dirty="0"/>
              <a:t> provides Microsoft 365 work context, including emails, meetings, files, chats and business signals. Requests run in the context of the signed-in user, so the agent can only access information that user is already </a:t>
            </a:r>
            <a:r>
              <a:rPr lang="en-US" dirty="0" err="1"/>
              <a:t>authorised</a:t>
            </a:r>
            <a:r>
              <a:rPr lang="en-US" dirty="0"/>
              <a:t> to see.</a:t>
            </a:r>
            <a:endParaRPr lang="en-US" dirty="0">
              <a:ea typeface="Calibri"/>
              <a:cs typeface="Calibri"/>
            </a:endParaRPr>
          </a:p>
          <a:p>
            <a:r>
              <a:rPr lang="en-US" b="1" dirty="0"/>
              <a:t>Fabric IQ</a:t>
            </a:r>
            <a:r>
              <a:rPr lang="en-US" dirty="0"/>
              <a:t> provides intelligence over governed analytical data. It adds business meaning through Fabric ontologies, including entities, relationships and connections to </a:t>
            </a:r>
            <a:r>
              <a:rPr lang="en-US" dirty="0" err="1"/>
              <a:t>OneLake</a:t>
            </a:r>
            <a:r>
              <a:rPr lang="en-US" dirty="0"/>
              <a:t> data. This allows an agent to reason in business terms rather than only querying raw tables and columns.</a:t>
            </a:r>
            <a:endParaRPr lang="en-US" dirty="0">
              <a:ea typeface="Calibri"/>
              <a:cs typeface="Calibri"/>
            </a:endParaRPr>
          </a:p>
          <a:p>
            <a:r>
              <a:rPr lang="en-US"/>
              <a:t>There are three ways to connect these layers to an agent.</a:t>
            </a:r>
          </a:p>
          <a:p>
            <a:r>
              <a:rPr lang="en-US"/>
              <a:t>The first is </a:t>
            </a:r>
            <a:r>
              <a:rPr lang="en-US" b="1"/>
              <a:t>direct integration</a:t>
            </a:r>
            <a:r>
              <a:rPr lang="en-US"/>
              <a:t>, using each service’s native mechanism. Foundry IQ uses an MCP tool through a project connection, Work IQ can act as a peer agent through A2A, and Fabric IQ is registered as a server-side tool.</a:t>
            </a:r>
          </a:p>
          <a:p>
            <a:r>
              <a:rPr lang="en-US"/>
              <a:t>The second is </a:t>
            </a:r>
            <a:r>
              <a:rPr lang="en-US" b="1"/>
              <a:t>through a Toolbox</a:t>
            </a:r>
            <a:r>
              <a:rPr lang="en-US"/>
              <a:t>. This exposes the intelligence service through a shared MCP endpoint, allowing multiple agents and frameworks to reuse the same governed connection.</a:t>
            </a:r>
          </a:p>
          <a:p>
            <a:r>
              <a:rPr lang="en-US"/>
              <a:t>The third is </a:t>
            </a:r>
            <a:r>
              <a:rPr lang="en-US" b="1"/>
              <a:t>through a Foundry IQ knowledge base</a:t>
            </a:r>
            <a:r>
              <a:rPr lang="en-US"/>
              <a:t>. In this pattern, Work IQ and Fabric IQ become remote knowledge sources within a broader retrieval workflow. Foundry IQ can then combine enterprise content, Microsoft 365 context and Fabric data when answering a complex question.</a:t>
            </a:r>
          </a:p>
          <a:p>
            <a:r>
              <a:rPr lang="en-US"/>
              <a:t>These patterns are complementary. Direct connections provide explicit control, a Toolbox promotes reuse across agents, and a knowledge base supports unified multi-source retrieval.</a:t>
            </a:r>
          </a:p>
          <a:p>
            <a:r>
              <a:rPr lang="en-US"/>
              <a:t>Three operational considerations are critical.</a:t>
            </a:r>
          </a:p>
          <a:p>
            <a:r>
              <a:rPr lang="en-US"/>
              <a:t>First, </a:t>
            </a:r>
            <a:r>
              <a:rPr lang="en-US" b="1"/>
              <a:t>identity</a:t>
            </a:r>
            <a:r>
              <a:rPr lang="en-US"/>
              <a:t>. Each layer has its own permission model, so access must be evaluated end to end. A technically connected source does not automatically make all its data available to the agent.</a:t>
            </a:r>
          </a:p>
          <a:p>
            <a:r>
              <a:rPr lang="en-US"/>
              <a:t>Second, </a:t>
            </a:r>
            <a:r>
              <a:rPr lang="en-US" b="1"/>
              <a:t>billing and licensing</a:t>
            </a:r>
            <a:r>
              <a:rPr lang="en-US"/>
              <a:t>. Foundry IQ consumption includes Azure AI Search retrieval and model-token usage. Work IQ uses a separate consumption and licensing model, while Fabric IQ depends on Fabric capacity.</a:t>
            </a:r>
          </a:p>
          <a:p>
            <a:r>
              <a:rPr lang="en-US"/>
              <a:t>Third, </a:t>
            </a:r>
            <a:r>
              <a:rPr lang="en-US" b="1"/>
              <a:t>setup and maturity</a:t>
            </a:r>
            <a:r>
              <a:rPr lang="en-US"/>
              <a:t>. The services have different prerequisites, regional dependencies and preview status. Work IQ and Fabric IQ may also process data outside the Azure compliance boundary, so data residency and compliance requirements must be reviewed before enablement.</a:t>
            </a:r>
          </a:p>
          <a:p>
            <a:r>
              <a:rPr lang="en-US" dirty="0"/>
              <a:t>The architectural takeaway is simple: choose the intelligence layer based on what the agent needs to know. Use Foundry IQ for managed retrieval, Work IQ for user-</a:t>
            </a:r>
            <a:r>
              <a:rPr lang="en-US" dirty="0" err="1"/>
              <a:t>authorised</a:t>
            </a:r>
            <a:r>
              <a:rPr lang="en-US" dirty="0"/>
              <a:t> work context, and Fabric IQ for governed business semantics. Combine the layers only when the use case genuinely requires knowledge across those domains.</a:t>
            </a:r>
            <a:endParaRPr lang="en-US" dirty="0">
              <a:ea typeface="Calibri"/>
              <a:cs typeface="Calibri"/>
            </a:endParaRP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Foundry Agent Service is the managed runtime for building, running and governing AI agents. It brings the agent lifecycle, models, tools, memory, observability and security together behind a single Foundry project endpoint.</a:t>
            </a:r>
          </a:p>
          <a:p>
            <a:r>
              <a:rPr lang="en-US"/>
              <a:t>Applications or other agents connect to the service through APIs, Microsoft 365 experiences, A2A or invocation protocols. Inside the platform, there are three execution patterns.</a:t>
            </a:r>
          </a:p>
          <a:p>
            <a:r>
              <a:rPr lang="en-US"/>
              <a:t>A </a:t>
            </a:r>
            <a:r>
              <a:rPr lang="en-US" b="1"/>
              <a:t>prompt agent</a:t>
            </a:r>
            <a:r>
              <a:rPr lang="en-US"/>
              <a:t> is the most managed option. We provide instructions, select a model and attach tools; Foundry operates the runtime.</a:t>
            </a:r>
          </a:p>
          <a:p>
            <a:r>
              <a:rPr lang="en-US"/>
              <a:t> A prompt agent can now also be created as a voice-based prompt agent, in preview. Foundry runs the spoken conversation through Voice Live, with the model, instructions, greeting, audio settings and tools held in one versioned agent definition. The interaction mode is fixed when the agent is created, so a voice agent is a separate agent rather than a switch on an existing text agent.</a:t>
            </a:r>
          </a:p>
          <a:p>
            <a:r>
              <a:rPr lang="en-US"/>
              <a:t>A </a:t>
            </a:r>
            <a:r>
              <a:rPr lang="en-US" b="1"/>
              <a:t>hosted agent</a:t>
            </a:r>
            <a:r>
              <a:rPr lang="en-US"/>
              <a:t> gives developers more control. Custom agent code and frameworks run in a managed, isolated container, while Foundry provides the surrounding infrastructure, lifecycle and security services.</a:t>
            </a:r>
          </a:p>
          <a:p>
            <a:r>
              <a:rPr lang="en-US" dirty="0"/>
              <a:t>A </a:t>
            </a:r>
            <a:r>
              <a:rPr lang="en-US" b="1" dirty="0"/>
              <a:t>Responses API call</a:t>
            </a:r>
            <a:r>
              <a:rPr lang="en-US" dirty="0"/>
              <a:t> is the lightest-weight pattern. The agent </a:t>
            </a:r>
            <a:r>
              <a:rPr lang="en-US" dirty="0" err="1"/>
              <a:t>behaviour</a:t>
            </a:r>
            <a:r>
              <a:rPr lang="en-US" dirty="0"/>
              <a:t> is defined in application code and exists for the individual request, without creating a persistent agent resource.</a:t>
            </a:r>
          </a:p>
          <a:p>
            <a:r>
              <a:rPr lang="en-US"/>
              <a:t>Across these patterns, the runtime can connect to several shared platform capabilities.</a:t>
            </a:r>
          </a:p>
          <a:p>
            <a:r>
              <a:rPr lang="en-US" b="1"/>
              <a:t>Foundry Models</a:t>
            </a:r>
            <a:r>
              <a:rPr lang="en-US"/>
              <a:t> provides access to the model catalogue and Model Router, allowing models to be selected or changed without redesigning the application.</a:t>
            </a:r>
          </a:p>
          <a:p>
            <a:r>
              <a:rPr lang="en-US" dirty="0"/>
              <a:t>A </a:t>
            </a:r>
            <a:r>
              <a:rPr lang="en-US" b="1" dirty="0"/>
              <a:t>Toolbox</a:t>
            </a:r>
            <a:r>
              <a:rPr lang="en-US" dirty="0"/>
              <a:t> exposes governed tools and knowledge services through one MCP-compatible endpoint, with </a:t>
            </a:r>
            <a:r>
              <a:rPr lang="en-US" dirty="0" err="1"/>
              <a:t>centralised</a:t>
            </a:r>
            <a:r>
              <a:rPr lang="en-US" dirty="0"/>
              <a:t> authentication and reusable connections.</a:t>
            </a:r>
          </a:p>
          <a:p>
            <a:r>
              <a:rPr lang="en-US" b="1"/>
              <a:t>Memory</a:t>
            </a:r>
            <a:r>
              <a:rPr lang="en-US"/>
              <a:t> can preserve relevant procedural, user or session context where the scenario requires continuity.</a:t>
            </a:r>
          </a:p>
          <a:p>
            <a:r>
              <a:rPr lang="en-US" b="1" dirty="0"/>
              <a:t>Observability</a:t>
            </a:r>
            <a:r>
              <a:rPr lang="en-US" dirty="0"/>
              <a:t> provides server-side traces, evaluations and </a:t>
            </a:r>
            <a:r>
              <a:rPr lang="en-US" dirty="0" err="1"/>
              <a:t>optimisation</a:t>
            </a:r>
            <a:r>
              <a:rPr lang="en-US" dirty="0"/>
              <a:t> capabilities, which are essential for understanding tool calls, model decisions, quality, latency and failures.</a:t>
            </a:r>
          </a:p>
          <a:p>
            <a:r>
              <a:rPr lang="en-US"/>
              <a:t>Identity and security form the foundation. The platform supports agent identities, project-managed identity, role-based access control, guardrails, private networking and bring-your-own virtual network patterns.</a:t>
            </a:r>
          </a:p>
          <a:p>
            <a:r>
              <a:rPr lang="en-US"/>
              <a:t>Once tested, agents can be published as versioned resources with stable endpoints. They can then be surfaced through applications, Microsoft 365 Copilot and Teams, with registration through Entra Agent Registry.</a:t>
            </a:r>
          </a:p>
          <a:p>
            <a:r>
              <a:rPr lang="en-US"/>
              <a:t>The Foundry Agents API is built on the Responses API. This represents a move from the earlier thread-and-run abstraction towards conversations, responses and agents. A migration tool is available for existing implementations.</a:t>
            </a:r>
          </a:p>
          <a:p>
            <a:r>
              <a:rPr lang="en-US"/>
              <a:t>The final design decision is where agent state lives.</a:t>
            </a:r>
          </a:p>
          <a:p>
            <a:r>
              <a:rPr lang="en-US"/>
              <a:t>The </a:t>
            </a:r>
            <a:r>
              <a:rPr lang="en-US" b="1"/>
              <a:t>basic setup</a:t>
            </a:r>
            <a:r>
              <a:rPr lang="en-US"/>
              <a:t> uses Microsoft-managed platform storage and offers the fastest starting point.</a:t>
            </a:r>
          </a:p>
          <a:p>
            <a:r>
              <a:rPr lang="en-US"/>
              <a:t>The </a:t>
            </a:r>
            <a:r>
              <a:rPr lang="en-US" b="1"/>
              <a:t>standard setup</a:t>
            </a:r>
            <a:r>
              <a:rPr lang="en-US"/>
              <a:t> places customer data in customer-owned Azure resources such as Cosmos DB, Storage and Azure AI Search. This enables additional control, including customer-managed keys and network isolation, but introduces more infrastructure and capacity planning.</a:t>
            </a:r>
          </a:p>
          <a:p>
            <a:r>
              <a:rPr lang="en-US" dirty="0"/>
              <a:t>The architectural takeaway is that Foundry Agent Service does not prescribe one agent style. It provides a managed control plane and runtime around prompt-based, code-based and request-scoped agents. The right pattern depends on the required level of </a:t>
            </a:r>
            <a:r>
              <a:rPr lang="en-US" dirty="0" err="1"/>
              <a:t>customisation</a:t>
            </a:r>
            <a:r>
              <a:rPr lang="en-US" dirty="0"/>
              <a:t>, isolation, persistence and operational control.</a:t>
            </a:r>
          </a:p>
          <a:p>
            <a:r>
              <a:rPr lang="en-US"/>
              <a:t>Capabilities marked with an asterisk are in preview, so production designs should validate regional availability, support commitments and service-level agreements.</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describes the protocols and APIs a hosted agent uses to communicate with the wider application ecosystem.</a:t>
            </a:r>
          </a:p>
          <a:p>
            <a:r>
              <a:rPr lang="en-US" dirty="0"/>
              <a:t>The simplest mental model is </a:t>
            </a:r>
            <a:r>
              <a:rPr lang="en-US" b="1" dirty="0"/>
              <a:t>inbound versus outbound</a:t>
            </a:r>
            <a:r>
              <a:rPr lang="en-US" dirty="0"/>
              <a:t>.</a:t>
            </a:r>
          </a:p>
          <a:p>
            <a:r>
              <a:rPr lang="en-US" b="1" dirty="0"/>
              <a:t>Inbound protocols</a:t>
            </a:r>
            <a:r>
              <a:rPr lang="en-US" dirty="0"/>
              <a:t> define how an application, Microsoft 365 experience or another agent invokes the hosted agent. These protocols share the same agent endpoint, but support different interaction patterns.</a:t>
            </a:r>
          </a:p>
          <a:p>
            <a:r>
              <a:rPr lang="en-US" b="1"/>
              <a:t>Responses</a:t>
            </a:r>
            <a:r>
              <a:rPr lang="en-US"/>
              <a:t> is the OpenAI-compatible, stateful API. It is the natural choice when an application already follows the Responses API programming model and needs conversation state, tool use and model interaction through a consistent interface.</a:t>
            </a:r>
          </a:p>
          <a:p>
            <a:r>
              <a:rPr lang="en-US" b="1"/>
              <a:t>Invocations</a:t>
            </a:r>
            <a:r>
              <a:rPr lang="en-US"/>
              <a:t> provides a more flexible, schema-free request and response pattern. The WebSocket variant keeps the same interaction model over a persistent connection, which is useful for bidirectional or streaming experiences.</a:t>
            </a:r>
          </a:p>
          <a:p>
            <a:r>
              <a:rPr lang="en-US"/>
              <a:t>The </a:t>
            </a:r>
            <a:r>
              <a:rPr lang="en-US" b="1"/>
              <a:t>Activity protocol</a:t>
            </a:r>
            <a:r>
              <a:rPr lang="en-US"/>
              <a:t> connects agents to Microsoft 365 Copilot and Teams channels. Foundry bridges these channel activities into the Responses-based agent runtime.</a:t>
            </a:r>
          </a:p>
          <a:p>
            <a:r>
              <a:rPr lang="en-US" b="1"/>
              <a:t>A2A</a:t>
            </a:r>
            <a:r>
              <a:rPr lang="en-US"/>
              <a:t>, or agent-to-agent, enables one agent to delegate a task to another agent through a standard protocol rather than a custom point-to-point integration.</a:t>
            </a:r>
          </a:p>
          <a:p>
            <a:r>
              <a:rPr lang="en-US" dirty="0"/>
              <a:t>On the outbound side, the agent can use </a:t>
            </a:r>
            <a:r>
              <a:rPr lang="en-US" b="1" dirty="0"/>
              <a:t>MCP</a:t>
            </a:r>
            <a:r>
              <a:rPr lang="en-US" dirty="0"/>
              <a:t> to discover and call governed tools, </a:t>
            </a:r>
            <a:r>
              <a:rPr lang="en-US" b="1" dirty="0" err="1"/>
              <a:t>OpenAPI</a:t>
            </a:r>
            <a:r>
              <a:rPr lang="en-US" dirty="0"/>
              <a:t> definitions to invoke structured service operations, and </a:t>
            </a:r>
            <a:r>
              <a:rPr lang="en-US" b="1" dirty="0"/>
              <a:t>A2A</a:t>
            </a:r>
            <a:r>
              <a:rPr lang="en-US" dirty="0"/>
              <a:t> to collaborate with peer agents. Foundry Models provide the model-inference layer that supports the agent’s reasoning and response generation.</a:t>
            </a:r>
          </a:p>
          <a:p>
            <a:r>
              <a:rPr lang="en-US"/>
              <a:t>The key distinction is:</a:t>
            </a:r>
          </a:p>
          <a:p>
            <a:pPr marL="171450" indent="-171450">
              <a:buFont typeface="Arial"/>
              <a:buChar char="•"/>
            </a:pPr>
            <a:r>
              <a:rPr lang="en-US" b="1"/>
              <a:t>Responses and Invocations</a:t>
            </a:r>
            <a:r>
              <a:rPr lang="en-US"/>
              <a:t> connect applications to an agent.</a:t>
            </a:r>
          </a:p>
          <a:p>
            <a:pPr marL="171450" indent="-171450">
              <a:buFont typeface="Arial"/>
              <a:buChar char="•"/>
            </a:pPr>
            <a:r>
              <a:rPr lang="en-US" b="1"/>
              <a:t>Activity</a:t>
            </a:r>
            <a:r>
              <a:rPr lang="en-US"/>
              <a:t> connects Microsoft 365 channels to an agent.</a:t>
            </a:r>
          </a:p>
          <a:p>
            <a:pPr marL="171450" indent="-171450">
              <a:buFont typeface="Arial"/>
              <a:buChar char="•"/>
            </a:pPr>
            <a:r>
              <a:rPr lang="en-US" b="1"/>
              <a:t>A2A</a:t>
            </a:r>
            <a:r>
              <a:rPr lang="en-US"/>
              <a:t> connects agents to other agents.</a:t>
            </a:r>
          </a:p>
          <a:p>
            <a:pPr marL="171450" indent="-171450">
              <a:buFont typeface="Arial"/>
              <a:buChar char="•"/>
            </a:pPr>
            <a:r>
              <a:rPr lang="en-US" b="1" dirty="0"/>
              <a:t>MCP and </a:t>
            </a:r>
            <a:r>
              <a:rPr lang="en-US" b="1" dirty="0" err="1"/>
              <a:t>OpenAPI</a:t>
            </a:r>
            <a:r>
              <a:rPr lang="en-US" dirty="0"/>
              <a:t> connect agents to tools and services.</a:t>
            </a:r>
          </a:p>
          <a:p>
            <a:r>
              <a:rPr lang="en-US" dirty="0"/>
              <a:t>The lower table highlights an important platform transition. The newer agent experience </a:t>
            </a:r>
            <a:r>
              <a:rPr lang="en-US" dirty="0" err="1"/>
              <a:t>standardises</a:t>
            </a:r>
            <a:r>
              <a:rPr lang="en-US" dirty="0"/>
              <a:t> tool integration around MCP and A2A. Capabilities previously exposed as </a:t>
            </a:r>
            <a:r>
              <a:rPr lang="en-US" dirty="0" err="1"/>
              <a:t>specialised</a:t>
            </a:r>
            <a:r>
              <a:rPr lang="en-US" dirty="0"/>
              <a:t> constructs, such as connected agents or Deep Research, are represented through more composable patterns: A2A for delegation, and model-plus-web capabilities for research-style workflows.</a:t>
            </a:r>
          </a:p>
          <a:p>
            <a:r>
              <a:rPr lang="en-US" dirty="0"/>
              <a:t>Azure Functions is no longer a dedicated tool type in this newer experience. This does not mean an agent cannot call function-backed logic. The function should be exposed through a supported integration contract, such as </a:t>
            </a:r>
            <a:r>
              <a:rPr lang="en-US" dirty="0" err="1"/>
              <a:t>OpenAPI</a:t>
            </a:r>
            <a:r>
              <a:rPr lang="en-US" dirty="0"/>
              <a:t> or MCP, rather than requiring a platform-specific agent connector.</a:t>
            </a:r>
          </a:p>
          <a:p>
            <a:r>
              <a:rPr lang="en-US" dirty="0"/>
              <a:t>From a CSA perspective, choose the protocol based on the communication boundary, not simply on feature availability. Use Responses for OpenAI-compatible application integration, Activity for Microsoft 365 channels, A2A for agent delegation, and MCP or </a:t>
            </a:r>
            <a:r>
              <a:rPr lang="en-US" dirty="0" err="1"/>
              <a:t>OpenAPI</a:t>
            </a:r>
            <a:r>
              <a:rPr lang="en-US" dirty="0"/>
              <a:t> for tool execution.</a:t>
            </a:r>
          </a:p>
          <a:p>
            <a:r>
              <a:rPr lang="en-US"/>
              <a:t>The architectural goal is loose coupling: applications, agents and tools should communicate through stable contracts so each component can evolve without redesigning the entire solution.</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two things: what the hosted-agent platform supports today, and how a privately networked agent can still be published to Microsoft Teams and Microsoft 365 Copilot.</a:t>
            </a:r>
          </a:p>
          <a:p>
            <a:r>
              <a:rPr lang="en-US"/>
              <a:t>On the left, the core hosted-agent capabilities are generally available. These include the managed container runtime, isolated per-session sandboxes, Responses and Invocation APIs, the Activity protocol, durable conversations, private networking and secured access to the container image.</a:t>
            </a:r>
          </a:p>
          <a:p>
            <a:r>
              <a:rPr lang="en-US"/>
              <a:t>Each deployed hosted agent receives its own Microsoft Entra agent identity and stable endpoint. Publishing is a separate step, so an agent can be deployed and tested before it is exposed through Microsoft 365 channels.</a:t>
            </a:r>
          </a:p>
          <a:p>
            <a:r>
              <a:rPr lang="en-US"/>
              <a:t>The sandbox lifecycle is tied to the session rather than to each request. This allows session files and state to survive across multiple interactions, while idle compute can be released and restored when the session resumes.</a:t>
            </a:r>
          </a:p>
          <a:p>
            <a:r>
              <a:rPr lang="en-US"/>
              <a:t>The right-hand side addresses a common architecture question: how can Teams or Microsoft 365 Copilot reach an agent when public network access to the Foundry project is disabled?</a:t>
            </a:r>
          </a:p>
          <a:p>
            <a:r>
              <a:rPr lang="en-US"/>
              <a:t>Teams and Microsoft 365 remain public-network services, so the Activity protocol uses a dedicated public service endpoint. This endpoint terminates TLS, validates the Microsoft 365 source range and then routes the activity to the private agent endpoint.</a:t>
            </a:r>
          </a:p>
          <a:p>
            <a:r>
              <a:rPr lang="en-US"/>
              <a:t>Inside the Foundry project, the hosted agent and management interfaces remain reachable only through private connectivity. The public exposure is limited to the Activity protocol route required by Microsoft 365 channels.</a:t>
            </a:r>
          </a:p>
          <a:p>
            <a:r>
              <a:rPr lang="en-US" dirty="0"/>
              <a:t>A specific activity configuration enables this route, while the Bot Service or Entra </a:t>
            </a:r>
            <a:r>
              <a:rPr lang="en-US" dirty="0" err="1"/>
              <a:t>authorisation</a:t>
            </a:r>
            <a:r>
              <a:rPr lang="en-US" dirty="0"/>
              <a:t> scheme establishes the identity checks applied to the request.</a:t>
            </a:r>
            <a:endParaRPr lang="en-US" dirty="0">
              <a:ea typeface="Calibri"/>
              <a:cs typeface="Calibri"/>
            </a:endParaRPr>
          </a:p>
          <a:p>
            <a:r>
              <a:rPr lang="en-US" dirty="0"/>
              <a:t>The critical distinction is </a:t>
            </a:r>
            <a:r>
              <a:rPr lang="en-US" b="1" dirty="0"/>
              <a:t>reachability versus </a:t>
            </a:r>
            <a:r>
              <a:rPr lang="en-US" b="1" dirty="0" err="1"/>
              <a:t>authorisation</a:t>
            </a:r>
            <a:r>
              <a:rPr lang="en-US" dirty="0"/>
              <a:t>.</a:t>
            </a:r>
            <a:endParaRPr dirty="0"/>
          </a:p>
          <a:p>
            <a:r>
              <a:rPr lang="en-US" dirty="0"/>
              <a:t>Source-IP filtering provides </a:t>
            </a:r>
            <a:r>
              <a:rPr lang="en-US" dirty="0" err="1"/>
              <a:t>defence</a:t>
            </a:r>
            <a:r>
              <a:rPr lang="en-US" dirty="0"/>
              <a:t> in depth by limiting which network ranges can reach the route. It does not replace token validation, tenant checks, role checks or application-level </a:t>
            </a:r>
            <a:r>
              <a:rPr lang="en-US" dirty="0" err="1"/>
              <a:t>authorisation</a:t>
            </a:r>
            <a:r>
              <a:rPr lang="en-US" dirty="0"/>
              <a:t>. Both network controls and identity controls are required.</a:t>
            </a:r>
            <a:endParaRPr lang="en-US" dirty="0">
              <a:ea typeface="Calibri"/>
              <a:cs typeface="Calibri"/>
            </a:endParaRPr>
          </a:p>
          <a:p>
            <a:r>
              <a:rPr lang="en-US"/>
              <a:t>This pattern also does not make Microsoft 365 private. Teams and Microsoft 365 Copilot remain public services, and their outbound network ranges do not change. It also does not add response streaming to the published channel.</a:t>
            </a:r>
          </a:p>
          <a:p>
            <a:r>
              <a:rPr lang="en-US" dirty="0"/>
              <a:t>From a CSA perspective, the design supports private agent workloads without opening the entire Foundry project to the internet. Only the required channel route is made reachable, while the agent runtime, APIs and management plane remain private and protected by identity-based </a:t>
            </a:r>
            <a:r>
              <a:rPr lang="en-US" dirty="0" err="1"/>
              <a:t>authorisation</a:t>
            </a:r>
            <a:r>
              <a:rPr lang="en-US" dirty="0"/>
              <a:t>.</a:t>
            </a:r>
            <a:endParaRPr lang="en-US" dirty="0">
              <a:ea typeface="Calibri"/>
              <a:cs typeface="Calibri"/>
            </a:endParaRPr>
          </a:p>
          <a:p>
            <a:r>
              <a:rPr lang="en-US" dirty="0"/>
              <a:t>Finally, some advanced capabilities, including long-running resilient execution and Agent Optimizer, remain in preview and should be evaluated separately before production adoption.</a:t>
            </a:r>
            <a:endParaRPr lang="en-US" dirty="0">
              <a:ea typeface="Calibri" panose="020F0502020204030204"/>
              <a:cs typeface="Calibri" panose="020F0502020204030204"/>
            </a:endParaRP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Microsoft Agent Framework and Foundry Agent Service are complementary, but they solve different parts of the agent lifecycle.</a:t>
            </a:r>
          </a:p>
          <a:p>
            <a:r>
              <a:rPr lang="en-US" b="1"/>
              <a:t>Microsoft Agent Framework</a:t>
            </a:r>
            <a:r>
              <a:rPr lang="en-US"/>
              <a:t> is an open-source SDK for building agent logic. It provides the developer primitives for agents, sessions, context, middleware, MCP clients and multi-agent workflows.</a:t>
            </a:r>
          </a:p>
          <a:p>
            <a:r>
              <a:rPr lang="en-US"/>
              <a:t> The framework releases frequently. The current versions are python-1.22.0 and dotnet-1.25.0, both from mid-October. Python 1.22 adds Python 3.15 support for the core packages and changes the format of persisted conversation and checkpoint records: earlier runtimes cannot read the new records, so old and new workers should not share the same store during a rolling deployment.</a:t>
            </a:r>
          </a:p>
          <a:p>
            <a:r>
              <a:rPr lang="en-US"/>
              <a:t>It is particularly relevant when we need explicit orchestration patterns such as sequential or concurrent execution, agent hand-offs, group collaboration, checkpointing and human approval. The application team owns the code, selects the hosting environment and operates the runtime.</a:t>
            </a:r>
          </a:p>
          <a:p>
            <a:r>
              <a:rPr lang="en-US" b="1"/>
              <a:t>Foundry Agent Service</a:t>
            </a:r>
            <a:r>
              <a:rPr lang="en-US"/>
              <a:t> is the managed platform for deploying and operating agents. It provides the agent runtime, conversations, prompt agents, hosted agents, toolboxes, identity, tracing and managed scaling.</a:t>
            </a:r>
          </a:p>
          <a:p>
            <a:r>
              <a:rPr lang="en-US"/>
              <a:t>The simplest distinction is:</a:t>
            </a:r>
          </a:p>
          <a:p>
            <a:pPr marL="171450" indent="-171450">
              <a:buFont typeface="Arial"/>
              <a:buChar char="•"/>
            </a:pPr>
            <a:r>
              <a:rPr lang="en-US" b="1"/>
              <a:t>Agent Framework defines how the agent behaves and coordinates work.</a:t>
            </a:r>
            <a:endParaRPr lang="en-US"/>
          </a:p>
          <a:p>
            <a:pPr marL="171450" indent="-171450">
              <a:buFont typeface="Arial"/>
              <a:buChar char="•"/>
            </a:pPr>
            <a:r>
              <a:rPr lang="en-US" b="1"/>
              <a:t>Foundry Agent Service defines how the agent is hosted, secured, exposed and operated.</a:t>
            </a:r>
            <a:endParaRPr lang="en-US"/>
          </a:p>
          <a:p>
            <a:r>
              <a:rPr lang="en-US"/>
              <a:t>The identity model also differs. With Agent Framework alone, the agent runs under the identity and infrastructure of the hosting application. In Foundry Agent Service, each deployed agent can receive a dedicated Microsoft Entra agent identity, while server-side traces integrate with the project’s observability configuration.</a:t>
            </a:r>
          </a:p>
          <a:p>
            <a:r>
              <a:rPr lang="en-US"/>
              <a:t>The two technologies meet through </a:t>
            </a:r>
            <a:r>
              <a:rPr lang="en-US" b="1"/>
              <a:t>hosted agents</a:t>
            </a:r>
            <a:r>
              <a:rPr lang="en-US"/>
              <a:t>.</a:t>
            </a:r>
          </a:p>
          <a:p>
            <a:r>
              <a:rPr lang="en-US"/>
              <a:t>Developers build the agent and orchestration logic with Agent Framework, package the code as a container image, and deploy it through a Foundry hosted agent or Azure Durable Functions. Foundry then adds a managed endpoint, agent identity, runtime isolation and scaling around that code.</a:t>
            </a:r>
          </a:p>
          <a:p>
            <a:r>
              <a:rPr lang="en-US"/>
              <a:t>This is important because choosing Agent Framework does not mean giving up the managed Foundry platform. It allows developers to retain control over the implementation while using Foundry for production operations.</a:t>
            </a:r>
          </a:p>
          <a:p>
            <a:r>
              <a:rPr lang="en-US"/>
              <a:t>From a CSA perspective, use </a:t>
            </a:r>
            <a:r>
              <a:rPr lang="en-US" b="1"/>
              <a:t>Agent Framework</a:t>
            </a:r>
            <a:r>
              <a:rPr lang="en-US"/>
              <a:t> when the differentiating requirement is custom orchestration or framework-level control. Use a </a:t>
            </a:r>
            <a:r>
              <a:rPr lang="en-US" b="1"/>
              <a:t>Foundry prompt agent</a:t>
            </a:r>
            <a:r>
              <a:rPr lang="en-US"/>
              <a:t> when the requirement can be met primarily through instructions, models and tools. Combine Agent Framework with a </a:t>
            </a:r>
            <a:r>
              <a:rPr lang="en-US" b="1"/>
              <a:t>Foundry hosted agent</a:t>
            </a:r>
            <a:r>
              <a:rPr lang="en-US"/>
              <a:t> when custom code is required, but the customer also needs managed identity, deployment, isolation, observability and scaling.</a:t>
            </a:r>
          </a:p>
          <a:p>
            <a:r>
              <a:rPr lang="en-US"/>
              <a:t>The integration shown at the bottom is currently in preview, so production adoption should validate regional availability, support commitments and service-level expectations.</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Routines allow an agent to run automatically, without waiting for a person or application to initiate the conversation.</a:t>
            </a:r>
          </a:p>
          <a:p>
            <a:r>
              <a:rPr lang="en-US"/>
              <a:t>The model is intentionally simple: </a:t>
            </a:r>
            <a:r>
              <a:rPr lang="en-US" b="1"/>
              <a:t>one trigger invokes one agent action</a:t>
            </a:r>
            <a:r>
              <a:rPr lang="en-US"/>
              <a:t>. Foundry manages the trigger, dispatch identity and execution history.</a:t>
            </a:r>
          </a:p>
          <a:p>
            <a:r>
              <a:rPr lang="en-US"/>
              <a:t>A routine can start in three ways:</a:t>
            </a:r>
          </a:p>
          <a:p>
            <a:pPr marL="171450" indent="-171450">
              <a:buFont typeface="Arial"/>
              <a:buChar char="•"/>
            </a:pPr>
            <a:r>
              <a:rPr lang="en-US"/>
              <a:t>A </a:t>
            </a:r>
            <a:r>
              <a:rPr lang="en-US" b="1"/>
              <a:t>timer</a:t>
            </a:r>
            <a:r>
              <a:rPr lang="en-US"/>
              <a:t> activates it once at a specified date and time.</a:t>
            </a:r>
          </a:p>
          <a:p>
            <a:pPr marL="171450" indent="-171450">
              <a:buFont typeface="Arial"/>
              <a:buChar char="•"/>
            </a:pPr>
            <a:r>
              <a:rPr lang="en-US" dirty="0"/>
              <a:t>A </a:t>
            </a:r>
            <a:r>
              <a:rPr lang="en-US" b="1" dirty="0"/>
              <a:t>recurring schedule</a:t>
            </a:r>
            <a:r>
              <a:rPr lang="en-US" dirty="0"/>
              <a:t> runs it repeatedly using a </a:t>
            </a:r>
            <a:r>
              <a:rPr lang="en-US" dirty="0" err="1"/>
              <a:t>cron</a:t>
            </a:r>
            <a:r>
              <a:rPr lang="en-US" dirty="0"/>
              <a:t> expression, with a minimum interval of five minutes.</a:t>
            </a:r>
            <a:endParaRPr lang="en-US" dirty="0">
              <a:ea typeface="Calibri"/>
              <a:cs typeface="Calibri"/>
            </a:endParaRPr>
          </a:p>
          <a:p>
            <a:pPr marL="171450" indent="-171450">
              <a:buFont typeface="Arial"/>
              <a:buChar char="•"/>
            </a:pPr>
            <a:r>
              <a:rPr lang="en-US"/>
              <a:t>An </a:t>
            </a:r>
            <a:r>
              <a:rPr lang="en-US" b="1"/>
              <a:t>event</a:t>
            </a:r>
            <a:r>
              <a:rPr lang="en-US"/>
              <a:t> starts it when something happens in another system, such as a GitHub issue changing state or a message arriving in a Teams channel.</a:t>
            </a:r>
          </a:p>
          <a:p>
            <a:r>
              <a:rPr lang="en-US"/>
              <a:t>The trigger invokes one existing prompt or hosted agent through its Responses or Invocations API. The selected protocol must match the one configured on the agent.</a:t>
            </a:r>
          </a:p>
          <a:p>
            <a:r>
              <a:rPr lang="en-US"/>
              <a:t>The routine reuses the agent’s normal invocation path. This is important because the scheduled execution inherits the same model, tools, tracing and project network configuration already used by the agent. It does not require a separate automation runtime.</a:t>
            </a:r>
          </a:p>
          <a:p>
            <a:r>
              <a:rPr lang="en-US"/>
              <a:t>Every execution produces a </a:t>
            </a:r>
            <a:r>
              <a:rPr lang="en-US" b="1"/>
              <a:t>run-history record</a:t>
            </a:r>
            <a:r>
              <a:rPr lang="en-US"/>
              <a:t> containing the input, output, status and trace. This provides the operational visibility needed to investigate failures and understand what the agent did when no user was present.</a:t>
            </a:r>
          </a:p>
          <a:p>
            <a:r>
              <a:rPr lang="en-US"/>
              <a:t>The key design decision is whether the automation needs a </a:t>
            </a:r>
            <a:r>
              <a:rPr lang="en-US" b="1"/>
              <a:t>routine or a workflow</a:t>
            </a:r>
            <a:r>
              <a:rPr lang="en-US"/>
              <a:t>.</a:t>
            </a:r>
          </a:p>
          <a:p>
            <a:r>
              <a:rPr lang="en-US"/>
              <a:t>Use a routine when the question is simply: </a:t>
            </a:r>
            <a:r>
              <a:rPr lang="en-US" i="1"/>
              <a:t>when should this agent run?</a:t>
            </a:r>
            <a:r>
              <a:rPr lang="en-US"/>
              <a:t> It is best suited to timers, schedules and lightweight event-driven automation involving one agent.</a:t>
            </a:r>
          </a:p>
          <a:p>
            <a:r>
              <a:rPr lang="en-US"/>
              <a:t>Use a workflow when the question becomes: </a:t>
            </a:r>
            <a:r>
              <a:rPr lang="en-US" i="1"/>
              <a:t>how should multiple steps or agents coordinate?</a:t>
            </a:r>
            <a:r>
              <a:rPr lang="en-US"/>
              <a:t> Workflows are more appropriate for branching, approvals, shared state and multi-step processing.</a:t>
            </a:r>
          </a:p>
          <a:p>
            <a:r>
              <a:rPr lang="en-US"/>
              <a:t>Identity must also be explicit. By default, the routine dispatches with the agent identity. A creator identity can be selected when the routine is created, but that choice is fixed and requires recreation to change.</a:t>
            </a:r>
          </a:p>
          <a:p>
            <a:r>
              <a:rPr lang="en-US"/>
              <a:t>Delivery semantics should be considered in the agent design. Each attempt has a 30-second timeout, with up to three delivery attempts. Actions should therefore be safe to retry and, where possible, idempotent to avoid duplicate side effects.</a:t>
            </a:r>
            <a:endParaRPr/>
          </a:p>
          <a:p>
            <a:r>
              <a:rPr lang="en-US"/>
              <a:t>A related but different pattern is agent-scheduled follow-up. A hosted agent can use the preview reminder tool to schedule a later continuation of the same conversation. A routine is centrally configured automation; a reminder is scheduled by the agent during an active interaction.</a:t>
            </a:r>
          </a:p>
          <a:p>
            <a:r>
              <a:rPr lang="en-US"/>
              <a:t>The architectural takeaway is straightforward: use routines to convert an existing agent into an event-driven worker without building a separate scheduler or listener. Move to a workflow when the automation requires coordination beyond a single trigger and a single agent.</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A normal agent turn lives only as long as the HTTP request. If the client disconnects or the container stops, any in-progress work can be lost.</a:t>
            </a:r>
          </a:p>
          <a:p>
            <a:r>
              <a:rPr lang="en-US"/>
              <a:t>That is acceptable for short, interactive tasks. It becomes a limitation when an agent must run for hours or days, wait for approval, or recover from an infrastructure failure.</a:t>
            </a:r>
          </a:p>
          <a:p>
            <a:r>
              <a:rPr lang="en-US" b="1"/>
              <a:t>Long-running agents add durability to hosted agents.</a:t>
            </a:r>
            <a:r>
              <a:rPr lang="en-US"/>
              <a:t> The work receives its own identity, the input and progress are persisted, and execution can continue independently of the initiating request. The client can disconnect and reconnect or poll for the result later.</a:t>
            </a:r>
          </a:p>
          <a:p>
            <a:r>
              <a:rPr lang="en-US" dirty="0"/>
              <a:t>The </a:t>
            </a:r>
            <a:r>
              <a:rPr lang="en-US" dirty="0" err="1"/>
              <a:t>centre</a:t>
            </a:r>
            <a:r>
              <a:rPr lang="en-US" dirty="0"/>
              <a:t> of the slide shows how recovery works.</a:t>
            </a:r>
            <a:endParaRPr lang="en-US" dirty="0">
              <a:ea typeface="Calibri"/>
              <a:cs typeface="Calibri"/>
            </a:endParaRPr>
          </a:p>
          <a:p>
            <a:r>
              <a:rPr lang="en-US"/>
              <a:t>First, the work arrives with a durable identity. The runtime persists the input and acquires a lease on the work item.</a:t>
            </a:r>
          </a:p>
          <a:p>
            <a:r>
              <a:rPr lang="en-US"/>
              <a:t>As the handler runs, completed progress is checkpointed to a durable store. If the process crashes or the host disappears, the lease eventually expires.</a:t>
            </a:r>
          </a:p>
          <a:p>
            <a:r>
              <a:rPr lang="en-US" dirty="0"/>
              <a:t>Another process can then reclaim the same work item and re-enter the handler. The handler starts again, but uses its checkpoints to skip work that has already completed.</a:t>
            </a:r>
            <a:endParaRPr lang="en-US" dirty="0">
              <a:ea typeface="Calibri"/>
              <a:cs typeface="Calibri"/>
            </a:endParaRPr>
          </a:p>
          <a:p>
            <a:r>
              <a:rPr lang="en-US"/>
              <a:t>This is an important distinction: </a:t>
            </a:r>
            <a:r>
              <a:rPr lang="en-US" b="1"/>
              <a:t>recovery is not simply replaying the entire task, and it is not an automatic retry of only the failed line</a:t>
            </a:r>
            <a:r>
              <a:rPr lang="en-US"/>
              <a:t>. The handler is re-entered from the top and relies on durable checkpoints to determine what remains.</a:t>
            </a:r>
          </a:p>
          <a:p>
            <a:r>
              <a:rPr lang="en-US"/>
              <a:t>For that reason, each operation must be safe to resume. External side effects such as sending a message, creating a record or triggering a payment should be idempotent or protected with deduplication logic.</a:t>
            </a:r>
          </a:p>
          <a:p>
            <a:r>
              <a:rPr lang="en-US"/>
              <a:t>Long-running agents also support </a:t>
            </a:r>
            <a:r>
              <a:rPr lang="en-US" b="1"/>
              <a:t>human-in-the-loop execution</a:t>
            </a:r>
            <a:r>
              <a:rPr lang="en-US"/>
              <a:t>. A task can suspend while waiting for approval or additional input, then resume under the same durable identity, even hours or days later.</a:t>
            </a:r>
          </a:p>
          <a:p>
            <a:r>
              <a:rPr lang="en-US" b="1"/>
              <a:t>Steering</a:t>
            </a:r>
            <a:r>
              <a:rPr lang="en-US"/>
              <a:t> allows a new instruction to be queued while the task is running. The current turn is cancelled gracefully, and the new instruction becomes the next turn rather than modifying execution in place.</a:t>
            </a:r>
          </a:p>
          <a:p>
            <a:r>
              <a:rPr lang="en-US"/>
              <a:t>Compared with other agent types, the difference is lifecycle:</a:t>
            </a:r>
          </a:p>
          <a:p>
            <a:r>
              <a:rPr lang="en-US"/>
              <a:t>A prompt agent is managed by Foundry but remains request-scoped.</a:t>
            </a:r>
          </a:p>
          <a:p>
            <a:r>
              <a:rPr lang="en-US"/>
              <a:t>A standard hosted agent runs custom code but is also request-scoped.</a:t>
            </a:r>
          </a:p>
          <a:p>
            <a:r>
              <a:rPr lang="en-US"/>
              <a:t>A long-running hosted agent executes in the customer’s container, persists for hours or days, survives process loss and can suspend or be redirected.</a:t>
            </a:r>
          </a:p>
          <a:p>
            <a:r>
              <a:rPr lang="en-US"/>
              <a:t>Use this pattern when the work itself must outlive the request, particularly for long analyses, approval-driven processes or tasks where losing partial progress is unacceptable.</a:t>
            </a:r>
          </a:p>
          <a:p>
            <a:r>
              <a:rPr lang="en-US"/>
              <a:t>Do not use it as a replacement for a workflow engine. Fan-out, timers, child workflows and complex multi-step coordination still belong in a workflow orchestration layer.</a:t>
            </a:r>
          </a:p>
          <a:p>
            <a:r>
              <a:rPr lang="en-US"/>
              <a:t>The capability is in preview, so production adoption should validate support status and service-level expectations. Python agent server libraries are generally available, while .NET support remains in preview.</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The Foundry Control Plane provides a unified management layer across agents, model deployments and tools.</a:t>
            </a:r>
          </a:p>
          <a:p>
            <a:r>
              <a:rPr lang="en-US"/>
              <a:t>The objective is to move from managing individual AI applications to operating an enterprise AI estate with consistent visibility, quality controls, security and governance.</a:t>
            </a:r>
          </a:p>
          <a:p>
            <a:r>
              <a:rPr lang="en-US" dirty="0"/>
              <a:t>The Control Plane is </a:t>
            </a:r>
            <a:r>
              <a:rPr lang="en-US" dirty="0" err="1"/>
              <a:t>organised</a:t>
            </a:r>
            <a:r>
              <a:rPr lang="en-US" dirty="0"/>
              <a:t> around four pillars: </a:t>
            </a:r>
            <a:r>
              <a:rPr lang="en-US" b="1" dirty="0"/>
              <a:t>observe, evaluate, protect and govern</a:t>
            </a:r>
            <a:r>
              <a:rPr lang="en-US" dirty="0"/>
              <a:t>.</a:t>
            </a:r>
            <a:endParaRPr lang="en-US" dirty="0">
              <a:ea typeface="Calibri"/>
              <a:cs typeface="Calibri"/>
            </a:endParaRPr>
          </a:p>
          <a:p>
            <a:r>
              <a:rPr lang="en-US" b="1"/>
              <a:t>Observe</a:t>
            </a:r>
            <a:r>
              <a:rPr lang="en-US"/>
              <a:t> answers: </a:t>
            </a:r>
            <a:r>
              <a:rPr lang="en-US" i="1"/>
              <a:t>What are the agents and models doing?</a:t>
            </a:r>
            <a:endParaRPr lang="en-US"/>
          </a:p>
          <a:p>
            <a:r>
              <a:rPr lang="en-US"/>
              <a:t> Distributed tracing captures the end-to-end execution path, including model interactions and tool calls. Monitoring adds operational metrics such as token consumption, latency, success rates and diagnostics. The fleet inventory then provides a consolidated view of deployed agents, their versions, status, errors, identities and estimated cost. Insights, in preview, adds a further view: it analyses the traces of a production agent with a GPT judge model and groups recurring behaviour, such as lost context, repeated retries or tool-call failures, into findings with supporting traces, a likely cause and a proposed next step, which a person reviews before anything changes.</a:t>
            </a:r>
          </a:p>
          <a:p>
            <a:r>
              <a:rPr lang="en-US" b="1"/>
              <a:t>Evaluate</a:t>
            </a:r>
            <a:r>
              <a:rPr lang="en-US"/>
              <a:t> answers: </a:t>
            </a:r>
            <a:r>
              <a:rPr lang="en-US" i="1"/>
              <a:t>Are they performing as expected?</a:t>
            </a:r>
            <a:endParaRPr lang="en-US"/>
          </a:p>
          <a:p>
            <a:r>
              <a:rPr lang="en-US"/>
              <a:t> Teams can run built-in, agent-specific, rubric-based or custom evaluators during development and through CI/CD. Continuous evaluation extends this into production by sampling live traffic for task adherence, tool-call success, groundedness, data leakage and prompt-injection exposure. AI red teaming adds structured adversarial testing, while failure clustering and drift monitoring help identify emerging quality issues.</a:t>
            </a:r>
          </a:p>
          <a:p>
            <a:r>
              <a:rPr lang="en-US" b="1"/>
              <a:t>Protect</a:t>
            </a:r>
            <a:r>
              <a:rPr lang="en-US"/>
              <a:t> applies controls at runtime.</a:t>
            </a:r>
          </a:p>
          <a:p>
            <a:r>
              <a:rPr lang="en-US"/>
              <a:t> Guardrails can inspect prompts, outputs and tool interactions for risks such as harmful content, prompt attacks, unsupported claims, sensitive data or protected material. Each agent can use a dedicated Microsoft Entra identity with role-based access control. Private endpoints, managed networks and customer-controlled virtual networks provide network isolation where required.</a:t>
            </a:r>
          </a:p>
          <a:p>
            <a:r>
              <a:rPr lang="en-US" b="1"/>
              <a:t>Govern</a:t>
            </a:r>
            <a:r>
              <a:rPr lang="en-US"/>
              <a:t> applies enterprise policy across the estate.</a:t>
            </a:r>
          </a:p>
          <a:p>
            <a:r>
              <a:rPr lang="en-US" dirty="0"/>
              <a:t> </a:t>
            </a:r>
            <a:r>
              <a:rPr lang="en-US" dirty="0" err="1"/>
              <a:t>Organisations</a:t>
            </a:r>
            <a:r>
              <a:rPr lang="en-US" dirty="0"/>
              <a:t> can define versioned guardrail policies, assign them consistently and identify non-compliant agents. Quotas, rate limits and AI Gateway integration help control consumption and cost. Lifecycle controls define who can start, stop or block agents, with registry integration supporting broader agent discovery and oversight.</a:t>
            </a:r>
            <a:endParaRPr lang="en-US" dirty="0">
              <a:ea typeface="Calibri"/>
              <a:cs typeface="Calibri"/>
            </a:endParaRPr>
          </a:p>
          <a:p>
            <a:r>
              <a:rPr lang="en-US" dirty="0"/>
              <a:t>These pillars reinforce one another. Observability provides the execution evidence; evaluation determines whether </a:t>
            </a:r>
            <a:r>
              <a:rPr lang="en-US" dirty="0" err="1"/>
              <a:t>behaviour</a:t>
            </a:r>
            <a:r>
              <a:rPr lang="en-US" dirty="0"/>
              <a:t> meets expectations; protection applies runtime controls; and governance turns those controls into repeatable enterprise policy.</a:t>
            </a:r>
            <a:endParaRPr lang="en-US" dirty="0">
              <a:ea typeface="Calibri"/>
              <a:cs typeface="Calibri"/>
            </a:endParaRPr>
          </a:p>
          <a:p>
            <a:r>
              <a:rPr lang="en-US" dirty="0"/>
              <a:t>The Control Plane builds on established Azure and Microsoft services, including Application Insights, Microsoft Entra, API Management, Defender, Purview and Azure Policy. The value is not replacing those services, but bringing their signals and controls together around the AI lifecycle.</a:t>
            </a:r>
            <a:endParaRPr lang="en-US" dirty="0">
              <a:ea typeface="Calibri"/>
              <a:cs typeface="Calibri"/>
            </a:endParaRPr>
          </a:p>
          <a:p>
            <a:r>
              <a:rPr lang="en-US"/>
              <a:t>From a CSA perspective, the key takeaway is that production readiness requires all four pillars. Tracing without evaluation shows what happened but not whether it was acceptable. Guardrails without governance protect individual deployments but do not create consistent enterprise control.</a:t>
            </a:r>
          </a:p>
          <a:p>
            <a:r>
              <a:rPr lang="en-US" dirty="0"/>
              <a:t>The Control Plane is therefore the operational foundation for scaling agents safely: </a:t>
            </a:r>
            <a:r>
              <a:rPr lang="en-US" b="1" dirty="0"/>
              <a:t>observe </a:t>
            </a:r>
            <a:r>
              <a:rPr lang="en-US" b="1" dirty="0" err="1"/>
              <a:t>behaviour</a:t>
            </a:r>
            <a:r>
              <a:rPr lang="en-US" b="1" dirty="0"/>
              <a:t>, evaluate quality, protect execution and govern the complete lifecycle</a:t>
            </a:r>
            <a:r>
              <a:rPr lang="en-US" dirty="0"/>
              <a:t>.</a:t>
            </a:r>
            <a:endParaRPr lang="en-US" dirty="0">
              <a:ea typeface="Calibri"/>
              <a:cs typeface="Calibri"/>
            </a:endParaRPr>
          </a:p>
          <a:p>
            <a:r>
              <a:rPr lang="en-US"/>
              <a:t>Capabilities marked as preview have no service-level agreement, and the slide notes that classic agents and Azure OpenAI Assistants are outside the current Control Plane coverage.</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Guardrails provide a consistent way to apply safety controls across models and agents in Microsoft Foundry.</a:t>
            </a:r>
          </a:p>
          <a:p>
            <a:r>
              <a:rPr lang="en-US"/>
              <a:t>A guardrail is a </a:t>
            </a:r>
            <a:r>
              <a:rPr lang="en-US" b="1"/>
              <a:t>named collection of controls</a:t>
            </a:r>
            <a:r>
              <a:rPr lang="en-US"/>
              <a:t>. Each control defines three things: the risk to detect, where in the interaction to inspect it, and the action to take when that risk is found.</a:t>
            </a:r>
          </a:p>
          <a:p>
            <a:r>
              <a:rPr lang="en-US"/>
              <a:t>There are four intervention points across an agent turn.</a:t>
            </a:r>
          </a:p>
          <a:p>
            <a:r>
              <a:rPr lang="en-US" b="1"/>
              <a:t>First, user input.</a:t>
            </a:r>
            <a:br>
              <a:rPr lang="en-US" b="1" dirty="0"/>
            </a:br>
            <a:r>
              <a:rPr lang="en-US" b="1"/>
              <a:t> The guardrail evaluates what the user sends before that content reaches the model or agent.</a:t>
            </a:r>
            <a:endParaRPr lang="en-US"/>
          </a:p>
          <a:p>
            <a:r>
              <a:rPr lang="en-US" b="1" dirty="0"/>
              <a:t>Second, the tool call.</a:t>
            </a:r>
            <a:br>
              <a:rPr lang="en-US" b="1" dirty="0">
                <a:cs typeface="+mn-lt"/>
              </a:rPr>
            </a:br>
            <a:r>
              <a:rPr lang="en-US" b="1" dirty="0"/>
              <a:t> For agents, the guardrail can inspect the request the agent is about to send to an MCP, </a:t>
            </a:r>
            <a:r>
              <a:rPr lang="en-US" dirty="0" err="1"/>
              <a:t>OpenAPI</a:t>
            </a:r>
            <a:r>
              <a:rPr lang="en-US" dirty="0"/>
              <a:t> or function-based tool.</a:t>
            </a:r>
            <a:endParaRPr lang="en-US" dirty="0">
              <a:ea typeface="Calibri"/>
              <a:cs typeface="Calibri"/>
            </a:endParaRPr>
          </a:p>
          <a:p>
            <a:r>
              <a:rPr lang="en-US" b="1"/>
              <a:t>Third, the tool response.</a:t>
            </a:r>
            <a:br>
              <a:rPr lang="en-US" b="1" dirty="0"/>
            </a:br>
            <a:r>
              <a:rPr lang="en-US" b="1"/>
              <a:t> The returned tool content can be evaluated before it is passed back into the agent’s reasoning process.</a:t>
            </a:r>
            <a:endParaRPr lang="en-US"/>
          </a:p>
          <a:p>
            <a:r>
              <a:rPr lang="en-US" b="1"/>
              <a:t>Fourth, final output.</a:t>
            </a:r>
            <a:br>
              <a:rPr lang="en-US" b="1" dirty="0"/>
            </a:br>
            <a:r>
              <a:rPr lang="en-US" b="1"/>
              <a:t> The response can be inspected before it is returned to the user.</a:t>
            </a:r>
            <a:endParaRPr lang="en-US"/>
          </a:p>
          <a:p>
            <a:r>
              <a:rPr lang="en-US"/>
              <a:t>These points matter because an agent has more than one risk boundary. Unsafe or sensitive content can originate from the user, be generated by the model, be sent to an external tool, or be returned by that tool.</a:t>
            </a:r>
          </a:p>
          <a:p>
            <a:r>
              <a:rPr lang="en-US"/>
              <a:t>Controls can detect content risks, prompt attacks, protected material, personally identifiable information, unsupported claims and task-adherence issues. Hosted-agent controls can also cover network egress. Some controls and intervention points remain in preview.</a:t>
            </a:r>
          </a:p>
          <a:p>
            <a:r>
              <a:rPr lang="en-US"/>
              <a:t>For each finding, the guardrail can either </a:t>
            </a:r>
            <a:r>
              <a:rPr lang="en-US" b="1"/>
              <a:t>annotate</a:t>
            </a:r>
            <a:r>
              <a:rPr lang="en-US"/>
              <a:t> the content, allowing the application to observe and handle the result, or </a:t>
            </a:r>
            <a:r>
              <a:rPr lang="en-US" b="1"/>
              <a:t>annotate and block</a:t>
            </a:r>
            <a:r>
              <a:rPr lang="en-US"/>
              <a:t>, stopping the content at that point. This lets architects choose between monitoring and enforcement according to the use case.</a:t>
            </a:r>
          </a:p>
          <a:p>
            <a:r>
              <a:rPr lang="en-US"/>
              <a:t>Azure AI Content Safety fits underneath this model as the </a:t>
            </a:r>
            <a:r>
              <a:rPr lang="en-US" b="1"/>
              <a:t>classification engine</a:t>
            </a:r>
            <a:r>
              <a:rPr lang="en-US"/>
              <a:t>. Guardrails use Content Safety classifiers to detect configured risks. When using Foundry guardrails, the platform performs those calls at the relevant intervention points, so the application does not need to orchestrate each classifier directly.</a:t>
            </a:r>
          </a:p>
          <a:p>
            <a:r>
              <a:rPr lang="en-US"/>
              <a:t>Content Safety can also be called independently. That pattern is appropriate when content processing happens outside a Foundry model or agent, when an application needs direct analysis APIs, or when custom categories and blocklists are required.</a:t>
            </a:r>
          </a:p>
          <a:p>
            <a:r>
              <a:rPr lang="en-US"/>
              <a:t>One important detail is policy precedence. Model deployments start with default safety controls, but assigning a guardrail to an agent replaces the model-level configuration for that agent. The full guardrail therefore needs to represent the intended policy rather than only the additional controls.</a:t>
            </a:r>
          </a:p>
          <a:p>
            <a:r>
              <a:rPr lang="en-US"/>
              <a:t>The practical rule is simple: </a:t>
            </a:r>
            <a:r>
              <a:rPr lang="en-US" b="1"/>
              <a:t>if the model or agent runs in Foundry, configure a guardrail. If the content lifecycle sits outside Foundry, call Azure AI Content Safety directly.</a:t>
            </a:r>
            <a:endParaRPr lang="en-US"/>
          </a:p>
          <a:p>
            <a:r>
              <a:rPr lang="en-US"/>
              <a:t>Both approaches can use the same underlying classifiers, which supports more consistent safety decisions across the wider application architecture. Preview capabilities should be validated for regional availability, support status and production suitability.</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Evaluations turn agent quality from a subjective judgement into a repeatable, measurable process.</a:t>
            </a:r>
          </a:p>
          <a:p>
            <a:r>
              <a:rPr lang="en-US"/>
              <a:t>The Foundry evaluation flow has four stages: </a:t>
            </a:r>
            <a:r>
              <a:rPr lang="en-US" b="1"/>
              <a:t>select the source, structure the data, choose the evaluators, and act on the results</a:t>
            </a:r>
            <a:r>
              <a:rPr lang="en-US"/>
              <a:t>.</a:t>
            </a:r>
          </a:p>
          <a:p>
            <a:r>
              <a:rPr lang="en-US" b="1"/>
              <a:t>First, decide what to evaluate.</a:t>
            </a:r>
          </a:p>
          <a:p>
            <a:r>
              <a:rPr lang="en-US"/>
              <a:t>Before release, we can evaluate a live model or agent, a curated test dataset, recorded conversations, synthetic conversations or adversarial probes from AI red teaming.</a:t>
            </a:r>
          </a:p>
          <a:p>
            <a:r>
              <a:rPr lang="en-US" dirty="0"/>
              <a:t>In production, we can evaluate directly from traces and response IDs. Traffic can be sampled continuously to measure </a:t>
            </a:r>
            <a:r>
              <a:rPr lang="en-US" dirty="0" err="1"/>
              <a:t>behaviour</a:t>
            </a:r>
            <a:r>
              <a:rPr lang="en-US" dirty="0"/>
              <a:t> as it occurs, while scheduled evaluations rerun a fixed dataset to detect regressions or drift.</a:t>
            </a:r>
            <a:endParaRPr lang="en-US" dirty="0">
              <a:ea typeface="Calibri"/>
              <a:cs typeface="Calibri"/>
            </a:endParaRPr>
          </a:p>
          <a:p>
            <a:r>
              <a:rPr lang="en-US" b="1"/>
              <a:t>Second, shape the evaluation dataset.</a:t>
            </a:r>
            <a:endParaRPr lang="en-US"/>
          </a:p>
          <a:p>
            <a:r>
              <a:rPr lang="en-US"/>
              <a:t>Each JSONL record represents one test case. Depending on the evaluator, it can include the conversation and tool calls, a query and response, the expected answer, grounding context and the tool definitions available to the agent.</a:t>
            </a:r>
          </a:p>
          <a:p>
            <a:r>
              <a:rPr lang="en-US" dirty="0"/>
              <a:t>The evaluation level also matters. A </a:t>
            </a:r>
            <a:r>
              <a:rPr lang="en-US" b="1" dirty="0"/>
              <a:t>turn-level</a:t>
            </a:r>
            <a:r>
              <a:rPr lang="en-US" dirty="0"/>
              <a:t> evaluation scores an individual interaction. A </a:t>
            </a:r>
            <a:r>
              <a:rPr lang="en-US" b="1" dirty="0"/>
              <a:t>conversation-level</a:t>
            </a:r>
            <a:r>
              <a:rPr lang="en-US" dirty="0"/>
              <a:t> evaluation assesses </a:t>
            </a:r>
            <a:r>
              <a:rPr lang="en-US" dirty="0" err="1"/>
              <a:t>behaviour</a:t>
            </a:r>
            <a:r>
              <a:rPr lang="en-US" dirty="0"/>
              <a:t> across multiple turns. Evaluators within one run must operate at the same level.</a:t>
            </a:r>
            <a:endParaRPr lang="en-US" dirty="0">
              <a:ea typeface="Calibri"/>
              <a:cs typeface="Calibri"/>
            </a:endParaRPr>
          </a:p>
          <a:p>
            <a:r>
              <a:rPr lang="en-US" b="1"/>
              <a:t>Third, select the judges.</a:t>
            </a:r>
          </a:p>
          <a:p>
            <a:r>
              <a:rPr lang="en-US"/>
              <a:t>Quality evaluators measure dimensions such as groundedness, relevance, coherence, fluency, retrieval quality and similarity to an expected answer.</a:t>
            </a:r>
          </a:p>
          <a:p>
            <a:r>
              <a:rPr lang="en-US"/>
              <a:t>Risk and safety evaluators test for harmful content, protected material, indirect prompt attacks, data leakage and vulnerable code patterns.</a:t>
            </a:r>
          </a:p>
          <a:p>
            <a:r>
              <a:rPr lang="en-US" dirty="0"/>
              <a:t>Agent-specific evaluators examine the </a:t>
            </a:r>
            <a:r>
              <a:rPr lang="en-US" dirty="0" err="1"/>
              <a:t>behaviour</a:t>
            </a:r>
            <a:r>
              <a:rPr lang="en-US" dirty="0"/>
              <a:t> behind the final answer, including task adherence, intent resolution, tool selection, tool-call accuracy and task completion.</a:t>
            </a:r>
            <a:endParaRPr lang="en-US" dirty="0">
              <a:ea typeface="Calibri"/>
              <a:cs typeface="Calibri"/>
            </a:endParaRPr>
          </a:p>
          <a:p>
            <a:r>
              <a:rPr lang="en-US"/>
              <a:t>Custom evaluators allow teams to encode their own acceptance criteria through a weighted rubric, a custom prompt or custom implementation.</a:t>
            </a:r>
          </a:p>
          <a:p>
            <a:r>
              <a:rPr lang="en-US"/>
              <a:t>Some evaluators use a language model as the judge. The judge model should be selected explicitly, and the scoring criteria should be validated against human review rather than treated as objective ground truth.</a:t>
            </a:r>
          </a:p>
          <a:p>
            <a:r>
              <a:rPr lang="en-US" b="1" dirty="0"/>
              <a:t>Fourth, </a:t>
            </a:r>
            <a:r>
              <a:rPr lang="en-US" b="1" dirty="0" err="1"/>
              <a:t>operationalise</a:t>
            </a:r>
            <a:r>
              <a:rPr lang="en-US" b="1" dirty="0"/>
              <a:t> the results.</a:t>
            </a:r>
            <a:endParaRPr lang="en-US" dirty="0"/>
          </a:p>
          <a:p>
            <a:r>
              <a:rPr lang="en-US"/>
              <a:t>Foundry provides per-test scores and the reasoning behind them. Aggregated quality and operational signals can feed monitoring dashboards, while thresholds can trigger Azure Monitor alerts.</a:t>
            </a:r>
          </a:p>
          <a:p>
            <a:r>
              <a:rPr lang="en-US"/>
              <a:t>Cluster analysis groups recurring failures to help identify root causes. Agent Optimizer can then use evaluation findings to improve agent instructions.</a:t>
            </a:r>
          </a:p>
          <a:p>
            <a:r>
              <a:rPr lang="en-US"/>
              <a:t>The key message is that evaluation is not a single gate before deployment. The same building blocks support three stages of the lifecycle:</a:t>
            </a:r>
          </a:p>
          <a:p>
            <a:pPr marL="171450" indent="-171450">
              <a:buFont typeface="Arial"/>
              <a:buChar char="•"/>
            </a:pPr>
            <a:r>
              <a:rPr lang="en-US"/>
              <a:t>benchmark models against the business dataset;</a:t>
            </a:r>
          </a:p>
          <a:p>
            <a:pPr marL="171450" indent="-171450">
              <a:buFont typeface="Arial"/>
              <a:buChar char="•"/>
            </a:pPr>
            <a:r>
              <a:rPr lang="en-US"/>
              <a:t>validate the complete agent before release;</a:t>
            </a:r>
          </a:p>
          <a:p>
            <a:pPr marL="171450" indent="-171450">
              <a:buFont typeface="Arial"/>
              <a:buChar char="•"/>
            </a:pPr>
            <a:r>
              <a:rPr lang="en-US" dirty="0"/>
              <a:t>continuously monitor production </a:t>
            </a:r>
            <a:r>
              <a:rPr lang="en-US" dirty="0" err="1"/>
              <a:t>behaviour</a:t>
            </a:r>
            <a:r>
              <a:rPr lang="en-US" dirty="0"/>
              <a:t> and detect drift.</a:t>
            </a:r>
            <a:endParaRPr lang="en-US" dirty="0">
              <a:ea typeface="Calibri"/>
              <a:cs typeface="Calibri"/>
            </a:endParaRPr>
          </a:p>
          <a:p>
            <a:r>
              <a:rPr lang="en-US" dirty="0"/>
              <a:t>From a CSA perspective, the strongest evaluation design combines business-specific test cases, measurable acceptance thresholds and representative production traces. Generic benchmarks can help shortlist models, but production readiness must be determined against the </a:t>
            </a:r>
            <a:r>
              <a:rPr lang="en-US" dirty="0" err="1"/>
              <a:t>organisation’s</a:t>
            </a:r>
            <a:r>
              <a:rPr lang="en-US" dirty="0"/>
              <a:t> own tasks, data, risks and expected agent </a:t>
            </a:r>
            <a:r>
              <a:rPr lang="en-US" dirty="0" err="1"/>
              <a:t>behaviour</a:t>
            </a:r>
            <a:r>
              <a:rPr lang="en-US" dirty="0"/>
              <a:t>.</a:t>
            </a:r>
            <a:endParaRPr lang="en-US" dirty="0">
              <a:ea typeface="Calibri"/>
              <a:cs typeface="Calibri"/>
            </a:endParaRPr>
          </a:p>
          <a:p>
            <a:r>
              <a:rPr lang="en-US"/>
              <a:t>Capabilities marked with an asterisk remain in preview and should be assessed for regional availability, support commitments and production suitability.</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US"/>
              <a:t>This slide explains how agent telemetry moves through Foundry, from execution to operational insight.</a:t>
            </a:r>
          </a:p>
          <a:p>
            <a:r>
              <a:rPr lang="en-US"/>
              <a:t>The central principle is that Foundry tracing uses </a:t>
            </a:r>
            <a:r>
              <a:rPr lang="en-US" b="1"/>
              <a:t>OpenTelemetry</a:t>
            </a:r>
            <a:r>
              <a:rPr lang="en-US"/>
              <a:t>, an open standard for collecting and exporting distributed traces. Each model call, tool call and agent step is represented as a span with standard GenAI attributes.</a:t>
            </a:r>
          </a:p>
          <a:p>
            <a:r>
              <a:rPr lang="en-US"/>
              <a:t>The first stage is </a:t>
            </a:r>
            <a:r>
              <a:rPr lang="en-US" b="1"/>
              <a:t>where those spans originate</a:t>
            </a:r>
            <a:r>
              <a:rPr lang="en-US"/>
              <a:t>.</a:t>
            </a:r>
          </a:p>
          <a:p>
            <a:r>
              <a:rPr lang="en-US"/>
              <a:t>For prompt agents, Foundry captures server-side traces automatically. Hosted agents receive an Application Insights connection in the container, and supported protocol libraries emit spans by default.</a:t>
            </a:r>
          </a:p>
          <a:p>
            <a:r>
              <a:rPr lang="en-US"/>
              <a:t>Agent frameworks such as Microsoft Agent Framework, LangChain, LangGraph and the OpenAI Agents SDK can also emit OpenTelemetry data. For custom applications, developers instrument the Foundry client and add custom spans where business-specific visibility is required.</a:t>
            </a:r>
          </a:p>
          <a:p>
            <a:r>
              <a:rPr lang="en-US"/>
              <a:t>The second stage is </a:t>
            </a:r>
            <a:r>
              <a:rPr lang="en-US" b="1"/>
              <a:t>standardisation and correlation</a:t>
            </a:r>
            <a:r>
              <a:rPr lang="en-US"/>
              <a:t>.</a:t>
            </a:r>
          </a:p>
          <a:p>
            <a:r>
              <a:rPr lang="en-US"/>
              <a:t>OpenTelemetry provides a consistent telemetry format across models, agents, tools and application code. W3C Trace Context links client-side and server-side spans into one distributed trace, allowing a single request to be followed across service boundaries.</a:t>
            </a:r>
          </a:p>
          <a:p>
            <a:r>
              <a:rPr lang="en-US"/>
              <a:t>The third stage is </a:t>
            </a:r>
            <a:r>
              <a:rPr lang="en-US" b="1"/>
              <a:t>export and storage</a:t>
            </a:r>
            <a:r>
              <a:rPr lang="en-US"/>
              <a:t>.</a:t>
            </a:r>
          </a:p>
          <a:p>
            <a:r>
              <a:rPr lang="en-US"/>
              <a:t>The normal Foundry path exports telemetry to </a:t>
            </a:r>
            <a:r>
              <a:rPr lang="en-US" b="1"/>
              <a:t>Azure Monitor Application Insights</a:t>
            </a:r>
            <a:r>
              <a:rPr lang="en-US"/>
              <a:t>, connected to the Foundry project. Application Insights is the underlying trace store, and Foundry reads the data back to provide its own observability experiences.</a:t>
            </a:r>
          </a:p>
          <a:p>
            <a:r>
              <a:rPr lang="en-US"/>
              <a:t>Because the telemetry follows the OpenTelemetry standard, it can also be exported to another OTLP-compatible backend. This allows organisations to use existing platforms such as Grafana Tempo, Jaeger, Datadog or Honeycomb without creating a separate instrumentation model.</a:t>
            </a:r>
          </a:p>
          <a:p>
            <a:r>
              <a:rPr lang="en-US"/>
              <a:t>The fourth stage is </a:t>
            </a:r>
            <a:r>
              <a:rPr lang="en-US" b="1"/>
              <a:t>how the telemetry is consumed</a:t>
            </a:r>
            <a:r>
              <a:rPr lang="en-US"/>
              <a:t>.</a:t>
            </a:r>
          </a:p>
          <a:p>
            <a:r>
              <a:rPr lang="en-US"/>
              <a:t>In the Foundry portal, the Trace view shows the execution sequence across model calls, tool calls, inputs and outputs.</a:t>
            </a:r>
          </a:p>
          <a:p>
            <a:r>
              <a:rPr lang="en-US"/>
              <a:t>At estate level, the Control Plane associates traces with individual agents using trace and conversation identifiers. Operational dashboards can then aggregate tokens, latency, successful runs and evaluation scores over time.</a:t>
            </a:r>
          </a:p>
          <a:p>
            <a:r>
              <a:rPr lang="en-US"/>
              <a:t>The same underlying telemetry remains available in Azure Monitor for Kusto queries, workbooks and alerting.</a:t>
            </a:r>
          </a:p>
          <a:p>
            <a:r>
              <a:rPr lang="en-US"/>
              <a:t>On top of the stored traces, Insights in Foundry, in preview, can now scan an agent and surface recurring problems with evidence and a proposed fix. It can only work with what the traces contain, so missing identities, spans or tool arguments reduce the quality of its findings, and protected content in the AppGenAIContent table needs the corresponding read permission.</a:t>
            </a:r>
          </a:p>
          <a:p>
            <a:r>
              <a:rPr lang="en-US"/>
              <a:t>One important privacy point is that telemetry and content are not the same thing. Trace metadata can be collected without recording prompts, tool arguments or outputs. Content recording is off by default and must be enabled deliberately, typically only where the data-handling policy permits it.</a:t>
            </a:r>
          </a:p>
          <a:p>
            <a:r>
              <a:rPr lang="en-US"/>
              <a:t>For client-side tracing, the setup follows four steps: install the Foundry and OpenTelemetry SDKs, explicitly enable GenAI tracing, configure the Azure Monitor exporter against the project’s Application Insights resource, and pass the agent reference so Foundry can correlate the spans with the correct agent.</a:t>
            </a:r>
          </a:p>
          <a:p>
            <a:r>
              <a:rPr lang="en-US"/>
              <a:t>From a CSA perspective, the key takeaway is that Foundry provides managed observability without locking telemetry into a proprietary format. Instrument once using OpenTelemetry, store the traces in Application Insights, and analyse the same execution data through Foundry, Azure Monitor or another compatible observability platform.</a:t>
            </a:r>
          </a:p>
          <a:p>
            <a:r>
              <a:rPr lang="en-US"/>
              <a:t>Client-side tracing is marked as preview, and access to the stored traces requires the appropriate permission on the Application Insights resource.</a:t>
            </a:r>
          </a:p>
          <a:p>
            <a:endParaRPr dirty="0">
              <a:ea typeface="Calibri"/>
              <a:cs typeface="Calibri"/>
            </a:endParaRPr>
          </a:p>
        </p:txBody>
      </p:sp>
      <p:sp>
        <p:nvSpPr>
          <p:cNvPr id="4" name="Slide Number Placeholder 3"/>
          <p:cNvSpPr>
            <a:spLocks noGrp="1"/>
          </p:cNvSpPr>
          <p:nvPr>
            <p:ph type="sldNum" sz="quarter" idx="5"/>
          </p:nvPr>
        </p:nvSpPr>
        <p:spPr/>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slide summarises what has changed since Build 2026, in date order, with the newest milestones on the right.</a:t>
            </a:r>
          </a:p>
          <a:p>
            <a:r>
              <a:rPr lang="en-GB"/>
              <a:t>The core idea is that most of the agent platform has moved from announcement to general availability within four months, while a clearly defined set of capabilities remains in preview.</a:t>
            </a:r>
          </a:p>
          <a:p>
            <a:r>
              <a:rPr lang="en-GB"/>
              <a:t>Read the timeline in two rows.</a:t>
            </a:r>
          </a:p>
          <a:p>
            <a:r>
              <a:rPr lang="en-GB" b="1"/>
              <a:t>First, June and July.</a:t>
            </a:r>
          </a:p>
          <a:p>
            <a:r>
              <a:rPr lang="en-GB"/>
              <a:t> Build on 2 June made the VS Code Toolkit and Foundry IQ knowledge bases generally available and introduced previews of the MAI models, Toolboxes and procedural memory. Claude became generally available in Foundry on 18 June. On 9 July, hosted agents, Toolboxes, Voice Live and the GPT-5.6 models reached general availability.</a:t>
            </a:r>
          </a:p>
          <a:p>
            <a:r>
              <a:rPr lang="en-GB" b="1"/>
              <a:t>Second, late July to mid-September.</a:t>
            </a:r>
          </a:p>
          <a:p>
            <a:r>
              <a:rPr lang="en-GB"/>
              <a:t> Claude Opus 5, FW-Kimi-K3 and gpt-live-transcribe became generally available in late July. August brought the long-running agent documentation in preview and more Model Router regions. Early September added gpt-6-astra, the A2A tool at general availability and Model Router in 32 regions.</a:t>
            </a:r>
          </a:p>
          <a:p>
            <a:r>
              <a:rPr lang="en-GB" b="1"/>
              <a:t>Third, the 22 to 25 September window.</a:t>
            </a:r>
          </a:p>
          <a:p>
            <a:r>
              <a:rPr lang="en-GB"/>
              <a:t> This is the densest period. GPT-6 luna and sol arrived, routines and Tool Search became generally available, and Insights, voice agents, toolboxes for prompt agents, network egress controls and Flex processing entered preview.</a:t>
            </a:r>
          </a:p>
          <a:p>
            <a:r>
              <a:rPr lang="en-GB" b="1"/>
              <a:t>Fourth, the newest milestone, from 29 September to 19 October.</a:t>
            </a:r>
          </a:p>
          <a:p>
            <a:r>
              <a:rPr lang="en-GB"/>
              <a:t> gpt-6.1-sol became generally available, Foundry Local 2.1 added bring-your-own-model support, Flex processing was extended to the GPT-6 models, Microsoft-Decision-1 entered preview on 9 October, the browser automation tool became generally available on 19 October, and the Decisions API arrived on gpt-6-luna on 22 October.</a:t>
            </a:r>
          </a:p>
          <a:p>
            <a:r>
              <a:rPr lang="en-GB"/>
              <a:t>The band at the bottom matters most for planning. Everything listed there is still in preview and carries no service-level agreement. Since the previous edition, Tool Search has left that list, and Insights, voice agents, toolboxes for prompt agents and private website browsing have joined it.</a:t>
            </a:r>
          </a:p>
          <a:p>
            <a:r>
              <a:rPr lang="en-GB"/>
              <a:t>A common question is when the remaining previews will become generally available. Most have no published date. The September announcement named rubric evaluation, synthetic dataset generation and Agent Optimizer as targets for general availability, but these are targets rather than confirmed releases and should be confirmed before presenting.</a:t>
            </a:r>
          </a:p>
          <a:p>
            <a:r>
              <a:rPr lang="en-GB"/>
              <a:t>The key takeaway is that the production-ready core is now broad: models, hosted agents, toolboxes, routines, A2A, tool search and browser automation are generally available, while memory, long-running agents, the IQ connectors and the newest observability features still need a preview-aware design.</a:t>
            </a:r>
          </a:p>
        </p:txBody>
      </p:sp>
      <p:sp>
        <p:nvSpPr>
          <p:cNvPr id="4" name="Slide Number Placeholder 3"/>
          <p:cNvSpPr>
            <a:spLocks noGrp="1"/>
          </p:cNvSpPr>
          <p:nvPr>
            <p:ph type="sldNum" sz="quarter" idx="5"/>
          </p:nvPr>
        </p:nvSpPr>
        <p:spPr/>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rPr lang="en-GB"/>
              <a:t>This slide lists the official sources behind the session, so every statement in the deck can be traced back to Microsoft documentation, the Foundry developer blog or the public GitHub repositories.</a:t>
            </a:r>
          </a:p>
          <a:p>
            <a:r>
              <a:rPr lang="en-GB"/>
              <a:t>The core idea is that Foundry changes faster than any static deck. The Learn pages are the reference for capabilities, limits and status; the blog explains what changed in each release wave; GitHub holds the code, samples and release notes.</a:t>
            </a:r>
          </a:p>
          <a:p>
            <a:r>
              <a:rPr lang="en-GB"/>
              <a:t>The Learn list follows the order of the deck: platform and SDKs, models and deployment, tools and knowledge, agents, and the Control Plane. This edition adds the browser automation tool, the voice agent configuration guide and Insights in Foundry. The decision-model pages for the Decisions API and Microsoft-Decision-1 are new in this edition.</a:t>
            </a:r>
          </a:p>
          <a:p>
            <a:r>
              <a:rPr lang="en-GB"/>
              <a:t>The blog column now includes the September roundup, published on 15 October, and the browser automation announcement of 19 October.</a:t>
            </a:r>
          </a:p>
          <a:p>
            <a:r>
              <a:rPr lang="en-GB"/>
              <a:t>For staying current, the Foundry what's-new page in the documentation is refreshed every month with new and updated articles, and the blog publishes a roundup after each release wave. Preview capabilities can change before general availability, so status should be checked shortly before each session.</a:t>
            </a:r>
          </a:p>
          <a:p>
            <a:r>
              <a:rPr lang="en-GB"/>
              <a:t>A few facts should be confirmed before presenting.</a:t>
            </a:r>
          </a:p>
          <a:p>
            <a:r>
              <a:rPr lang="en-GB" b="1"/>
              <a:t>First, the date from which Flex processing applies to the GPT-6 models.</a:t>
            </a:r>
          </a:p>
          <a:p>
            <a:r>
              <a:rPr lang="en-GB"/>
              <a:t> The documentation lists the supported models but gives no date for the extension.</a:t>
            </a:r>
          </a:p>
          <a:p>
            <a:r>
              <a:rPr lang="en-GB" b="1"/>
              <a:t>Second, general availability of rubric evaluation, synthetic dataset generation and Agent Optimizer.</a:t>
            </a:r>
          </a:p>
          <a:p>
            <a:r>
              <a:rPr lang="en-GB"/>
              <a:t> The September announcement gave these only as targets.</a:t>
            </a:r>
          </a:p>
          <a:p>
            <a:r>
              <a:rPr lang="en-GB" b="1"/>
              <a:t>Third, the status of browser automation in the capability reference.</a:t>
            </a:r>
          </a:p>
          <a:p>
            <a:r>
              <a:rPr lang="en-GB"/>
              <a:t> That page, last updated on 27 August, still labels browser automation as preview, while the tool's own page and the 19 October announcement state general availability.</a:t>
            </a:r>
          </a:p>
          <a:p>
            <a:r>
              <a:rPr lang="en-GB" b="1"/>
              <a:t>Fourth, MAI-Image-2.6 and claude-fable-5-1.</a:t>
            </a:r>
          </a:p>
          <a:p>
            <a:r>
              <a:rPr lang="en-GB"/>
              <a:t> The September roundup describes MAI-Image-2.6 as a public preview in Foundry, but it is not in the model table on slide 7, and Microsoft-Decision-1 is covered on slide 11 rather than in that table; claude-fable-5-1 remains a preview on Anthropic infrastructure.</a:t>
            </a:r>
          </a:p>
          <a:p>
            <a:r>
              <a:rPr lang="en-GB"/>
              <a:t>The key takeaway is to treat this deck as a dated snapshot: the references make it possible to re-verify any claim quickly when a customer asks about the current position.</a:t>
            </a: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10/30/2026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10/30/2026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10/30/2026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10/30/2026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10/30/2026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10/30/2026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1.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1.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1.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hape"/>
          <p:cNvSpPr/>
          <p:nvPr/>
        </p:nvSpPr>
        <p:spPr>
          <a:xfrm>
            <a:off x="0" y="0"/>
            <a:ext cx="12192000" cy="6858000"/>
          </a:xfrm>
          <a:prstGeom prst="rect">
            <a:avLst/>
          </a:prstGeom>
          <a:solidFill>
            <a:srgbClr val="0B1229"/>
          </a:solidFill>
        </p:spPr>
        <p:txBody>
          <a:bodyPr/>
          <a:lstStyle/>
          <a:p>
            <a:endParaRPr/>
          </a:p>
        </p:txBody>
      </p:sp>
      <p:sp>
        <p:nvSpPr>
          <p:cNvPr id="3" name="Shape"/>
          <p:cNvSpPr/>
          <p:nvPr/>
        </p:nvSpPr>
        <p:spPr>
          <a:xfrm>
            <a:off x="685800" y="1207008"/>
            <a:ext cx="502920" cy="45720"/>
          </a:xfrm>
          <a:prstGeom prst="rect">
            <a:avLst/>
          </a:prstGeom>
          <a:solidFill>
            <a:srgbClr val="00B39F"/>
          </a:solidFill>
        </p:spPr>
        <p:txBody>
          <a:bodyPr/>
          <a:lstStyle/>
          <a:p>
            <a:endParaRPr/>
          </a:p>
        </p:txBody>
      </p:sp>
      <p:sp>
        <p:nvSpPr>
          <p:cNvPr id="4" name="TextBox"/>
          <p:cNvSpPr txBox="1"/>
          <p:nvPr/>
        </p:nvSpPr>
        <p:spPr>
          <a:xfrm>
            <a:off x="594360" y="1412748"/>
            <a:ext cx="7315200" cy="1356360"/>
          </a:xfrm>
          <a:prstGeom prst="rect">
            <a:avLst/>
          </a:prstGeom>
        </p:spPr>
        <p:txBody>
          <a:bodyPr anchor="ctr"/>
          <a:lstStyle/>
          <a:p>
            <a:r>
              <a:rPr sz="4000" b="1">
                <a:solidFill>
                  <a:srgbClr val="FFFFFF"/>
                </a:solidFill>
                <a:latin typeface="Segoe UI"/>
              </a:rPr>
              <a:t>Microsoft Foundry</a:t>
            </a:r>
          </a:p>
          <a:p>
            <a:r>
              <a:rPr sz="4000" b="1">
                <a:solidFill>
                  <a:srgbClr val="FFFFFF"/>
                </a:solidFill>
                <a:latin typeface="Segoe UI"/>
              </a:rPr>
              <a:t>What's new</a:t>
            </a:r>
          </a:p>
        </p:txBody>
      </p:sp>
      <p:sp>
        <p:nvSpPr>
          <p:cNvPr id="5" name="TextBox"/>
          <p:cNvSpPr txBox="1"/>
          <p:nvPr/>
        </p:nvSpPr>
        <p:spPr>
          <a:xfrm>
            <a:off x="594360" y="2994660"/>
            <a:ext cx="7315200" cy="777240"/>
          </a:xfrm>
          <a:prstGeom prst="rect">
            <a:avLst/>
          </a:prstGeom>
        </p:spPr>
        <p:txBody>
          <a:bodyPr anchor="ctr"/>
          <a:lstStyle/>
          <a:p>
            <a:r>
              <a:rPr sz="1400">
                <a:solidFill>
                  <a:srgbClr val="FFFFFF"/>
                </a:solidFill>
                <a:latin typeface="Segoe UI"/>
              </a:rPr>
              <a:t>The platform layers in order: models, data and tools,</a:t>
            </a:r>
          </a:p>
          <a:p>
            <a:r>
              <a:rPr sz="1400">
                <a:solidFill>
                  <a:srgbClr val="FFFFFF"/>
                </a:solidFill>
                <a:latin typeface="Segoe UI"/>
              </a:rPr>
              <a:t>agents and frameworks, control plane — with what</a:t>
            </a:r>
          </a:p>
          <a:p>
            <a:r>
              <a:rPr sz="1400">
                <a:solidFill>
                  <a:srgbClr val="FFFFFF"/>
                </a:solidFill>
                <a:latin typeface="Segoe UI"/>
              </a:rPr>
              <a:t>changed since Build 2026.</a:t>
            </a:r>
          </a:p>
        </p:txBody>
      </p:sp>
      <p:sp>
        <p:nvSpPr>
          <p:cNvPr id="7" name="TextBox"/>
          <p:cNvSpPr txBox="1"/>
          <p:nvPr/>
        </p:nvSpPr>
        <p:spPr>
          <a:xfrm>
            <a:off x="7772400" y="1449324"/>
            <a:ext cx="3749040" cy="411480"/>
          </a:xfrm>
          <a:prstGeom prst="rect">
            <a:avLst/>
          </a:prstGeom>
        </p:spPr>
        <p:txBody>
          <a:bodyPr anchor="ctr"/>
          <a:lstStyle/>
          <a:p>
            <a:r>
              <a:rPr sz="900" b="1">
                <a:solidFill>
                  <a:srgbClr val="00B39F"/>
                </a:solidFill>
                <a:latin typeface="Segoe UI"/>
              </a:rPr>
              <a:t>I N   T H I S   S E S S I O N</a:t>
            </a:r>
          </a:p>
          <a:p>
            <a:endParaRPr sz="900" b="1">
              <a:solidFill>
                <a:srgbClr val="00B39F"/>
              </a:solidFill>
              <a:latin typeface="Segoe UI"/>
            </a:endParaRPr>
          </a:p>
        </p:txBody>
      </p:sp>
      <p:sp>
        <p:nvSpPr>
          <p:cNvPr id="8" name="TextBox"/>
          <p:cNvSpPr txBox="1"/>
          <p:nvPr/>
        </p:nvSpPr>
        <p:spPr>
          <a:xfrm>
            <a:off x="7772400" y="1805940"/>
            <a:ext cx="640080" cy="533400"/>
          </a:xfrm>
          <a:prstGeom prst="rect">
            <a:avLst/>
          </a:prstGeom>
        </p:spPr>
        <p:txBody>
          <a:bodyPr anchor="ctr"/>
          <a:lstStyle/>
          <a:p>
            <a:r>
              <a:rPr sz="1300" b="1">
                <a:solidFill>
                  <a:srgbClr val="00B39F"/>
                </a:solidFill>
                <a:latin typeface="Segoe UI"/>
              </a:rPr>
              <a:t>01</a:t>
            </a:r>
          </a:p>
          <a:p>
            <a:endParaRPr sz="1300" b="1">
              <a:solidFill>
                <a:srgbClr val="00B39F"/>
              </a:solidFill>
              <a:latin typeface="Segoe UI"/>
            </a:endParaRPr>
          </a:p>
        </p:txBody>
      </p:sp>
      <p:sp>
        <p:nvSpPr>
          <p:cNvPr id="9" name="TextBox"/>
          <p:cNvSpPr txBox="1"/>
          <p:nvPr/>
        </p:nvSpPr>
        <p:spPr>
          <a:xfrm>
            <a:off x="8284464" y="1805940"/>
            <a:ext cx="3236976" cy="472440"/>
          </a:xfrm>
          <a:prstGeom prst="rect">
            <a:avLst/>
          </a:prstGeom>
        </p:spPr>
        <p:txBody>
          <a:bodyPr anchor="ctr"/>
          <a:lstStyle/>
          <a:p>
            <a:r>
              <a:rPr sz="1100">
                <a:solidFill>
                  <a:srgbClr val="FFFFFF"/>
                </a:solidFill>
                <a:latin typeface="Segoe UI"/>
              </a:rPr>
              <a:t>High level — the AI app and</a:t>
            </a:r>
          </a:p>
          <a:p>
            <a:r>
              <a:rPr sz="1100">
                <a:solidFill>
                  <a:srgbClr val="FFFFFF"/>
                </a:solidFill>
                <a:latin typeface="Segoe UI"/>
              </a:rPr>
              <a:t>agent factory, API and SDK</a:t>
            </a:r>
          </a:p>
        </p:txBody>
      </p:sp>
      <p:sp>
        <p:nvSpPr>
          <p:cNvPr id="10" name="TextBox"/>
          <p:cNvSpPr txBox="1"/>
          <p:nvPr/>
        </p:nvSpPr>
        <p:spPr>
          <a:xfrm>
            <a:off x="7772400" y="2409444"/>
            <a:ext cx="640080" cy="533400"/>
          </a:xfrm>
          <a:prstGeom prst="rect">
            <a:avLst/>
          </a:prstGeom>
        </p:spPr>
        <p:txBody>
          <a:bodyPr anchor="ctr"/>
          <a:lstStyle/>
          <a:p>
            <a:r>
              <a:rPr sz="1300" b="1">
                <a:solidFill>
                  <a:srgbClr val="00B39F"/>
                </a:solidFill>
                <a:latin typeface="Segoe UI"/>
              </a:rPr>
              <a:t>02</a:t>
            </a:r>
          </a:p>
          <a:p>
            <a:endParaRPr sz="1300" b="1">
              <a:solidFill>
                <a:srgbClr val="00B39F"/>
              </a:solidFill>
              <a:latin typeface="Segoe UI"/>
            </a:endParaRPr>
          </a:p>
        </p:txBody>
      </p:sp>
      <p:sp>
        <p:nvSpPr>
          <p:cNvPr id="11" name="TextBox"/>
          <p:cNvSpPr txBox="1"/>
          <p:nvPr/>
        </p:nvSpPr>
        <p:spPr>
          <a:xfrm>
            <a:off x="8284464" y="2409444"/>
            <a:ext cx="3236976" cy="472440"/>
          </a:xfrm>
          <a:prstGeom prst="rect">
            <a:avLst/>
          </a:prstGeom>
        </p:spPr>
        <p:txBody>
          <a:bodyPr anchor="ctr"/>
          <a:lstStyle/>
          <a:p>
            <a:r>
              <a:rPr sz="1100">
                <a:solidFill>
                  <a:srgbClr val="FFFFFF"/>
                </a:solidFill>
                <a:latin typeface="Segoe UI"/>
              </a:rPr>
              <a:t>Models — catalog, deployment</a:t>
            </a:r>
          </a:p>
          <a:p>
            <a:r>
              <a:rPr sz="1100">
                <a:solidFill>
                  <a:srgbClr val="FFFFFF"/>
                </a:solidFill>
                <a:latin typeface="Segoe UI"/>
              </a:rPr>
              <a:t>types, Model Router</a:t>
            </a:r>
          </a:p>
        </p:txBody>
      </p:sp>
      <p:sp>
        <p:nvSpPr>
          <p:cNvPr id="12" name="TextBox"/>
          <p:cNvSpPr txBox="1"/>
          <p:nvPr/>
        </p:nvSpPr>
        <p:spPr>
          <a:xfrm>
            <a:off x="7772400" y="3012948"/>
            <a:ext cx="640080" cy="533400"/>
          </a:xfrm>
          <a:prstGeom prst="rect">
            <a:avLst/>
          </a:prstGeom>
        </p:spPr>
        <p:txBody>
          <a:bodyPr anchor="ctr"/>
          <a:lstStyle/>
          <a:p>
            <a:r>
              <a:rPr sz="1300" b="1">
                <a:solidFill>
                  <a:srgbClr val="00B39F"/>
                </a:solidFill>
                <a:latin typeface="Segoe UI"/>
              </a:rPr>
              <a:t>03</a:t>
            </a:r>
          </a:p>
          <a:p>
            <a:endParaRPr sz="1300" b="1">
              <a:solidFill>
                <a:srgbClr val="00B39F"/>
              </a:solidFill>
              <a:latin typeface="Segoe UI"/>
            </a:endParaRPr>
          </a:p>
        </p:txBody>
      </p:sp>
      <p:sp>
        <p:nvSpPr>
          <p:cNvPr id="13" name="TextBox"/>
          <p:cNvSpPr txBox="1"/>
          <p:nvPr/>
        </p:nvSpPr>
        <p:spPr>
          <a:xfrm>
            <a:off x="8284464" y="3012948"/>
            <a:ext cx="3236976" cy="472440"/>
          </a:xfrm>
          <a:prstGeom prst="rect">
            <a:avLst/>
          </a:prstGeom>
        </p:spPr>
        <p:txBody>
          <a:bodyPr anchor="ctr"/>
          <a:lstStyle/>
          <a:p>
            <a:r>
              <a:rPr sz="1100">
                <a:solidFill>
                  <a:srgbClr val="FFFFFF"/>
                </a:solidFill>
                <a:latin typeface="Segoe UI"/>
              </a:rPr>
              <a:t>Data — tools, Toolboxes,</a:t>
            </a:r>
          </a:p>
          <a:p>
            <a:r>
              <a:rPr sz="1100">
                <a:solidFill>
                  <a:srgbClr val="FFFFFF"/>
                </a:solidFill>
                <a:latin typeface="Segoe UI"/>
              </a:rPr>
              <a:t>Foundry IQ, Work IQ, Fabric IQ</a:t>
            </a:r>
          </a:p>
        </p:txBody>
      </p:sp>
      <p:sp>
        <p:nvSpPr>
          <p:cNvPr id="14" name="TextBox"/>
          <p:cNvSpPr txBox="1"/>
          <p:nvPr/>
        </p:nvSpPr>
        <p:spPr>
          <a:xfrm>
            <a:off x="7772400" y="3616452"/>
            <a:ext cx="640080" cy="533400"/>
          </a:xfrm>
          <a:prstGeom prst="rect">
            <a:avLst/>
          </a:prstGeom>
        </p:spPr>
        <p:txBody>
          <a:bodyPr anchor="ctr"/>
          <a:lstStyle/>
          <a:p>
            <a:r>
              <a:rPr sz="1300" b="1">
                <a:solidFill>
                  <a:srgbClr val="00B39F"/>
                </a:solidFill>
                <a:latin typeface="Segoe UI"/>
              </a:rPr>
              <a:t>04</a:t>
            </a:r>
          </a:p>
          <a:p>
            <a:endParaRPr sz="1300" b="1">
              <a:solidFill>
                <a:srgbClr val="00B39F"/>
              </a:solidFill>
              <a:latin typeface="Segoe UI"/>
            </a:endParaRPr>
          </a:p>
        </p:txBody>
      </p:sp>
      <p:sp>
        <p:nvSpPr>
          <p:cNvPr id="15" name="TextBox"/>
          <p:cNvSpPr txBox="1"/>
          <p:nvPr/>
        </p:nvSpPr>
        <p:spPr>
          <a:xfrm>
            <a:off x="8284464" y="3616452"/>
            <a:ext cx="3236976" cy="472440"/>
          </a:xfrm>
          <a:prstGeom prst="rect">
            <a:avLst/>
          </a:prstGeom>
        </p:spPr>
        <p:txBody>
          <a:bodyPr anchor="ctr"/>
          <a:lstStyle/>
          <a:p>
            <a:r>
              <a:rPr sz="1100">
                <a:solidFill>
                  <a:srgbClr val="FFFFFF"/>
                </a:solidFill>
                <a:latin typeface="Segoe UI"/>
              </a:rPr>
              <a:t>Agents — Agent Service, Agent</a:t>
            </a:r>
          </a:p>
          <a:p>
            <a:r>
              <a:rPr sz="1100">
                <a:solidFill>
                  <a:srgbClr val="FFFFFF"/>
                </a:solidFill>
                <a:latin typeface="Segoe UI"/>
              </a:rPr>
              <a:t>Framework, long-running agents</a:t>
            </a:r>
          </a:p>
        </p:txBody>
      </p:sp>
      <p:sp>
        <p:nvSpPr>
          <p:cNvPr id="16" name="TextBox"/>
          <p:cNvSpPr txBox="1"/>
          <p:nvPr/>
        </p:nvSpPr>
        <p:spPr>
          <a:xfrm>
            <a:off x="7772400" y="4219956"/>
            <a:ext cx="640080" cy="533400"/>
          </a:xfrm>
          <a:prstGeom prst="rect">
            <a:avLst/>
          </a:prstGeom>
        </p:spPr>
        <p:txBody>
          <a:bodyPr anchor="ctr"/>
          <a:lstStyle/>
          <a:p>
            <a:r>
              <a:rPr sz="1300" b="1">
                <a:solidFill>
                  <a:srgbClr val="00B39F"/>
                </a:solidFill>
                <a:latin typeface="Segoe UI"/>
              </a:rPr>
              <a:t>05</a:t>
            </a:r>
          </a:p>
          <a:p>
            <a:endParaRPr sz="1300" b="1">
              <a:solidFill>
                <a:srgbClr val="00B39F"/>
              </a:solidFill>
              <a:latin typeface="Segoe UI"/>
            </a:endParaRPr>
          </a:p>
        </p:txBody>
      </p:sp>
      <p:sp>
        <p:nvSpPr>
          <p:cNvPr id="17" name="TextBox"/>
          <p:cNvSpPr txBox="1"/>
          <p:nvPr/>
        </p:nvSpPr>
        <p:spPr>
          <a:xfrm>
            <a:off x="8284464" y="4219956"/>
            <a:ext cx="3236976" cy="472440"/>
          </a:xfrm>
          <a:prstGeom prst="rect">
            <a:avLst/>
          </a:prstGeom>
        </p:spPr>
        <p:txBody>
          <a:bodyPr anchor="ctr"/>
          <a:lstStyle/>
          <a:p>
            <a:r>
              <a:rPr sz="1100">
                <a:solidFill>
                  <a:srgbClr val="FFFFFF"/>
                </a:solidFill>
                <a:latin typeface="Segoe UI"/>
              </a:rPr>
              <a:t>Control plane — guardrails,</a:t>
            </a:r>
          </a:p>
          <a:p>
            <a:r>
              <a:rPr sz="1100">
                <a:solidFill>
                  <a:srgbClr val="FFFFFF"/>
                </a:solidFill>
                <a:latin typeface="Segoe UI"/>
              </a:rPr>
              <a:t>evaluations, tracing</a:t>
            </a:r>
          </a:p>
        </p:txBody>
      </p:sp>
      <p:sp>
        <p:nvSpPr>
          <p:cNvPr id="18" name="Shape"/>
          <p:cNvSpPr/>
          <p:nvPr/>
        </p:nvSpPr>
        <p:spPr>
          <a:xfrm>
            <a:off x="0" y="6693408"/>
            <a:ext cx="12192000" cy="164592"/>
          </a:xfrm>
          <a:prstGeom prst="rect">
            <a:avLst/>
          </a:prstGeom>
          <a:solidFill>
            <a:srgbClr val="00B39F"/>
          </a:solidFill>
        </p:spPr>
        <p:txBody>
          <a:bodyPr/>
          <a:lstStyle/>
          <a:p>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A G E N D A</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Agenda</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Microsoft Foundry, layer by layer: Models, Data and Tools, Agents and Frameworks, Control Plane.</a:t>
            </a:r>
          </a:p>
          <a:p>
            <a:endParaRPr sz="1200">
              <a:solidFill>
                <a:srgbClr val="44495B"/>
              </a:solidFill>
              <a:latin typeface="Segoe UI"/>
            </a:endParaRPr>
          </a:p>
        </p:txBody>
      </p:sp>
      <p:sp>
        <p:nvSpPr>
          <p:cNvPr id="37" name="Shape"/>
          <p:cNvSpPr/>
          <p:nvPr/>
        </p:nvSpPr>
        <p:spPr>
          <a:xfrm>
            <a:off x="548640" y="5687568"/>
            <a:ext cx="11094720" cy="9525"/>
          </a:xfrm>
          <a:prstGeom prst="rect">
            <a:avLst/>
          </a:prstGeom>
          <a:solidFill>
            <a:srgbClr val="E1E7F4"/>
          </a:solidFill>
        </p:spPr>
        <p:txBody>
          <a:bodyPr/>
          <a:lstStyle/>
          <a:p>
            <a:endParaRPr/>
          </a:p>
        </p:txBody>
      </p:sp>
      <p:sp>
        <p:nvSpPr>
          <p:cNvPr id="38"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learn.microsoft.com/azure/foundry/what-is-foundry</a:t>
            </a:r>
          </a:p>
          <a:p>
            <a:endParaRPr sz="900">
              <a:solidFill>
                <a:srgbClr val="44495B"/>
              </a:solidFill>
              <a:latin typeface="Segoe UI"/>
            </a:endParaRPr>
          </a:p>
        </p:txBody>
      </p:sp>
      <p:sp>
        <p:nvSpPr>
          <p:cNvPr id="39"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a:t>
            </a:r>
          </a:p>
        </p:txBody>
      </p:sp>
      <p:sp>
        <p:nvSpPr>
          <p:cNvPr id="40" name="Rectangle 39"/>
          <p:cNvSpPr/>
          <p:nvPr/>
        </p:nvSpPr>
        <p:spPr>
          <a:xfrm>
            <a:off x="548640" y="1417320"/>
            <a:ext cx="5440680" cy="1280160"/>
          </a:xfrm>
          <a:prstGeom prst="rect">
            <a:avLst/>
          </a:prstGeom>
          <a:solidFill>
            <a:srgbClr val="F6F8FD"/>
          </a:solidFill>
          <a:ln w="9525">
            <a:solidFill>
              <a:srgbClr val="E1E7F4"/>
            </a:solidFill>
          </a:ln>
          <a:effectLst/>
        </p:spPr>
        <p:txBody>
          <a:bodyPr rtlCol="0" anchor="ctr"/>
          <a:lstStyle/>
          <a:p>
            <a:endParaRPr/>
          </a:p>
        </p:txBody>
      </p:sp>
      <p:sp>
        <p:nvSpPr>
          <p:cNvPr id="41" name="Rectangle 40"/>
          <p:cNvSpPr/>
          <p:nvPr/>
        </p:nvSpPr>
        <p:spPr>
          <a:xfrm>
            <a:off x="548640" y="1417320"/>
            <a:ext cx="5440680" cy="36576"/>
          </a:xfrm>
          <a:prstGeom prst="rect">
            <a:avLst/>
          </a:prstGeom>
          <a:solidFill>
            <a:srgbClr val="00B39F"/>
          </a:solidFill>
          <a:ln>
            <a:noFill/>
          </a:ln>
          <a:effectLst/>
        </p:spPr>
        <p:txBody>
          <a:bodyPr rtlCol="0" anchor="ctr"/>
          <a:lstStyle/>
          <a:p>
            <a:endParaRPr/>
          </a:p>
        </p:txBody>
      </p:sp>
      <p:sp>
        <p:nvSpPr>
          <p:cNvPr id="42" name="TextBox 41"/>
          <p:cNvSpPr txBox="1"/>
          <p:nvPr/>
        </p:nvSpPr>
        <p:spPr>
          <a:xfrm>
            <a:off x="658368" y="1563624"/>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01</a:t>
            </a:r>
          </a:p>
        </p:txBody>
      </p:sp>
      <p:sp>
        <p:nvSpPr>
          <p:cNvPr id="43" name="TextBox 42"/>
          <p:cNvSpPr txBox="1"/>
          <p:nvPr/>
        </p:nvSpPr>
        <p:spPr>
          <a:xfrm>
            <a:off x="1298448" y="1600200"/>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Microsoft Foundry architecture</a:t>
            </a:r>
          </a:p>
        </p:txBody>
      </p:sp>
      <p:sp>
        <p:nvSpPr>
          <p:cNvPr id="44" name="TextBox 43"/>
          <p:cNvSpPr txBox="1"/>
          <p:nvPr/>
        </p:nvSpPr>
        <p:spPr>
          <a:xfrm>
            <a:off x="4754879" y="1618488"/>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3–6</a:t>
            </a:r>
          </a:p>
        </p:txBody>
      </p:sp>
      <p:sp>
        <p:nvSpPr>
          <p:cNvPr id="45" name="TextBox 44"/>
          <p:cNvSpPr txBox="1"/>
          <p:nvPr/>
        </p:nvSpPr>
        <p:spPr>
          <a:xfrm>
            <a:off x="1298448" y="1984248"/>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The AI app and agent factory: high-level and resource-level architecture · Baseline chat reference architecture · Foundry API, SDK and developer tooling</a:t>
            </a:r>
          </a:p>
        </p:txBody>
      </p:sp>
      <p:sp>
        <p:nvSpPr>
          <p:cNvPr id="46" name="Rectangle 45"/>
          <p:cNvSpPr/>
          <p:nvPr/>
        </p:nvSpPr>
        <p:spPr>
          <a:xfrm>
            <a:off x="6199632" y="1417320"/>
            <a:ext cx="5440680" cy="1280160"/>
          </a:xfrm>
          <a:prstGeom prst="rect">
            <a:avLst/>
          </a:prstGeom>
          <a:solidFill>
            <a:srgbClr val="F6F8FD"/>
          </a:solidFill>
          <a:ln w="9525">
            <a:solidFill>
              <a:srgbClr val="E1E7F4"/>
            </a:solidFill>
          </a:ln>
          <a:effectLst/>
        </p:spPr>
        <p:txBody>
          <a:bodyPr rtlCol="0" anchor="ctr"/>
          <a:lstStyle/>
          <a:p>
            <a:endParaRPr/>
          </a:p>
        </p:txBody>
      </p:sp>
      <p:sp>
        <p:nvSpPr>
          <p:cNvPr id="47" name="Rectangle 46"/>
          <p:cNvSpPr/>
          <p:nvPr/>
        </p:nvSpPr>
        <p:spPr>
          <a:xfrm>
            <a:off x="6199632" y="1417320"/>
            <a:ext cx="5440680" cy="36576"/>
          </a:xfrm>
          <a:prstGeom prst="rect">
            <a:avLst/>
          </a:prstGeom>
          <a:solidFill>
            <a:srgbClr val="00B39F"/>
          </a:solidFill>
          <a:ln>
            <a:noFill/>
          </a:ln>
          <a:effectLst/>
        </p:spPr>
        <p:txBody>
          <a:bodyPr rtlCol="0" anchor="ctr"/>
          <a:lstStyle/>
          <a:p>
            <a:endParaRPr/>
          </a:p>
        </p:txBody>
      </p:sp>
      <p:sp>
        <p:nvSpPr>
          <p:cNvPr id="48" name="TextBox 47"/>
          <p:cNvSpPr txBox="1"/>
          <p:nvPr/>
        </p:nvSpPr>
        <p:spPr>
          <a:xfrm>
            <a:off x="6309360" y="1563624"/>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02</a:t>
            </a:r>
          </a:p>
        </p:txBody>
      </p:sp>
      <p:sp>
        <p:nvSpPr>
          <p:cNvPr id="49" name="TextBox 48"/>
          <p:cNvSpPr txBox="1"/>
          <p:nvPr/>
        </p:nvSpPr>
        <p:spPr>
          <a:xfrm>
            <a:off x="6949440" y="1600200"/>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Foundry Models</a:t>
            </a:r>
          </a:p>
        </p:txBody>
      </p:sp>
      <p:sp>
        <p:nvSpPr>
          <p:cNvPr id="50" name="TextBox 49"/>
          <p:cNvSpPr txBox="1"/>
          <p:nvPr/>
        </p:nvSpPr>
        <p:spPr>
          <a:xfrm>
            <a:off x="10405872" y="1618488"/>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7–11</a:t>
            </a:r>
          </a:p>
        </p:txBody>
      </p:sp>
      <p:sp>
        <p:nvSpPr>
          <p:cNvPr id="51" name="TextBox 50"/>
          <p:cNvSpPr txBox="1"/>
          <p:nvPr/>
        </p:nvSpPr>
        <p:spPr>
          <a:xfrm>
            <a:off x="6949440" y="1984248"/>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Foundry Models sold by Azure and from partners · Deployment types, Priority and Flex processing · Model Router · Decision models</a:t>
            </a:r>
          </a:p>
        </p:txBody>
      </p:sp>
      <p:sp>
        <p:nvSpPr>
          <p:cNvPr id="52" name="Rectangle 51"/>
          <p:cNvSpPr/>
          <p:nvPr/>
        </p:nvSpPr>
        <p:spPr>
          <a:xfrm>
            <a:off x="548640" y="2852928"/>
            <a:ext cx="5440680" cy="1280160"/>
          </a:xfrm>
          <a:prstGeom prst="rect">
            <a:avLst/>
          </a:prstGeom>
          <a:solidFill>
            <a:srgbClr val="F6F8FD"/>
          </a:solidFill>
          <a:ln w="9525">
            <a:solidFill>
              <a:srgbClr val="E1E7F4"/>
            </a:solidFill>
          </a:ln>
          <a:effectLst/>
        </p:spPr>
        <p:txBody>
          <a:bodyPr rtlCol="0" anchor="ctr"/>
          <a:lstStyle/>
          <a:p>
            <a:endParaRPr/>
          </a:p>
        </p:txBody>
      </p:sp>
      <p:sp>
        <p:nvSpPr>
          <p:cNvPr id="53" name="Rectangle 52"/>
          <p:cNvSpPr/>
          <p:nvPr/>
        </p:nvSpPr>
        <p:spPr>
          <a:xfrm>
            <a:off x="548640" y="2852928"/>
            <a:ext cx="5440680" cy="36576"/>
          </a:xfrm>
          <a:prstGeom prst="rect">
            <a:avLst/>
          </a:prstGeom>
          <a:solidFill>
            <a:srgbClr val="00B39F"/>
          </a:solidFill>
          <a:ln>
            <a:noFill/>
          </a:ln>
          <a:effectLst/>
        </p:spPr>
        <p:txBody>
          <a:bodyPr rtlCol="0" anchor="ctr"/>
          <a:lstStyle/>
          <a:p>
            <a:endParaRPr/>
          </a:p>
        </p:txBody>
      </p:sp>
      <p:sp>
        <p:nvSpPr>
          <p:cNvPr id="54" name="TextBox 53"/>
          <p:cNvSpPr txBox="1"/>
          <p:nvPr/>
        </p:nvSpPr>
        <p:spPr>
          <a:xfrm>
            <a:off x="658368" y="2999232"/>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03</a:t>
            </a:r>
          </a:p>
        </p:txBody>
      </p:sp>
      <p:sp>
        <p:nvSpPr>
          <p:cNvPr id="55" name="TextBox 54"/>
          <p:cNvSpPr txBox="1"/>
          <p:nvPr/>
        </p:nvSpPr>
        <p:spPr>
          <a:xfrm>
            <a:off x="1298448" y="3035808"/>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Foundry Tools and Microsoft IQ</a:t>
            </a:r>
          </a:p>
        </p:txBody>
      </p:sp>
      <p:sp>
        <p:nvSpPr>
          <p:cNvPr id="56" name="TextBox 55"/>
          <p:cNvSpPr txBox="1"/>
          <p:nvPr/>
        </p:nvSpPr>
        <p:spPr>
          <a:xfrm>
            <a:off x="4754879" y="3054096"/>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12–15</a:t>
            </a:r>
          </a:p>
        </p:txBody>
      </p:sp>
      <p:sp>
        <p:nvSpPr>
          <p:cNvPr id="57" name="TextBox 56"/>
          <p:cNvSpPr txBox="1"/>
          <p:nvPr/>
        </p:nvSpPr>
        <p:spPr>
          <a:xfrm>
            <a:off x="1298448" y="3419856"/>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Tools, Toolboxes and Skills · Browser automation tool · Foundry IQ knowledge bases and agentic retrieval · Work IQ and Fabric IQ</a:t>
            </a:r>
          </a:p>
        </p:txBody>
      </p:sp>
      <p:sp>
        <p:nvSpPr>
          <p:cNvPr id="58" name="Rectangle 57"/>
          <p:cNvSpPr/>
          <p:nvPr/>
        </p:nvSpPr>
        <p:spPr>
          <a:xfrm>
            <a:off x="6199632" y="2852928"/>
            <a:ext cx="5440680" cy="1280160"/>
          </a:xfrm>
          <a:prstGeom prst="rect">
            <a:avLst/>
          </a:prstGeom>
          <a:solidFill>
            <a:srgbClr val="F6F8FD"/>
          </a:solidFill>
          <a:ln w="9525">
            <a:solidFill>
              <a:srgbClr val="E1E7F4"/>
            </a:solidFill>
          </a:ln>
          <a:effectLst/>
        </p:spPr>
        <p:txBody>
          <a:bodyPr rtlCol="0" anchor="ctr"/>
          <a:lstStyle/>
          <a:p>
            <a:endParaRPr/>
          </a:p>
        </p:txBody>
      </p:sp>
      <p:sp>
        <p:nvSpPr>
          <p:cNvPr id="59" name="Rectangle 58"/>
          <p:cNvSpPr/>
          <p:nvPr/>
        </p:nvSpPr>
        <p:spPr>
          <a:xfrm>
            <a:off x="6199632" y="2852928"/>
            <a:ext cx="5440680" cy="36576"/>
          </a:xfrm>
          <a:prstGeom prst="rect">
            <a:avLst/>
          </a:prstGeom>
          <a:solidFill>
            <a:srgbClr val="00B39F"/>
          </a:solidFill>
          <a:ln>
            <a:noFill/>
          </a:ln>
          <a:effectLst/>
        </p:spPr>
        <p:txBody>
          <a:bodyPr rtlCol="0" anchor="ctr"/>
          <a:lstStyle/>
          <a:p>
            <a:endParaRPr/>
          </a:p>
        </p:txBody>
      </p:sp>
      <p:sp>
        <p:nvSpPr>
          <p:cNvPr id="60" name="TextBox 59"/>
          <p:cNvSpPr txBox="1"/>
          <p:nvPr/>
        </p:nvSpPr>
        <p:spPr>
          <a:xfrm>
            <a:off x="6309360" y="2999232"/>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04</a:t>
            </a:r>
          </a:p>
        </p:txBody>
      </p:sp>
      <p:sp>
        <p:nvSpPr>
          <p:cNvPr id="61" name="TextBox 60"/>
          <p:cNvSpPr txBox="1"/>
          <p:nvPr/>
        </p:nvSpPr>
        <p:spPr>
          <a:xfrm>
            <a:off x="6949440" y="3035808"/>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Agent Service and Agent Framework</a:t>
            </a:r>
          </a:p>
        </p:txBody>
      </p:sp>
      <p:sp>
        <p:nvSpPr>
          <p:cNvPr id="62" name="TextBox 61"/>
          <p:cNvSpPr txBox="1"/>
          <p:nvPr/>
        </p:nvSpPr>
        <p:spPr>
          <a:xfrm>
            <a:off x="10405872" y="3054096"/>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16–21</a:t>
            </a:r>
          </a:p>
        </p:txBody>
      </p:sp>
      <p:sp>
        <p:nvSpPr>
          <p:cNvPr id="63" name="TextBox 62"/>
          <p:cNvSpPr txBox="1"/>
          <p:nvPr/>
        </p:nvSpPr>
        <p:spPr>
          <a:xfrm>
            <a:off x="6949440" y="3419856"/>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Agent Service, protocols and APIs · Publishing to Teams and Microsoft 365 · Agent Service compared with Microsoft Agent Framework · Routines · Long-running agents</a:t>
            </a:r>
          </a:p>
        </p:txBody>
      </p:sp>
      <p:sp>
        <p:nvSpPr>
          <p:cNvPr id="64" name="Rectangle 63"/>
          <p:cNvSpPr/>
          <p:nvPr/>
        </p:nvSpPr>
        <p:spPr>
          <a:xfrm>
            <a:off x="548640" y="4288536"/>
            <a:ext cx="5440680" cy="1280160"/>
          </a:xfrm>
          <a:prstGeom prst="rect">
            <a:avLst/>
          </a:prstGeom>
          <a:solidFill>
            <a:srgbClr val="F6F8FD"/>
          </a:solidFill>
          <a:ln w="9525">
            <a:solidFill>
              <a:srgbClr val="E1E7F4"/>
            </a:solidFill>
          </a:ln>
          <a:effectLst/>
        </p:spPr>
        <p:txBody>
          <a:bodyPr rtlCol="0" anchor="ctr"/>
          <a:lstStyle/>
          <a:p>
            <a:endParaRPr/>
          </a:p>
        </p:txBody>
      </p:sp>
      <p:sp>
        <p:nvSpPr>
          <p:cNvPr id="65" name="Rectangle 64"/>
          <p:cNvSpPr/>
          <p:nvPr/>
        </p:nvSpPr>
        <p:spPr>
          <a:xfrm>
            <a:off x="548640" y="4288536"/>
            <a:ext cx="5440680" cy="36576"/>
          </a:xfrm>
          <a:prstGeom prst="rect">
            <a:avLst/>
          </a:prstGeom>
          <a:solidFill>
            <a:srgbClr val="00B39F"/>
          </a:solidFill>
          <a:ln>
            <a:noFill/>
          </a:ln>
          <a:effectLst/>
        </p:spPr>
        <p:txBody>
          <a:bodyPr rtlCol="0" anchor="ctr"/>
          <a:lstStyle/>
          <a:p>
            <a:endParaRPr/>
          </a:p>
        </p:txBody>
      </p:sp>
      <p:sp>
        <p:nvSpPr>
          <p:cNvPr id="66" name="TextBox 65"/>
          <p:cNvSpPr txBox="1"/>
          <p:nvPr/>
        </p:nvSpPr>
        <p:spPr>
          <a:xfrm>
            <a:off x="658368" y="4434840"/>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05</a:t>
            </a:r>
          </a:p>
        </p:txBody>
      </p:sp>
      <p:sp>
        <p:nvSpPr>
          <p:cNvPr id="67" name="TextBox 66"/>
          <p:cNvSpPr txBox="1"/>
          <p:nvPr/>
        </p:nvSpPr>
        <p:spPr>
          <a:xfrm>
            <a:off x="1298448" y="4471416"/>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Foundry Control Plane</a:t>
            </a:r>
          </a:p>
        </p:txBody>
      </p:sp>
      <p:sp>
        <p:nvSpPr>
          <p:cNvPr id="68" name="TextBox 67"/>
          <p:cNvSpPr txBox="1"/>
          <p:nvPr/>
        </p:nvSpPr>
        <p:spPr>
          <a:xfrm>
            <a:off x="4754879" y="4489703"/>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22–25</a:t>
            </a:r>
          </a:p>
        </p:txBody>
      </p:sp>
      <p:sp>
        <p:nvSpPr>
          <p:cNvPr id="69" name="TextBox 68"/>
          <p:cNvSpPr txBox="1"/>
          <p:nvPr/>
        </p:nvSpPr>
        <p:spPr>
          <a:xfrm>
            <a:off x="1298448" y="4855464"/>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Operate view · Guardrails and Azure AI Content Safety · Evaluations · Tracing with OpenTelemetry</a:t>
            </a:r>
          </a:p>
        </p:txBody>
      </p:sp>
      <p:sp>
        <p:nvSpPr>
          <p:cNvPr id="70" name="Rectangle 69"/>
          <p:cNvSpPr/>
          <p:nvPr/>
        </p:nvSpPr>
        <p:spPr>
          <a:xfrm>
            <a:off x="6199632" y="4288536"/>
            <a:ext cx="5440680" cy="1280160"/>
          </a:xfrm>
          <a:prstGeom prst="rect">
            <a:avLst/>
          </a:prstGeom>
          <a:solidFill>
            <a:srgbClr val="F6F8FD"/>
          </a:solidFill>
          <a:ln w="9525">
            <a:solidFill>
              <a:srgbClr val="E1E7F4"/>
            </a:solidFill>
          </a:ln>
          <a:effectLst/>
        </p:spPr>
        <p:txBody>
          <a:bodyPr rtlCol="0" anchor="ctr"/>
          <a:lstStyle/>
          <a:p>
            <a:endParaRPr/>
          </a:p>
        </p:txBody>
      </p:sp>
      <p:sp>
        <p:nvSpPr>
          <p:cNvPr id="71" name="Rectangle 70"/>
          <p:cNvSpPr/>
          <p:nvPr/>
        </p:nvSpPr>
        <p:spPr>
          <a:xfrm>
            <a:off x="6199632" y="4288536"/>
            <a:ext cx="5440680" cy="36576"/>
          </a:xfrm>
          <a:prstGeom prst="rect">
            <a:avLst/>
          </a:prstGeom>
          <a:solidFill>
            <a:srgbClr val="101A3C"/>
          </a:solidFill>
          <a:ln>
            <a:noFill/>
          </a:ln>
          <a:effectLst/>
        </p:spPr>
        <p:txBody>
          <a:bodyPr rtlCol="0" anchor="ctr"/>
          <a:lstStyle/>
          <a:p>
            <a:endParaRPr/>
          </a:p>
        </p:txBody>
      </p:sp>
      <p:sp>
        <p:nvSpPr>
          <p:cNvPr id="72" name="TextBox 71"/>
          <p:cNvSpPr txBox="1"/>
          <p:nvPr/>
        </p:nvSpPr>
        <p:spPr>
          <a:xfrm>
            <a:off x="6309360" y="4434840"/>
            <a:ext cx="640080" cy="457200"/>
          </a:xfrm>
          <a:prstGeom prst="rect">
            <a:avLst/>
          </a:prstGeom>
          <a:noFill/>
        </p:spPr>
        <p:txBody>
          <a:bodyPr wrap="square" lIns="36576" tIns="18288" rIns="36576" bIns="18288" anchor="t">
            <a:spAutoFit/>
          </a:bodyPr>
          <a:lstStyle/>
          <a:p>
            <a:pPr algn="l"/>
            <a:r>
              <a:rPr sz="2000" b="1">
                <a:solidFill>
                  <a:srgbClr val="008173"/>
                </a:solidFill>
                <a:latin typeface="Segoe UI"/>
              </a:rPr>
              <a:t>06</a:t>
            </a:r>
          </a:p>
        </p:txBody>
      </p:sp>
      <p:sp>
        <p:nvSpPr>
          <p:cNvPr id="73" name="TextBox 72"/>
          <p:cNvSpPr txBox="1"/>
          <p:nvPr/>
        </p:nvSpPr>
        <p:spPr>
          <a:xfrm>
            <a:off x="6949440" y="4471416"/>
            <a:ext cx="3566160" cy="365760"/>
          </a:xfrm>
          <a:prstGeom prst="rect">
            <a:avLst/>
          </a:prstGeom>
          <a:noFill/>
        </p:spPr>
        <p:txBody>
          <a:bodyPr wrap="square" lIns="36576" tIns="18288" rIns="36576" bIns="18288" anchor="t">
            <a:spAutoFit/>
          </a:bodyPr>
          <a:lstStyle/>
          <a:p>
            <a:pPr algn="l"/>
            <a:r>
              <a:rPr sz="1250" b="1">
                <a:solidFill>
                  <a:srgbClr val="101A3C"/>
                </a:solidFill>
                <a:latin typeface="Segoe UI"/>
              </a:rPr>
              <a:t>Wrap-up</a:t>
            </a:r>
          </a:p>
        </p:txBody>
      </p:sp>
      <p:sp>
        <p:nvSpPr>
          <p:cNvPr id="74" name="TextBox 73"/>
          <p:cNvSpPr txBox="1"/>
          <p:nvPr/>
        </p:nvSpPr>
        <p:spPr>
          <a:xfrm>
            <a:off x="10405872" y="4489703"/>
            <a:ext cx="1143000" cy="274320"/>
          </a:xfrm>
          <a:prstGeom prst="rect">
            <a:avLst/>
          </a:prstGeom>
          <a:noFill/>
        </p:spPr>
        <p:txBody>
          <a:bodyPr wrap="square" lIns="36576" tIns="18288" rIns="36576" bIns="18288" anchor="t">
            <a:spAutoFit/>
          </a:bodyPr>
          <a:lstStyle/>
          <a:p>
            <a:pPr algn="r"/>
            <a:r>
              <a:rPr sz="900" b="0">
                <a:solidFill>
                  <a:srgbClr val="44495B"/>
                </a:solidFill>
                <a:latin typeface="Segoe UI"/>
              </a:rPr>
              <a:t>Slides 26–27</a:t>
            </a:r>
          </a:p>
        </p:txBody>
      </p:sp>
      <p:sp>
        <p:nvSpPr>
          <p:cNvPr id="75" name="TextBox 74"/>
          <p:cNvSpPr txBox="1"/>
          <p:nvPr/>
        </p:nvSpPr>
        <p:spPr>
          <a:xfrm>
            <a:off x="6949440" y="4855464"/>
            <a:ext cx="4526280" cy="640080"/>
          </a:xfrm>
          <a:prstGeom prst="rect">
            <a:avLst/>
          </a:prstGeom>
          <a:noFill/>
        </p:spPr>
        <p:txBody>
          <a:bodyPr wrap="square" lIns="36576" tIns="18288" rIns="36576" bIns="18288" anchor="t">
            <a:spAutoFit/>
          </a:bodyPr>
          <a:lstStyle/>
          <a:p>
            <a:pPr algn="l"/>
            <a:r>
              <a:rPr sz="1000" b="0">
                <a:solidFill>
                  <a:srgbClr val="141B33"/>
                </a:solidFill>
                <a:latin typeface="Segoe UI"/>
              </a:rPr>
              <a:t>What changed since Build 2026 · References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Microsoft Foundry — high-level architecture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Foundry resource: Models, Agent Service, Tools and Knowledge as the building blocks, with the Control Plane across all of them.</a:t>
            </a:r>
          </a:p>
          <a:p>
            <a:endParaRPr sz="1200">
              <a:solidFill>
                <a:srgbClr val="44495B"/>
              </a:solidFill>
              <a:latin typeface="Segoe UI"/>
            </a:endParaRPr>
          </a:p>
        </p:txBody>
      </p:sp>
      <p:sp>
        <p:nvSpPr>
          <p:cNvPr id="40" name="Shape"/>
          <p:cNvSpPr/>
          <p:nvPr/>
        </p:nvSpPr>
        <p:spPr>
          <a:xfrm>
            <a:off x="548640" y="5687568"/>
            <a:ext cx="11094720" cy="9525"/>
          </a:xfrm>
          <a:prstGeom prst="rect">
            <a:avLst/>
          </a:prstGeom>
          <a:solidFill>
            <a:srgbClr val="E1E7F4"/>
          </a:solidFill>
        </p:spPr>
        <p:txBody>
          <a:bodyPr/>
          <a:lstStyle/>
          <a:p>
            <a:endParaRPr/>
          </a:p>
        </p:txBody>
      </p:sp>
      <p:sp>
        <p:nvSpPr>
          <p:cNvPr id="41"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learn.microsoft.com/azure/foundry/what-is-foundry</a:t>
            </a:r>
          </a:p>
          <a:p>
            <a:endParaRPr sz="900">
              <a:solidFill>
                <a:srgbClr val="44495B"/>
              </a:solidFill>
              <a:latin typeface="Segoe UI"/>
            </a:endParaRPr>
          </a:p>
        </p:txBody>
      </p:sp>
      <p:sp>
        <p:nvSpPr>
          <p:cNvPr id="42"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3</a:t>
            </a:r>
          </a:p>
        </p:txBody>
      </p:sp>
      <p:sp>
        <p:nvSpPr>
          <p:cNvPr id="43" name="Rectangle 42"/>
          <p:cNvSpPr/>
          <p:nvPr/>
        </p:nvSpPr>
        <p:spPr>
          <a:xfrm>
            <a:off x="548640" y="1298448"/>
            <a:ext cx="8823960" cy="786384"/>
          </a:xfrm>
          <a:prstGeom prst="rect">
            <a:avLst/>
          </a:prstGeom>
          <a:solidFill>
            <a:srgbClr val="EBEFF7"/>
          </a:solidFill>
          <a:ln>
            <a:noFill/>
          </a:ln>
          <a:effectLst/>
        </p:spPr>
        <p:txBody>
          <a:bodyPr rtlCol="0" anchor="ctr"/>
          <a:lstStyle/>
          <a:p>
            <a:pPr algn="ctr"/>
            <a:endParaRPr/>
          </a:p>
        </p:txBody>
      </p:sp>
      <p:sp>
        <p:nvSpPr>
          <p:cNvPr id="44" name="TextBox 43"/>
          <p:cNvSpPr txBox="1"/>
          <p:nvPr/>
        </p:nvSpPr>
        <p:spPr>
          <a:xfrm>
            <a:off x="594360" y="1316736"/>
            <a:ext cx="3657600"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BUILD SURFACES AND DEVELOPER TOOLS</a:t>
            </a:r>
          </a:p>
        </p:txBody>
      </p:sp>
      <p:sp>
        <p:nvSpPr>
          <p:cNvPr id="45" name="Rectangle 44"/>
          <p:cNvSpPr/>
          <p:nvPr/>
        </p:nvSpPr>
        <p:spPr>
          <a:xfrm>
            <a:off x="594360"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46" name="TextBox 45"/>
          <p:cNvSpPr txBox="1"/>
          <p:nvPr/>
        </p:nvSpPr>
        <p:spPr>
          <a:xfrm>
            <a:off x="594360"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Foundry portal and playgrounds</a:t>
            </a:r>
          </a:p>
        </p:txBody>
      </p:sp>
      <p:sp>
        <p:nvSpPr>
          <p:cNvPr id="47" name="Rectangle 46"/>
          <p:cNvSpPr/>
          <p:nvPr/>
        </p:nvSpPr>
        <p:spPr>
          <a:xfrm>
            <a:off x="2061972"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48" name="TextBox 47"/>
          <p:cNvSpPr txBox="1"/>
          <p:nvPr/>
        </p:nvSpPr>
        <p:spPr>
          <a:xfrm>
            <a:off x="2061972"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Foundry SDKs — Python, C#, JavaScript, Java</a:t>
            </a:r>
          </a:p>
        </p:txBody>
      </p:sp>
      <p:sp>
        <p:nvSpPr>
          <p:cNvPr id="49" name="Rectangle 48"/>
          <p:cNvSpPr/>
          <p:nvPr/>
        </p:nvSpPr>
        <p:spPr>
          <a:xfrm>
            <a:off x="3529584"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0" name="TextBox 49"/>
          <p:cNvSpPr txBox="1"/>
          <p:nvPr/>
        </p:nvSpPr>
        <p:spPr>
          <a:xfrm>
            <a:off x="3529584"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Visual Studio Code extension</a:t>
            </a:r>
          </a:p>
        </p:txBody>
      </p:sp>
      <p:sp>
        <p:nvSpPr>
          <p:cNvPr id="51" name="Rectangle 50"/>
          <p:cNvSpPr/>
          <p:nvPr/>
        </p:nvSpPr>
        <p:spPr>
          <a:xfrm>
            <a:off x="4997196"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2" name="TextBox 51"/>
          <p:cNvSpPr txBox="1"/>
          <p:nvPr/>
        </p:nvSpPr>
        <p:spPr>
          <a:xfrm>
            <a:off x="4997196"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Azure Developer CLI (azd) extension*</a:t>
            </a:r>
          </a:p>
        </p:txBody>
      </p:sp>
      <p:sp>
        <p:nvSpPr>
          <p:cNvPr id="53" name="Rectangle 52"/>
          <p:cNvSpPr/>
          <p:nvPr/>
        </p:nvSpPr>
        <p:spPr>
          <a:xfrm>
            <a:off x="6464808"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6464808"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Foundry MCP Server and Skill*  (coding agents)</a:t>
            </a:r>
          </a:p>
        </p:txBody>
      </p:sp>
      <p:sp>
        <p:nvSpPr>
          <p:cNvPr id="55" name="Rectangle 54"/>
          <p:cNvSpPr/>
          <p:nvPr/>
        </p:nvSpPr>
        <p:spPr>
          <a:xfrm>
            <a:off x="7932420" y="1554480"/>
            <a:ext cx="1394460" cy="457200"/>
          </a:xfrm>
          <a:prstGeom prst="rect">
            <a:avLst/>
          </a:prstGeom>
          <a:solidFill>
            <a:srgbClr val="FFFFFF"/>
          </a:solidFill>
          <a:ln w="9525">
            <a:solidFill>
              <a:srgbClr val="E1E7F4"/>
            </a:solidFill>
          </a:ln>
          <a:effectLst/>
        </p:spPr>
        <p:txBody>
          <a:bodyPr rtlCol="0" anchor="ctr"/>
          <a:lstStyle/>
          <a:p>
            <a:pPr algn="ctr"/>
            <a:endParaRPr/>
          </a:p>
        </p:txBody>
      </p:sp>
      <p:sp>
        <p:nvSpPr>
          <p:cNvPr id="56" name="TextBox 55"/>
          <p:cNvSpPr txBox="1"/>
          <p:nvPr/>
        </p:nvSpPr>
        <p:spPr>
          <a:xfrm>
            <a:off x="7932420" y="1554480"/>
            <a:ext cx="1394460" cy="457200"/>
          </a:xfrm>
          <a:prstGeom prst="rect">
            <a:avLst/>
          </a:prstGeom>
          <a:noFill/>
        </p:spPr>
        <p:txBody>
          <a:bodyPr wrap="square" lIns="54864" tIns="18288" rIns="54864" bIns="18288" anchor="ctr">
            <a:spAutoFit/>
          </a:bodyPr>
          <a:lstStyle/>
          <a:p>
            <a:pPr algn="ctr"/>
            <a:r>
              <a:rPr sz="850" b="0">
                <a:solidFill>
                  <a:srgbClr val="141B33"/>
                </a:solidFill>
                <a:latin typeface="Segoe UI"/>
              </a:rPr>
              <a:t>Templates, samples, LangChain / LangGraph</a:t>
            </a:r>
          </a:p>
        </p:txBody>
      </p:sp>
      <p:sp>
        <p:nvSpPr>
          <p:cNvPr id="57" name="Rectangle 56"/>
          <p:cNvSpPr/>
          <p:nvPr/>
        </p:nvSpPr>
        <p:spPr>
          <a:xfrm>
            <a:off x="548640" y="2194560"/>
            <a:ext cx="2855976" cy="2103120"/>
          </a:xfrm>
          <a:prstGeom prst="rect">
            <a:avLst/>
          </a:prstGeom>
          <a:solidFill>
            <a:srgbClr val="F6F8FD"/>
          </a:solidFill>
          <a:ln w="9525">
            <a:solidFill>
              <a:srgbClr val="E1E7F4"/>
            </a:solidFill>
          </a:ln>
          <a:effectLst/>
        </p:spPr>
        <p:txBody>
          <a:bodyPr rtlCol="0" anchor="ctr"/>
          <a:lstStyle/>
          <a:p>
            <a:pPr algn="ctr"/>
            <a:endParaRPr/>
          </a:p>
        </p:txBody>
      </p:sp>
      <p:sp>
        <p:nvSpPr>
          <p:cNvPr id="58" name="Rectangle 57"/>
          <p:cNvSpPr/>
          <p:nvPr/>
        </p:nvSpPr>
        <p:spPr>
          <a:xfrm>
            <a:off x="548640" y="2194560"/>
            <a:ext cx="2855976" cy="310896"/>
          </a:xfrm>
          <a:prstGeom prst="rect">
            <a:avLst/>
          </a:prstGeom>
          <a:solidFill>
            <a:srgbClr val="101A3C"/>
          </a:solidFill>
          <a:ln>
            <a:noFill/>
          </a:ln>
          <a:effectLst/>
        </p:spPr>
        <p:txBody>
          <a:bodyPr rtlCol="0" anchor="ctr"/>
          <a:lstStyle/>
          <a:p>
            <a:pPr algn="ctr"/>
            <a:endParaRPr/>
          </a:p>
        </p:txBody>
      </p:sp>
      <p:sp>
        <p:nvSpPr>
          <p:cNvPr id="59" name="TextBox 58"/>
          <p:cNvSpPr txBox="1"/>
          <p:nvPr/>
        </p:nvSpPr>
        <p:spPr>
          <a:xfrm>
            <a:off x="548640" y="2194560"/>
            <a:ext cx="2855976"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Models</a:t>
            </a:r>
          </a:p>
        </p:txBody>
      </p:sp>
      <p:sp>
        <p:nvSpPr>
          <p:cNvPr id="60" name="Rectangle 59"/>
          <p:cNvSpPr/>
          <p:nvPr/>
        </p:nvSpPr>
        <p:spPr>
          <a:xfrm>
            <a:off x="621792" y="2587751"/>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640080" y="2596895"/>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Model catalog</a:t>
            </a:r>
            <a:r>
              <a:rPr sz="900" b="0">
                <a:solidFill>
                  <a:srgbClr val="141B33"/>
                </a:solidFill>
                <a:latin typeface="Segoe UI"/>
              </a:rPr>
              <a:t>  sold by Azure · partners and community</a:t>
            </a:r>
          </a:p>
        </p:txBody>
      </p:sp>
      <p:sp>
        <p:nvSpPr>
          <p:cNvPr id="62" name="Rectangle 61"/>
          <p:cNvSpPr/>
          <p:nvPr/>
        </p:nvSpPr>
        <p:spPr>
          <a:xfrm>
            <a:off x="621792" y="3026663"/>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3" name="TextBox 62"/>
          <p:cNvSpPr txBox="1"/>
          <p:nvPr/>
        </p:nvSpPr>
        <p:spPr>
          <a:xfrm>
            <a:off x="640080" y="3035807"/>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Deployment types</a:t>
            </a:r>
            <a:r>
              <a:rPr sz="900" b="0">
                <a:solidFill>
                  <a:srgbClr val="141B33"/>
                </a:solidFill>
                <a:latin typeface="Segoe UI"/>
              </a:rPr>
              <a:t>  standard · provisioned · batch · priority processing</a:t>
            </a:r>
          </a:p>
        </p:txBody>
      </p:sp>
      <p:sp>
        <p:nvSpPr>
          <p:cNvPr id="64" name="Rectangle 63"/>
          <p:cNvSpPr/>
          <p:nvPr/>
        </p:nvSpPr>
        <p:spPr>
          <a:xfrm>
            <a:off x="621792" y="3465575"/>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5" name="TextBox 64"/>
          <p:cNvSpPr txBox="1"/>
          <p:nvPr/>
        </p:nvSpPr>
        <p:spPr>
          <a:xfrm>
            <a:off x="640080" y="3474719"/>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Model router</a:t>
            </a:r>
            <a:r>
              <a:rPr sz="900" b="0">
                <a:solidFill>
                  <a:srgbClr val="141B33"/>
                </a:solidFill>
                <a:latin typeface="Segoe UI"/>
              </a:rPr>
              <a:t>  benchmarks and leaderboards</a:t>
            </a:r>
          </a:p>
        </p:txBody>
      </p:sp>
      <p:sp>
        <p:nvSpPr>
          <p:cNvPr id="66" name="Rectangle 65"/>
          <p:cNvSpPr/>
          <p:nvPr/>
        </p:nvSpPr>
        <p:spPr>
          <a:xfrm>
            <a:off x="621792" y="3904487"/>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67" name="TextBox 66"/>
          <p:cNvSpPr txBox="1"/>
          <p:nvPr/>
        </p:nvSpPr>
        <p:spPr>
          <a:xfrm>
            <a:off x="640080" y="3913631"/>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Fine-tuning</a:t>
            </a:r>
            <a:r>
              <a:rPr sz="900" b="0">
                <a:solidFill>
                  <a:srgbClr val="141B33"/>
                </a:solidFill>
                <a:latin typeface="Segoe UI"/>
              </a:rPr>
              <a:t>  managed compute* · instant access models*</a:t>
            </a:r>
          </a:p>
        </p:txBody>
      </p:sp>
      <p:sp>
        <p:nvSpPr>
          <p:cNvPr id="68" name="Rectangle 67"/>
          <p:cNvSpPr/>
          <p:nvPr/>
        </p:nvSpPr>
        <p:spPr>
          <a:xfrm>
            <a:off x="3532632" y="2194560"/>
            <a:ext cx="2855976" cy="2103120"/>
          </a:xfrm>
          <a:prstGeom prst="rect">
            <a:avLst/>
          </a:prstGeom>
          <a:solidFill>
            <a:srgbClr val="F6F8FD"/>
          </a:solidFill>
          <a:ln w="9525">
            <a:solidFill>
              <a:srgbClr val="E1E7F4"/>
            </a:solidFill>
          </a:ln>
          <a:effectLst/>
        </p:spPr>
        <p:txBody>
          <a:bodyPr rtlCol="0" anchor="ctr"/>
          <a:lstStyle/>
          <a:p>
            <a:pPr algn="ctr"/>
            <a:endParaRPr/>
          </a:p>
        </p:txBody>
      </p:sp>
      <p:sp>
        <p:nvSpPr>
          <p:cNvPr id="69" name="Rectangle 68"/>
          <p:cNvSpPr/>
          <p:nvPr/>
        </p:nvSpPr>
        <p:spPr>
          <a:xfrm>
            <a:off x="3532632" y="2194560"/>
            <a:ext cx="2855976" cy="310896"/>
          </a:xfrm>
          <a:prstGeom prst="rect">
            <a:avLst/>
          </a:prstGeom>
          <a:solidFill>
            <a:srgbClr val="101A3C"/>
          </a:solidFill>
          <a:ln>
            <a:noFill/>
          </a:ln>
          <a:effectLst/>
        </p:spPr>
        <p:txBody>
          <a:bodyPr rtlCol="0" anchor="ctr"/>
          <a:lstStyle/>
          <a:p>
            <a:pPr algn="ctr"/>
            <a:endParaRPr/>
          </a:p>
        </p:txBody>
      </p:sp>
      <p:sp>
        <p:nvSpPr>
          <p:cNvPr id="70" name="TextBox 69"/>
          <p:cNvSpPr txBox="1"/>
          <p:nvPr/>
        </p:nvSpPr>
        <p:spPr>
          <a:xfrm>
            <a:off x="3532632" y="2194560"/>
            <a:ext cx="2855976"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Agent Service</a:t>
            </a:r>
          </a:p>
        </p:txBody>
      </p:sp>
      <p:sp>
        <p:nvSpPr>
          <p:cNvPr id="71" name="Rectangle 70"/>
          <p:cNvSpPr/>
          <p:nvPr/>
        </p:nvSpPr>
        <p:spPr>
          <a:xfrm>
            <a:off x="3605784" y="2587751"/>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3624072" y="2596895"/>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Agent Runtime</a:t>
            </a:r>
            <a:r>
              <a:rPr sz="900" b="0">
                <a:solidFill>
                  <a:srgbClr val="141B33"/>
                </a:solidFill>
                <a:latin typeface="Segoe UI"/>
              </a:rPr>
              <a:t>  prompt agents · voice agents* · hosted agents · Responses API</a:t>
            </a:r>
          </a:p>
        </p:txBody>
      </p:sp>
      <p:sp>
        <p:nvSpPr>
          <p:cNvPr id="73" name="Rectangle 72"/>
          <p:cNvSpPr/>
          <p:nvPr/>
        </p:nvSpPr>
        <p:spPr>
          <a:xfrm>
            <a:off x="3605784" y="3026663"/>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4" name="TextBox 73"/>
          <p:cNvSpPr txBox="1"/>
          <p:nvPr/>
        </p:nvSpPr>
        <p:spPr>
          <a:xfrm>
            <a:off x="3624072" y="3035807"/>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Workflows and routines</a:t>
            </a:r>
            <a:r>
              <a:rPr sz="900" b="0">
                <a:solidFill>
                  <a:srgbClr val="141B33"/>
                </a:solidFill>
                <a:latin typeface="Segoe UI"/>
              </a:rPr>
              <a:t>  agent-to-agent (A2A)</a:t>
            </a:r>
          </a:p>
        </p:txBody>
      </p:sp>
      <p:sp>
        <p:nvSpPr>
          <p:cNvPr id="75" name="Rectangle 74"/>
          <p:cNvSpPr/>
          <p:nvPr/>
        </p:nvSpPr>
        <p:spPr>
          <a:xfrm>
            <a:off x="3605784" y="3465575"/>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6" name="TextBox 75"/>
          <p:cNvSpPr txBox="1"/>
          <p:nvPr/>
        </p:nvSpPr>
        <p:spPr>
          <a:xfrm>
            <a:off x="3624072" y="3474719"/>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Agent identity</a:t>
            </a:r>
            <a:r>
              <a:rPr sz="900" b="0">
                <a:solidFill>
                  <a:srgbClr val="141B33"/>
                </a:solidFill>
                <a:latin typeface="Segoe UI"/>
              </a:rPr>
              <a:t>  Microsoft Entra · versioning and stable endpoints</a:t>
            </a:r>
          </a:p>
        </p:txBody>
      </p:sp>
      <p:sp>
        <p:nvSpPr>
          <p:cNvPr id="77" name="Rectangle 76"/>
          <p:cNvSpPr/>
          <p:nvPr/>
        </p:nvSpPr>
        <p:spPr>
          <a:xfrm>
            <a:off x="3605784" y="3904487"/>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78" name="TextBox 77"/>
          <p:cNvSpPr txBox="1"/>
          <p:nvPr/>
        </p:nvSpPr>
        <p:spPr>
          <a:xfrm>
            <a:off x="3624072" y="3913631"/>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Publishing</a:t>
            </a:r>
            <a:r>
              <a:rPr sz="900" b="0">
                <a:solidFill>
                  <a:srgbClr val="141B33"/>
                </a:solidFill>
                <a:latin typeface="Segoe UI"/>
              </a:rPr>
              <a:t>  Teams · Microsoft 365 Copilot · Entra Agent Registry</a:t>
            </a:r>
          </a:p>
        </p:txBody>
      </p:sp>
      <p:sp>
        <p:nvSpPr>
          <p:cNvPr id="79" name="Rectangle 78"/>
          <p:cNvSpPr/>
          <p:nvPr/>
        </p:nvSpPr>
        <p:spPr>
          <a:xfrm>
            <a:off x="6516624" y="2194560"/>
            <a:ext cx="2855976" cy="2103120"/>
          </a:xfrm>
          <a:prstGeom prst="rect">
            <a:avLst/>
          </a:prstGeom>
          <a:solidFill>
            <a:srgbClr val="F6F8FD"/>
          </a:solidFill>
          <a:ln w="9525">
            <a:solidFill>
              <a:srgbClr val="E1E7F4"/>
            </a:solidFill>
          </a:ln>
          <a:effectLst/>
        </p:spPr>
        <p:txBody>
          <a:bodyPr rtlCol="0" anchor="ctr"/>
          <a:lstStyle/>
          <a:p>
            <a:pPr algn="ctr"/>
            <a:endParaRPr/>
          </a:p>
        </p:txBody>
      </p:sp>
      <p:sp>
        <p:nvSpPr>
          <p:cNvPr id="80" name="Rectangle 79"/>
          <p:cNvSpPr/>
          <p:nvPr/>
        </p:nvSpPr>
        <p:spPr>
          <a:xfrm>
            <a:off x="6516624" y="2194560"/>
            <a:ext cx="2855976" cy="310896"/>
          </a:xfrm>
          <a:prstGeom prst="rect">
            <a:avLst/>
          </a:prstGeom>
          <a:solidFill>
            <a:srgbClr val="101A3C"/>
          </a:solidFill>
          <a:ln>
            <a:noFill/>
          </a:ln>
          <a:effectLst/>
        </p:spPr>
        <p:txBody>
          <a:bodyPr rtlCol="0" anchor="ctr"/>
          <a:lstStyle/>
          <a:p>
            <a:pPr algn="ctr"/>
            <a:endParaRPr/>
          </a:p>
        </p:txBody>
      </p:sp>
      <p:sp>
        <p:nvSpPr>
          <p:cNvPr id="81" name="TextBox 80"/>
          <p:cNvSpPr txBox="1"/>
          <p:nvPr/>
        </p:nvSpPr>
        <p:spPr>
          <a:xfrm>
            <a:off x="6516624" y="2194560"/>
            <a:ext cx="2855976"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Tools and Knowledge</a:t>
            </a:r>
          </a:p>
        </p:txBody>
      </p:sp>
      <p:sp>
        <p:nvSpPr>
          <p:cNvPr id="82" name="Rectangle 81"/>
          <p:cNvSpPr/>
          <p:nvPr/>
        </p:nvSpPr>
        <p:spPr>
          <a:xfrm>
            <a:off x="6589776" y="2587751"/>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3" name="TextBox 82"/>
          <p:cNvSpPr txBox="1"/>
          <p:nvPr/>
        </p:nvSpPr>
        <p:spPr>
          <a:xfrm>
            <a:off x="6608064" y="2596895"/>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Toolbox</a:t>
            </a:r>
            <a:r>
              <a:rPr sz="900" b="0">
                <a:solidFill>
                  <a:srgbClr val="141B33"/>
                </a:solidFill>
                <a:latin typeface="Segoe UI"/>
              </a:rPr>
              <a:t>  tool catalog · MCP · OpenAPI · functions · code interpreter · file search · web search</a:t>
            </a:r>
          </a:p>
        </p:txBody>
      </p:sp>
      <p:sp>
        <p:nvSpPr>
          <p:cNvPr id="84" name="Rectangle 83"/>
          <p:cNvSpPr/>
          <p:nvPr/>
        </p:nvSpPr>
        <p:spPr>
          <a:xfrm>
            <a:off x="6589776" y="3026663"/>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5" name="TextBox 84"/>
          <p:cNvSpPr txBox="1"/>
          <p:nvPr/>
        </p:nvSpPr>
        <p:spPr>
          <a:xfrm>
            <a:off x="6608064" y="3035807"/>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Skills*</a:t>
            </a:r>
            <a:r>
              <a:rPr sz="900" b="0">
                <a:solidFill>
                  <a:srgbClr val="141B33"/>
                </a:solidFill>
                <a:latin typeface="Segoe UI"/>
              </a:rPr>
              <a:t>  browser automation · computer use* · image generation*</a:t>
            </a:r>
          </a:p>
        </p:txBody>
      </p:sp>
      <p:sp>
        <p:nvSpPr>
          <p:cNvPr id="86" name="Rectangle 85"/>
          <p:cNvSpPr/>
          <p:nvPr/>
        </p:nvSpPr>
        <p:spPr>
          <a:xfrm>
            <a:off x="6589776" y="3465575"/>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7" name="TextBox 86"/>
          <p:cNvSpPr txBox="1"/>
          <p:nvPr/>
        </p:nvSpPr>
        <p:spPr>
          <a:xfrm>
            <a:off x="6608064" y="3474719"/>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Knowledge</a:t>
            </a:r>
            <a:r>
              <a:rPr sz="900" b="0">
                <a:solidFill>
                  <a:srgbClr val="141B33"/>
                </a:solidFill>
                <a:latin typeface="Segoe UI"/>
              </a:rPr>
              <a:t>  Foundry IQ · Work IQ* · Fabric IQ* · memory*</a:t>
            </a:r>
          </a:p>
        </p:txBody>
      </p:sp>
      <p:sp>
        <p:nvSpPr>
          <p:cNvPr id="88" name="Rectangle 87"/>
          <p:cNvSpPr/>
          <p:nvPr/>
        </p:nvSpPr>
        <p:spPr>
          <a:xfrm>
            <a:off x="6589776" y="3904487"/>
            <a:ext cx="2709672" cy="384048"/>
          </a:xfrm>
          <a:prstGeom prst="rect">
            <a:avLst/>
          </a:prstGeom>
          <a:solidFill>
            <a:srgbClr val="FFFFFF"/>
          </a:solidFill>
          <a:ln w="9525">
            <a:solidFill>
              <a:srgbClr val="E1E7F4"/>
            </a:solidFill>
          </a:ln>
          <a:effectLst/>
        </p:spPr>
        <p:txBody>
          <a:bodyPr rtlCol="0" anchor="ctr"/>
          <a:lstStyle/>
          <a:p>
            <a:pPr algn="ctr"/>
            <a:endParaRPr/>
          </a:p>
        </p:txBody>
      </p:sp>
      <p:sp>
        <p:nvSpPr>
          <p:cNvPr id="89" name="TextBox 88"/>
          <p:cNvSpPr txBox="1"/>
          <p:nvPr/>
        </p:nvSpPr>
        <p:spPr>
          <a:xfrm>
            <a:off x="6608064" y="3913631"/>
            <a:ext cx="2673096" cy="365759"/>
          </a:xfrm>
          <a:prstGeom prst="rect">
            <a:avLst/>
          </a:prstGeom>
          <a:noFill/>
        </p:spPr>
        <p:txBody>
          <a:bodyPr wrap="square" lIns="54864" tIns="18288" rIns="54864" bIns="18288" anchor="ctr">
            <a:spAutoFit/>
          </a:bodyPr>
          <a:lstStyle/>
          <a:p>
            <a:pPr algn="l"/>
            <a:r>
              <a:rPr sz="900" b="1">
                <a:solidFill>
                  <a:srgbClr val="141B33"/>
                </a:solidFill>
                <a:latin typeface="Segoe UI"/>
              </a:rPr>
              <a:t>Foundry Tools</a:t>
            </a:r>
            <a:r>
              <a:rPr sz="900" b="0">
                <a:solidFill>
                  <a:srgbClr val="141B33"/>
                </a:solidFill>
                <a:latin typeface="Segoe UI"/>
              </a:rPr>
              <a:t>  Speech · Language · Translator</a:t>
            </a:r>
          </a:p>
        </p:txBody>
      </p:sp>
      <p:sp>
        <p:nvSpPr>
          <p:cNvPr id="90" name="Rectangle 89"/>
          <p:cNvSpPr/>
          <p:nvPr/>
        </p:nvSpPr>
        <p:spPr>
          <a:xfrm>
            <a:off x="548640" y="4407407"/>
            <a:ext cx="8823960" cy="841248"/>
          </a:xfrm>
          <a:prstGeom prst="rect">
            <a:avLst/>
          </a:prstGeom>
          <a:solidFill>
            <a:srgbClr val="0B1229"/>
          </a:solidFill>
          <a:ln>
            <a:noFill/>
          </a:ln>
          <a:effectLst/>
        </p:spPr>
        <p:txBody>
          <a:bodyPr rtlCol="0" anchor="ctr"/>
          <a:lstStyle/>
          <a:p>
            <a:pPr algn="ctr"/>
            <a:endParaRPr/>
          </a:p>
        </p:txBody>
      </p:sp>
      <p:sp>
        <p:nvSpPr>
          <p:cNvPr id="91" name="TextBox 90"/>
          <p:cNvSpPr txBox="1"/>
          <p:nvPr/>
        </p:nvSpPr>
        <p:spPr>
          <a:xfrm>
            <a:off x="594360" y="4407407"/>
            <a:ext cx="1600200" cy="841248"/>
          </a:xfrm>
          <a:prstGeom prst="rect">
            <a:avLst/>
          </a:prstGeom>
          <a:noFill/>
        </p:spPr>
        <p:txBody>
          <a:bodyPr wrap="square" lIns="54864" tIns="18288" rIns="54864" bIns="18288" anchor="ctr">
            <a:spAutoFit/>
          </a:bodyPr>
          <a:lstStyle/>
          <a:p>
            <a:pPr algn="l"/>
            <a:r>
              <a:rPr sz="1150" b="1">
                <a:solidFill>
                  <a:srgbClr val="FFFFFF"/>
                </a:solidFill>
                <a:latin typeface="Segoe UI"/>
              </a:rPr>
              <a:t>Foundry</a:t>
            </a:r>
          </a:p>
          <a:p>
            <a:pPr algn="l"/>
            <a:r>
              <a:rPr sz="1150" b="1">
                <a:solidFill>
                  <a:srgbClr val="FFFFFF"/>
                </a:solidFill>
                <a:latin typeface="Segoe UI"/>
              </a:rPr>
              <a:t>Control Plane</a:t>
            </a:r>
          </a:p>
        </p:txBody>
      </p:sp>
      <p:sp>
        <p:nvSpPr>
          <p:cNvPr id="92" name="TextBox 91"/>
          <p:cNvSpPr txBox="1"/>
          <p:nvPr/>
        </p:nvSpPr>
        <p:spPr>
          <a:xfrm>
            <a:off x="2240280" y="4462271"/>
            <a:ext cx="2255520" cy="731520"/>
          </a:xfrm>
          <a:prstGeom prst="rect">
            <a:avLst/>
          </a:prstGeom>
          <a:noFill/>
        </p:spPr>
        <p:txBody>
          <a:bodyPr wrap="square" lIns="54864" tIns="18288" rIns="54864" bIns="18288" anchor="ctr">
            <a:spAutoFit/>
          </a:bodyPr>
          <a:lstStyle/>
          <a:p>
            <a:pPr algn="l"/>
            <a:r>
              <a:rPr sz="850" b="1">
                <a:solidFill>
                  <a:srgbClr val="FFFFFF"/>
                </a:solidFill>
                <a:latin typeface="Segoe UI"/>
              </a:rPr>
              <a:t>Observability</a:t>
            </a:r>
          </a:p>
          <a:p>
            <a:pPr algn="l"/>
            <a:r>
              <a:rPr sz="850" b="0">
                <a:solidFill>
                  <a:srgbClr val="FFFFFF"/>
                </a:solidFill>
                <a:latin typeface="Segoe UI"/>
              </a:rPr>
              <a:t>tracing · Insights* · agent monitoring dashboard* · evaluations and continuous evaluation · AI red teaming</a:t>
            </a:r>
          </a:p>
        </p:txBody>
      </p:sp>
      <p:sp>
        <p:nvSpPr>
          <p:cNvPr id="93" name="TextBox 92"/>
          <p:cNvSpPr txBox="1"/>
          <p:nvPr/>
        </p:nvSpPr>
        <p:spPr>
          <a:xfrm>
            <a:off x="4587240" y="4462271"/>
            <a:ext cx="2255520" cy="731520"/>
          </a:xfrm>
          <a:prstGeom prst="rect">
            <a:avLst/>
          </a:prstGeom>
          <a:noFill/>
        </p:spPr>
        <p:txBody>
          <a:bodyPr wrap="square" lIns="54864" tIns="18288" rIns="54864" bIns="18288" anchor="ctr">
            <a:spAutoFit/>
          </a:bodyPr>
          <a:lstStyle/>
          <a:p>
            <a:pPr algn="l"/>
            <a:r>
              <a:rPr sz="850" b="1">
                <a:solidFill>
                  <a:srgbClr val="FFFFFF"/>
                </a:solidFill>
                <a:latin typeface="Segoe UI"/>
              </a:rPr>
              <a:t>Trust and safety</a:t>
            </a:r>
          </a:p>
          <a:p>
            <a:pPr algn="l"/>
            <a:r>
              <a:rPr sz="850" b="0">
                <a:solidFill>
                  <a:srgbClr val="FFFFFF"/>
                </a:solidFill>
                <a:latin typeface="Segoe UI"/>
              </a:rPr>
              <a:t>guardrails and controls · Prompt Shields · groundedness · PII · task adherence · guided guardrail*</a:t>
            </a:r>
          </a:p>
        </p:txBody>
      </p:sp>
      <p:sp>
        <p:nvSpPr>
          <p:cNvPr id="94" name="TextBox 93"/>
          <p:cNvSpPr txBox="1"/>
          <p:nvPr/>
        </p:nvSpPr>
        <p:spPr>
          <a:xfrm>
            <a:off x="6934200" y="4462271"/>
            <a:ext cx="2255520" cy="731520"/>
          </a:xfrm>
          <a:prstGeom prst="rect">
            <a:avLst/>
          </a:prstGeom>
          <a:noFill/>
        </p:spPr>
        <p:txBody>
          <a:bodyPr wrap="square" lIns="54864" tIns="18288" rIns="54864" bIns="18288" anchor="ctr">
            <a:spAutoFit/>
          </a:bodyPr>
          <a:lstStyle/>
          <a:p>
            <a:pPr algn="l"/>
            <a:r>
              <a:rPr sz="850" b="1">
                <a:solidFill>
                  <a:srgbClr val="FFFFFF"/>
                </a:solidFill>
                <a:latin typeface="Segoe UI"/>
              </a:rPr>
              <a:t>Manage, secure and govern</a:t>
            </a:r>
          </a:p>
          <a:p>
            <a:pPr algn="l"/>
            <a:r>
              <a:rPr sz="850" b="0">
                <a:solidFill>
                  <a:srgbClr val="FFFFFF"/>
                </a:solidFill>
                <a:latin typeface="Segoe UI"/>
              </a:rPr>
              <a:t>Entra identity and Agent ID · RBAC · network isolation · customer-managed keys · Azure Policy · quota · AI gateway · Defender and Purview alerts</a:t>
            </a:r>
          </a:p>
        </p:txBody>
      </p:sp>
      <p:sp>
        <p:nvSpPr>
          <p:cNvPr id="95" name="Rectangle 94"/>
          <p:cNvSpPr/>
          <p:nvPr/>
        </p:nvSpPr>
        <p:spPr>
          <a:xfrm>
            <a:off x="548640" y="5321807"/>
            <a:ext cx="8823960" cy="274320"/>
          </a:xfrm>
          <a:prstGeom prst="rect">
            <a:avLst/>
          </a:prstGeom>
          <a:solidFill>
            <a:srgbClr val="EBEFF7"/>
          </a:solidFill>
          <a:ln>
            <a:noFill/>
          </a:ln>
          <a:effectLst/>
        </p:spPr>
        <p:txBody>
          <a:bodyPr rtlCol="0" anchor="ctr"/>
          <a:lstStyle/>
          <a:p>
            <a:pPr algn="ctr"/>
            <a:endParaRPr/>
          </a:p>
        </p:txBody>
      </p:sp>
      <p:sp>
        <p:nvSpPr>
          <p:cNvPr id="96" name="TextBox 95"/>
          <p:cNvSpPr txBox="1"/>
          <p:nvPr/>
        </p:nvSpPr>
        <p:spPr>
          <a:xfrm>
            <a:off x="548640" y="5321807"/>
            <a:ext cx="8823960" cy="274320"/>
          </a:xfrm>
          <a:prstGeom prst="rect">
            <a:avLst/>
          </a:prstGeom>
          <a:noFill/>
        </p:spPr>
        <p:txBody>
          <a:bodyPr wrap="square" lIns="54864" tIns="18288" rIns="54864" bIns="18288" anchor="ctr">
            <a:spAutoFit/>
          </a:bodyPr>
          <a:lstStyle/>
          <a:p>
            <a:pPr algn="ctr"/>
            <a:r>
              <a:rPr sz="850" b="1">
                <a:solidFill>
                  <a:srgbClr val="141B33"/>
                </a:solidFill>
                <a:latin typeface="Segoe UI"/>
              </a:rPr>
              <a:t>Foundry resource</a:t>
            </a:r>
            <a:r>
              <a:rPr sz="850" b="0">
                <a:solidFill>
                  <a:srgbClr val="141B33"/>
                </a:solidFill>
                <a:latin typeface="Segoe UI"/>
              </a:rPr>
              <a:t>  Microsoft.CognitiveServices/accounts, kind AIServices → projects → connections · one RBAC, networking and Azure Policy model under a single resource provider namespace</a:t>
            </a:r>
          </a:p>
        </p:txBody>
      </p:sp>
      <p:sp>
        <p:nvSpPr>
          <p:cNvPr id="97" name="Rectangle 96"/>
          <p:cNvSpPr/>
          <p:nvPr/>
        </p:nvSpPr>
        <p:spPr>
          <a:xfrm>
            <a:off x="9573768" y="1298448"/>
            <a:ext cx="2066543" cy="2999231"/>
          </a:xfrm>
          <a:prstGeom prst="rect">
            <a:avLst/>
          </a:prstGeom>
          <a:solidFill>
            <a:srgbClr val="F6F8FD"/>
          </a:solidFill>
          <a:ln w="9525">
            <a:solidFill>
              <a:srgbClr val="E1E7F4"/>
            </a:solidFill>
            <a:prstDash val="dash"/>
          </a:ln>
          <a:effectLst/>
        </p:spPr>
        <p:txBody>
          <a:bodyPr rtlCol="0" anchor="ctr"/>
          <a:lstStyle/>
          <a:p>
            <a:pPr algn="ctr"/>
            <a:endParaRPr/>
          </a:p>
        </p:txBody>
      </p:sp>
      <p:sp>
        <p:nvSpPr>
          <p:cNvPr id="98" name="Rectangle 97"/>
          <p:cNvSpPr/>
          <p:nvPr/>
        </p:nvSpPr>
        <p:spPr>
          <a:xfrm>
            <a:off x="9573768" y="1298448"/>
            <a:ext cx="2066543" cy="310896"/>
          </a:xfrm>
          <a:prstGeom prst="rect">
            <a:avLst/>
          </a:prstGeom>
          <a:solidFill>
            <a:srgbClr val="101A3C"/>
          </a:solidFill>
          <a:ln>
            <a:noFill/>
          </a:ln>
          <a:effectLst/>
        </p:spPr>
        <p:txBody>
          <a:bodyPr rtlCol="0" anchor="ctr"/>
          <a:lstStyle/>
          <a:p>
            <a:pPr algn="ctr"/>
            <a:endParaRPr/>
          </a:p>
        </p:txBody>
      </p:sp>
      <p:sp>
        <p:nvSpPr>
          <p:cNvPr id="99" name="TextBox 98"/>
          <p:cNvSpPr txBox="1"/>
          <p:nvPr/>
        </p:nvSpPr>
        <p:spPr>
          <a:xfrm>
            <a:off x="9573768" y="1298448"/>
            <a:ext cx="2066543" cy="310896"/>
          </a:xfrm>
          <a:prstGeom prst="rect">
            <a:avLst/>
          </a:prstGeom>
          <a:noFill/>
        </p:spPr>
        <p:txBody>
          <a:bodyPr wrap="square" lIns="54864" tIns="18288" rIns="54864" bIns="18288" anchor="ctr">
            <a:spAutoFit/>
          </a:bodyPr>
          <a:lstStyle/>
          <a:p>
            <a:pPr algn="ctr"/>
            <a:r>
              <a:rPr sz="1100" b="1">
                <a:solidFill>
                  <a:srgbClr val="FFFFFF"/>
                </a:solidFill>
                <a:latin typeface="Segoe UI"/>
              </a:rPr>
              <a:t>Foundry Local</a:t>
            </a:r>
          </a:p>
        </p:txBody>
      </p:sp>
      <p:sp>
        <p:nvSpPr>
          <p:cNvPr id="100" name="Rectangle 99"/>
          <p:cNvSpPr/>
          <p:nvPr/>
        </p:nvSpPr>
        <p:spPr>
          <a:xfrm>
            <a:off x="9646920" y="1691640"/>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1" name="TextBox 100"/>
          <p:cNvSpPr txBox="1"/>
          <p:nvPr/>
        </p:nvSpPr>
        <p:spPr>
          <a:xfrm>
            <a:off x="9665208" y="1700784"/>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On-device inference</a:t>
            </a:r>
            <a:r>
              <a:rPr sz="900" b="0">
                <a:solidFill>
                  <a:srgbClr val="141B33"/>
                </a:solidFill>
                <a:latin typeface="Segoe UI"/>
              </a:rPr>
              <a:t>  Windows · macOS (Apple silicon) · Linux</a:t>
            </a:r>
          </a:p>
        </p:txBody>
      </p:sp>
      <p:sp>
        <p:nvSpPr>
          <p:cNvPr id="102" name="Rectangle 101"/>
          <p:cNvSpPr/>
          <p:nvPr/>
        </p:nvSpPr>
        <p:spPr>
          <a:xfrm>
            <a:off x="9646920" y="2130552"/>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3" name="TextBox 102"/>
          <p:cNvSpPr txBox="1"/>
          <p:nvPr/>
        </p:nvSpPr>
        <p:spPr>
          <a:xfrm>
            <a:off x="9665208" y="2139696"/>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ONNX Runtime</a:t>
            </a:r>
            <a:r>
              <a:rPr sz="900" b="0">
                <a:solidFill>
                  <a:srgbClr val="141B33"/>
                </a:solidFill>
                <a:latin typeface="Segoe UI"/>
              </a:rPr>
              <a:t>  GPU, NPU or CPU selected automatically</a:t>
            </a:r>
          </a:p>
        </p:txBody>
      </p:sp>
      <p:sp>
        <p:nvSpPr>
          <p:cNvPr id="104" name="Rectangle 103"/>
          <p:cNvSpPr/>
          <p:nvPr/>
        </p:nvSpPr>
        <p:spPr>
          <a:xfrm>
            <a:off x="9646920" y="2569464"/>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5" name="TextBox 104"/>
          <p:cNvSpPr txBox="1"/>
          <p:nvPr/>
        </p:nvSpPr>
        <p:spPr>
          <a:xfrm>
            <a:off x="9665208" y="2578608"/>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OpenAI-compatible API</a:t>
            </a:r>
            <a:r>
              <a:rPr sz="900" b="0">
                <a:solidFill>
                  <a:srgbClr val="141B33"/>
                </a:solidFill>
                <a:latin typeface="Segoe UI"/>
              </a:rPr>
              <a:t>  including the Responses API format</a:t>
            </a:r>
          </a:p>
        </p:txBody>
      </p:sp>
      <p:sp>
        <p:nvSpPr>
          <p:cNvPr id="106" name="Rectangle 105"/>
          <p:cNvSpPr/>
          <p:nvPr/>
        </p:nvSpPr>
        <p:spPr>
          <a:xfrm>
            <a:off x="9646920" y="3008376"/>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7" name="TextBox 106"/>
          <p:cNvSpPr txBox="1"/>
          <p:nvPr/>
        </p:nvSpPr>
        <p:spPr>
          <a:xfrm>
            <a:off x="9665208" y="3017520"/>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SDKs</a:t>
            </a:r>
            <a:r>
              <a:rPr sz="900" b="0">
                <a:solidFill>
                  <a:srgbClr val="141B33"/>
                </a:solidFill>
                <a:latin typeface="Segoe UI"/>
              </a:rPr>
              <a:t>  C# · JavaScript · Rust · Python</a:t>
            </a:r>
          </a:p>
        </p:txBody>
      </p:sp>
      <p:sp>
        <p:nvSpPr>
          <p:cNvPr id="108" name="Rectangle 107"/>
          <p:cNvSpPr/>
          <p:nvPr/>
        </p:nvSpPr>
        <p:spPr>
          <a:xfrm>
            <a:off x="9646920" y="3447288"/>
            <a:ext cx="1920239" cy="384048"/>
          </a:xfrm>
          <a:prstGeom prst="rect">
            <a:avLst/>
          </a:prstGeom>
          <a:solidFill>
            <a:srgbClr val="FFFFFF"/>
          </a:solidFill>
          <a:ln w="9525">
            <a:solidFill>
              <a:srgbClr val="E1E7F4"/>
            </a:solidFill>
          </a:ln>
          <a:effectLst/>
        </p:spPr>
        <p:txBody>
          <a:bodyPr rtlCol="0" anchor="ctr"/>
          <a:lstStyle/>
          <a:p>
            <a:pPr algn="ctr"/>
            <a:endParaRPr/>
          </a:p>
        </p:txBody>
      </p:sp>
      <p:sp>
        <p:nvSpPr>
          <p:cNvPr id="109" name="TextBox 108"/>
          <p:cNvSpPr txBox="1"/>
          <p:nvPr/>
        </p:nvSpPr>
        <p:spPr>
          <a:xfrm>
            <a:off x="9665208" y="3456432"/>
            <a:ext cx="1883663" cy="365759"/>
          </a:xfrm>
          <a:prstGeom prst="rect">
            <a:avLst/>
          </a:prstGeom>
          <a:noFill/>
        </p:spPr>
        <p:txBody>
          <a:bodyPr wrap="square" lIns="54864" tIns="18288" rIns="54864" bIns="18288" anchor="ctr">
            <a:spAutoFit/>
          </a:bodyPr>
          <a:lstStyle/>
          <a:p>
            <a:pPr algn="l"/>
            <a:r>
              <a:rPr sz="900" b="1">
                <a:solidFill>
                  <a:srgbClr val="141B33"/>
                </a:solidFill>
                <a:latin typeface="Segoe UI"/>
              </a:rPr>
              <a:t>No Azure subscription</a:t>
            </a:r>
            <a:r>
              <a:rPr sz="900" b="0">
                <a:solidFill>
                  <a:srgbClr val="141B33"/>
                </a:solidFill>
                <a:latin typeface="Segoe UI"/>
              </a:rPr>
              <a:t>  runs outside the Foundry resource</a:t>
            </a:r>
          </a:p>
        </p:txBody>
      </p:sp>
      <p:sp>
        <p:nvSpPr>
          <p:cNvPr id="110" name="TextBox 109"/>
          <p:cNvSpPr txBox="1"/>
          <p:nvPr/>
        </p:nvSpPr>
        <p:spPr>
          <a:xfrm>
            <a:off x="9573768" y="4407407"/>
            <a:ext cx="2066543" cy="841248"/>
          </a:xfrm>
          <a:prstGeom prst="rect">
            <a:avLst/>
          </a:prstGeom>
          <a:noFill/>
        </p:spPr>
        <p:txBody>
          <a:bodyPr wrap="square" lIns="54864" tIns="18288" rIns="54864" bIns="18288" anchor="ctr">
            <a:spAutoFit/>
          </a:bodyPr>
          <a:lstStyle/>
          <a:p>
            <a:pPr algn="ctr"/>
            <a:r>
              <a:rPr sz="850" b="0">
                <a:solidFill>
                  <a:srgbClr val="44495B"/>
                </a:solidFill>
                <a:latin typeface="Segoe UI"/>
              </a:rPr>
              <a:t>Runs on the device, outside Azure; not governed by the Control Plane.</a:t>
            </a:r>
          </a:p>
        </p:txBody>
      </p:sp>
      <p:sp>
        <p:nvSpPr>
          <p:cNvPr id="111" name="Rectangle 110"/>
          <p:cNvSpPr/>
          <p:nvPr/>
        </p:nvSpPr>
        <p:spPr>
          <a:xfrm>
            <a:off x="548640" y="5705855"/>
            <a:ext cx="201168" cy="109728"/>
          </a:xfrm>
          <a:prstGeom prst="rect">
            <a:avLst/>
          </a:prstGeom>
          <a:solidFill>
            <a:srgbClr val="101A3C"/>
          </a:solidFill>
          <a:ln>
            <a:noFill/>
          </a:ln>
          <a:effectLst/>
        </p:spPr>
        <p:txBody>
          <a:bodyPr rtlCol="0" anchor="ctr"/>
          <a:lstStyle/>
          <a:p>
            <a:pPr algn="ctr"/>
            <a:endParaRPr/>
          </a:p>
        </p:txBody>
      </p:sp>
      <p:sp>
        <p:nvSpPr>
          <p:cNvPr id="112" name="TextBox 111"/>
          <p:cNvSpPr txBox="1"/>
          <p:nvPr/>
        </p:nvSpPr>
        <p:spPr>
          <a:xfrm>
            <a:off x="768096" y="5650992"/>
            <a:ext cx="1280160" cy="219456"/>
          </a:xfrm>
          <a:prstGeom prst="rect">
            <a:avLst/>
          </a:prstGeom>
          <a:noFill/>
        </p:spPr>
        <p:txBody>
          <a:bodyPr wrap="square" lIns="54864" tIns="18288" rIns="54864" bIns="18288" anchor="ctr">
            <a:spAutoFit/>
          </a:bodyPr>
          <a:lstStyle/>
          <a:p>
            <a:pPr algn="l"/>
            <a:r>
              <a:rPr sz="800" b="0">
                <a:solidFill>
                  <a:srgbClr val="44495B"/>
                </a:solidFill>
                <a:latin typeface="Segoe UI"/>
              </a:rPr>
              <a:t>Foundry product</a:t>
            </a:r>
          </a:p>
        </p:txBody>
      </p:sp>
      <p:sp>
        <p:nvSpPr>
          <p:cNvPr id="113" name="Rectangle 112"/>
          <p:cNvSpPr/>
          <p:nvPr/>
        </p:nvSpPr>
        <p:spPr>
          <a:xfrm>
            <a:off x="2103120" y="5705855"/>
            <a:ext cx="201168" cy="109728"/>
          </a:xfrm>
          <a:prstGeom prst="rect">
            <a:avLst/>
          </a:prstGeom>
          <a:solidFill>
            <a:srgbClr val="FFFFFF"/>
          </a:solidFill>
          <a:ln w="9525">
            <a:solidFill>
              <a:srgbClr val="E1E7F4"/>
            </a:solidFill>
          </a:ln>
          <a:effectLst/>
        </p:spPr>
        <p:txBody>
          <a:bodyPr rtlCol="0" anchor="ctr"/>
          <a:lstStyle/>
          <a:p>
            <a:pPr algn="ctr"/>
            <a:endParaRPr/>
          </a:p>
        </p:txBody>
      </p:sp>
      <p:sp>
        <p:nvSpPr>
          <p:cNvPr id="114" name="TextBox 113"/>
          <p:cNvSpPr txBox="1"/>
          <p:nvPr/>
        </p:nvSpPr>
        <p:spPr>
          <a:xfrm>
            <a:off x="2322576" y="5650992"/>
            <a:ext cx="914400" cy="219456"/>
          </a:xfrm>
          <a:prstGeom prst="rect">
            <a:avLst/>
          </a:prstGeom>
          <a:noFill/>
        </p:spPr>
        <p:txBody>
          <a:bodyPr wrap="square" lIns="54864" tIns="18288" rIns="54864" bIns="18288" anchor="ctr">
            <a:spAutoFit/>
          </a:bodyPr>
          <a:lstStyle/>
          <a:p>
            <a:pPr algn="l"/>
            <a:r>
              <a:rPr sz="800" b="0">
                <a:solidFill>
                  <a:srgbClr val="44495B"/>
                </a:solidFill>
                <a:latin typeface="Segoe UI"/>
              </a:rPr>
              <a:t>Capability</a:t>
            </a:r>
          </a:p>
        </p:txBody>
      </p:sp>
      <p:sp>
        <p:nvSpPr>
          <p:cNvPr id="115" name="Rectangle 114"/>
          <p:cNvSpPr/>
          <p:nvPr/>
        </p:nvSpPr>
        <p:spPr>
          <a:xfrm>
            <a:off x="3291840" y="5705855"/>
            <a:ext cx="201168" cy="109728"/>
          </a:xfrm>
          <a:prstGeom prst="rect">
            <a:avLst/>
          </a:prstGeom>
          <a:solidFill>
            <a:srgbClr val="EBEFF7"/>
          </a:solidFill>
          <a:ln>
            <a:noFill/>
          </a:ln>
          <a:effectLst/>
        </p:spPr>
        <p:txBody>
          <a:bodyPr rtlCol="0" anchor="ctr"/>
          <a:lstStyle/>
          <a:p>
            <a:pPr algn="ctr"/>
            <a:endParaRPr/>
          </a:p>
        </p:txBody>
      </p:sp>
      <p:sp>
        <p:nvSpPr>
          <p:cNvPr id="116" name="TextBox 115"/>
          <p:cNvSpPr txBox="1"/>
          <p:nvPr/>
        </p:nvSpPr>
        <p:spPr>
          <a:xfrm>
            <a:off x="3511296" y="5650992"/>
            <a:ext cx="2011680" cy="219456"/>
          </a:xfrm>
          <a:prstGeom prst="rect">
            <a:avLst/>
          </a:prstGeom>
          <a:noFill/>
        </p:spPr>
        <p:txBody>
          <a:bodyPr wrap="square" lIns="54864" tIns="18288" rIns="54864" bIns="18288" anchor="ctr">
            <a:spAutoFit/>
          </a:bodyPr>
          <a:lstStyle/>
          <a:p>
            <a:pPr algn="l"/>
            <a:r>
              <a:rPr sz="800" b="0">
                <a:solidFill>
                  <a:srgbClr val="44495B"/>
                </a:solidFill>
                <a:latin typeface="Segoe UI"/>
              </a:rPr>
              <a:t>Developer surface / resource model</a:t>
            </a:r>
          </a:p>
        </p:txBody>
      </p:sp>
      <p:sp>
        <p:nvSpPr>
          <p:cNvPr id="117" name="Rectangle 116"/>
          <p:cNvSpPr/>
          <p:nvPr/>
        </p:nvSpPr>
        <p:spPr>
          <a:xfrm>
            <a:off x="5669279" y="5705855"/>
            <a:ext cx="201168" cy="109728"/>
          </a:xfrm>
          <a:prstGeom prst="rect">
            <a:avLst/>
          </a:prstGeom>
          <a:solidFill>
            <a:srgbClr val="0B1229"/>
          </a:solidFill>
          <a:ln>
            <a:noFill/>
          </a:ln>
          <a:effectLst/>
        </p:spPr>
        <p:txBody>
          <a:bodyPr rtlCol="0" anchor="ctr"/>
          <a:lstStyle/>
          <a:p>
            <a:pPr algn="ctr"/>
            <a:endParaRPr/>
          </a:p>
        </p:txBody>
      </p:sp>
      <p:sp>
        <p:nvSpPr>
          <p:cNvPr id="118" name="TextBox 117"/>
          <p:cNvSpPr txBox="1"/>
          <p:nvPr/>
        </p:nvSpPr>
        <p:spPr>
          <a:xfrm>
            <a:off x="5888736" y="5650992"/>
            <a:ext cx="1463040" cy="219456"/>
          </a:xfrm>
          <a:prstGeom prst="rect">
            <a:avLst/>
          </a:prstGeom>
          <a:noFill/>
        </p:spPr>
        <p:txBody>
          <a:bodyPr wrap="square" lIns="54864" tIns="18288" rIns="54864" bIns="18288" anchor="ctr">
            <a:spAutoFit/>
          </a:bodyPr>
          <a:lstStyle/>
          <a:p>
            <a:pPr algn="l"/>
            <a:r>
              <a:rPr sz="800" b="0">
                <a:solidFill>
                  <a:srgbClr val="44495B"/>
                </a:solidFill>
                <a:latin typeface="Segoe UI"/>
              </a:rPr>
              <a:t>Governance layer</a:t>
            </a:r>
          </a:p>
        </p:txBody>
      </p:sp>
      <p:sp>
        <p:nvSpPr>
          <p:cNvPr id="119" name="TextBox 118"/>
          <p:cNvSpPr txBox="1"/>
          <p:nvPr/>
        </p:nvSpPr>
        <p:spPr>
          <a:xfrm>
            <a:off x="7406640" y="5650992"/>
            <a:ext cx="1828800" cy="219456"/>
          </a:xfrm>
          <a:prstGeom prst="rect">
            <a:avLst/>
          </a:prstGeom>
          <a:noFill/>
        </p:spPr>
        <p:txBody>
          <a:bodyPr wrap="square" lIns="54864" tIns="18288" rIns="54864" bIns="18288" anchor="ctr">
            <a:spAutoFit/>
          </a:bodyPr>
          <a:lstStyle/>
          <a:p>
            <a:pPr algn="l"/>
            <a:r>
              <a:rPr sz="800" b="0">
                <a:solidFill>
                  <a:srgbClr val="44495B"/>
                </a:solidFill>
                <a:latin typeface="Segoe UI"/>
              </a:rPr>
              <a:t>*  preview</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AI workload — end-to-end reference architecture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Channel → AI gateway → hosted agent with models, tools, knowledge and peer agents → Control Plane.</a:t>
            </a:r>
          </a:p>
          <a:p>
            <a:endParaRPr sz="1200">
              <a:solidFill>
                <a:srgbClr val="44495B"/>
              </a:solidFill>
              <a:latin typeface="Segoe UI"/>
            </a:endParaRPr>
          </a:p>
        </p:txBody>
      </p:sp>
      <p:sp>
        <p:nvSpPr>
          <p:cNvPr id="39" name="Shape"/>
          <p:cNvSpPr/>
          <p:nvPr/>
        </p:nvSpPr>
        <p:spPr>
          <a:xfrm>
            <a:off x="548640" y="5687568"/>
            <a:ext cx="11094720" cy="9525"/>
          </a:xfrm>
          <a:prstGeom prst="rect">
            <a:avLst/>
          </a:prstGeom>
          <a:solidFill>
            <a:srgbClr val="E1E7F4"/>
          </a:solidFill>
        </p:spPr>
        <p:txBody>
          <a:bodyPr/>
          <a:lstStyle/>
          <a:p>
            <a:endParaRPr/>
          </a:p>
        </p:txBody>
      </p:sp>
      <p:sp>
        <p:nvSpPr>
          <p:cNvPr id="4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Sources: Azure Architecture Center — baseline-microsoft-foundry-chat · API Management — genai-gateway-capabilities</a:t>
            </a:r>
          </a:p>
          <a:p>
            <a:endParaRPr sz="900">
              <a:solidFill>
                <a:srgbClr val="44495B"/>
              </a:solidFill>
              <a:latin typeface="Segoe UI"/>
            </a:endParaRPr>
          </a:p>
        </p:txBody>
      </p:sp>
      <p:sp>
        <p:nvSpPr>
          <p:cNvPr id="4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4</a:t>
            </a:r>
          </a:p>
        </p:txBody>
      </p:sp>
      <p:sp>
        <p:nvSpPr>
          <p:cNvPr id="42" name="TextBox 41"/>
          <p:cNvSpPr txBox="1"/>
          <p:nvPr/>
        </p:nvSpPr>
        <p:spPr>
          <a:xfrm>
            <a:off x="548640" y="1280160"/>
            <a:ext cx="1572768"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CHANNELS</a:t>
            </a:r>
          </a:p>
        </p:txBody>
      </p:sp>
      <p:sp>
        <p:nvSpPr>
          <p:cNvPr id="43" name="Rectangle 42"/>
          <p:cNvSpPr/>
          <p:nvPr/>
        </p:nvSpPr>
        <p:spPr>
          <a:xfrm>
            <a:off x="548640" y="1554480"/>
            <a:ext cx="1572768" cy="640080"/>
          </a:xfrm>
          <a:prstGeom prst="rect">
            <a:avLst/>
          </a:prstGeom>
          <a:solidFill>
            <a:srgbClr val="EBEFF7"/>
          </a:solidFill>
          <a:ln>
            <a:noFill/>
          </a:ln>
          <a:effectLst/>
        </p:spPr>
        <p:txBody>
          <a:bodyPr rtlCol="0" anchor="ctr"/>
          <a:lstStyle/>
          <a:p>
            <a:pPr algn="ctr"/>
            <a:endParaRPr/>
          </a:p>
        </p:txBody>
      </p:sp>
      <p:sp>
        <p:nvSpPr>
          <p:cNvPr id="44" name="TextBox 43"/>
          <p:cNvSpPr txBox="1"/>
          <p:nvPr/>
        </p:nvSpPr>
        <p:spPr>
          <a:xfrm>
            <a:off x="694944" y="1554480"/>
            <a:ext cx="1426464" cy="640080"/>
          </a:xfrm>
          <a:prstGeom prst="rect">
            <a:avLst/>
          </a:prstGeom>
          <a:noFill/>
        </p:spPr>
        <p:txBody>
          <a:bodyPr wrap="square" lIns="54864" tIns="18288" rIns="54864" bIns="18288" anchor="ctr">
            <a:spAutoFit/>
          </a:bodyPr>
          <a:lstStyle/>
          <a:p>
            <a:pPr algn="l"/>
            <a:r>
              <a:rPr sz="800" b="1">
                <a:solidFill>
                  <a:srgbClr val="141B33"/>
                </a:solidFill>
                <a:latin typeface="Segoe UI"/>
              </a:rPr>
              <a:t>Microsoft 365 Copilot and Teams</a:t>
            </a:r>
          </a:p>
          <a:p>
            <a:pPr algn="l"/>
            <a:r>
              <a:rPr sz="800" b="0">
                <a:solidFill>
                  <a:srgbClr val="141B33"/>
                </a:solidFill>
                <a:latin typeface="Segoe UI"/>
              </a:rPr>
              <a:t>Activity protocol, bridged from Responses</a:t>
            </a:r>
          </a:p>
        </p:txBody>
      </p:sp>
      <p:sp>
        <p:nvSpPr>
          <p:cNvPr id="45" name="Oval 44"/>
          <p:cNvSpPr/>
          <p:nvPr/>
        </p:nvSpPr>
        <p:spPr>
          <a:xfrm>
            <a:off x="438912" y="1463039"/>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1</a:t>
            </a:r>
          </a:p>
        </p:txBody>
      </p:sp>
      <p:sp>
        <p:nvSpPr>
          <p:cNvPr id="46" name="Rectangle 45"/>
          <p:cNvSpPr/>
          <p:nvPr/>
        </p:nvSpPr>
        <p:spPr>
          <a:xfrm>
            <a:off x="548640" y="2267712"/>
            <a:ext cx="1572768" cy="640080"/>
          </a:xfrm>
          <a:prstGeom prst="rect">
            <a:avLst/>
          </a:prstGeom>
          <a:solidFill>
            <a:srgbClr val="EBEFF7"/>
          </a:solidFill>
          <a:ln>
            <a:noFill/>
          </a:ln>
          <a:effectLst/>
        </p:spPr>
        <p:txBody>
          <a:bodyPr rtlCol="0" anchor="ctr"/>
          <a:lstStyle/>
          <a:p>
            <a:pPr algn="ctr"/>
            <a:endParaRPr/>
          </a:p>
        </p:txBody>
      </p:sp>
      <p:sp>
        <p:nvSpPr>
          <p:cNvPr id="47" name="TextBox 46"/>
          <p:cNvSpPr txBox="1"/>
          <p:nvPr/>
        </p:nvSpPr>
        <p:spPr>
          <a:xfrm>
            <a:off x="548640" y="2267712"/>
            <a:ext cx="1572768" cy="640080"/>
          </a:xfrm>
          <a:prstGeom prst="rect">
            <a:avLst/>
          </a:prstGeom>
          <a:noFill/>
        </p:spPr>
        <p:txBody>
          <a:bodyPr wrap="square" lIns="54864" tIns="18288" rIns="54864" bIns="18288" anchor="ctr">
            <a:spAutoFit/>
          </a:bodyPr>
          <a:lstStyle/>
          <a:p>
            <a:pPr algn="l"/>
            <a:r>
              <a:rPr sz="800" b="1">
                <a:solidFill>
                  <a:srgbClr val="141B33"/>
                </a:solidFill>
                <a:latin typeface="Segoe UI"/>
              </a:rPr>
              <a:t>Web app on App Service</a:t>
            </a:r>
          </a:p>
          <a:p>
            <a:pPr algn="l"/>
            <a:r>
              <a:rPr sz="800" b="0">
                <a:solidFill>
                  <a:srgbClr val="141B33"/>
                </a:solidFill>
                <a:latin typeface="Segoe UI"/>
              </a:rPr>
              <a:t>behind Application Gateway and WAF</a:t>
            </a:r>
          </a:p>
        </p:txBody>
      </p:sp>
      <p:sp>
        <p:nvSpPr>
          <p:cNvPr id="48" name="Rectangle 47"/>
          <p:cNvSpPr/>
          <p:nvPr/>
        </p:nvSpPr>
        <p:spPr>
          <a:xfrm>
            <a:off x="548640" y="2980944"/>
            <a:ext cx="1572768" cy="640080"/>
          </a:xfrm>
          <a:prstGeom prst="rect">
            <a:avLst/>
          </a:prstGeom>
          <a:solidFill>
            <a:srgbClr val="EBEFF7"/>
          </a:solidFill>
          <a:ln>
            <a:noFill/>
          </a:ln>
          <a:effectLst/>
        </p:spPr>
        <p:txBody>
          <a:bodyPr rtlCol="0" anchor="ctr"/>
          <a:lstStyle/>
          <a:p>
            <a:pPr algn="ctr"/>
            <a:endParaRPr/>
          </a:p>
        </p:txBody>
      </p:sp>
      <p:sp>
        <p:nvSpPr>
          <p:cNvPr id="49" name="TextBox 48"/>
          <p:cNvSpPr txBox="1"/>
          <p:nvPr/>
        </p:nvSpPr>
        <p:spPr>
          <a:xfrm>
            <a:off x="548640" y="2980944"/>
            <a:ext cx="1572768" cy="640080"/>
          </a:xfrm>
          <a:prstGeom prst="rect">
            <a:avLst/>
          </a:prstGeom>
          <a:noFill/>
        </p:spPr>
        <p:txBody>
          <a:bodyPr wrap="square" lIns="54864" tIns="18288" rIns="54864" bIns="18288" anchor="ctr">
            <a:spAutoFit/>
          </a:bodyPr>
          <a:lstStyle/>
          <a:p>
            <a:pPr algn="l"/>
            <a:r>
              <a:rPr sz="800" b="1">
                <a:solidFill>
                  <a:srgbClr val="141B33"/>
                </a:solidFill>
                <a:latin typeface="Segoe UI"/>
              </a:rPr>
              <a:t>Other apps and agents</a:t>
            </a:r>
          </a:p>
          <a:p>
            <a:pPr algn="l"/>
            <a:r>
              <a:rPr sz="800" b="0">
                <a:solidFill>
                  <a:srgbClr val="141B33"/>
                </a:solidFill>
                <a:latin typeface="Segoe UI"/>
              </a:rPr>
              <a:t>Invocations · A2A</a:t>
            </a:r>
          </a:p>
        </p:txBody>
      </p:sp>
      <p:sp>
        <p:nvSpPr>
          <p:cNvPr id="50" name="Right Arrow 49"/>
          <p:cNvSpPr/>
          <p:nvPr/>
        </p:nvSpPr>
        <p:spPr>
          <a:xfrm>
            <a:off x="2167127" y="2478024"/>
            <a:ext cx="201168" cy="219456"/>
          </a:xfrm>
          <a:prstGeom prst="rightArrow">
            <a:avLst/>
          </a:prstGeom>
          <a:solidFill>
            <a:srgbClr val="00B39F"/>
          </a:solidFill>
          <a:ln>
            <a:noFill/>
          </a:ln>
          <a:effectLst/>
        </p:spPr>
        <p:txBody>
          <a:bodyPr rtlCol="0" anchor="ctr"/>
          <a:lstStyle/>
          <a:p>
            <a:pPr algn="ctr"/>
            <a:endParaRPr/>
          </a:p>
        </p:txBody>
      </p:sp>
      <p:sp>
        <p:nvSpPr>
          <p:cNvPr id="51" name="TextBox 50"/>
          <p:cNvSpPr txBox="1"/>
          <p:nvPr/>
        </p:nvSpPr>
        <p:spPr>
          <a:xfrm>
            <a:off x="2395728" y="1280160"/>
            <a:ext cx="1737360"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AI GATEWAY</a:t>
            </a:r>
          </a:p>
        </p:txBody>
      </p:sp>
      <p:sp>
        <p:nvSpPr>
          <p:cNvPr id="52" name="Rectangle 51"/>
          <p:cNvSpPr/>
          <p:nvPr/>
        </p:nvSpPr>
        <p:spPr>
          <a:xfrm>
            <a:off x="2395728" y="1554480"/>
            <a:ext cx="1737360" cy="2560320"/>
          </a:xfrm>
          <a:prstGeom prst="rect">
            <a:avLst/>
          </a:prstGeom>
          <a:solidFill>
            <a:srgbClr val="FFFFFF"/>
          </a:solidFill>
          <a:ln w="12700">
            <a:solidFill>
              <a:srgbClr val="101A3C"/>
            </a:solidFill>
          </a:ln>
          <a:effectLst/>
        </p:spPr>
        <p:txBody>
          <a:bodyPr rtlCol="0" anchor="ctr"/>
          <a:lstStyle/>
          <a:p>
            <a:pPr algn="ctr"/>
            <a:endParaRPr/>
          </a:p>
        </p:txBody>
      </p:sp>
      <p:sp>
        <p:nvSpPr>
          <p:cNvPr id="53" name="TextBox 52"/>
          <p:cNvSpPr txBox="1"/>
          <p:nvPr/>
        </p:nvSpPr>
        <p:spPr>
          <a:xfrm>
            <a:off x="2505456" y="1591056"/>
            <a:ext cx="1609343" cy="2468880"/>
          </a:xfrm>
          <a:prstGeom prst="rect">
            <a:avLst/>
          </a:prstGeom>
          <a:noFill/>
        </p:spPr>
        <p:txBody>
          <a:bodyPr wrap="square" lIns="54864" tIns="18288" rIns="54864" bIns="18288" anchor="t">
            <a:spAutoFit/>
          </a:bodyPr>
          <a:lstStyle/>
          <a:p>
            <a:pPr algn="l"/>
            <a:r>
              <a:rPr sz="800" b="1">
                <a:solidFill>
                  <a:srgbClr val="141B33"/>
                </a:solidFill>
                <a:latin typeface="Segoe UI"/>
              </a:rPr>
              <a:t>Azure API Management — AI gateway in Foundry*</a:t>
            </a:r>
          </a:p>
          <a:p>
            <a:pPr algn="l"/>
            <a:endParaRPr sz="800" b="1">
              <a:solidFill>
                <a:srgbClr val="141B33"/>
              </a:solidFill>
              <a:latin typeface="Segoe UI"/>
            </a:endParaRPr>
          </a:p>
          <a:p>
            <a:pPr algn="l"/>
            <a:r>
              <a:rPr sz="800" b="0">
                <a:solidFill>
                  <a:srgbClr val="141B33"/>
                </a:solidFill>
                <a:latin typeface="Segoe UI"/>
              </a:rPr>
              <a:t>• token quotas and rate limits per consumer</a:t>
            </a:r>
          </a:p>
          <a:p>
            <a:pPr algn="l"/>
            <a:r>
              <a:rPr sz="800" b="0">
                <a:solidFill>
                  <a:srgbClr val="141B33"/>
                </a:solidFill>
                <a:latin typeface="Segoe UI"/>
              </a:rPr>
              <a:t>• load balancing and circuit breaker across model deployments</a:t>
            </a:r>
          </a:p>
          <a:p>
            <a:pPr algn="l"/>
            <a:r>
              <a:rPr sz="800" b="0">
                <a:solidFill>
                  <a:srgbClr val="141B33"/>
                </a:solidFill>
                <a:latin typeface="Segoe UI"/>
              </a:rPr>
              <a:t>• semantic caching</a:t>
            </a:r>
          </a:p>
          <a:p>
            <a:pPr algn="l"/>
            <a:r>
              <a:rPr sz="800" b="0">
                <a:solidFill>
                  <a:srgbClr val="141B33"/>
                </a:solidFill>
                <a:latin typeface="Segoe UI"/>
              </a:rPr>
              <a:t>• Content Safety policy on prompts</a:t>
            </a:r>
          </a:p>
          <a:p>
            <a:pPr algn="l"/>
            <a:r>
              <a:rPr sz="800" b="0">
                <a:solidFill>
                  <a:srgbClr val="141B33"/>
                </a:solidFill>
                <a:latin typeface="Segoe UI"/>
              </a:rPr>
              <a:t>• token metrics and logs to Application Insights</a:t>
            </a:r>
          </a:p>
          <a:p>
            <a:pPr algn="l"/>
            <a:r>
              <a:rPr sz="800" b="0">
                <a:solidFill>
                  <a:srgbClr val="141B33"/>
                </a:solidFill>
                <a:latin typeface="Segoe UI"/>
              </a:rPr>
              <a:t>• MCP servers and A2A agents registered as APIs</a:t>
            </a:r>
          </a:p>
        </p:txBody>
      </p:sp>
      <p:sp>
        <p:nvSpPr>
          <p:cNvPr id="54" name="Oval 53"/>
          <p:cNvSpPr/>
          <p:nvPr/>
        </p:nvSpPr>
        <p:spPr>
          <a:xfrm>
            <a:off x="2286000" y="1463039"/>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2</a:t>
            </a:r>
          </a:p>
        </p:txBody>
      </p:sp>
      <p:sp>
        <p:nvSpPr>
          <p:cNvPr id="55" name="Right Arrow 54"/>
          <p:cNvSpPr/>
          <p:nvPr/>
        </p:nvSpPr>
        <p:spPr>
          <a:xfrm>
            <a:off x="4178807" y="2286000"/>
            <a:ext cx="201168" cy="219456"/>
          </a:xfrm>
          <a:prstGeom prst="rightArrow">
            <a:avLst/>
          </a:prstGeom>
          <a:solidFill>
            <a:srgbClr val="00B39F"/>
          </a:solidFill>
          <a:ln>
            <a:noFill/>
          </a:ln>
          <a:effectLst/>
        </p:spPr>
        <p:txBody>
          <a:bodyPr rtlCol="0" anchor="ctr"/>
          <a:lstStyle/>
          <a:p>
            <a:pPr algn="ctr"/>
            <a:endParaRPr/>
          </a:p>
        </p:txBody>
      </p:sp>
      <p:sp>
        <p:nvSpPr>
          <p:cNvPr id="56" name="Rectangle 55"/>
          <p:cNvSpPr/>
          <p:nvPr/>
        </p:nvSpPr>
        <p:spPr>
          <a:xfrm>
            <a:off x="4379976" y="1280160"/>
            <a:ext cx="3822191" cy="2834640"/>
          </a:xfrm>
          <a:prstGeom prst="rect">
            <a:avLst/>
          </a:prstGeom>
          <a:solidFill>
            <a:srgbClr val="F6F8FD"/>
          </a:solidFill>
          <a:ln w="9525">
            <a:solidFill>
              <a:srgbClr val="44495B"/>
            </a:solidFill>
            <a:prstDash val="dash"/>
          </a:ln>
          <a:effectLst/>
        </p:spPr>
        <p:txBody>
          <a:bodyPr rtlCol="0" anchor="ctr"/>
          <a:lstStyle/>
          <a:p>
            <a:pPr algn="ctr"/>
            <a:endParaRPr/>
          </a:p>
        </p:txBody>
      </p:sp>
      <p:sp>
        <p:nvSpPr>
          <p:cNvPr id="57" name="TextBox 56"/>
          <p:cNvSpPr txBox="1"/>
          <p:nvPr/>
        </p:nvSpPr>
        <p:spPr>
          <a:xfrm>
            <a:off x="4416552" y="1298448"/>
            <a:ext cx="3730752"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FOUNDRY RESOURCE · PROJECT · BYO VNET</a:t>
            </a:r>
          </a:p>
        </p:txBody>
      </p:sp>
      <p:sp>
        <p:nvSpPr>
          <p:cNvPr id="58" name="Rectangle 57"/>
          <p:cNvSpPr/>
          <p:nvPr/>
        </p:nvSpPr>
        <p:spPr>
          <a:xfrm>
            <a:off x="4471416" y="1554480"/>
            <a:ext cx="3639311" cy="256032"/>
          </a:xfrm>
          <a:prstGeom prst="rect">
            <a:avLst/>
          </a:prstGeom>
          <a:solidFill>
            <a:srgbClr val="101A3C"/>
          </a:solidFill>
          <a:ln>
            <a:noFill/>
          </a:ln>
          <a:effectLst/>
        </p:spPr>
        <p:txBody>
          <a:bodyPr rtlCol="0" anchor="ctr"/>
          <a:lstStyle/>
          <a:p>
            <a:pPr algn="ctr"/>
            <a:endParaRPr/>
          </a:p>
        </p:txBody>
      </p:sp>
      <p:sp>
        <p:nvSpPr>
          <p:cNvPr id="59" name="TextBox 58"/>
          <p:cNvSpPr txBox="1"/>
          <p:nvPr/>
        </p:nvSpPr>
        <p:spPr>
          <a:xfrm>
            <a:off x="4471416" y="1554480"/>
            <a:ext cx="3639311" cy="256032"/>
          </a:xfrm>
          <a:prstGeom prst="rect">
            <a:avLst/>
          </a:prstGeom>
          <a:noFill/>
        </p:spPr>
        <p:txBody>
          <a:bodyPr wrap="square" lIns="54864" tIns="18288" rIns="54864" bIns="18288" anchor="ctr">
            <a:spAutoFit/>
          </a:bodyPr>
          <a:lstStyle/>
          <a:p>
            <a:pPr algn="ctr"/>
            <a:r>
              <a:rPr sz="900" b="1">
                <a:solidFill>
                  <a:srgbClr val="FFFFFF"/>
                </a:solidFill>
                <a:latin typeface="Segoe UI"/>
              </a:rPr>
              <a:t>Foundry Agent Service — Agent Runtime</a:t>
            </a:r>
          </a:p>
        </p:txBody>
      </p:sp>
      <p:sp>
        <p:nvSpPr>
          <p:cNvPr id="60" name="Rectangle 59"/>
          <p:cNvSpPr/>
          <p:nvPr/>
        </p:nvSpPr>
        <p:spPr>
          <a:xfrm>
            <a:off x="4471416" y="1883664"/>
            <a:ext cx="3639311" cy="585216"/>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4617720" y="1883664"/>
            <a:ext cx="3493007" cy="585216"/>
          </a:xfrm>
          <a:prstGeom prst="rect">
            <a:avLst/>
          </a:prstGeom>
          <a:noFill/>
        </p:spPr>
        <p:txBody>
          <a:bodyPr wrap="square" lIns="54864" tIns="18288" rIns="54864" bIns="18288" anchor="ctr">
            <a:spAutoFit/>
          </a:bodyPr>
          <a:lstStyle/>
          <a:p>
            <a:pPr algn="l"/>
            <a:r>
              <a:rPr sz="800" b="1">
                <a:solidFill>
                  <a:srgbClr val="141B33"/>
                </a:solidFill>
                <a:latin typeface="Segoe UI"/>
              </a:rPr>
              <a:t>Hosted agent — application code (Agent Framework, LangGraph, custom)</a:t>
            </a:r>
          </a:p>
          <a:p>
            <a:pPr algn="l"/>
            <a:r>
              <a:rPr sz="800" b="0">
                <a:solidFill>
                  <a:srgbClr val="141B33"/>
                </a:solidFill>
                <a:latin typeface="Segoe UI"/>
              </a:rPr>
              <a:t>Responses protocol endpoint · dedicated Entra agent identity · per-session VM-isolated sandbox</a:t>
            </a:r>
          </a:p>
        </p:txBody>
      </p:sp>
      <p:sp>
        <p:nvSpPr>
          <p:cNvPr id="62" name="Oval 61"/>
          <p:cNvSpPr/>
          <p:nvPr/>
        </p:nvSpPr>
        <p:spPr>
          <a:xfrm>
            <a:off x="4361688" y="1792224"/>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3</a:t>
            </a:r>
          </a:p>
        </p:txBody>
      </p:sp>
      <p:sp>
        <p:nvSpPr>
          <p:cNvPr id="63" name="Rectangle 62"/>
          <p:cNvSpPr/>
          <p:nvPr/>
        </p:nvSpPr>
        <p:spPr>
          <a:xfrm>
            <a:off x="4471416" y="2523744"/>
            <a:ext cx="3639311" cy="274320"/>
          </a:xfrm>
          <a:prstGeom prst="rect">
            <a:avLst/>
          </a:prstGeom>
          <a:solidFill>
            <a:srgbClr val="FFFFFF"/>
          </a:solidFill>
          <a:ln w="9525">
            <a:solidFill>
              <a:srgbClr val="E1E7F4"/>
            </a:solidFill>
          </a:ln>
          <a:effectLst/>
        </p:spPr>
        <p:txBody>
          <a:bodyPr rtlCol="0" anchor="ctr"/>
          <a:lstStyle/>
          <a:p>
            <a:pPr algn="ctr"/>
            <a:endParaRPr/>
          </a:p>
        </p:txBody>
      </p:sp>
      <p:sp>
        <p:nvSpPr>
          <p:cNvPr id="64" name="TextBox 63"/>
          <p:cNvSpPr txBox="1"/>
          <p:nvPr/>
        </p:nvSpPr>
        <p:spPr>
          <a:xfrm>
            <a:off x="4471416" y="2523744"/>
            <a:ext cx="3639311" cy="274320"/>
          </a:xfrm>
          <a:prstGeom prst="rect">
            <a:avLst/>
          </a:prstGeom>
          <a:noFill/>
        </p:spPr>
        <p:txBody>
          <a:bodyPr wrap="square" lIns="54864" tIns="18288" rIns="54864" bIns="18288" anchor="ctr">
            <a:spAutoFit/>
          </a:bodyPr>
          <a:lstStyle/>
          <a:p>
            <a:pPr algn="l"/>
            <a:r>
              <a:rPr sz="800" b="1">
                <a:solidFill>
                  <a:srgbClr val="141B33"/>
                </a:solidFill>
                <a:latin typeface="Segoe UI"/>
              </a:rPr>
              <a:t>Guardrails</a:t>
            </a:r>
          </a:p>
          <a:p>
            <a:pPr algn="l"/>
            <a:r>
              <a:rPr sz="800" b="0">
                <a:solidFill>
                  <a:srgbClr val="141B33"/>
                </a:solidFill>
                <a:latin typeface="Segoe UI"/>
              </a:rPr>
              <a:t>user input · tool call* · tool response* · output</a:t>
            </a:r>
          </a:p>
        </p:txBody>
      </p:sp>
      <p:sp>
        <p:nvSpPr>
          <p:cNvPr id="65" name="Rectangle 64"/>
          <p:cNvSpPr/>
          <p:nvPr/>
        </p:nvSpPr>
        <p:spPr>
          <a:xfrm>
            <a:off x="4471416" y="2871215"/>
            <a:ext cx="1773935" cy="585216"/>
          </a:xfrm>
          <a:prstGeom prst="rect">
            <a:avLst/>
          </a:prstGeom>
          <a:solidFill>
            <a:srgbClr val="FFFFFF"/>
          </a:solidFill>
          <a:ln w="9525">
            <a:solidFill>
              <a:srgbClr val="E1E7F4"/>
            </a:solidFill>
          </a:ln>
          <a:effectLst/>
        </p:spPr>
        <p:txBody>
          <a:bodyPr rtlCol="0" anchor="ctr"/>
          <a:lstStyle/>
          <a:p>
            <a:pPr algn="ctr"/>
            <a:endParaRPr/>
          </a:p>
        </p:txBody>
      </p:sp>
      <p:sp>
        <p:nvSpPr>
          <p:cNvPr id="66" name="TextBox 65"/>
          <p:cNvSpPr txBox="1"/>
          <p:nvPr/>
        </p:nvSpPr>
        <p:spPr>
          <a:xfrm>
            <a:off x="4617720" y="2871215"/>
            <a:ext cx="1627631" cy="585216"/>
          </a:xfrm>
          <a:prstGeom prst="rect">
            <a:avLst/>
          </a:prstGeom>
          <a:noFill/>
        </p:spPr>
        <p:txBody>
          <a:bodyPr wrap="square" lIns="54864" tIns="18288" rIns="54864" bIns="18288" anchor="ctr">
            <a:spAutoFit/>
          </a:bodyPr>
          <a:lstStyle/>
          <a:p>
            <a:pPr algn="l"/>
            <a:r>
              <a:rPr sz="800" b="1">
                <a:solidFill>
                  <a:srgbClr val="141B33"/>
                </a:solidFill>
                <a:latin typeface="Segoe UI"/>
              </a:rPr>
              <a:t>Foundry Models — deployments</a:t>
            </a:r>
          </a:p>
          <a:p>
            <a:pPr algn="l"/>
            <a:r>
              <a:rPr sz="800" b="0">
                <a:solidFill>
                  <a:srgbClr val="141B33"/>
                </a:solidFill>
                <a:latin typeface="Segoe UI"/>
              </a:rPr>
              <a:t>Data Zone Standard + Provisioned · Model Router</a:t>
            </a:r>
          </a:p>
        </p:txBody>
      </p:sp>
      <p:sp>
        <p:nvSpPr>
          <p:cNvPr id="67" name="Oval 66"/>
          <p:cNvSpPr/>
          <p:nvPr/>
        </p:nvSpPr>
        <p:spPr>
          <a:xfrm>
            <a:off x="4361688" y="2779775"/>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4</a:t>
            </a:r>
          </a:p>
        </p:txBody>
      </p:sp>
      <p:sp>
        <p:nvSpPr>
          <p:cNvPr id="68" name="Rectangle 67"/>
          <p:cNvSpPr/>
          <p:nvPr/>
        </p:nvSpPr>
        <p:spPr>
          <a:xfrm>
            <a:off x="6336791" y="2871215"/>
            <a:ext cx="1773935" cy="585216"/>
          </a:xfrm>
          <a:prstGeom prst="rect">
            <a:avLst/>
          </a:prstGeom>
          <a:solidFill>
            <a:srgbClr val="FFFFFF"/>
          </a:solidFill>
          <a:ln w="9525">
            <a:solidFill>
              <a:srgbClr val="E1E7F4"/>
            </a:solidFill>
          </a:ln>
          <a:effectLst/>
        </p:spPr>
        <p:txBody>
          <a:bodyPr rtlCol="0" anchor="ctr"/>
          <a:lstStyle/>
          <a:p>
            <a:pPr algn="ctr"/>
            <a:endParaRPr/>
          </a:p>
        </p:txBody>
      </p:sp>
      <p:sp>
        <p:nvSpPr>
          <p:cNvPr id="69" name="TextBox 68"/>
          <p:cNvSpPr txBox="1"/>
          <p:nvPr/>
        </p:nvSpPr>
        <p:spPr>
          <a:xfrm>
            <a:off x="6483095" y="2871215"/>
            <a:ext cx="1627631" cy="585216"/>
          </a:xfrm>
          <a:prstGeom prst="rect">
            <a:avLst/>
          </a:prstGeom>
          <a:noFill/>
        </p:spPr>
        <p:txBody>
          <a:bodyPr wrap="square" lIns="54864" tIns="18288" rIns="54864" bIns="18288" anchor="ctr">
            <a:spAutoFit/>
          </a:bodyPr>
          <a:lstStyle/>
          <a:p>
            <a:pPr algn="l"/>
            <a:r>
              <a:rPr sz="800" b="1">
                <a:solidFill>
                  <a:srgbClr val="141B33"/>
                </a:solidFill>
                <a:latin typeface="Segoe UI"/>
              </a:rPr>
              <a:t>Toolbox — one MCP endpoint</a:t>
            </a:r>
          </a:p>
          <a:p>
            <a:pPr algn="l"/>
            <a:r>
              <a:rPr sz="800" b="0">
                <a:solidFill>
                  <a:srgbClr val="141B33"/>
                </a:solidFill>
                <a:latin typeface="Segoe UI"/>
              </a:rPr>
              <a:t>Entra and OAuth OBO auth · versioning · tool search</a:t>
            </a:r>
          </a:p>
        </p:txBody>
      </p:sp>
      <p:sp>
        <p:nvSpPr>
          <p:cNvPr id="70" name="Oval 69"/>
          <p:cNvSpPr/>
          <p:nvPr/>
        </p:nvSpPr>
        <p:spPr>
          <a:xfrm>
            <a:off x="6227063" y="2779775"/>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5</a:t>
            </a:r>
          </a:p>
        </p:txBody>
      </p:sp>
      <p:sp>
        <p:nvSpPr>
          <p:cNvPr id="71" name="Rectangle 70"/>
          <p:cNvSpPr/>
          <p:nvPr/>
        </p:nvSpPr>
        <p:spPr>
          <a:xfrm>
            <a:off x="4471416" y="3529584"/>
            <a:ext cx="3639311" cy="530352"/>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4617720" y="3529584"/>
            <a:ext cx="3493007" cy="530352"/>
          </a:xfrm>
          <a:prstGeom prst="rect">
            <a:avLst/>
          </a:prstGeom>
          <a:noFill/>
        </p:spPr>
        <p:txBody>
          <a:bodyPr wrap="square" lIns="54864" tIns="18288" rIns="54864" bIns="18288" anchor="ctr">
            <a:spAutoFit/>
          </a:bodyPr>
          <a:lstStyle/>
          <a:p>
            <a:pPr algn="l"/>
            <a:r>
              <a:rPr sz="800" b="1">
                <a:solidFill>
                  <a:srgbClr val="141B33"/>
                </a:solidFill>
                <a:latin typeface="Segoe UI"/>
              </a:rPr>
              <a:t>Standard agent setup — customer-owned state, private endpoints</a:t>
            </a:r>
          </a:p>
          <a:p>
            <a:pPr algn="l"/>
            <a:r>
              <a:rPr sz="800" b="0">
                <a:solidFill>
                  <a:srgbClr val="141B33"/>
                </a:solidFill>
                <a:latin typeface="Segoe UI"/>
              </a:rPr>
              <a:t>Cosmos DB (conversations) · Storage (files) · AI Search (file search) · Key Vault (secrets) · Azure Firewall egress</a:t>
            </a:r>
          </a:p>
        </p:txBody>
      </p:sp>
      <p:sp>
        <p:nvSpPr>
          <p:cNvPr id="73" name="Oval 72"/>
          <p:cNvSpPr/>
          <p:nvPr/>
        </p:nvSpPr>
        <p:spPr>
          <a:xfrm>
            <a:off x="4361688" y="3438144"/>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7</a:t>
            </a:r>
          </a:p>
        </p:txBody>
      </p:sp>
      <p:sp>
        <p:nvSpPr>
          <p:cNvPr id="74" name="Right Arrow 73"/>
          <p:cNvSpPr/>
          <p:nvPr/>
        </p:nvSpPr>
        <p:spPr>
          <a:xfrm>
            <a:off x="8247888" y="2048255"/>
            <a:ext cx="201168" cy="219456"/>
          </a:xfrm>
          <a:prstGeom prst="rightArrow">
            <a:avLst/>
          </a:prstGeom>
          <a:solidFill>
            <a:srgbClr val="00B39F"/>
          </a:solidFill>
          <a:ln>
            <a:noFill/>
          </a:ln>
          <a:effectLst/>
        </p:spPr>
        <p:txBody>
          <a:bodyPr rtlCol="0" anchor="ctr"/>
          <a:lstStyle/>
          <a:p>
            <a:pPr algn="ctr"/>
            <a:endParaRPr/>
          </a:p>
        </p:txBody>
      </p:sp>
      <p:sp>
        <p:nvSpPr>
          <p:cNvPr id="75" name="TextBox 74"/>
          <p:cNvSpPr txBox="1"/>
          <p:nvPr/>
        </p:nvSpPr>
        <p:spPr>
          <a:xfrm>
            <a:off x="8449056" y="1280160"/>
            <a:ext cx="3191256" cy="219456"/>
          </a:xfrm>
          <a:prstGeom prst="rect">
            <a:avLst/>
          </a:prstGeom>
          <a:noFill/>
        </p:spPr>
        <p:txBody>
          <a:bodyPr wrap="square" lIns="54864" tIns="18288" rIns="54864" bIns="18288" anchor="ctr">
            <a:spAutoFit/>
          </a:bodyPr>
          <a:lstStyle/>
          <a:p>
            <a:pPr algn="l"/>
            <a:r>
              <a:rPr sz="800" b="1" spc="200">
                <a:solidFill>
                  <a:srgbClr val="008173"/>
                </a:solidFill>
                <a:latin typeface="Segoe UI"/>
              </a:rPr>
              <a:t>TOOLS, KNOWLEDGE, PEER AGENTS</a:t>
            </a:r>
          </a:p>
        </p:txBody>
      </p:sp>
      <p:sp>
        <p:nvSpPr>
          <p:cNvPr id="76" name="Rectangle 75"/>
          <p:cNvSpPr/>
          <p:nvPr/>
        </p:nvSpPr>
        <p:spPr>
          <a:xfrm>
            <a:off x="8449056" y="1554480"/>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77" name="TextBox 76"/>
          <p:cNvSpPr txBox="1"/>
          <p:nvPr/>
        </p:nvSpPr>
        <p:spPr>
          <a:xfrm>
            <a:off x="8449056" y="1554480"/>
            <a:ext cx="3191256" cy="566928"/>
          </a:xfrm>
          <a:prstGeom prst="rect">
            <a:avLst/>
          </a:prstGeom>
          <a:noFill/>
        </p:spPr>
        <p:txBody>
          <a:bodyPr wrap="square" lIns="54864" tIns="18288" rIns="54864" bIns="18288" anchor="ctr">
            <a:spAutoFit/>
          </a:bodyPr>
          <a:lstStyle/>
          <a:p>
            <a:pPr algn="l"/>
            <a:r>
              <a:rPr sz="800" b="1">
                <a:solidFill>
                  <a:srgbClr val="141B33"/>
                </a:solidFill>
                <a:latin typeface="Segoe UI"/>
              </a:rPr>
              <a:t>Foundry IQ — knowledge base on Azure AI Search</a:t>
            </a:r>
          </a:p>
          <a:p>
            <a:pPr algn="l"/>
            <a:r>
              <a:rPr sz="800" b="0">
                <a:solidFill>
                  <a:srgbClr val="141B33"/>
                </a:solidFill>
                <a:latin typeface="Segoe UI"/>
              </a:rPr>
              <a:t>agentic retrieval · private endpoint · MCP tool</a:t>
            </a:r>
          </a:p>
        </p:txBody>
      </p:sp>
      <p:sp>
        <p:nvSpPr>
          <p:cNvPr id="78" name="Rectangle 77"/>
          <p:cNvSpPr/>
          <p:nvPr/>
        </p:nvSpPr>
        <p:spPr>
          <a:xfrm>
            <a:off x="8449056" y="2194560"/>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79" name="TextBox 78"/>
          <p:cNvSpPr txBox="1"/>
          <p:nvPr/>
        </p:nvSpPr>
        <p:spPr>
          <a:xfrm>
            <a:off x="8449056" y="2194560"/>
            <a:ext cx="3191256" cy="566928"/>
          </a:xfrm>
          <a:prstGeom prst="rect">
            <a:avLst/>
          </a:prstGeom>
          <a:noFill/>
        </p:spPr>
        <p:txBody>
          <a:bodyPr wrap="square" lIns="54864" tIns="18288" rIns="54864" bIns="18288" anchor="ctr">
            <a:spAutoFit/>
          </a:bodyPr>
          <a:lstStyle/>
          <a:p>
            <a:pPr algn="l"/>
            <a:r>
              <a:rPr sz="800" b="1">
                <a:solidFill>
                  <a:srgbClr val="141B33"/>
                </a:solidFill>
                <a:latin typeface="Segoe UI"/>
              </a:rPr>
              <a:t>Work IQ* and Fabric IQ*</a:t>
            </a:r>
          </a:p>
          <a:p>
            <a:pPr algn="l"/>
            <a:r>
              <a:rPr sz="800" b="0">
                <a:solidFill>
                  <a:srgbClr val="141B33"/>
                </a:solidFill>
                <a:latin typeface="Segoe UI"/>
              </a:rPr>
              <a:t>Microsoft 365 context via A2A · Fabric ontology as a server-side tool</a:t>
            </a:r>
          </a:p>
        </p:txBody>
      </p:sp>
      <p:sp>
        <p:nvSpPr>
          <p:cNvPr id="80" name="Rectangle 79"/>
          <p:cNvSpPr/>
          <p:nvPr/>
        </p:nvSpPr>
        <p:spPr>
          <a:xfrm>
            <a:off x="8449056" y="2834639"/>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81" name="TextBox 80"/>
          <p:cNvSpPr txBox="1"/>
          <p:nvPr/>
        </p:nvSpPr>
        <p:spPr>
          <a:xfrm>
            <a:off x="8449056" y="2834639"/>
            <a:ext cx="3191256" cy="566928"/>
          </a:xfrm>
          <a:prstGeom prst="rect">
            <a:avLst/>
          </a:prstGeom>
          <a:noFill/>
        </p:spPr>
        <p:txBody>
          <a:bodyPr wrap="square" lIns="54864" tIns="18288" rIns="54864" bIns="18288" anchor="ctr">
            <a:spAutoFit/>
          </a:bodyPr>
          <a:lstStyle/>
          <a:p>
            <a:pPr algn="l"/>
            <a:r>
              <a:rPr sz="800" b="1">
                <a:solidFill>
                  <a:srgbClr val="141B33"/>
                </a:solidFill>
                <a:latin typeface="Segoe UI"/>
              </a:rPr>
              <a:t>MCP servers and business APIs</a:t>
            </a:r>
          </a:p>
          <a:p>
            <a:pPr algn="l"/>
            <a:r>
              <a:rPr sz="800" b="0">
                <a:solidFill>
                  <a:srgbClr val="141B33"/>
                </a:solidFill>
                <a:latin typeface="Segoe UI"/>
              </a:rPr>
              <a:t>private in the customer VNet or public via Azure Firewall · OpenAPI · Azure Functions</a:t>
            </a:r>
          </a:p>
        </p:txBody>
      </p:sp>
      <p:sp>
        <p:nvSpPr>
          <p:cNvPr id="82" name="Rectangle 81"/>
          <p:cNvSpPr/>
          <p:nvPr/>
        </p:nvSpPr>
        <p:spPr>
          <a:xfrm>
            <a:off x="8449056" y="3474720"/>
            <a:ext cx="3191256" cy="566928"/>
          </a:xfrm>
          <a:prstGeom prst="rect">
            <a:avLst/>
          </a:prstGeom>
          <a:solidFill>
            <a:srgbClr val="FFFFFF"/>
          </a:solidFill>
          <a:ln w="9525">
            <a:solidFill>
              <a:srgbClr val="E1E7F4"/>
            </a:solidFill>
          </a:ln>
          <a:effectLst/>
        </p:spPr>
        <p:txBody>
          <a:bodyPr rtlCol="0" anchor="ctr"/>
          <a:lstStyle/>
          <a:p>
            <a:pPr algn="ctr"/>
            <a:endParaRPr/>
          </a:p>
        </p:txBody>
      </p:sp>
      <p:sp>
        <p:nvSpPr>
          <p:cNvPr id="83" name="TextBox 82"/>
          <p:cNvSpPr txBox="1"/>
          <p:nvPr/>
        </p:nvSpPr>
        <p:spPr>
          <a:xfrm>
            <a:off x="8595360" y="3474720"/>
            <a:ext cx="3044952" cy="566928"/>
          </a:xfrm>
          <a:prstGeom prst="rect">
            <a:avLst/>
          </a:prstGeom>
          <a:noFill/>
        </p:spPr>
        <p:txBody>
          <a:bodyPr wrap="square" lIns="54864" tIns="18288" rIns="54864" bIns="18288" anchor="ctr">
            <a:spAutoFit/>
          </a:bodyPr>
          <a:lstStyle/>
          <a:p>
            <a:pPr algn="l"/>
            <a:r>
              <a:rPr sz="800" b="1">
                <a:solidFill>
                  <a:srgbClr val="141B33"/>
                </a:solidFill>
                <a:latin typeface="Segoe UI"/>
              </a:rPr>
              <a:t>Peer agents via A2A</a:t>
            </a:r>
          </a:p>
          <a:p>
            <a:pPr algn="l"/>
            <a:r>
              <a:rPr sz="800" b="0">
                <a:solidFill>
                  <a:srgbClr val="141B33"/>
                </a:solidFill>
                <a:latin typeface="Segoe UI"/>
              </a:rPr>
              <a:t>Copilot Studio agents · other Foundry projects · partner agents</a:t>
            </a:r>
          </a:p>
        </p:txBody>
      </p:sp>
      <p:sp>
        <p:nvSpPr>
          <p:cNvPr id="84" name="Oval 83"/>
          <p:cNvSpPr/>
          <p:nvPr/>
        </p:nvSpPr>
        <p:spPr>
          <a:xfrm>
            <a:off x="8339328" y="3383279"/>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6</a:t>
            </a:r>
          </a:p>
        </p:txBody>
      </p:sp>
      <p:sp>
        <p:nvSpPr>
          <p:cNvPr id="85" name="Rectangle 84"/>
          <p:cNvSpPr/>
          <p:nvPr/>
        </p:nvSpPr>
        <p:spPr>
          <a:xfrm>
            <a:off x="548640" y="4224528"/>
            <a:ext cx="11091672" cy="713232"/>
          </a:xfrm>
          <a:prstGeom prst="rect">
            <a:avLst/>
          </a:prstGeom>
          <a:solidFill>
            <a:srgbClr val="0B1229"/>
          </a:solidFill>
          <a:ln>
            <a:noFill/>
          </a:ln>
          <a:effectLst/>
        </p:spPr>
        <p:txBody>
          <a:bodyPr rtlCol="0" anchor="ctr"/>
          <a:lstStyle/>
          <a:p>
            <a:pPr algn="ctr"/>
            <a:endParaRPr/>
          </a:p>
        </p:txBody>
      </p:sp>
      <p:sp>
        <p:nvSpPr>
          <p:cNvPr id="86" name="TextBox 85"/>
          <p:cNvSpPr txBox="1"/>
          <p:nvPr/>
        </p:nvSpPr>
        <p:spPr>
          <a:xfrm>
            <a:off x="658368" y="4224528"/>
            <a:ext cx="1371600" cy="713232"/>
          </a:xfrm>
          <a:prstGeom prst="rect">
            <a:avLst/>
          </a:prstGeom>
          <a:noFill/>
        </p:spPr>
        <p:txBody>
          <a:bodyPr wrap="square" lIns="54864" tIns="18288" rIns="54864" bIns="18288" anchor="ctr">
            <a:spAutoFit/>
          </a:bodyPr>
          <a:lstStyle/>
          <a:p>
            <a:pPr algn="l"/>
            <a:r>
              <a:rPr sz="1100" b="1">
                <a:solidFill>
                  <a:srgbClr val="FFFFFF"/>
                </a:solidFill>
                <a:latin typeface="Segoe UI"/>
              </a:rPr>
              <a:t>Foundry</a:t>
            </a:r>
          </a:p>
          <a:p>
            <a:pPr algn="l"/>
            <a:r>
              <a:rPr sz="1100" b="1">
                <a:solidFill>
                  <a:srgbClr val="FFFFFF"/>
                </a:solidFill>
                <a:latin typeface="Segoe UI"/>
              </a:rPr>
              <a:t>Control Plane</a:t>
            </a:r>
          </a:p>
        </p:txBody>
      </p:sp>
      <p:sp>
        <p:nvSpPr>
          <p:cNvPr id="87" name="Oval 86"/>
          <p:cNvSpPr/>
          <p:nvPr/>
        </p:nvSpPr>
        <p:spPr>
          <a:xfrm>
            <a:off x="438912" y="4133088"/>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8</a:t>
            </a:r>
          </a:p>
        </p:txBody>
      </p:sp>
      <p:sp>
        <p:nvSpPr>
          <p:cNvPr id="88" name="TextBox 87"/>
          <p:cNvSpPr txBox="1"/>
          <p:nvPr/>
        </p:nvSpPr>
        <p:spPr>
          <a:xfrm>
            <a:off x="2103120" y="4251960"/>
            <a:ext cx="3105912" cy="658368"/>
          </a:xfrm>
          <a:prstGeom prst="rect">
            <a:avLst/>
          </a:prstGeom>
          <a:noFill/>
        </p:spPr>
        <p:txBody>
          <a:bodyPr wrap="square" lIns="54864" tIns="18288" rIns="54864" bIns="18288" anchor="ctr">
            <a:spAutoFit/>
          </a:bodyPr>
          <a:lstStyle/>
          <a:p>
            <a:pPr algn="l"/>
            <a:r>
              <a:rPr sz="850" b="1">
                <a:solidFill>
                  <a:srgbClr val="FFFFFF"/>
                </a:solidFill>
                <a:latin typeface="Segoe UI"/>
              </a:rPr>
              <a:t>Observe</a:t>
            </a:r>
          </a:p>
          <a:p>
            <a:pPr algn="l"/>
            <a:r>
              <a:rPr sz="850" b="0">
                <a:solidFill>
                  <a:srgbClr val="FFFFFF"/>
                </a:solidFill>
                <a:latin typeface="Segoe UI"/>
              </a:rPr>
              <a:t>OpenTelemetry traces and metrics in Application Insights · Agent Monitoring Dashboard* · fleet inventory with Entra Agent ID</a:t>
            </a:r>
          </a:p>
        </p:txBody>
      </p:sp>
      <p:sp>
        <p:nvSpPr>
          <p:cNvPr id="89" name="TextBox 88"/>
          <p:cNvSpPr txBox="1"/>
          <p:nvPr/>
        </p:nvSpPr>
        <p:spPr>
          <a:xfrm>
            <a:off x="5282184" y="4251960"/>
            <a:ext cx="3105912" cy="658368"/>
          </a:xfrm>
          <a:prstGeom prst="rect">
            <a:avLst/>
          </a:prstGeom>
          <a:noFill/>
        </p:spPr>
        <p:txBody>
          <a:bodyPr wrap="square" lIns="54864" tIns="18288" rIns="54864" bIns="18288" anchor="ctr">
            <a:spAutoFit/>
          </a:bodyPr>
          <a:lstStyle/>
          <a:p>
            <a:pPr algn="l"/>
            <a:r>
              <a:rPr sz="850" b="1">
                <a:solidFill>
                  <a:srgbClr val="FFFFFF"/>
                </a:solidFill>
                <a:latin typeface="Segoe UI"/>
              </a:rPr>
              <a:t>Evaluate</a:t>
            </a:r>
          </a:p>
          <a:p>
            <a:pPr algn="l"/>
            <a:r>
              <a:rPr sz="850" b="0">
                <a:solidFill>
                  <a:srgbClr val="FFFFFF"/>
                </a:solidFill>
                <a:latin typeface="Segoe UI"/>
              </a:rPr>
              <a:t>continuous evaluation of production traffic · scheduled evaluations · AI red teaming</a:t>
            </a:r>
          </a:p>
        </p:txBody>
      </p:sp>
      <p:sp>
        <p:nvSpPr>
          <p:cNvPr id="90" name="TextBox 89"/>
          <p:cNvSpPr txBox="1"/>
          <p:nvPr/>
        </p:nvSpPr>
        <p:spPr>
          <a:xfrm>
            <a:off x="8461248" y="4251960"/>
            <a:ext cx="3105912" cy="658368"/>
          </a:xfrm>
          <a:prstGeom prst="rect">
            <a:avLst/>
          </a:prstGeom>
          <a:noFill/>
        </p:spPr>
        <p:txBody>
          <a:bodyPr wrap="square" lIns="54864" tIns="18288" rIns="54864" bIns="18288" anchor="ctr">
            <a:spAutoFit/>
          </a:bodyPr>
          <a:lstStyle/>
          <a:p>
            <a:pPr algn="l"/>
            <a:r>
              <a:rPr sz="850" b="1">
                <a:solidFill>
                  <a:srgbClr val="FFFFFF"/>
                </a:solidFill>
                <a:latin typeface="Segoe UI"/>
              </a:rPr>
              <a:t>Govern and control cost</a:t>
            </a:r>
          </a:p>
          <a:p>
            <a:pPr algn="l"/>
            <a:r>
              <a:rPr sz="850" b="0">
                <a:solidFill>
                  <a:srgbClr val="FFFFFF"/>
                </a:solidFill>
                <a:latin typeface="Segoe UI"/>
              </a:rPr>
              <a:t>guardrail policies · token quotas and rate limits through the AI gateway · estimated cost and token usage per agent · Defender and Purview alerts</a:t>
            </a:r>
          </a:p>
        </p:txBody>
      </p:sp>
      <p:sp>
        <p:nvSpPr>
          <p:cNvPr id="91" name="Rectangle 90"/>
          <p:cNvSpPr/>
          <p:nvPr/>
        </p:nvSpPr>
        <p:spPr>
          <a:xfrm>
            <a:off x="548640" y="5001768"/>
            <a:ext cx="11091672" cy="438912"/>
          </a:xfrm>
          <a:prstGeom prst="rect">
            <a:avLst/>
          </a:prstGeom>
          <a:solidFill>
            <a:srgbClr val="EBEFF7"/>
          </a:solidFill>
          <a:ln>
            <a:noFill/>
          </a:ln>
          <a:effectLst/>
        </p:spPr>
        <p:txBody>
          <a:bodyPr rtlCol="0" anchor="ctr"/>
          <a:lstStyle/>
          <a:p>
            <a:pPr algn="ctr"/>
            <a:endParaRPr/>
          </a:p>
        </p:txBody>
      </p:sp>
      <p:sp>
        <p:nvSpPr>
          <p:cNvPr id="92" name="TextBox 91"/>
          <p:cNvSpPr txBox="1"/>
          <p:nvPr/>
        </p:nvSpPr>
        <p:spPr>
          <a:xfrm>
            <a:off x="548640" y="5001768"/>
            <a:ext cx="11091672" cy="438912"/>
          </a:xfrm>
          <a:prstGeom prst="rect">
            <a:avLst/>
          </a:prstGeom>
          <a:noFill/>
        </p:spPr>
        <p:txBody>
          <a:bodyPr wrap="square" lIns="54864" tIns="18288" rIns="54864" bIns="18288" anchor="ctr">
            <a:spAutoFit/>
          </a:bodyPr>
          <a:lstStyle/>
          <a:p>
            <a:pPr algn="l"/>
            <a:r>
              <a:rPr sz="800" b="1">
                <a:solidFill>
                  <a:srgbClr val="141B33"/>
                </a:solidFill>
                <a:latin typeface="Segoe UI"/>
              </a:rPr>
              <a:t>Flow  </a:t>
            </a:r>
            <a:r>
              <a:rPr sz="800" b="0">
                <a:solidFill>
                  <a:srgbClr val="141B33"/>
                </a:solidFill>
                <a:latin typeface="Segoe UI"/>
              </a:rPr>
              <a:t>1 the user signs in with Microsoft Entra ID and asks a question in Teams, Microsoft 365 Copilot or the web app → 2 the AI gateway authenticates, enforces token limits and content safety → 3 the hosted agent runs in Agent Service under its own agent identity → 4 it calls the model deployment → 5 it uses tools and knowledge through the Toolbox → 6 it delegates to peer agents over A2A → 7 conversation state and files land in the customer-owned Cosmos DB, Storage and AI Search → 8 traces, evaluations and cost flow to the Control Plane.</a:t>
            </a:r>
          </a:p>
        </p:txBody>
      </p:sp>
      <p:sp>
        <p:nvSpPr>
          <p:cNvPr id="93" name="Rectangle 92"/>
          <p:cNvSpPr/>
          <p:nvPr/>
        </p:nvSpPr>
        <p:spPr>
          <a:xfrm>
            <a:off x="548640" y="5532120"/>
            <a:ext cx="201168" cy="109728"/>
          </a:xfrm>
          <a:prstGeom prst="rect">
            <a:avLst/>
          </a:prstGeom>
          <a:solidFill>
            <a:srgbClr val="101A3C"/>
          </a:solidFill>
          <a:ln>
            <a:noFill/>
          </a:ln>
          <a:effectLst/>
        </p:spPr>
        <p:txBody>
          <a:bodyPr rtlCol="0" anchor="ctr"/>
          <a:lstStyle/>
          <a:p>
            <a:pPr algn="ctr"/>
            <a:endParaRPr/>
          </a:p>
        </p:txBody>
      </p:sp>
      <p:sp>
        <p:nvSpPr>
          <p:cNvPr id="94" name="TextBox 93"/>
          <p:cNvSpPr txBox="1"/>
          <p:nvPr/>
        </p:nvSpPr>
        <p:spPr>
          <a:xfrm>
            <a:off x="768096" y="5477256"/>
            <a:ext cx="1188720" cy="219456"/>
          </a:xfrm>
          <a:prstGeom prst="rect">
            <a:avLst/>
          </a:prstGeom>
          <a:noFill/>
        </p:spPr>
        <p:txBody>
          <a:bodyPr wrap="square" lIns="54864" tIns="18288" rIns="54864" bIns="18288" anchor="ctr">
            <a:spAutoFit/>
          </a:bodyPr>
          <a:lstStyle/>
          <a:p>
            <a:pPr algn="l"/>
            <a:r>
              <a:rPr sz="800" b="0">
                <a:solidFill>
                  <a:srgbClr val="44495B"/>
                </a:solidFill>
                <a:latin typeface="Segoe UI"/>
              </a:rPr>
              <a:t>Foundry product</a:t>
            </a:r>
          </a:p>
        </p:txBody>
      </p:sp>
      <p:sp>
        <p:nvSpPr>
          <p:cNvPr id="95" name="Rectangle 94"/>
          <p:cNvSpPr/>
          <p:nvPr/>
        </p:nvSpPr>
        <p:spPr>
          <a:xfrm>
            <a:off x="1965960" y="5532120"/>
            <a:ext cx="201168" cy="109728"/>
          </a:xfrm>
          <a:prstGeom prst="rect">
            <a:avLst/>
          </a:prstGeom>
          <a:solidFill>
            <a:srgbClr val="FFFFFF"/>
          </a:solidFill>
          <a:ln w="9525">
            <a:solidFill>
              <a:srgbClr val="E1E7F4"/>
            </a:solidFill>
          </a:ln>
          <a:effectLst/>
        </p:spPr>
        <p:txBody>
          <a:bodyPr rtlCol="0" anchor="ctr"/>
          <a:lstStyle/>
          <a:p>
            <a:pPr algn="ctr"/>
            <a:endParaRPr/>
          </a:p>
        </p:txBody>
      </p:sp>
      <p:sp>
        <p:nvSpPr>
          <p:cNvPr id="96" name="TextBox 95"/>
          <p:cNvSpPr txBox="1"/>
          <p:nvPr/>
        </p:nvSpPr>
        <p:spPr>
          <a:xfrm>
            <a:off x="2185415" y="5477256"/>
            <a:ext cx="1737360" cy="219456"/>
          </a:xfrm>
          <a:prstGeom prst="rect">
            <a:avLst/>
          </a:prstGeom>
          <a:noFill/>
        </p:spPr>
        <p:txBody>
          <a:bodyPr wrap="square" lIns="54864" tIns="18288" rIns="54864" bIns="18288" anchor="ctr">
            <a:spAutoFit/>
          </a:bodyPr>
          <a:lstStyle/>
          <a:p>
            <a:pPr algn="l"/>
            <a:r>
              <a:rPr sz="800" b="0">
                <a:solidFill>
                  <a:srgbClr val="44495B"/>
                </a:solidFill>
                <a:latin typeface="Segoe UI"/>
              </a:rPr>
              <a:t>Capability / Azure resource</a:t>
            </a:r>
          </a:p>
        </p:txBody>
      </p:sp>
      <p:sp>
        <p:nvSpPr>
          <p:cNvPr id="97" name="Rectangle 96"/>
          <p:cNvSpPr/>
          <p:nvPr/>
        </p:nvSpPr>
        <p:spPr>
          <a:xfrm>
            <a:off x="3931920" y="5532120"/>
            <a:ext cx="201168" cy="109728"/>
          </a:xfrm>
          <a:prstGeom prst="rect">
            <a:avLst/>
          </a:prstGeom>
          <a:solidFill>
            <a:srgbClr val="EBEFF7"/>
          </a:solidFill>
          <a:ln>
            <a:noFill/>
          </a:ln>
          <a:effectLst/>
        </p:spPr>
        <p:txBody>
          <a:bodyPr rtlCol="0" anchor="ctr"/>
          <a:lstStyle/>
          <a:p>
            <a:pPr algn="ctr"/>
            <a:endParaRPr/>
          </a:p>
        </p:txBody>
      </p:sp>
      <p:sp>
        <p:nvSpPr>
          <p:cNvPr id="98" name="TextBox 97"/>
          <p:cNvSpPr txBox="1"/>
          <p:nvPr/>
        </p:nvSpPr>
        <p:spPr>
          <a:xfrm>
            <a:off x="4151376" y="5477256"/>
            <a:ext cx="1645920" cy="219456"/>
          </a:xfrm>
          <a:prstGeom prst="rect">
            <a:avLst/>
          </a:prstGeom>
          <a:noFill/>
        </p:spPr>
        <p:txBody>
          <a:bodyPr wrap="square" lIns="54864" tIns="18288" rIns="54864" bIns="18288" anchor="ctr">
            <a:spAutoFit/>
          </a:bodyPr>
          <a:lstStyle/>
          <a:p>
            <a:pPr algn="l"/>
            <a:r>
              <a:rPr sz="800" b="0">
                <a:solidFill>
                  <a:srgbClr val="44495B"/>
                </a:solidFill>
                <a:latin typeface="Segoe UI"/>
              </a:rPr>
              <a:t>Channel / customer-owned</a:t>
            </a:r>
          </a:p>
        </p:txBody>
      </p:sp>
      <p:sp>
        <p:nvSpPr>
          <p:cNvPr id="99" name="Rectangle 98"/>
          <p:cNvSpPr/>
          <p:nvPr/>
        </p:nvSpPr>
        <p:spPr>
          <a:xfrm>
            <a:off x="5806440" y="5532120"/>
            <a:ext cx="201168" cy="109728"/>
          </a:xfrm>
          <a:prstGeom prst="rect">
            <a:avLst/>
          </a:prstGeom>
          <a:solidFill>
            <a:srgbClr val="0B1229"/>
          </a:solidFill>
          <a:ln>
            <a:noFill/>
          </a:ln>
          <a:effectLst/>
        </p:spPr>
        <p:txBody>
          <a:bodyPr rtlCol="0" anchor="ctr"/>
          <a:lstStyle/>
          <a:p>
            <a:pPr algn="ctr"/>
            <a:endParaRPr/>
          </a:p>
        </p:txBody>
      </p:sp>
      <p:sp>
        <p:nvSpPr>
          <p:cNvPr id="100" name="TextBox 99"/>
          <p:cNvSpPr txBox="1"/>
          <p:nvPr/>
        </p:nvSpPr>
        <p:spPr>
          <a:xfrm>
            <a:off x="6025896" y="5477256"/>
            <a:ext cx="1188720" cy="219456"/>
          </a:xfrm>
          <a:prstGeom prst="rect">
            <a:avLst/>
          </a:prstGeom>
          <a:noFill/>
        </p:spPr>
        <p:txBody>
          <a:bodyPr wrap="square" lIns="54864" tIns="18288" rIns="54864" bIns="18288" anchor="ctr">
            <a:spAutoFit/>
          </a:bodyPr>
          <a:lstStyle/>
          <a:p>
            <a:pPr algn="l"/>
            <a:r>
              <a:rPr sz="800" b="0">
                <a:solidFill>
                  <a:srgbClr val="44495B"/>
                </a:solidFill>
                <a:latin typeface="Segoe UI"/>
              </a:rPr>
              <a:t>Governance layer</a:t>
            </a:r>
          </a:p>
        </p:txBody>
      </p:sp>
      <p:sp>
        <p:nvSpPr>
          <p:cNvPr id="101" name="Rectangle 100"/>
          <p:cNvSpPr/>
          <p:nvPr/>
        </p:nvSpPr>
        <p:spPr>
          <a:xfrm>
            <a:off x="7223759" y="5532120"/>
            <a:ext cx="201168" cy="109728"/>
          </a:xfrm>
          <a:prstGeom prst="rect">
            <a:avLst/>
          </a:prstGeom>
          <a:noFill/>
          <a:ln w="9525">
            <a:solidFill>
              <a:srgbClr val="44495B"/>
            </a:solidFill>
            <a:prstDash val="dash"/>
          </a:ln>
          <a:effectLst/>
        </p:spPr>
        <p:txBody>
          <a:bodyPr rtlCol="0" anchor="ctr"/>
          <a:lstStyle/>
          <a:p>
            <a:pPr algn="ctr"/>
            <a:endParaRPr/>
          </a:p>
        </p:txBody>
      </p:sp>
      <p:sp>
        <p:nvSpPr>
          <p:cNvPr id="102" name="TextBox 101"/>
          <p:cNvSpPr txBox="1"/>
          <p:nvPr/>
        </p:nvSpPr>
        <p:spPr>
          <a:xfrm>
            <a:off x="7443215" y="5477256"/>
            <a:ext cx="1280160" cy="219456"/>
          </a:xfrm>
          <a:prstGeom prst="rect">
            <a:avLst/>
          </a:prstGeom>
          <a:noFill/>
        </p:spPr>
        <p:txBody>
          <a:bodyPr wrap="square" lIns="54864" tIns="18288" rIns="54864" bIns="18288" anchor="ctr">
            <a:spAutoFit/>
          </a:bodyPr>
          <a:lstStyle/>
          <a:p>
            <a:pPr algn="l"/>
            <a:r>
              <a:rPr sz="800" b="0">
                <a:solidFill>
                  <a:srgbClr val="44495B"/>
                </a:solidFill>
                <a:latin typeface="Segoe UI"/>
              </a:rPr>
              <a:t>Foundry boundary</a:t>
            </a:r>
          </a:p>
        </p:txBody>
      </p:sp>
      <p:sp>
        <p:nvSpPr>
          <p:cNvPr id="103" name="TextBox 102"/>
          <p:cNvSpPr txBox="1"/>
          <p:nvPr/>
        </p:nvSpPr>
        <p:spPr>
          <a:xfrm>
            <a:off x="8778240" y="5477256"/>
            <a:ext cx="914400" cy="219456"/>
          </a:xfrm>
          <a:prstGeom prst="rect">
            <a:avLst/>
          </a:prstGeom>
          <a:noFill/>
        </p:spPr>
        <p:txBody>
          <a:bodyPr wrap="square" lIns="54864" tIns="18288" rIns="54864" bIns="18288" anchor="ctr">
            <a:spAutoFit/>
          </a:bodyPr>
          <a:lstStyle/>
          <a:p>
            <a:pPr algn="l"/>
            <a:r>
              <a:rPr sz="800" b="0">
                <a:solidFill>
                  <a:srgbClr val="44495B"/>
                </a:solidFill>
                <a:latin typeface="Segoe UI"/>
              </a:rPr>
              <a:t>*  preview</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Microsoft Foundry API and SDKs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project endpoint in front of models, agents, tools and observability — reachable from the SDK you already use.</a:t>
            </a:r>
          </a:p>
          <a:p>
            <a:endParaRPr sz="1200">
              <a:solidFill>
                <a:srgbClr val="44495B"/>
              </a:solidFill>
              <a:latin typeface="Segoe UI"/>
            </a:endParaRPr>
          </a:p>
        </p:txBody>
      </p:sp>
      <p:sp>
        <p:nvSpPr>
          <p:cNvPr id="34" name="Shape"/>
          <p:cNvSpPr/>
          <p:nvPr/>
        </p:nvSpPr>
        <p:spPr>
          <a:xfrm>
            <a:off x="548640" y="5687568"/>
            <a:ext cx="11094720" cy="9525"/>
          </a:xfrm>
          <a:prstGeom prst="rect">
            <a:avLst/>
          </a:prstGeom>
          <a:solidFill>
            <a:srgbClr val="E1E7F4"/>
          </a:solidFill>
        </p:spPr>
        <p:txBody>
          <a:bodyPr/>
          <a:lstStyle/>
          <a:p>
            <a:endParaRPr/>
          </a:p>
        </p:txBody>
      </p:sp>
      <p:sp>
        <p:nvSpPr>
          <p:cNvPr id="35"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learn.microsoft.com/azure/foundry/how-to/develop/sdk-overview</a:t>
            </a:r>
          </a:p>
          <a:p>
            <a:endParaRPr sz="900">
              <a:solidFill>
                <a:srgbClr val="44495B"/>
              </a:solidFill>
              <a:latin typeface="Segoe UI"/>
            </a:endParaRPr>
          </a:p>
        </p:txBody>
      </p:sp>
      <p:sp>
        <p:nvSpPr>
          <p:cNvPr id="36"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5</a:t>
            </a:r>
          </a:p>
        </p:txBody>
      </p:sp>
      <p:sp>
        <p:nvSpPr>
          <p:cNvPr id="37" name="TextBox 36"/>
          <p:cNvSpPr txBox="1"/>
          <p:nvPr/>
        </p:nvSpPr>
        <p:spPr>
          <a:xfrm>
            <a:off x="548640" y="1298448"/>
            <a:ext cx="2331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YOUR CODE — THE CLIENT</a:t>
            </a:r>
          </a:p>
        </p:txBody>
      </p:sp>
      <p:sp>
        <p:nvSpPr>
          <p:cNvPr id="38" name="Rectangle 37"/>
          <p:cNvSpPr/>
          <p:nvPr/>
        </p:nvSpPr>
        <p:spPr>
          <a:xfrm>
            <a:off x="548640" y="1572768"/>
            <a:ext cx="2331720" cy="512064"/>
          </a:xfrm>
          <a:prstGeom prst="rect">
            <a:avLst/>
          </a:prstGeom>
          <a:solidFill>
            <a:srgbClr val="EBEFF7"/>
          </a:solidFill>
          <a:ln>
            <a:noFill/>
          </a:ln>
          <a:effectLst/>
        </p:spPr>
        <p:txBody>
          <a:bodyPr rtlCol="0" anchor="ctr"/>
          <a:lstStyle/>
          <a:p>
            <a:pPr algn="ctr"/>
            <a:endParaRPr/>
          </a:p>
        </p:txBody>
      </p:sp>
      <p:sp>
        <p:nvSpPr>
          <p:cNvPr id="39" name="TextBox 38"/>
          <p:cNvSpPr txBox="1"/>
          <p:nvPr/>
        </p:nvSpPr>
        <p:spPr>
          <a:xfrm>
            <a:off x="548640" y="1572768"/>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Microsoft Foundry SDK</a:t>
            </a:r>
          </a:p>
          <a:p>
            <a:pPr algn="l"/>
            <a:r>
              <a:rPr sz="850" b="0">
                <a:solidFill>
                  <a:srgbClr val="141B33"/>
                </a:solidFill>
                <a:latin typeface="Segoe UI"/>
              </a:rPr>
              <a:t>Python · C# · JavaScript · Java — the full project surface</a:t>
            </a:r>
          </a:p>
        </p:txBody>
      </p:sp>
      <p:sp>
        <p:nvSpPr>
          <p:cNvPr id="40" name="Rectangle 39"/>
          <p:cNvSpPr/>
          <p:nvPr/>
        </p:nvSpPr>
        <p:spPr>
          <a:xfrm>
            <a:off x="548640" y="2157984"/>
            <a:ext cx="2331720" cy="512064"/>
          </a:xfrm>
          <a:prstGeom prst="rect">
            <a:avLst/>
          </a:prstGeom>
          <a:solidFill>
            <a:srgbClr val="EBEFF7"/>
          </a:solidFill>
          <a:ln>
            <a:noFill/>
          </a:ln>
          <a:effectLst/>
        </p:spPr>
        <p:txBody>
          <a:bodyPr rtlCol="0" anchor="ctr"/>
          <a:lstStyle/>
          <a:p>
            <a:pPr algn="ctr"/>
            <a:endParaRPr/>
          </a:p>
        </p:txBody>
      </p:sp>
      <p:sp>
        <p:nvSpPr>
          <p:cNvPr id="41" name="TextBox 40"/>
          <p:cNvSpPr txBox="1"/>
          <p:nvPr/>
        </p:nvSpPr>
        <p:spPr>
          <a:xfrm>
            <a:off x="548640" y="2157984"/>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OpenAI SDK</a:t>
            </a:r>
          </a:p>
          <a:p>
            <a:pPr algn="l"/>
            <a:r>
              <a:rPr sz="850" b="0">
                <a:solidFill>
                  <a:srgbClr val="141B33"/>
                </a:solidFill>
                <a:latin typeface="Segoe UI"/>
              </a:rPr>
              <a:t>unchanged code, OpenAI-compatible routes</a:t>
            </a:r>
          </a:p>
        </p:txBody>
      </p:sp>
      <p:sp>
        <p:nvSpPr>
          <p:cNvPr id="42" name="Rectangle 41"/>
          <p:cNvSpPr/>
          <p:nvPr/>
        </p:nvSpPr>
        <p:spPr>
          <a:xfrm>
            <a:off x="548640" y="2743200"/>
            <a:ext cx="2331720" cy="512064"/>
          </a:xfrm>
          <a:prstGeom prst="rect">
            <a:avLst/>
          </a:prstGeom>
          <a:solidFill>
            <a:srgbClr val="EBEFF7"/>
          </a:solidFill>
          <a:ln>
            <a:noFill/>
          </a:ln>
          <a:effectLst/>
        </p:spPr>
        <p:txBody>
          <a:bodyPr rtlCol="0" anchor="ctr"/>
          <a:lstStyle/>
          <a:p>
            <a:pPr algn="ctr"/>
            <a:endParaRPr/>
          </a:p>
        </p:txBody>
      </p:sp>
      <p:sp>
        <p:nvSpPr>
          <p:cNvPr id="43" name="TextBox 42"/>
          <p:cNvSpPr txBox="1"/>
          <p:nvPr/>
        </p:nvSpPr>
        <p:spPr>
          <a:xfrm>
            <a:off x="548640" y="2743200"/>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Anthropic SDK</a:t>
            </a:r>
          </a:p>
          <a:p>
            <a:pPr algn="l"/>
            <a:r>
              <a:rPr sz="850" b="0">
                <a:solidFill>
                  <a:srgbClr val="141B33"/>
                </a:solidFill>
                <a:latin typeface="Segoe UI"/>
              </a:rPr>
              <a:t>Claude models through the Messages API</a:t>
            </a:r>
          </a:p>
        </p:txBody>
      </p:sp>
      <p:sp>
        <p:nvSpPr>
          <p:cNvPr id="44" name="Rectangle 43"/>
          <p:cNvSpPr/>
          <p:nvPr/>
        </p:nvSpPr>
        <p:spPr>
          <a:xfrm>
            <a:off x="548640" y="3328416"/>
            <a:ext cx="2331720" cy="512064"/>
          </a:xfrm>
          <a:prstGeom prst="rect">
            <a:avLst/>
          </a:prstGeom>
          <a:solidFill>
            <a:srgbClr val="EBEFF7"/>
          </a:solidFill>
          <a:ln>
            <a:noFill/>
          </a:ln>
          <a:effectLst/>
        </p:spPr>
        <p:txBody>
          <a:bodyPr rtlCol="0" anchor="ctr"/>
          <a:lstStyle/>
          <a:p>
            <a:pPr algn="ctr"/>
            <a:endParaRPr/>
          </a:p>
        </p:txBody>
      </p:sp>
      <p:sp>
        <p:nvSpPr>
          <p:cNvPr id="45" name="TextBox 44"/>
          <p:cNvSpPr txBox="1"/>
          <p:nvPr/>
        </p:nvSpPr>
        <p:spPr>
          <a:xfrm>
            <a:off x="548640" y="3328416"/>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Microsoft Agent Framework</a:t>
            </a:r>
          </a:p>
          <a:p>
            <a:pPr algn="l"/>
            <a:r>
              <a:rPr sz="850" b="0">
                <a:solidFill>
                  <a:srgbClr val="141B33"/>
                </a:solidFill>
                <a:latin typeface="Segoe UI"/>
              </a:rPr>
              <a:t>agents and workflows, Foundry as the model client</a:t>
            </a:r>
          </a:p>
        </p:txBody>
      </p:sp>
      <p:sp>
        <p:nvSpPr>
          <p:cNvPr id="46" name="Rectangle 45"/>
          <p:cNvSpPr/>
          <p:nvPr/>
        </p:nvSpPr>
        <p:spPr>
          <a:xfrm>
            <a:off x="548640" y="3913632"/>
            <a:ext cx="2331720" cy="512064"/>
          </a:xfrm>
          <a:prstGeom prst="rect">
            <a:avLst/>
          </a:prstGeom>
          <a:solidFill>
            <a:srgbClr val="EBEFF7"/>
          </a:solidFill>
          <a:ln>
            <a:noFill/>
          </a:ln>
          <a:effectLst/>
        </p:spPr>
        <p:txBody>
          <a:bodyPr rtlCol="0" anchor="ctr"/>
          <a:lstStyle/>
          <a:p>
            <a:pPr algn="ctr"/>
            <a:endParaRPr/>
          </a:p>
        </p:txBody>
      </p:sp>
      <p:sp>
        <p:nvSpPr>
          <p:cNvPr id="47" name="TextBox 46"/>
          <p:cNvSpPr txBox="1"/>
          <p:nvPr/>
        </p:nvSpPr>
        <p:spPr>
          <a:xfrm>
            <a:off x="548640" y="3913632"/>
            <a:ext cx="2331720" cy="512064"/>
          </a:xfrm>
          <a:prstGeom prst="rect">
            <a:avLst/>
          </a:prstGeom>
          <a:noFill/>
        </p:spPr>
        <p:txBody>
          <a:bodyPr wrap="square" lIns="73152" tIns="27432" rIns="73152" bIns="27432" anchor="ctr">
            <a:spAutoFit/>
          </a:bodyPr>
          <a:lstStyle/>
          <a:p>
            <a:pPr algn="l"/>
            <a:r>
              <a:rPr sz="850" b="1">
                <a:solidFill>
                  <a:srgbClr val="141B33"/>
                </a:solidFill>
                <a:latin typeface="Segoe UI"/>
              </a:rPr>
              <a:t>LangChain · LangGraph · OpenAI Agents SDK</a:t>
            </a:r>
          </a:p>
          <a:p>
            <a:pPr algn="l"/>
            <a:r>
              <a:rPr sz="850" b="0">
                <a:solidFill>
                  <a:srgbClr val="141B33"/>
                </a:solidFill>
                <a:latin typeface="Segoe UI"/>
              </a:rPr>
              <a:t>community frameworks, same endpoint</a:t>
            </a:r>
          </a:p>
        </p:txBody>
      </p:sp>
      <p:sp>
        <p:nvSpPr>
          <p:cNvPr id="48" name="Right Arrow 47"/>
          <p:cNvSpPr/>
          <p:nvPr/>
        </p:nvSpPr>
        <p:spPr>
          <a:xfrm>
            <a:off x="2953512" y="2889504"/>
            <a:ext cx="201168" cy="219456"/>
          </a:xfrm>
          <a:prstGeom prst="rightArrow">
            <a:avLst/>
          </a:prstGeom>
          <a:solidFill>
            <a:srgbClr val="00B39F"/>
          </a:solidFill>
          <a:ln>
            <a:noFill/>
          </a:ln>
          <a:effectLst/>
        </p:spPr>
        <p:txBody>
          <a:bodyPr rtlCol="0" anchor="ctr"/>
          <a:lstStyle/>
          <a:p>
            <a:pPr algn="ctr"/>
            <a:endParaRPr/>
          </a:p>
        </p:txBody>
      </p:sp>
      <p:sp>
        <p:nvSpPr>
          <p:cNvPr id="49" name="TextBox 48"/>
          <p:cNvSpPr txBox="1"/>
          <p:nvPr/>
        </p:nvSpPr>
        <p:spPr>
          <a:xfrm>
            <a:off x="3200400" y="1298448"/>
            <a:ext cx="3749039"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THE FOUNDRY API — ONE PROJECT ENDPOINT</a:t>
            </a:r>
          </a:p>
        </p:txBody>
      </p:sp>
      <p:sp>
        <p:nvSpPr>
          <p:cNvPr id="50" name="Rectangle 49"/>
          <p:cNvSpPr/>
          <p:nvPr/>
        </p:nvSpPr>
        <p:spPr>
          <a:xfrm>
            <a:off x="3200400" y="1572768"/>
            <a:ext cx="3749039" cy="2852928"/>
          </a:xfrm>
          <a:prstGeom prst="rect">
            <a:avLst/>
          </a:prstGeom>
          <a:solidFill>
            <a:srgbClr val="F6F8FD"/>
          </a:solidFill>
          <a:ln w="12700">
            <a:solidFill>
              <a:srgbClr val="101A3C"/>
            </a:solidFill>
          </a:ln>
          <a:effectLst/>
        </p:spPr>
        <p:txBody>
          <a:bodyPr rtlCol="0" anchor="ctr"/>
          <a:lstStyle/>
          <a:p>
            <a:pPr algn="ctr"/>
            <a:endParaRPr/>
          </a:p>
        </p:txBody>
      </p:sp>
      <p:sp>
        <p:nvSpPr>
          <p:cNvPr id="51" name="Rectangle 50"/>
          <p:cNvSpPr/>
          <p:nvPr/>
        </p:nvSpPr>
        <p:spPr>
          <a:xfrm>
            <a:off x="3200400" y="1572768"/>
            <a:ext cx="3749039" cy="420624"/>
          </a:xfrm>
          <a:prstGeom prst="rect">
            <a:avLst/>
          </a:prstGeom>
          <a:solidFill>
            <a:srgbClr val="101A3C"/>
          </a:solidFill>
          <a:ln>
            <a:noFill/>
          </a:ln>
          <a:effectLst/>
        </p:spPr>
        <p:txBody>
          <a:bodyPr rtlCol="0" anchor="ctr"/>
          <a:lstStyle/>
          <a:p>
            <a:pPr algn="ctr"/>
            <a:endParaRPr/>
          </a:p>
        </p:txBody>
      </p:sp>
      <p:sp>
        <p:nvSpPr>
          <p:cNvPr id="52" name="TextBox 51"/>
          <p:cNvSpPr txBox="1"/>
          <p:nvPr/>
        </p:nvSpPr>
        <p:spPr>
          <a:xfrm>
            <a:off x="3200400" y="1572768"/>
            <a:ext cx="3749039" cy="420624"/>
          </a:xfrm>
          <a:prstGeom prst="rect">
            <a:avLst/>
          </a:prstGeom>
          <a:noFill/>
        </p:spPr>
        <p:txBody>
          <a:bodyPr wrap="square" lIns="73152" tIns="27432" rIns="73152" bIns="27432" anchor="ctr">
            <a:spAutoFit/>
          </a:bodyPr>
          <a:lstStyle/>
          <a:p>
            <a:pPr algn="ctr"/>
            <a:r>
              <a:rPr sz="900" b="1">
                <a:solidFill>
                  <a:srgbClr val="FFFFFF"/>
                </a:solidFill>
                <a:latin typeface="Segoe UI"/>
              </a:rPr>
              <a:t>Foundry project endpoint</a:t>
            </a:r>
          </a:p>
          <a:p>
            <a:pPr algn="ctr"/>
            <a:r>
              <a:rPr sz="900" b="0">
                <a:solidFill>
                  <a:srgbClr val="FFFFFF"/>
                </a:solidFill>
                <a:latin typeface="Segoe UI"/>
              </a:rPr>
              <a:t>Microsoft Entra ID · managed identity · no keys required</a:t>
            </a:r>
          </a:p>
        </p:txBody>
      </p:sp>
      <p:sp>
        <p:nvSpPr>
          <p:cNvPr id="53" name="Rectangle 52"/>
          <p:cNvSpPr/>
          <p:nvPr/>
        </p:nvSpPr>
        <p:spPr>
          <a:xfrm>
            <a:off x="3310128" y="2084831"/>
            <a:ext cx="3529583" cy="566928"/>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3310128" y="2084831"/>
            <a:ext cx="3529583" cy="566928"/>
          </a:xfrm>
          <a:prstGeom prst="rect">
            <a:avLst/>
          </a:prstGeom>
          <a:noFill/>
        </p:spPr>
        <p:txBody>
          <a:bodyPr wrap="square" lIns="73152" tIns="27432" rIns="73152" bIns="27432" anchor="ctr">
            <a:spAutoFit/>
          </a:bodyPr>
          <a:lstStyle/>
          <a:p>
            <a:pPr algn="l"/>
            <a:r>
              <a:rPr sz="850" b="1">
                <a:solidFill>
                  <a:srgbClr val="141B33"/>
                </a:solidFill>
                <a:latin typeface="Segoe UI"/>
              </a:rPr>
              <a:t>OpenAI-compatible surface</a:t>
            </a:r>
          </a:p>
          <a:p>
            <a:pPr algn="l"/>
            <a:r>
              <a:rPr sz="850" b="0">
                <a:solidFill>
                  <a:srgbClr val="141B33"/>
                </a:solidFill>
                <a:latin typeface="Segoe UI"/>
              </a:rPr>
              <a:t>chat, Responses, conversations, embeddings, files, fine-tuning — versionless v1 routes</a:t>
            </a:r>
          </a:p>
        </p:txBody>
      </p:sp>
      <p:sp>
        <p:nvSpPr>
          <p:cNvPr id="55" name="Rectangle 54"/>
          <p:cNvSpPr/>
          <p:nvPr/>
        </p:nvSpPr>
        <p:spPr>
          <a:xfrm>
            <a:off x="3310128" y="2724911"/>
            <a:ext cx="3529583" cy="566928"/>
          </a:xfrm>
          <a:prstGeom prst="rect">
            <a:avLst/>
          </a:prstGeom>
          <a:solidFill>
            <a:srgbClr val="FFFFFF"/>
          </a:solidFill>
          <a:ln w="9525">
            <a:solidFill>
              <a:srgbClr val="E1E7F4"/>
            </a:solidFill>
          </a:ln>
          <a:effectLst/>
        </p:spPr>
        <p:txBody>
          <a:bodyPr rtlCol="0" anchor="ctr"/>
          <a:lstStyle/>
          <a:p>
            <a:pPr algn="ctr"/>
            <a:endParaRPr/>
          </a:p>
        </p:txBody>
      </p:sp>
      <p:sp>
        <p:nvSpPr>
          <p:cNvPr id="56" name="TextBox 55"/>
          <p:cNvSpPr txBox="1"/>
          <p:nvPr/>
        </p:nvSpPr>
        <p:spPr>
          <a:xfrm>
            <a:off x="3310128" y="2724911"/>
            <a:ext cx="3529583" cy="566928"/>
          </a:xfrm>
          <a:prstGeom prst="rect">
            <a:avLst/>
          </a:prstGeom>
          <a:noFill/>
        </p:spPr>
        <p:txBody>
          <a:bodyPr wrap="square" lIns="73152" tIns="27432" rIns="73152" bIns="27432" anchor="ctr">
            <a:spAutoFit/>
          </a:bodyPr>
          <a:lstStyle/>
          <a:p>
            <a:pPr algn="l"/>
            <a:r>
              <a:rPr sz="850" b="1">
                <a:solidFill>
                  <a:srgbClr val="141B33"/>
                </a:solidFill>
                <a:latin typeface="Segoe UI"/>
              </a:rPr>
              <a:t>Anthropic Messages surface</a:t>
            </a:r>
          </a:p>
          <a:p>
            <a:pPr algn="l"/>
            <a:r>
              <a:rPr sz="850" b="0">
                <a:solidFill>
                  <a:srgbClr val="141B33"/>
                </a:solidFill>
                <a:latin typeface="Segoe UI"/>
              </a:rPr>
              <a:t>Claude, hosted on Azure or on Anthropic</a:t>
            </a:r>
          </a:p>
        </p:txBody>
      </p:sp>
      <p:sp>
        <p:nvSpPr>
          <p:cNvPr id="57" name="Rectangle 56"/>
          <p:cNvSpPr/>
          <p:nvPr/>
        </p:nvSpPr>
        <p:spPr>
          <a:xfrm>
            <a:off x="3310128" y="3364991"/>
            <a:ext cx="3529583" cy="566928"/>
          </a:xfrm>
          <a:prstGeom prst="rect">
            <a:avLst/>
          </a:prstGeom>
          <a:solidFill>
            <a:srgbClr val="FFFFFF"/>
          </a:solidFill>
          <a:ln w="9525">
            <a:solidFill>
              <a:srgbClr val="E1E7F4"/>
            </a:solidFill>
          </a:ln>
          <a:effectLst/>
        </p:spPr>
        <p:txBody>
          <a:bodyPr rtlCol="0" anchor="ctr"/>
          <a:lstStyle/>
          <a:p>
            <a:pPr algn="ctr"/>
            <a:endParaRPr/>
          </a:p>
        </p:txBody>
      </p:sp>
      <p:sp>
        <p:nvSpPr>
          <p:cNvPr id="58" name="TextBox 57"/>
          <p:cNvSpPr txBox="1"/>
          <p:nvPr/>
        </p:nvSpPr>
        <p:spPr>
          <a:xfrm>
            <a:off x="3310128" y="3364991"/>
            <a:ext cx="3529583" cy="566928"/>
          </a:xfrm>
          <a:prstGeom prst="rect">
            <a:avLst/>
          </a:prstGeom>
          <a:noFill/>
        </p:spPr>
        <p:txBody>
          <a:bodyPr wrap="square" lIns="73152" tIns="27432" rIns="73152" bIns="27432" anchor="ctr">
            <a:spAutoFit/>
          </a:bodyPr>
          <a:lstStyle/>
          <a:p>
            <a:pPr algn="l"/>
            <a:r>
              <a:rPr sz="850" b="1">
                <a:solidFill>
                  <a:srgbClr val="141B33"/>
                </a:solidFill>
                <a:latin typeface="Segoe UI"/>
              </a:rPr>
              <a:t>Foundry-native surface</a:t>
            </a:r>
          </a:p>
          <a:p>
            <a:pPr algn="l"/>
            <a:r>
              <a:rPr sz="850" b="0">
                <a:solidFill>
                  <a:srgbClr val="141B33"/>
                </a:solidFill>
                <a:latin typeface="Segoe UI"/>
              </a:rPr>
              <a:t>agents, hosted agents, toolboxes, evaluations, tracing, datasets, indexes, connections — one stable version, v1</a:t>
            </a:r>
          </a:p>
        </p:txBody>
      </p:sp>
      <p:sp>
        <p:nvSpPr>
          <p:cNvPr id="59" name="TextBox 58"/>
          <p:cNvSpPr txBox="1"/>
          <p:nvPr/>
        </p:nvSpPr>
        <p:spPr>
          <a:xfrm>
            <a:off x="3310128" y="3986784"/>
            <a:ext cx="3529583" cy="365760"/>
          </a:xfrm>
          <a:prstGeom prst="rect">
            <a:avLst/>
          </a:prstGeom>
          <a:noFill/>
        </p:spPr>
        <p:txBody>
          <a:bodyPr wrap="square" lIns="73152" tIns="27432" rIns="73152" bIns="27432" anchor="ctr">
            <a:spAutoFit/>
          </a:bodyPr>
          <a:lstStyle/>
          <a:p>
            <a:pPr algn="ctr"/>
            <a:r>
              <a:rPr sz="800" b="1">
                <a:solidFill>
                  <a:srgbClr val="44495B"/>
                </a:solidFill>
                <a:latin typeface="Segoe UI"/>
              </a:rPr>
              <a:t>Behind it: </a:t>
            </a:r>
            <a:r>
              <a:rPr sz="800" b="0">
                <a:solidFill>
                  <a:srgbClr val="44495B"/>
                </a:solidFill>
                <a:latin typeface="Segoe UI"/>
              </a:rPr>
              <a:t>Foundry Models · Foundry Agent Service · Toolboxes · Foundry IQ · Observability · Guardrails</a:t>
            </a:r>
          </a:p>
        </p:txBody>
      </p:sp>
      <p:sp>
        <p:nvSpPr>
          <p:cNvPr id="60" name="Right Arrow 59"/>
          <p:cNvSpPr/>
          <p:nvPr/>
        </p:nvSpPr>
        <p:spPr>
          <a:xfrm>
            <a:off x="7022592" y="2852928"/>
            <a:ext cx="201168" cy="219456"/>
          </a:xfrm>
          <a:prstGeom prst="rightArrow">
            <a:avLst/>
          </a:prstGeom>
          <a:solidFill>
            <a:srgbClr val="00B39F"/>
          </a:solidFill>
          <a:ln>
            <a:noFill/>
          </a:ln>
          <a:effectLst/>
        </p:spPr>
        <p:txBody>
          <a:bodyPr rtlCol="0" anchor="ctr"/>
          <a:lstStyle/>
          <a:p>
            <a:pPr algn="ctr"/>
            <a:endParaRPr/>
          </a:p>
        </p:txBody>
      </p:sp>
      <p:sp>
        <p:nvSpPr>
          <p:cNvPr id="61" name="TextBox 60"/>
          <p:cNvSpPr txBox="1"/>
          <p:nvPr/>
        </p:nvSpPr>
        <p:spPr>
          <a:xfrm>
            <a:off x="7296912" y="1298448"/>
            <a:ext cx="43434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WHY IT MATTERS</a:t>
            </a:r>
          </a:p>
        </p:txBody>
      </p:sp>
      <p:sp>
        <p:nvSpPr>
          <p:cNvPr id="62" name="Rectangle 61"/>
          <p:cNvSpPr/>
          <p:nvPr/>
        </p:nvSpPr>
        <p:spPr>
          <a:xfrm>
            <a:off x="7296912" y="1572768"/>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63" name="Rectangle 62"/>
          <p:cNvSpPr/>
          <p:nvPr/>
        </p:nvSpPr>
        <p:spPr>
          <a:xfrm>
            <a:off x="7296912" y="1572768"/>
            <a:ext cx="45720" cy="640080"/>
          </a:xfrm>
          <a:prstGeom prst="rect">
            <a:avLst/>
          </a:prstGeom>
          <a:solidFill>
            <a:srgbClr val="00B39F"/>
          </a:solidFill>
          <a:ln>
            <a:noFill/>
          </a:ln>
          <a:effectLst/>
        </p:spPr>
        <p:txBody>
          <a:bodyPr rtlCol="0" anchor="ctr"/>
          <a:lstStyle/>
          <a:p>
            <a:pPr algn="ctr"/>
            <a:endParaRPr/>
          </a:p>
        </p:txBody>
      </p:sp>
      <p:sp>
        <p:nvSpPr>
          <p:cNvPr id="64" name="TextBox 63"/>
          <p:cNvSpPr txBox="1"/>
          <p:nvPr/>
        </p:nvSpPr>
        <p:spPr>
          <a:xfrm>
            <a:off x="7370064" y="1572768"/>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One endpoint, every capability</a:t>
            </a:r>
          </a:p>
          <a:p>
            <a:pPr algn="l"/>
            <a:r>
              <a:rPr sz="850" b="0">
                <a:solidFill>
                  <a:srgbClr val="141B33"/>
                </a:solidFill>
                <a:latin typeface="Segoe UI"/>
              </a:rPr>
              <a:t>Models, agents, tools, knowledge and evaluations share a single project endpoint, identity model and set of permissions.</a:t>
            </a:r>
          </a:p>
        </p:txBody>
      </p:sp>
      <p:sp>
        <p:nvSpPr>
          <p:cNvPr id="65" name="Rectangle 64"/>
          <p:cNvSpPr/>
          <p:nvPr/>
        </p:nvSpPr>
        <p:spPr>
          <a:xfrm>
            <a:off x="7296912" y="2286000"/>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66" name="Rectangle 65"/>
          <p:cNvSpPr/>
          <p:nvPr/>
        </p:nvSpPr>
        <p:spPr>
          <a:xfrm>
            <a:off x="7296912" y="2286000"/>
            <a:ext cx="45720" cy="640080"/>
          </a:xfrm>
          <a:prstGeom prst="rect">
            <a:avLst/>
          </a:prstGeom>
          <a:solidFill>
            <a:srgbClr val="00B39F"/>
          </a:solidFill>
          <a:ln>
            <a:noFill/>
          </a:ln>
          <a:effectLst/>
        </p:spPr>
        <p:txBody>
          <a:bodyPr rtlCol="0" anchor="ctr"/>
          <a:lstStyle/>
          <a:p>
            <a:pPr algn="ctr"/>
            <a:endParaRPr/>
          </a:p>
        </p:txBody>
      </p:sp>
      <p:sp>
        <p:nvSpPr>
          <p:cNvPr id="67" name="TextBox 66"/>
          <p:cNvSpPr txBox="1"/>
          <p:nvPr/>
        </p:nvSpPr>
        <p:spPr>
          <a:xfrm>
            <a:off x="7370064" y="2286000"/>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Swap models without changing code</a:t>
            </a:r>
          </a:p>
          <a:p>
            <a:pPr algn="l"/>
            <a:r>
              <a:rPr sz="850" b="0">
                <a:solidFill>
                  <a:srgbClr val="141B33"/>
                </a:solidFill>
                <a:latin typeface="Segoe UI"/>
              </a:rPr>
              <a:t>A prompt agent or an OpenAI-compatible call can move between GPT, Claude, Llama or Model Router behind the same surface.</a:t>
            </a:r>
          </a:p>
        </p:txBody>
      </p:sp>
      <p:sp>
        <p:nvSpPr>
          <p:cNvPr id="68" name="Rectangle 67"/>
          <p:cNvSpPr/>
          <p:nvPr/>
        </p:nvSpPr>
        <p:spPr>
          <a:xfrm>
            <a:off x="7296912" y="2999232"/>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69" name="Rectangle 68"/>
          <p:cNvSpPr/>
          <p:nvPr/>
        </p:nvSpPr>
        <p:spPr>
          <a:xfrm>
            <a:off x="7296912" y="2999232"/>
            <a:ext cx="45720" cy="640080"/>
          </a:xfrm>
          <a:prstGeom prst="rect">
            <a:avLst/>
          </a:prstGeom>
          <a:solidFill>
            <a:srgbClr val="00B39F"/>
          </a:solidFill>
          <a:ln>
            <a:noFill/>
          </a:ln>
          <a:effectLst/>
        </p:spPr>
        <p:txBody>
          <a:bodyPr rtlCol="0" anchor="ctr"/>
          <a:lstStyle/>
          <a:p>
            <a:pPr algn="ctr"/>
            <a:endParaRPr/>
          </a:p>
        </p:txBody>
      </p:sp>
      <p:sp>
        <p:nvSpPr>
          <p:cNvPr id="70" name="TextBox 69"/>
          <p:cNvSpPr txBox="1"/>
          <p:nvPr/>
        </p:nvSpPr>
        <p:spPr>
          <a:xfrm>
            <a:off x="7370064" y="2999232"/>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Stable, versionless contracts</a:t>
            </a:r>
          </a:p>
          <a:p>
            <a:pPr algn="l"/>
            <a:r>
              <a:rPr sz="850" b="0">
                <a:solidFill>
                  <a:srgbClr val="141B33"/>
                </a:solidFill>
                <a:latin typeface="Segoe UI"/>
              </a:rPr>
              <a:t>v1 routes replace monthly API versions; previews are opted into explicitly, so production code does not break on release day.</a:t>
            </a:r>
          </a:p>
        </p:txBody>
      </p:sp>
      <p:sp>
        <p:nvSpPr>
          <p:cNvPr id="71" name="Rectangle 70"/>
          <p:cNvSpPr/>
          <p:nvPr/>
        </p:nvSpPr>
        <p:spPr>
          <a:xfrm>
            <a:off x="7296912" y="3712463"/>
            <a:ext cx="4343400" cy="640080"/>
          </a:xfrm>
          <a:prstGeom prst="rect">
            <a:avLst/>
          </a:prstGeom>
          <a:solidFill>
            <a:srgbClr val="FFFFFF"/>
          </a:solidFill>
          <a:ln w="9525">
            <a:solidFill>
              <a:srgbClr val="E1E7F4"/>
            </a:solidFill>
          </a:ln>
          <a:effectLst/>
        </p:spPr>
        <p:txBody>
          <a:bodyPr rtlCol="0" anchor="ctr"/>
          <a:lstStyle/>
          <a:p>
            <a:pPr algn="ctr"/>
            <a:endParaRPr/>
          </a:p>
        </p:txBody>
      </p:sp>
      <p:sp>
        <p:nvSpPr>
          <p:cNvPr id="72" name="Rectangle 71"/>
          <p:cNvSpPr/>
          <p:nvPr/>
        </p:nvSpPr>
        <p:spPr>
          <a:xfrm>
            <a:off x="7296912" y="3712463"/>
            <a:ext cx="45720" cy="640080"/>
          </a:xfrm>
          <a:prstGeom prst="rect">
            <a:avLst/>
          </a:prstGeom>
          <a:solidFill>
            <a:srgbClr val="00B39F"/>
          </a:solidFill>
          <a:ln>
            <a:noFill/>
          </a:ln>
          <a:effectLst/>
        </p:spPr>
        <p:txBody>
          <a:bodyPr rtlCol="0" anchor="ctr"/>
          <a:lstStyle/>
          <a:p>
            <a:pPr algn="ctr"/>
            <a:endParaRPr/>
          </a:p>
        </p:txBody>
      </p:sp>
      <p:sp>
        <p:nvSpPr>
          <p:cNvPr id="73" name="TextBox 72"/>
          <p:cNvSpPr txBox="1"/>
          <p:nvPr/>
        </p:nvSpPr>
        <p:spPr>
          <a:xfrm>
            <a:off x="7370064" y="3712463"/>
            <a:ext cx="4251960" cy="640080"/>
          </a:xfrm>
          <a:prstGeom prst="rect">
            <a:avLst/>
          </a:prstGeom>
          <a:noFill/>
        </p:spPr>
        <p:txBody>
          <a:bodyPr wrap="square" lIns="73152" tIns="27432" rIns="73152" bIns="27432" anchor="ctr">
            <a:spAutoFit/>
          </a:bodyPr>
          <a:lstStyle/>
          <a:p>
            <a:pPr algn="l"/>
            <a:r>
              <a:rPr sz="850" b="1">
                <a:solidFill>
                  <a:srgbClr val="141B33"/>
                </a:solidFill>
                <a:latin typeface="Segoe UI"/>
              </a:rPr>
              <a:t>Keep the SDK you already use</a:t>
            </a:r>
          </a:p>
          <a:p>
            <a:pPr algn="l"/>
            <a:r>
              <a:rPr sz="850" b="0">
                <a:solidFill>
                  <a:srgbClr val="141B33"/>
                </a:solidFill>
                <a:latin typeface="Segoe UI"/>
              </a:rPr>
              <a:t>OpenAI, Anthropic and open-source frameworks work as they are; the Foundry SDK adds the platform operations around them.</a:t>
            </a:r>
          </a:p>
        </p:txBody>
      </p:sp>
      <p:sp>
        <p:nvSpPr>
          <p:cNvPr id="74" name="Rectangle 73"/>
          <p:cNvSpPr/>
          <p:nvPr/>
        </p:nvSpPr>
        <p:spPr>
          <a:xfrm>
            <a:off x="548640" y="4544568"/>
            <a:ext cx="6382512" cy="896112"/>
          </a:xfrm>
          <a:prstGeom prst="rect">
            <a:avLst/>
          </a:prstGeom>
          <a:solidFill>
            <a:srgbClr val="EBEFF7"/>
          </a:solidFill>
          <a:ln>
            <a:noFill/>
          </a:ln>
          <a:effectLst/>
        </p:spPr>
        <p:txBody>
          <a:bodyPr rtlCol="0" anchor="ctr"/>
          <a:lstStyle/>
          <a:p>
            <a:pPr algn="ctr"/>
            <a:endParaRPr/>
          </a:p>
        </p:txBody>
      </p:sp>
      <p:sp>
        <p:nvSpPr>
          <p:cNvPr id="75" name="TextBox 74"/>
          <p:cNvSpPr txBox="1"/>
          <p:nvPr/>
        </p:nvSpPr>
        <p:spPr>
          <a:xfrm>
            <a:off x="548640" y="4544568"/>
            <a:ext cx="6382512" cy="896112"/>
          </a:xfrm>
          <a:prstGeom prst="rect">
            <a:avLst/>
          </a:prstGeom>
          <a:noFill/>
        </p:spPr>
        <p:txBody>
          <a:bodyPr wrap="square" lIns="73152" tIns="27432" rIns="73152" bIns="27432" anchor="ctr">
            <a:spAutoFit/>
          </a:bodyPr>
          <a:lstStyle/>
          <a:p>
            <a:pPr algn="l"/>
            <a:r>
              <a:rPr sz="850" b="1">
                <a:solidFill>
                  <a:srgbClr val="141B33"/>
                </a:solidFill>
                <a:latin typeface="Segoe UI"/>
              </a:rPr>
              <a:t>When to use which</a:t>
            </a:r>
          </a:p>
          <a:p>
            <a:pPr algn="l">
              <a:spcBef>
                <a:spcPts val="200"/>
              </a:spcBef>
            </a:pPr>
            <a:r>
              <a:rPr sz="850" b="1">
                <a:solidFill>
                  <a:srgbClr val="141B33"/>
                </a:solidFill>
                <a:latin typeface="Segoe UI"/>
              </a:rPr>
              <a:t>Just calling a model → </a:t>
            </a:r>
            <a:r>
              <a:rPr sz="850" b="0">
                <a:solidFill>
                  <a:srgbClr val="141B33"/>
                </a:solidFill>
                <a:latin typeface="Segoe UI"/>
              </a:rPr>
              <a:t>OpenAI or Anthropic SDK against the OpenAI-compatible or Messages surface.</a:t>
            </a:r>
          </a:p>
          <a:p>
            <a:pPr algn="l">
              <a:spcBef>
                <a:spcPts val="200"/>
              </a:spcBef>
            </a:pPr>
            <a:r>
              <a:rPr sz="850" b="1">
                <a:solidFill>
                  <a:srgbClr val="141B33"/>
                </a:solidFill>
                <a:latin typeface="Segoe UI"/>
              </a:rPr>
              <a:t>Building or operating agents → </a:t>
            </a:r>
            <a:r>
              <a:rPr sz="850" b="0">
                <a:solidFill>
                  <a:srgbClr val="141B33"/>
                </a:solidFill>
                <a:latin typeface="Segoe UI"/>
              </a:rPr>
              <a:t>Foundry SDK for agents, toolboxes, evaluations and tracing; Agent Framework or LangGraph for the agent logic.</a:t>
            </a:r>
          </a:p>
          <a:p>
            <a:pPr algn="l">
              <a:spcBef>
                <a:spcPts val="200"/>
              </a:spcBef>
            </a:pPr>
            <a:r>
              <a:rPr sz="850" b="1">
                <a:solidFill>
                  <a:srgbClr val="141B33"/>
                </a:solidFill>
                <a:latin typeface="Segoe UI"/>
              </a:rPr>
              <a:t>Embeddings → </a:t>
            </a:r>
            <a:r>
              <a:rPr sz="850" b="0">
                <a:solidFill>
                  <a:srgbClr val="141B33"/>
                </a:solidFill>
                <a:latin typeface="Segoe UI"/>
              </a:rPr>
              <a:t>call the OpenAI-compatible surface directly; the project endpoint does not route them.</a:t>
            </a:r>
          </a:p>
        </p:txBody>
      </p:sp>
      <p:sp>
        <p:nvSpPr>
          <p:cNvPr id="76" name="Rectangle 75"/>
          <p:cNvSpPr/>
          <p:nvPr/>
        </p:nvSpPr>
        <p:spPr>
          <a:xfrm>
            <a:off x="7068312" y="4544568"/>
            <a:ext cx="4572000" cy="896112"/>
          </a:xfrm>
          <a:prstGeom prst="rect">
            <a:avLst/>
          </a:prstGeom>
          <a:solidFill>
            <a:srgbClr val="0B1229"/>
          </a:solidFill>
          <a:ln>
            <a:noFill/>
          </a:ln>
          <a:effectLst/>
        </p:spPr>
        <p:txBody>
          <a:bodyPr rtlCol="0" anchor="ctr"/>
          <a:lstStyle/>
          <a:p>
            <a:pPr algn="ctr"/>
            <a:endParaRPr/>
          </a:p>
        </p:txBody>
      </p:sp>
      <p:sp>
        <p:nvSpPr>
          <p:cNvPr id="77" name="TextBox 76"/>
          <p:cNvSpPr txBox="1"/>
          <p:nvPr/>
        </p:nvSpPr>
        <p:spPr>
          <a:xfrm>
            <a:off x="7068312" y="4544568"/>
            <a:ext cx="4572000" cy="896112"/>
          </a:xfrm>
          <a:prstGeom prst="rect">
            <a:avLst/>
          </a:prstGeom>
          <a:noFill/>
        </p:spPr>
        <p:txBody>
          <a:bodyPr wrap="square" lIns="73152" tIns="27432" rIns="73152" bIns="27432" anchor="ctr">
            <a:spAutoFit/>
          </a:bodyPr>
          <a:lstStyle/>
          <a:p>
            <a:pPr algn="l"/>
            <a:r>
              <a:rPr sz="850" b="1">
                <a:solidFill>
                  <a:srgbClr val="FFFFFF"/>
                </a:solidFill>
                <a:latin typeface="Segoe UI"/>
              </a:rPr>
              <a:t>New in 2026</a:t>
            </a:r>
          </a:p>
          <a:p>
            <a:pPr algn="l">
              <a:spcBef>
                <a:spcPts val="100"/>
              </a:spcBef>
            </a:pPr>
            <a:r>
              <a:rPr sz="850" b="0">
                <a:solidFill>
                  <a:srgbClr val="FFFFFF"/>
                </a:solidFill>
                <a:latin typeface="Segoe UI"/>
              </a:rPr>
              <a:t>• Single v1 version for Foundry-native routes; previews enabled per request</a:t>
            </a:r>
          </a:p>
          <a:p>
            <a:pPr algn="l">
              <a:spcBef>
                <a:spcPts val="100"/>
              </a:spcBef>
            </a:pPr>
            <a:r>
              <a:rPr sz="850" b="0">
                <a:solidFill>
                  <a:srgbClr val="FFFFFF"/>
                </a:solidFill>
                <a:latin typeface="Segoe UI"/>
              </a:rPr>
              <a:t>• Foundry SDK 2.x: hosted agents and toolboxes are stable operations</a:t>
            </a:r>
          </a:p>
          <a:p>
            <a:pPr algn="l">
              <a:spcBef>
                <a:spcPts val="100"/>
              </a:spcBef>
            </a:pPr>
            <a:r>
              <a:rPr sz="850" b="0">
                <a:solidFill>
                  <a:srgbClr val="FFFFFF"/>
                </a:solidFill>
                <a:latin typeface="Segoe UI"/>
              </a:rPr>
              <a:t>• Anthropic Messages surface added alongside the OpenAI-compatible one</a:t>
            </a:r>
          </a:p>
          <a:p>
            <a:pPr algn="l">
              <a:spcBef>
                <a:spcPts val="100"/>
              </a:spcBef>
            </a:pPr>
            <a:r>
              <a:rPr sz="850" b="0">
                <a:solidFill>
                  <a:srgbClr val="FFFFFF"/>
                </a:solidFill>
                <a:latin typeface="Segoe UI"/>
              </a:rPr>
              <a:t>• Evaluation and data-generation jobs run as long-running operations</a:t>
            </a: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1   ·   H I G H   L E V E L</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Developer tooling in 2026</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The SDK is now surrounded by an IDE extension, a CLI workflow, an installer and an MCP server.</a:t>
            </a:r>
          </a:p>
          <a:p>
            <a:endParaRPr sz="1200">
              <a:solidFill>
                <a:srgbClr val="44495B"/>
              </a:solidFill>
              <a:latin typeface="Segoe UI"/>
            </a:endParaRPr>
          </a:p>
        </p:txBody>
      </p:sp>
      <p:sp>
        <p:nvSpPr>
          <p:cNvPr id="5" name="Shape"/>
          <p:cNvSpPr/>
          <p:nvPr/>
        </p:nvSpPr>
        <p:spPr>
          <a:xfrm>
            <a:off x="548640" y="1417320"/>
            <a:ext cx="2072640" cy="2670048"/>
          </a:xfrm>
          <a:prstGeom prst="rect">
            <a:avLst/>
          </a:prstGeom>
          <a:solidFill>
            <a:srgbClr val="F6F8FD"/>
          </a:solidFill>
          <a:ln w="9525">
            <a:solidFill>
              <a:srgbClr val="E1E7F4"/>
            </a:solidFill>
          </a:ln>
        </p:spPr>
        <p:txBody>
          <a:bodyPr/>
          <a:lstStyle/>
          <a:p>
            <a:endParaRPr/>
          </a:p>
        </p:txBody>
      </p:sp>
      <p:sp>
        <p:nvSpPr>
          <p:cNvPr id="6" name="Shape"/>
          <p:cNvSpPr/>
          <p:nvPr/>
        </p:nvSpPr>
        <p:spPr>
          <a:xfrm>
            <a:off x="548640" y="1417320"/>
            <a:ext cx="2072640" cy="38405"/>
          </a:xfrm>
          <a:prstGeom prst="rect">
            <a:avLst/>
          </a:prstGeom>
          <a:solidFill>
            <a:srgbClr val="00B39F"/>
          </a:solidFill>
        </p:spPr>
        <p:txBody>
          <a:bodyPr/>
          <a:lstStyle/>
          <a:p>
            <a:endParaRPr/>
          </a:p>
        </p:txBody>
      </p:sp>
      <p:sp>
        <p:nvSpPr>
          <p:cNvPr id="7" name="TextBox"/>
          <p:cNvSpPr txBox="1"/>
          <p:nvPr/>
        </p:nvSpPr>
        <p:spPr>
          <a:xfrm>
            <a:off x="603504" y="1540764"/>
            <a:ext cx="1962912" cy="457200"/>
          </a:xfrm>
          <a:prstGeom prst="rect">
            <a:avLst/>
          </a:prstGeom>
        </p:spPr>
        <p:txBody>
          <a:bodyPr anchor="ctr"/>
          <a:lstStyle/>
          <a:p>
            <a:r>
              <a:rPr sz="1050" b="1">
                <a:solidFill>
                  <a:srgbClr val="101A3C"/>
                </a:solidFill>
                <a:latin typeface="Segoe UI"/>
              </a:rPr>
              <a:t>Foundry Toolkit</a:t>
            </a:r>
          </a:p>
          <a:p>
            <a:r>
              <a:rPr sz="1050" b="1">
                <a:solidFill>
                  <a:srgbClr val="101A3C"/>
                </a:solidFill>
                <a:latin typeface="Segoe UI"/>
              </a:rPr>
              <a:t>for VS Code</a:t>
            </a:r>
          </a:p>
        </p:txBody>
      </p:sp>
      <p:sp>
        <p:nvSpPr>
          <p:cNvPr id="8" name="Shape"/>
          <p:cNvSpPr/>
          <p:nvPr/>
        </p:nvSpPr>
        <p:spPr>
          <a:xfrm>
            <a:off x="694944" y="1975104"/>
            <a:ext cx="379476" cy="246888"/>
          </a:xfrm>
          <a:prstGeom prst="roundRect">
            <a:avLst/>
          </a:prstGeom>
          <a:solidFill>
            <a:srgbClr val="E6F4EA"/>
          </a:solidFill>
        </p:spPr>
        <p:txBody>
          <a:bodyPr anchor="ctr"/>
          <a:lstStyle/>
          <a:p>
            <a:pPr algn="ctr"/>
            <a:r>
              <a:rPr sz="900" b="1">
                <a:solidFill>
                  <a:srgbClr val="107C10"/>
                </a:solidFill>
                <a:latin typeface="Segoe UI"/>
              </a:rPr>
              <a:t>GA</a:t>
            </a:r>
          </a:p>
        </p:txBody>
      </p:sp>
      <p:sp>
        <p:nvSpPr>
          <p:cNvPr id="9" name="TextBox"/>
          <p:cNvSpPr txBox="1"/>
          <p:nvPr/>
        </p:nvSpPr>
        <p:spPr>
          <a:xfrm>
            <a:off x="603504" y="2327148"/>
            <a:ext cx="1962912" cy="1097280"/>
          </a:xfrm>
          <a:prstGeom prst="rect">
            <a:avLst/>
          </a:prstGeom>
        </p:spPr>
        <p:txBody>
          <a:bodyPr anchor="ctr"/>
          <a:lstStyle/>
          <a:p>
            <a:r>
              <a:rPr sz="900">
                <a:solidFill>
                  <a:srgbClr val="141B33"/>
                </a:solidFill>
                <a:latin typeface="Segoe UI"/>
              </a:rPr>
              <a:t>Create agents from</a:t>
            </a:r>
          </a:p>
          <a:p>
            <a:r>
              <a:rPr sz="900">
                <a:solidFill>
                  <a:srgbClr val="141B33"/>
                </a:solidFill>
                <a:latin typeface="Segoe UI"/>
              </a:rPr>
              <a:t>templates or with GitHub</a:t>
            </a:r>
          </a:p>
          <a:p>
            <a:r>
              <a:rPr sz="900">
                <a:solidFill>
                  <a:srgbClr val="141B33"/>
                </a:solidFill>
                <a:latin typeface="Segoe UI"/>
              </a:rPr>
              <a:t>Copilot. Debug runs</a:t>
            </a:r>
          </a:p>
          <a:p>
            <a:r>
              <a:rPr sz="900">
                <a:solidFill>
                  <a:srgbClr val="141B33"/>
                </a:solidFill>
                <a:latin typeface="Segoe UI"/>
              </a:rPr>
              <a:t>locally with trace</a:t>
            </a:r>
          </a:p>
          <a:p>
            <a:r>
              <a:rPr sz="900">
                <a:solidFill>
                  <a:srgbClr val="141B33"/>
                </a:solidFill>
                <a:latin typeface="Segoe UI"/>
              </a:rPr>
              <a:t>visualisation. Connect a</a:t>
            </a:r>
          </a:p>
          <a:p>
            <a:r>
              <a:rPr sz="900">
                <a:solidFill>
                  <a:srgbClr val="141B33"/>
                </a:solidFill>
                <a:latin typeface="Segoe UI"/>
              </a:rPr>
              <a:t>Toolbox; deploy to the</a:t>
            </a:r>
          </a:p>
          <a:p>
            <a:r>
              <a:rPr sz="900">
                <a:solidFill>
                  <a:srgbClr val="141B33"/>
                </a:solidFill>
                <a:latin typeface="Segoe UI"/>
              </a:rPr>
              <a:t>Agent Service.</a:t>
            </a:r>
          </a:p>
        </p:txBody>
      </p:sp>
      <p:sp>
        <p:nvSpPr>
          <p:cNvPr id="10" name="Shape"/>
          <p:cNvSpPr/>
          <p:nvPr/>
        </p:nvSpPr>
        <p:spPr>
          <a:xfrm>
            <a:off x="2804160" y="1417320"/>
            <a:ext cx="2072640" cy="2670048"/>
          </a:xfrm>
          <a:prstGeom prst="rect">
            <a:avLst/>
          </a:prstGeom>
          <a:solidFill>
            <a:srgbClr val="F6F8FD"/>
          </a:solidFill>
          <a:ln w="9525">
            <a:solidFill>
              <a:srgbClr val="E1E7F4"/>
            </a:solidFill>
          </a:ln>
        </p:spPr>
        <p:txBody>
          <a:bodyPr/>
          <a:lstStyle/>
          <a:p>
            <a:endParaRPr/>
          </a:p>
        </p:txBody>
      </p:sp>
      <p:sp>
        <p:nvSpPr>
          <p:cNvPr id="11" name="Shape"/>
          <p:cNvSpPr/>
          <p:nvPr/>
        </p:nvSpPr>
        <p:spPr>
          <a:xfrm>
            <a:off x="2804160" y="1417320"/>
            <a:ext cx="2072640" cy="38405"/>
          </a:xfrm>
          <a:prstGeom prst="rect">
            <a:avLst/>
          </a:prstGeom>
          <a:solidFill>
            <a:srgbClr val="101A3C"/>
          </a:solidFill>
        </p:spPr>
        <p:txBody>
          <a:bodyPr/>
          <a:lstStyle/>
          <a:p>
            <a:endParaRPr/>
          </a:p>
        </p:txBody>
      </p:sp>
      <p:sp>
        <p:nvSpPr>
          <p:cNvPr id="12" name="TextBox"/>
          <p:cNvSpPr txBox="1"/>
          <p:nvPr/>
        </p:nvSpPr>
        <p:spPr>
          <a:xfrm>
            <a:off x="2859024" y="1540764"/>
            <a:ext cx="1962912" cy="457200"/>
          </a:xfrm>
          <a:prstGeom prst="rect">
            <a:avLst/>
          </a:prstGeom>
        </p:spPr>
        <p:txBody>
          <a:bodyPr anchor="ctr"/>
          <a:lstStyle/>
          <a:p>
            <a:r>
              <a:rPr sz="1050" b="1">
                <a:solidFill>
                  <a:srgbClr val="101A3C"/>
                </a:solidFill>
                <a:latin typeface="Segoe UI"/>
              </a:rPr>
              <a:t>azd ai agent</a:t>
            </a:r>
          </a:p>
          <a:p>
            <a:endParaRPr sz="1050" b="1">
              <a:solidFill>
                <a:srgbClr val="101A3C"/>
              </a:solidFill>
              <a:latin typeface="Segoe UI"/>
            </a:endParaRPr>
          </a:p>
        </p:txBody>
      </p:sp>
      <p:sp>
        <p:nvSpPr>
          <p:cNvPr id="13" name="Shape"/>
          <p:cNvSpPr/>
          <p:nvPr/>
        </p:nvSpPr>
        <p:spPr>
          <a:xfrm>
            <a:off x="2950464" y="1975104"/>
            <a:ext cx="733806" cy="246888"/>
          </a:xfrm>
          <a:prstGeom prst="roundRect">
            <a:avLst/>
          </a:prstGeom>
          <a:solidFill>
            <a:srgbClr val="FFF4E5"/>
          </a:solidFill>
        </p:spPr>
        <p:txBody>
          <a:bodyPr anchor="ctr"/>
          <a:lstStyle/>
          <a:p>
            <a:pPr algn="ctr"/>
            <a:r>
              <a:rPr sz="900" b="1">
                <a:solidFill>
                  <a:srgbClr val="B26B00"/>
                </a:solidFill>
                <a:latin typeface="Segoe UI"/>
              </a:rPr>
              <a:t>Preview</a:t>
            </a:r>
          </a:p>
        </p:txBody>
      </p:sp>
      <p:sp>
        <p:nvSpPr>
          <p:cNvPr id="14" name="TextBox"/>
          <p:cNvSpPr txBox="1"/>
          <p:nvPr/>
        </p:nvSpPr>
        <p:spPr>
          <a:xfrm>
            <a:off x="2859024" y="2327148"/>
            <a:ext cx="1962912" cy="822960"/>
          </a:xfrm>
          <a:prstGeom prst="rect">
            <a:avLst/>
          </a:prstGeom>
        </p:spPr>
        <p:txBody>
          <a:bodyPr anchor="ctr"/>
          <a:lstStyle/>
          <a:p>
            <a:r>
              <a:rPr sz="900">
                <a:solidFill>
                  <a:srgbClr val="141B33"/>
                </a:solidFill>
                <a:latin typeface="Segoe UI"/>
              </a:rPr>
              <a:t>azd ai agent init / run /</a:t>
            </a:r>
          </a:p>
          <a:p>
            <a:r>
              <a:rPr sz="900">
                <a:solidFill>
                  <a:srgbClr val="141B33"/>
                </a:solidFill>
                <a:latin typeface="Segoe UI"/>
              </a:rPr>
              <a:t>invoke / delete.</a:t>
            </a:r>
          </a:p>
          <a:p>
            <a:r>
              <a:rPr sz="900">
                <a:solidFill>
                  <a:srgbClr val="141B33"/>
                </a:solidFill>
                <a:latin typeface="Segoe UI"/>
              </a:rPr>
              <a:t>Extension azure.ai.agents</a:t>
            </a:r>
          </a:p>
          <a:p>
            <a:r>
              <a:rPr sz="900">
                <a:solidFill>
                  <a:srgbClr val="141B33"/>
                </a:solidFill>
                <a:latin typeface="Segoe UI"/>
              </a:rPr>
              <a:t>beta.18, with azd</a:t>
            </a:r>
          </a:p>
          <a:p>
            <a:r>
              <a:rPr sz="900">
                <a:solidFill>
                  <a:srgbClr val="141B33"/>
                </a:solidFill>
                <a:latin typeface="Segoe UI"/>
              </a:rPr>
              <a:t>1.34.2 or later.</a:t>
            </a:r>
          </a:p>
        </p:txBody>
      </p:sp>
      <p:sp>
        <p:nvSpPr>
          <p:cNvPr id="15" name="Shape"/>
          <p:cNvSpPr/>
          <p:nvPr/>
        </p:nvSpPr>
        <p:spPr>
          <a:xfrm>
            <a:off x="5059680" y="1417320"/>
            <a:ext cx="2072640" cy="2670048"/>
          </a:xfrm>
          <a:prstGeom prst="rect">
            <a:avLst/>
          </a:prstGeom>
          <a:solidFill>
            <a:srgbClr val="F6F8FD"/>
          </a:solidFill>
          <a:ln w="9525">
            <a:solidFill>
              <a:srgbClr val="E1E7F4"/>
            </a:solidFill>
          </a:ln>
        </p:spPr>
        <p:txBody>
          <a:bodyPr/>
          <a:lstStyle/>
          <a:p>
            <a:endParaRPr/>
          </a:p>
        </p:txBody>
      </p:sp>
      <p:sp>
        <p:nvSpPr>
          <p:cNvPr id="16" name="Shape"/>
          <p:cNvSpPr/>
          <p:nvPr/>
        </p:nvSpPr>
        <p:spPr>
          <a:xfrm>
            <a:off x="5059680" y="1417320"/>
            <a:ext cx="2072640" cy="38405"/>
          </a:xfrm>
          <a:prstGeom prst="rect">
            <a:avLst/>
          </a:prstGeom>
          <a:solidFill>
            <a:srgbClr val="101A3C"/>
          </a:solidFill>
        </p:spPr>
        <p:txBody>
          <a:bodyPr/>
          <a:lstStyle/>
          <a:p>
            <a:endParaRPr/>
          </a:p>
        </p:txBody>
      </p:sp>
      <p:sp>
        <p:nvSpPr>
          <p:cNvPr id="17" name="TextBox"/>
          <p:cNvSpPr txBox="1"/>
          <p:nvPr/>
        </p:nvSpPr>
        <p:spPr>
          <a:xfrm>
            <a:off x="5114544" y="1540764"/>
            <a:ext cx="1962912" cy="457200"/>
          </a:xfrm>
          <a:prstGeom prst="rect">
            <a:avLst/>
          </a:prstGeom>
        </p:spPr>
        <p:txBody>
          <a:bodyPr anchor="ctr"/>
          <a:lstStyle/>
          <a:p>
            <a:r>
              <a:rPr sz="1050" b="1">
                <a:solidFill>
                  <a:srgbClr val="101A3C"/>
                </a:solidFill>
                <a:latin typeface="Segoe UI"/>
              </a:rPr>
              <a:t>Foundry DevPack</a:t>
            </a:r>
          </a:p>
          <a:p>
            <a:endParaRPr sz="1050" b="1">
              <a:solidFill>
                <a:srgbClr val="101A3C"/>
              </a:solidFill>
              <a:latin typeface="Segoe UI"/>
            </a:endParaRPr>
          </a:p>
        </p:txBody>
      </p:sp>
      <p:sp>
        <p:nvSpPr>
          <p:cNvPr id="18" name="Shape"/>
          <p:cNvSpPr/>
          <p:nvPr/>
        </p:nvSpPr>
        <p:spPr>
          <a:xfrm>
            <a:off x="5205984" y="1975104"/>
            <a:ext cx="733806" cy="246888"/>
          </a:xfrm>
          <a:prstGeom prst="roundRect">
            <a:avLst/>
          </a:prstGeom>
          <a:solidFill>
            <a:srgbClr val="FFF4E5"/>
          </a:solidFill>
        </p:spPr>
        <p:txBody>
          <a:bodyPr anchor="ctr"/>
          <a:lstStyle/>
          <a:p>
            <a:pPr algn="ctr"/>
            <a:r>
              <a:rPr sz="900" b="1">
                <a:solidFill>
                  <a:srgbClr val="B26B00"/>
                </a:solidFill>
                <a:latin typeface="Segoe UI"/>
              </a:rPr>
              <a:t>Preview</a:t>
            </a:r>
          </a:p>
        </p:txBody>
      </p:sp>
      <p:sp>
        <p:nvSpPr>
          <p:cNvPr id="19" name="TextBox"/>
          <p:cNvSpPr txBox="1"/>
          <p:nvPr/>
        </p:nvSpPr>
        <p:spPr>
          <a:xfrm>
            <a:off x="5114544" y="2327148"/>
            <a:ext cx="1962912" cy="1097280"/>
          </a:xfrm>
          <a:prstGeom prst="rect">
            <a:avLst/>
          </a:prstGeom>
        </p:spPr>
        <p:txBody>
          <a:bodyPr anchor="ctr"/>
          <a:lstStyle/>
          <a:p>
            <a:r>
              <a:rPr sz="900">
                <a:solidFill>
                  <a:srgbClr val="141B33"/>
                </a:solidFill>
                <a:latin typeface="Segoe UI"/>
              </a:rPr>
              <a:t>Version 0.1.3. Installs</a:t>
            </a:r>
          </a:p>
          <a:p>
            <a:r>
              <a:rPr sz="900">
                <a:solidFill>
                  <a:srgbClr val="141B33"/>
                </a:solidFill>
                <a:latin typeface="Segoe UI"/>
              </a:rPr>
              <a:t>Azure CLI, azd, the</a:t>
            </a:r>
          </a:p>
          <a:p>
            <a:r>
              <a:rPr sz="900">
                <a:solidFill>
                  <a:srgbClr val="141B33"/>
                </a:solidFill>
                <a:latin typeface="Segoe UI"/>
              </a:rPr>
              <a:t>extensions and the</a:t>
            </a:r>
          </a:p>
          <a:p>
            <a:r>
              <a:rPr sz="900">
                <a:solidFill>
                  <a:srgbClr val="141B33"/>
                </a:solidFill>
                <a:latin typeface="Segoe UI"/>
              </a:rPr>
              <a:t>Foundry agent-dev skill;</a:t>
            </a:r>
          </a:p>
          <a:p>
            <a:r>
              <a:rPr sz="900">
                <a:solidFill>
                  <a:srgbClr val="141B33"/>
                </a:solidFill>
                <a:latin typeface="Segoe UI"/>
              </a:rPr>
              <a:t>wires up VS Code, GitHub</a:t>
            </a:r>
          </a:p>
          <a:p>
            <a:r>
              <a:rPr sz="900">
                <a:solidFill>
                  <a:srgbClr val="141B33"/>
                </a:solidFill>
                <a:latin typeface="Segoe UI"/>
              </a:rPr>
              <a:t>Copilot CLI and Claude</a:t>
            </a:r>
          </a:p>
          <a:p>
            <a:r>
              <a:rPr sz="900">
                <a:solidFill>
                  <a:srgbClr val="141B33"/>
                </a:solidFill>
                <a:latin typeface="Segoe UI"/>
              </a:rPr>
              <a:t>Code.</a:t>
            </a:r>
          </a:p>
        </p:txBody>
      </p:sp>
      <p:sp>
        <p:nvSpPr>
          <p:cNvPr id="20" name="Shape"/>
          <p:cNvSpPr/>
          <p:nvPr/>
        </p:nvSpPr>
        <p:spPr>
          <a:xfrm>
            <a:off x="7315200" y="1417320"/>
            <a:ext cx="2072640" cy="2670048"/>
          </a:xfrm>
          <a:prstGeom prst="rect">
            <a:avLst/>
          </a:prstGeom>
          <a:solidFill>
            <a:srgbClr val="F6F8FD"/>
          </a:solidFill>
          <a:ln w="9525">
            <a:solidFill>
              <a:srgbClr val="E1E7F4"/>
            </a:solidFill>
          </a:ln>
        </p:spPr>
        <p:txBody>
          <a:bodyPr/>
          <a:lstStyle/>
          <a:p>
            <a:endParaRPr/>
          </a:p>
        </p:txBody>
      </p:sp>
      <p:sp>
        <p:nvSpPr>
          <p:cNvPr id="21" name="Shape"/>
          <p:cNvSpPr/>
          <p:nvPr/>
        </p:nvSpPr>
        <p:spPr>
          <a:xfrm>
            <a:off x="7315200" y="1417320"/>
            <a:ext cx="2072640" cy="38405"/>
          </a:xfrm>
          <a:prstGeom prst="rect">
            <a:avLst/>
          </a:prstGeom>
          <a:solidFill>
            <a:srgbClr val="101A3C"/>
          </a:solidFill>
        </p:spPr>
        <p:txBody>
          <a:bodyPr/>
          <a:lstStyle/>
          <a:p>
            <a:endParaRPr/>
          </a:p>
        </p:txBody>
      </p:sp>
      <p:sp>
        <p:nvSpPr>
          <p:cNvPr id="22" name="TextBox"/>
          <p:cNvSpPr txBox="1"/>
          <p:nvPr/>
        </p:nvSpPr>
        <p:spPr>
          <a:xfrm>
            <a:off x="7370064" y="1540764"/>
            <a:ext cx="1962912" cy="457200"/>
          </a:xfrm>
          <a:prstGeom prst="rect">
            <a:avLst/>
          </a:prstGeom>
        </p:spPr>
        <p:txBody>
          <a:bodyPr anchor="ctr"/>
          <a:lstStyle/>
          <a:p>
            <a:r>
              <a:rPr sz="1050" b="1">
                <a:solidFill>
                  <a:srgbClr val="101A3C"/>
                </a:solidFill>
                <a:latin typeface="Segoe UI"/>
              </a:rPr>
              <a:t>Foundry MCP</a:t>
            </a:r>
          </a:p>
          <a:p>
            <a:r>
              <a:rPr sz="1050" b="1">
                <a:solidFill>
                  <a:srgbClr val="101A3C"/>
                </a:solidFill>
                <a:latin typeface="Segoe UI"/>
              </a:rPr>
              <a:t>Server</a:t>
            </a:r>
          </a:p>
        </p:txBody>
      </p:sp>
      <p:sp>
        <p:nvSpPr>
          <p:cNvPr id="23" name="Shape"/>
          <p:cNvSpPr/>
          <p:nvPr/>
        </p:nvSpPr>
        <p:spPr>
          <a:xfrm>
            <a:off x="7461504" y="1975104"/>
            <a:ext cx="733806" cy="246888"/>
          </a:xfrm>
          <a:prstGeom prst="roundRect">
            <a:avLst/>
          </a:prstGeom>
          <a:solidFill>
            <a:srgbClr val="FFF4E5"/>
          </a:solidFill>
        </p:spPr>
        <p:txBody>
          <a:bodyPr anchor="ctr"/>
          <a:lstStyle/>
          <a:p>
            <a:pPr algn="ctr"/>
            <a:r>
              <a:rPr sz="900" b="1">
                <a:solidFill>
                  <a:srgbClr val="B26B00"/>
                </a:solidFill>
                <a:latin typeface="Segoe UI"/>
              </a:rPr>
              <a:t>Preview</a:t>
            </a:r>
          </a:p>
        </p:txBody>
      </p:sp>
      <p:sp>
        <p:nvSpPr>
          <p:cNvPr id="24" name="TextBox"/>
          <p:cNvSpPr txBox="1"/>
          <p:nvPr/>
        </p:nvSpPr>
        <p:spPr>
          <a:xfrm>
            <a:off x="7370064" y="2327148"/>
            <a:ext cx="1962912" cy="822960"/>
          </a:xfrm>
          <a:prstGeom prst="rect">
            <a:avLst/>
          </a:prstGeom>
        </p:spPr>
        <p:txBody>
          <a:bodyPr anchor="ctr"/>
          <a:lstStyle/>
          <a:p>
            <a:r>
              <a:rPr sz="900">
                <a:solidFill>
                  <a:srgbClr val="141B33"/>
                </a:solidFill>
                <a:latin typeface="Segoe UI"/>
              </a:rPr>
              <a:t>Lets coding agents work</a:t>
            </a:r>
          </a:p>
          <a:p>
            <a:r>
              <a:rPr sz="900">
                <a:solidFill>
                  <a:srgbClr val="141B33"/>
                </a:solidFill>
                <a:latin typeface="Segoe UI"/>
              </a:rPr>
              <a:t>against Foundry directly.</a:t>
            </a:r>
          </a:p>
          <a:p>
            <a:r>
              <a:rPr sz="900">
                <a:solidFill>
                  <a:srgbClr val="141B33"/>
                </a:solidFill>
                <a:latin typeface="Segoe UI"/>
              </a:rPr>
              <a:t>Foundry Canvas (preview)</a:t>
            </a:r>
          </a:p>
          <a:p>
            <a:r>
              <a:rPr sz="900">
                <a:solidFill>
                  <a:srgbClr val="141B33"/>
                </a:solidFill>
                <a:latin typeface="Segoe UI"/>
              </a:rPr>
              <a:t>does the same inside the</a:t>
            </a:r>
          </a:p>
          <a:p>
            <a:r>
              <a:rPr sz="900">
                <a:solidFill>
                  <a:srgbClr val="141B33"/>
                </a:solidFill>
                <a:latin typeface="Segoe UI"/>
              </a:rPr>
              <a:t>GitHub Copilot App.</a:t>
            </a:r>
          </a:p>
        </p:txBody>
      </p:sp>
      <p:sp>
        <p:nvSpPr>
          <p:cNvPr id="25" name="Shape"/>
          <p:cNvSpPr/>
          <p:nvPr/>
        </p:nvSpPr>
        <p:spPr>
          <a:xfrm>
            <a:off x="9570720" y="1417320"/>
            <a:ext cx="2072640" cy="2670048"/>
          </a:xfrm>
          <a:prstGeom prst="rect">
            <a:avLst/>
          </a:prstGeom>
          <a:solidFill>
            <a:srgbClr val="F6F8FD"/>
          </a:solidFill>
          <a:ln w="9525">
            <a:solidFill>
              <a:srgbClr val="E1E7F4"/>
            </a:solidFill>
          </a:ln>
        </p:spPr>
        <p:txBody>
          <a:bodyPr/>
          <a:lstStyle/>
          <a:p>
            <a:endParaRPr/>
          </a:p>
        </p:txBody>
      </p:sp>
      <p:sp>
        <p:nvSpPr>
          <p:cNvPr id="26" name="Shape"/>
          <p:cNvSpPr/>
          <p:nvPr/>
        </p:nvSpPr>
        <p:spPr>
          <a:xfrm>
            <a:off x="9570720" y="1417320"/>
            <a:ext cx="2072640" cy="38405"/>
          </a:xfrm>
          <a:prstGeom prst="rect">
            <a:avLst/>
          </a:prstGeom>
          <a:solidFill>
            <a:srgbClr val="00B39F"/>
          </a:solidFill>
        </p:spPr>
        <p:txBody>
          <a:bodyPr/>
          <a:lstStyle/>
          <a:p>
            <a:endParaRPr/>
          </a:p>
        </p:txBody>
      </p:sp>
      <p:sp>
        <p:nvSpPr>
          <p:cNvPr id="27" name="TextBox"/>
          <p:cNvSpPr txBox="1"/>
          <p:nvPr/>
        </p:nvSpPr>
        <p:spPr>
          <a:xfrm>
            <a:off x="9625584" y="1540764"/>
            <a:ext cx="1962912" cy="457200"/>
          </a:xfrm>
          <a:prstGeom prst="rect">
            <a:avLst/>
          </a:prstGeom>
        </p:spPr>
        <p:txBody>
          <a:bodyPr anchor="ctr"/>
          <a:lstStyle/>
          <a:p>
            <a:r>
              <a:rPr sz="1050" b="1">
                <a:solidFill>
                  <a:srgbClr val="101A3C"/>
                </a:solidFill>
                <a:latin typeface="Segoe UI"/>
              </a:rPr>
              <a:t>Foundry Local</a:t>
            </a:r>
          </a:p>
          <a:p>
            <a:endParaRPr sz="1050" b="1">
              <a:solidFill>
                <a:srgbClr val="101A3C"/>
              </a:solidFill>
              <a:latin typeface="Segoe UI"/>
            </a:endParaRPr>
          </a:p>
        </p:txBody>
      </p:sp>
      <p:sp>
        <p:nvSpPr>
          <p:cNvPr id="28" name="Shape"/>
          <p:cNvSpPr/>
          <p:nvPr/>
        </p:nvSpPr>
        <p:spPr>
          <a:xfrm>
            <a:off x="9717024" y="1975104"/>
            <a:ext cx="379476" cy="246888"/>
          </a:xfrm>
          <a:prstGeom prst="roundRect">
            <a:avLst/>
          </a:prstGeom>
          <a:solidFill>
            <a:srgbClr val="E6F4EA"/>
          </a:solidFill>
        </p:spPr>
        <p:txBody>
          <a:bodyPr anchor="ctr"/>
          <a:lstStyle/>
          <a:p>
            <a:pPr algn="ctr"/>
            <a:r>
              <a:rPr sz="900" b="1">
                <a:solidFill>
                  <a:srgbClr val="107C10"/>
                </a:solidFill>
                <a:latin typeface="Segoe UI"/>
              </a:rPr>
              <a:t>GA</a:t>
            </a:r>
          </a:p>
        </p:txBody>
      </p:sp>
      <p:sp>
        <p:nvSpPr>
          <p:cNvPr id="29" name="TextBox"/>
          <p:cNvSpPr txBox="1"/>
          <p:nvPr/>
        </p:nvSpPr>
        <p:spPr>
          <a:xfrm>
            <a:off x="9625584" y="2327148"/>
            <a:ext cx="1962912" cy="960120"/>
          </a:xfrm>
          <a:prstGeom prst="rect">
            <a:avLst/>
          </a:prstGeom>
        </p:spPr>
        <p:txBody>
          <a:bodyPr anchor="ctr"/>
          <a:lstStyle/>
          <a:p>
            <a:r>
              <a:rPr sz="900">
                <a:solidFill>
                  <a:srgbClr val="141B33"/>
                </a:solidFill>
                <a:latin typeface="Segoe UI"/>
              </a:rPr>
              <a:t>On-device; C#, JS, Rust</a:t>
            </a:r>
          </a:p>
          <a:p>
            <a:r>
              <a:rPr sz="900">
                <a:solidFill>
                  <a:srgbClr val="141B33"/>
                </a:solidFill>
                <a:latin typeface="Segoe UI"/>
              </a:rPr>
              <a:t>and Python SDKs; ONNX</a:t>
            </a:r>
          </a:p>
          <a:p>
            <a:r>
              <a:rPr sz="900">
                <a:solidFill>
                  <a:srgbClr val="141B33"/>
                </a:solidFill>
                <a:latin typeface="Segoe UI"/>
              </a:rPr>
              <a:t>Runtime; about 20 MB;</a:t>
            </a:r>
          </a:p>
          <a:p>
            <a:r>
              <a:rPr sz="900">
                <a:solidFill>
                  <a:srgbClr val="141B33"/>
                </a:solidFill>
                <a:latin typeface="Segoe UI"/>
              </a:rPr>
              <a:t>OpenAI-compatible API</a:t>
            </a:r>
          </a:p>
          <a:p>
            <a:r>
              <a:rPr sz="900">
                <a:solidFill>
                  <a:srgbClr val="141B33"/>
                </a:solidFill>
                <a:latin typeface="Segoe UI"/>
              </a:rPr>
              <a:t>including Responses. No</a:t>
            </a:r>
          </a:p>
          <a:p>
            <a:r>
              <a:rPr sz="900">
                <a:solidFill>
                  <a:srgbClr val="141B33"/>
                </a:solidFill>
                <a:latin typeface="Segoe UI"/>
              </a:rPr>
              <a:t>Azure subscription.</a:t>
            </a:r>
          </a:p>
        </p:txBody>
      </p:sp>
      <p:sp>
        <p:nvSpPr>
          <p:cNvPr id="30" name="Shape"/>
          <p:cNvSpPr/>
          <p:nvPr/>
        </p:nvSpPr>
        <p:spPr>
          <a:xfrm>
            <a:off x="548640" y="4343400"/>
            <a:ext cx="11094720" cy="859536"/>
          </a:xfrm>
          <a:prstGeom prst="rect">
            <a:avLst/>
          </a:prstGeom>
          <a:solidFill>
            <a:srgbClr val="101A3C"/>
          </a:solidFill>
        </p:spPr>
        <p:txBody>
          <a:bodyPr/>
          <a:lstStyle/>
          <a:p>
            <a:endParaRPr/>
          </a:p>
        </p:txBody>
      </p:sp>
      <p:sp>
        <p:nvSpPr>
          <p:cNvPr id="31" name="TextBox"/>
          <p:cNvSpPr txBox="1"/>
          <p:nvPr/>
        </p:nvSpPr>
        <p:spPr>
          <a:xfrm>
            <a:off x="676656" y="4411980"/>
            <a:ext cx="10838688" cy="594360"/>
          </a:xfrm>
          <a:prstGeom prst="rect">
            <a:avLst/>
          </a:prstGeom>
        </p:spPr>
        <p:txBody>
          <a:bodyPr anchor="ctr"/>
          <a:lstStyle/>
          <a:p>
            <a:r>
              <a:rPr sz="1000">
                <a:solidFill>
                  <a:srgbClr val="FFFFFF"/>
                </a:solidFill>
                <a:latin typeface="Segoe UI"/>
              </a:rPr>
              <a:t>Samples: github.com/microsoft-foundry/foundry-samples — MIT licence, with Bicep, Python and Terraform assets.</a:t>
            </a:r>
          </a:p>
          <a:p>
            <a:r>
              <a:rPr sz="1000">
                <a:solidFill>
                  <a:srgbClr val="FFFFFF"/>
                </a:solidFill>
                <a:latin typeface="Segoe UI"/>
              </a:rPr>
              <a:t>The inner loop is the Toolkit and Foundry Local; the outer loop is azd and deployment to Agent Service.</a:t>
            </a:r>
          </a:p>
          <a:p>
            <a:r>
              <a:rPr sz="1000">
                <a:solidFill>
                  <a:srgbClr val="FFFFFF"/>
                </a:solidFill>
                <a:latin typeface="Segoe UI"/>
              </a:rPr>
              <a:t>DevPack is an installer rather than a runtime: it lays down the CLI tools and wires up the coding agents already in use.</a:t>
            </a:r>
          </a:p>
        </p:txBody>
      </p:sp>
      <p:sp>
        <p:nvSpPr>
          <p:cNvPr id="32" name="Shape"/>
          <p:cNvSpPr/>
          <p:nvPr/>
        </p:nvSpPr>
        <p:spPr>
          <a:xfrm>
            <a:off x="548640" y="5687568"/>
            <a:ext cx="11094720" cy="9525"/>
          </a:xfrm>
          <a:prstGeom prst="rect">
            <a:avLst/>
          </a:prstGeom>
          <a:solidFill>
            <a:srgbClr val="E1E7F4"/>
          </a:solidFill>
        </p:spPr>
        <p:txBody>
          <a:bodyPr/>
          <a:lstStyle/>
          <a:p>
            <a:endParaRPr/>
          </a:p>
        </p:txBody>
      </p:sp>
      <p:sp>
        <p:nvSpPr>
          <p:cNvPr id="33"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learn.microsoft.com/azure/foundry/how-to/develop/sdk-overview</a:t>
            </a:r>
          </a:p>
          <a:p>
            <a:endParaRPr sz="900">
              <a:solidFill>
                <a:srgbClr val="44495B"/>
              </a:solidFill>
              <a:latin typeface="Segoe UI"/>
            </a:endParaRPr>
          </a:p>
        </p:txBody>
      </p:sp>
      <p:sp>
        <p:nvSpPr>
          <p:cNvPr id="34"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6</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Models: catalog and offerings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catalog of 10,000+ models in two commercial categories: who operates the model, who bills for it, which SLA applies.</a:t>
            </a:r>
          </a:p>
          <a:p>
            <a:endParaRPr sz="1200">
              <a:solidFill>
                <a:srgbClr val="44495B"/>
              </a:solidFill>
              <a:latin typeface="Segoe UI"/>
            </a:endParaRPr>
          </a:p>
        </p:txBody>
      </p:sp>
      <p:sp>
        <p:nvSpPr>
          <p:cNvPr id="14" name="Shape"/>
          <p:cNvSpPr/>
          <p:nvPr/>
        </p:nvSpPr>
        <p:spPr>
          <a:xfrm>
            <a:off x="548640" y="2926080"/>
            <a:ext cx="11094720" cy="38405"/>
          </a:xfrm>
          <a:prstGeom prst="rect">
            <a:avLst/>
          </a:prstGeom>
          <a:solidFill>
            <a:srgbClr val="101A3C"/>
          </a:solidFill>
        </p:spPr>
        <p:txBody>
          <a:bodyPr/>
          <a:lstStyle/>
          <a:p>
            <a:endParaRPr/>
          </a:p>
        </p:txBody>
      </p:sp>
      <p:sp>
        <p:nvSpPr>
          <p:cNvPr id="19" name="Shape"/>
          <p:cNvSpPr/>
          <p:nvPr/>
        </p:nvSpPr>
        <p:spPr>
          <a:xfrm>
            <a:off x="548640" y="5321808"/>
            <a:ext cx="11094720" cy="9525"/>
          </a:xfrm>
          <a:prstGeom prst="rect">
            <a:avLst/>
          </a:prstGeom>
          <a:solidFill>
            <a:srgbClr val="E1E7F4"/>
          </a:solidFill>
        </p:spPr>
        <p:txBody>
          <a:bodyPr/>
          <a:lstStyle/>
          <a:p>
            <a:endParaRPr/>
          </a:p>
        </p:txBody>
      </p:sp>
      <p:sp>
        <p:nvSpPr>
          <p:cNvPr id="2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learn.microsoft.com/azure/foundry/foundry-models/concepts · model provider announcements, Sep–Oct 2026</a:t>
            </a:r>
          </a:p>
          <a:p>
            <a:endParaRPr sz="900">
              <a:solidFill>
                <a:srgbClr val="44495B"/>
              </a:solidFill>
              <a:latin typeface="Segoe UI"/>
            </a:endParaRPr>
          </a:p>
        </p:txBody>
      </p:sp>
      <p:sp>
        <p:nvSpPr>
          <p:cNvPr id="2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7</a:t>
            </a:r>
          </a:p>
        </p:txBody>
      </p:sp>
      <p:sp>
        <p:nvSpPr>
          <p:cNvPr id="22" name="Rectangle 21"/>
          <p:cNvSpPr/>
          <p:nvPr/>
        </p:nvSpPr>
        <p:spPr>
          <a:xfrm>
            <a:off x="548640" y="1298448"/>
            <a:ext cx="5440680" cy="1700784"/>
          </a:xfrm>
          <a:prstGeom prst="rect">
            <a:avLst/>
          </a:prstGeom>
          <a:solidFill>
            <a:srgbClr val="F6F8FD"/>
          </a:solidFill>
          <a:ln w="9525">
            <a:solidFill>
              <a:srgbClr val="E1E7F4"/>
            </a:solidFill>
          </a:ln>
          <a:effectLst/>
        </p:spPr>
        <p:txBody>
          <a:bodyPr rtlCol="0" anchor="ctr"/>
          <a:lstStyle/>
          <a:p>
            <a:pPr algn="ctr"/>
            <a:endParaRPr/>
          </a:p>
        </p:txBody>
      </p:sp>
      <p:sp>
        <p:nvSpPr>
          <p:cNvPr id="23" name="Rectangle 22"/>
          <p:cNvSpPr/>
          <p:nvPr/>
        </p:nvSpPr>
        <p:spPr>
          <a:xfrm>
            <a:off x="548640" y="1298448"/>
            <a:ext cx="5440680" cy="45720"/>
          </a:xfrm>
          <a:prstGeom prst="rect">
            <a:avLst/>
          </a:prstGeom>
          <a:solidFill>
            <a:srgbClr val="101A3C"/>
          </a:solidFill>
          <a:ln>
            <a:noFill/>
          </a:ln>
          <a:effectLst/>
        </p:spPr>
        <p:txBody>
          <a:bodyPr rtlCol="0" anchor="ctr"/>
          <a:lstStyle/>
          <a:p>
            <a:pPr algn="ctr"/>
            <a:endParaRPr/>
          </a:p>
        </p:txBody>
      </p:sp>
      <p:sp>
        <p:nvSpPr>
          <p:cNvPr id="24" name="TextBox 23"/>
          <p:cNvSpPr txBox="1"/>
          <p:nvPr/>
        </p:nvSpPr>
        <p:spPr>
          <a:xfrm>
            <a:off x="548640" y="1371600"/>
            <a:ext cx="5440680" cy="310896"/>
          </a:xfrm>
          <a:prstGeom prst="rect">
            <a:avLst/>
          </a:prstGeom>
          <a:noFill/>
        </p:spPr>
        <p:txBody>
          <a:bodyPr wrap="square" lIns="73152" tIns="27432" rIns="73152" bIns="27432" anchor="ctr">
            <a:spAutoFit/>
          </a:bodyPr>
          <a:lstStyle/>
          <a:p>
            <a:pPr algn="l"/>
            <a:r>
              <a:rPr sz="1100" b="1">
                <a:solidFill>
                  <a:srgbClr val="101A3C"/>
                </a:solidFill>
                <a:latin typeface="Segoe UI"/>
              </a:rPr>
              <a:t>Foundry Models sold by Azure</a:t>
            </a:r>
          </a:p>
        </p:txBody>
      </p:sp>
      <p:sp>
        <p:nvSpPr>
          <p:cNvPr id="25" name="TextBox 24"/>
          <p:cNvSpPr txBox="1"/>
          <p:nvPr/>
        </p:nvSpPr>
        <p:spPr>
          <a:xfrm>
            <a:off x="594360" y="1682496"/>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operates</a:t>
            </a:r>
          </a:p>
        </p:txBody>
      </p:sp>
      <p:sp>
        <p:nvSpPr>
          <p:cNvPr id="26" name="TextBox 25"/>
          <p:cNvSpPr txBox="1"/>
          <p:nvPr/>
        </p:nvSpPr>
        <p:spPr>
          <a:xfrm>
            <a:off x="1828800" y="1682496"/>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Azure hosts and operates the model</a:t>
            </a:r>
          </a:p>
        </p:txBody>
      </p:sp>
      <p:sp>
        <p:nvSpPr>
          <p:cNvPr id="27" name="TextBox 26"/>
          <p:cNvSpPr txBox="1"/>
          <p:nvPr/>
        </p:nvSpPr>
        <p:spPr>
          <a:xfrm>
            <a:off x="594360" y="1993392"/>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bills</a:t>
            </a:r>
          </a:p>
        </p:txBody>
      </p:sp>
      <p:sp>
        <p:nvSpPr>
          <p:cNvPr id="28" name="TextBox 27"/>
          <p:cNvSpPr txBox="1"/>
          <p:nvPr/>
        </p:nvSpPr>
        <p:spPr>
          <a:xfrm>
            <a:off x="1828800" y="1993392"/>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the customer's Azure subscription</a:t>
            </a:r>
          </a:p>
        </p:txBody>
      </p:sp>
      <p:sp>
        <p:nvSpPr>
          <p:cNvPr id="29" name="TextBox 28"/>
          <p:cNvSpPr txBox="1"/>
          <p:nvPr/>
        </p:nvSpPr>
        <p:spPr>
          <a:xfrm>
            <a:off x="594360" y="2304288"/>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SLA and support</a:t>
            </a:r>
          </a:p>
        </p:txBody>
      </p:sp>
      <p:sp>
        <p:nvSpPr>
          <p:cNvPr id="30" name="TextBox 29"/>
          <p:cNvSpPr txBox="1"/>
          <p:nvPr/>
        </p:nvSpPr>
        <p:spPr>
          <a:xfrm>
            <a:off x="1828800" y="2304288"/>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Azure SLA · Microsoft support</a:t>
            </a:r>
          </a:p>
        </p:txBody>
      </p:sp>
      <p:sp>
        <p:nvSpPr>
          <p:cNvPr id="31" name="TextBox 30"/>
          <p:cNvSpPr txBox="1"/>
          <p:nvPr/>
        </p:nvSpPr>
        <p:spPr>
          <a:xfrm>
            <a:off x="594360" y="2615184"/>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Examples</a:t>
            </a:r>
          </a:p>
        </p:txBody>
      </p:sp>
      <p:sp>
        <p:nvSpPr>
          <p:cNvPr id="32" name="TextBox 31"/>
          <p:cNvSpPr txBox="1"/>
          <p:nvPr/>
        </p:nvSpPr>
        <p:spPr>
          <a:xfrm>
            <a:off x="1828800" y="2615184"/>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all Azure OpenAI models · selected Cohere, DeepSeek, Meta, Mistral AI and xAI models · Microsoft MAI models</a:t>
            </a:r>
          </a:p>
        </p:txBody>
      </p:sp>
      <p:sp>
        <p:nvSpPr>
          <p:cNvPr id="33" name="Rectangle 32"/>
          <p:cNvSpPr/>
          <p:nvPr/>
        </p:nvSpPr>
        <p:spPr>
          <a:xfrm>
            <a:off x="6199632" y="1298448"/>
            <a:ext cx="5440680" cy="1700784"/>
          </a:xfrm>
          <a:prstGeom prst="rect">
            <a:avLst/>
          </a:prstGeom>
          <a:solidFill>
            <a:srgbClr val="F6F8FD"/>
          </a:solidFill>
          <a:ln w="9525">
            <a:solidFill>
              <a:srgbClr val="E1E7F4"/>
            </a:solidFill>
          </a:ln>
          <a:effectLst/>
        </p:spPr>
        <p:txBody>
          <a:bodyPr rtlCol="0" anchor="ctr"/>
          <a:lstStyle/>
          <a:p>
            <a:pPr algn="ctr"/>
            <a:endParaRPr/>
          </a:p>
        </p:txBody>
      </p:sp>
      <p:sp>
        <p:nvSpPr>
          <p:cNvPr id="34" name="Rectangle 33"/>
          <p:cNvSpPr/>
          <p:nvPr/>
        </p:nvSpPr>
        <p:spPr>
          <a:xfrm>
            <a:off x="6199632" y="1298448"/>
            <a:ext cx="5440680" cy="45720"/>
          </a:xfrm>
          <a:prstGeom prst="rect">
            <a:avLst/>
          </a:prstGeom>
          <a:solidFill>
            <a:srgbClr val="00B39F"/>
          </a:solidFill>
          <a:ln>
            <a:noFill/>
          </a:ln>
          <a:effectLst/>
        </p:spPr>
        <p:txBody>
          <a:bodyPr rtlCol="0" anchor="ctr"/>
          <a:lstStyle/>
          <a:p>
            <a:pPr algn="ctr"/>
            <a:endParaRPr/>
          </a:p>
        </p:txBody>
      </p:sp>
      <p:sp>
        <p:nvSpPr>
          <p:cNvPr id="35" name="TextBox 34"/>
          <p:cNvSpPr txBox="1"/>
          <p:nvPr/>
        </p:nvSpPr>
        <p:spPr>
          <a:xfrm>
            <a:off x="6199632" y="1371600"/>
            <a:ext cx="5440680" cy="310896"/>
          </a:xfrm>
          <a:prstGeom prst="rect">
            <a:avLst/>
          </a:prstGeom>
          <a:noFill/>
        </p:spPr>
        <p:txBody>
          <a:bodyPr wrap="square" lIns="73152" tIns="27432" rIns="73152" bIns="27432" anchor="ctr">
            <a:spAutoFit/>
          </a:bodyPr>
          <a:lstStyle/>
          <a:p>
            <a:pPr algn="l"/>
            <a:r>
              <a:rPr sz="1100" b="1">
                <a:solidFill>
                  <a:srgbClr val="101A3C"/>
                </a:solidFill>
                <a:latin typeface="Segoe UI"/>
              </a:rPr>
              <a:t>Foundry Models from partners and community</a:t>
            </a:r>
          </a:p>
        </p:txBody>
      </p:sp>
      <p:sp>
        <p:nvSpPr>
          <p:cNvPr id="36" name="TextBox 35"/>
          <p:cNvSpPr txBox="1"/>
          <p:nvPr/>
        </p:nvSpPr>
        <p:spPr>
          <a:xfrm>
            <a:off x="6245352" y="1682496"/>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operates</a:t>
            </a:r>
          </a:p>
        </p:txBody>
      </p:sp>
      <p:sp>
        <p:nvSpPr>
          <p:cNvPr id="37" name="TextBox 36"/>
          <p:cNvSpPr txBox="1"/>
          <p:nvPr/>
        </p:nvSpPr>
        <p:spPr>
          <a:xfrm>
            <a:off x="7479792" y="1682496"/>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the model provider, on Azure infrastructure or its own</a:t>
            </a:r>
          </a:p>
        </p:txBody>
      </p:sp>
      <p:sp>
        <p:nvSpPr>
          <p:cNvPr id="38" name="TextBox 37"/>
          <p:cNvSpPr txBox="1"/>
          <p:nvPr/>
        </p:nvSpPr>
        <p:spPr>
          <a:xfrm>
            <a:off x="6245352" y="1993392"/>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Who bills</a:t>
            </a:r>
          </a:p>
        </p:txBody>
      </p:sp>
      <p:sp>
        <p:nvSpPr>
          <p:cNvPr id="39" name="TextBox 38"/>
          <p:cNvSpPr txBox="1"/>
          <p:nvPr/>
        </p:nvSpPr>
        <p:spPr>
          <a:xfrm>
            <a:off x="7479792" y="1993392"/>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Azure Marketplace — Non-Microsoft Products under the Product Terms</a:t>
            </a:r>
          </a:p>
        </p:txBody>
      </p:sp>
      <p:sp>
        <p:nvSpPr>
          <p:cNvPr id="40" name="TextBox 39"/>
          <p:cNvSpPr txBox="1"/>
          <p:nvPr/>
        </p:nvSpPr>
        <p:spPr>
          <a:xfrm>
            <a:off x="6245352" y="2304288"/>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SLA and support</a:t>
            </a:r>
          </a:p>
        </p:txBody>
      </p:sp>
      <p:sp>
        <p:nvSpPr>
          <p:cNvPr id="41" name="TextBox 40"/>
          <p:cNvSpPr txBox="1"/>
          <p:nvPr/>
        </p:nvSpPr>
        <p:spPr>
          <a:xfrm>
            <a:off x="7479792" y="2304288"/>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the provider’s terms · Marketplace purchase permissions required</a:t>
            </a:r>
          </a:p>
        </p:txBody>
      </p:sp>
      <p:sp>
        <p:nvSpPr>
          <p:cNvPr id="42" name="TextBox 41"/>
          <p:cNvSpPr txBox="1"/>
          <p:nvPr/>
        </p:nvSpPr>
        <p:spPr>
          <a:xfrm>
            <a:off x="6245352" y="2615184"/>
            <a:ext cx="1234440" cy="347472"/>
          </a:xfrm>
          <a:prstGeom prst="rect">
            <a:avLst/>
          </a:prstGeom>
          <a:noFill/>
        </p:spPr>
        <p:txBody>
          <a:bodyPr wrap="square" lIns="73152" tIns="27432" rIns="73152" bIns="27432" anchor="t">
            <a:spAutoFit/>
          </a:bodyPr>
          <a:lstStyle/>
          <a:p>
            <a:pPr algn="l"/>
            <a:r>
              <a:rPr sz="850" b="1">
                <a:solidFill>
                  <a:srgbClr val="44495B"/>
                </a:solidFill>
                <a:latin typeface="Segoe UI"/>
              </a:rPr>
              <a:t>Examples</a:t>
            </a:r>
          </a:p>
        </p:txBody>
      </p:sp>
      <p:sp>
        <p:nvSpPr>
          <p:cNvPr id="43" name="TextBox 42"/>
          <p:cNvSpPr txBox="1"/>
          <p:nvPr/>
        </p:nvSpPr>
        <p:spPr>
          <a:xfrm>
            <a:off x="7479792" y="2615184"/>
            <a:ext cx="4069080" cy="347472"/>
          </a:xfrm>
          <a:prstGeom prst="rect">
            <a:avLst/>
          </a:prstGeom>
          <a:noFill/>
        </p:spPr>
        <p:txBody>
          <a:bodyPr wrap="square" lIns="73152" tIns="27432" rIns="73152" bIns="27432" anchor="t">
            <a:spAutoFit/>
          </a:bodyPr>
          <a:lstStyle/>
          <a:p>
            <a:pPr algn="l"/>
            <a:r>
              <a:rPr sz="850" b="0">
                <a:solidFill>
                  <a:srgbClr val="141B33"/>
                </a:solidFill>
                <a:latin typeface="Segoe UI"/>
              </a:rPr>
              <a:t>Anthropic Claude · Hugging Face hub · Fireworks AI · most of the catalog</a:t>
            </a:r>
          </a:p>
        </p:txBody>
      </p:sp>
      <p:sp>
        <p:nvSpPr>
          <p:cNvPr id="44" name="TextBox 43"/>
          <p:cNvSpPr txBox="1"/>
          <p:nvPr/>
        </p:nvSpPr>
        <p:spPr>
          <a:xfrm>
            <a:off x="548640" y="3072384"/>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ARRIVED IN THE CATALOG IN 2026</a:t>
            </a:r>
          </a:p>
        </p:txBody>
      </p:sp>
      <p:sp>
        <p:nvSpPr>
          <p:cNvPr id="45" name="Rectangle 44"/>
          <p:cNvSpPr/>
          <p:nvPr/>
        </p:nvSpPr>
        <p:spPr>
          <a:xfrm>
            <a:off x="548640" y="3328416"/>
            <a:ext cx="11091672" cy="246888"/>
          </a:xfrm>
          <a:prstGeom prst="rect">
            <a:avLst/>
          </a:prstGeom>
          <a:solidFill>
            <a:srgbClr val="101A3C"/>
          </a:solidFill>
          <a:ln>
            <a:noFill/>
          </a:ln>
          <a:effectLst/>
        </p:spPr>
        <p:txBody>
          <a:bodyPr rtlCol="0" anchor="ctr"/>
          <a:lstStyle/>
          <a:p>
            <a:pPr algn="ctr"/>
            <a:endParaRPr/>
          </a:p>
        </p:txBody>
      </p:sp>
      <p:sp>
        <p:nvSpPr>
          <p:cNvPr id="46" name="TextBox 45"/>
          <p:cNvSpPr txBox="1"/>
          <p:nvPr/>
        </p:nvSpPr>
        <p:spPr>
          <a:xfrm>
            <a:off x="548640" y="3328416"/>
            <a:ext cx="1783080" cy="246888"/>
          </a:xfrm>
          <a:prstGeom prst="rect">
            <a:avLst/>
          </a:prstGeom>
          <a:noFill/>
        </p:spPr>
        <p:txBody>
          <a:bodyPr wrap="square" lIns="73152" tIns="27432" rIns="73152" bIns="27432" anchor="ctr">
            <a:spAutoFit/>
          </a:bodyPr>
          <a:lstStyle/>
          <a:p>
            <a:pPr algn="l"/>
            <a:r>
              <a:rPr sz="800" b="1">
                <a:solidFill>
                  <a:srgbClr val="FFFFFF"/>
                </a:solidFill>
                <a:latin typeface="Segoe UI"/>
              </a:rPr>
              <a:t>Model</a:t>
            </a:r>
          </a:p>
        </p:txBody>
      </p:sp>
      <p:sp>
        <p:nvSpPr>
          <p:cNvPr id="47" name="TextBox 46"/>
          <p:cNvSpPr txBox="1"/>
          <p:nvPr/>
        </p:nvSpPr>
        <p:spPr>
          <a:xfrm>
            <a:off x="2331720" y="3328416"/>
            <a:ext cx="960120" cy="246888"/>
          </a:xfrm>
          <a:prstGeom prst="rect">
            <a:avLst/>
          </a:prstGeom>
          <a:noFill/>
        </p:spPr>
        <p:txBody>
          <a:bodyPr wrap="square" lIns="73152" tIns="27432" rIns="73152" bIns="27432" anchor="ctr">
            <a:spAutoFit/>
          </a:bodyPr>
          <a:lstStyle/>
          <a:p>
            <a:pPr algn="l"/>
            <a:r>
              <a:rPr sz="800" b="1">
                <a:solidFill>
                  <a:srgbClr val="FFFFFF"/>
                </a:solidFill>
                <a:latin typeface="Segoe UI"/>
              </a:rPr>
              <a:t>Provider</a:t>
            </a:r>
          </a:p>
        </p:txBody>
      </p:sp>
      <p:sp>
        <p:nvSpPr>
          <p:cNvPr id="48" name="TextBox 47"/>
          <p:cNvSpPr txBox="1"/>
          <p:nvPr/>
        </p:nvSpPr>
        <p:spPr>
          <a:xfrm>
            <a:off x="3291839" y="3328416"/>
            <a:ext cx="1691640" cy="246888"/>
          </a:xfrm>
          <a:prstGeom prst="rect">
            <a:avLst/>
          </a:prstGeom>
          <a:noFill/>
        </p:spPr>
        <p:txBody>
          <a:bodyPr wrap="square" lIns="73152" tIns="27432" rIns="73152" bIns="27432" anchor="ctr">
            <a:spAutoFit/>
          </a:bodyPr>
          <a:lstStyle/>
          <a:p>
            <a:pPr algn="l"/>
            <a:r>
              <a:rPr sz="800" b="1">
                <a:solidFill>
                  <a:srgbClr val="FFFFFF"/>
                </a:solidFill>
                <a:latin typeface="Segoe UI"/>
              </a:rPr>
              <a:t>Category</a:t>
            </a:r>
          </a:p>
        </p:txBody>
      </p:sp>
      <p:sp>
        <p:nvSpPr>
          <p:cNvPr id="49" name="TextBox 48"/>
          <p:cNvSpPr txBox="1"/>
          <p:nvPr/>
        </p:nvSpPr>
        <p:spPr>
          <a:xfrm>
            <a:off x="4983479" y="3328416"/>
            <a:ext cx="1417320" cy="246888"/>
          </a:xfrm>
          <a:prstGeom prst="rect">
            <a:avLst/>
          </a:prstGeom>
          <a:noFill/>
        </p:spPr>
        <p:txBody>
          <a:bodyPr wrap="square" lIns="73152" tIns="27432" rIns="73152" bIns="27432" anchor="ctr">
            <a:spAutoFit/>
          </a:bodyPr>
          <a:lstStyle/>
          <a:p>
            <a:pPr algn="l"/>
            <a:r>
              <a:rPr sz="800" b="1">
                <a:solidFill>
                  <a:srgbClr val="FFFFFF"/>
                </a:solidFill>
                <a:latin typeface="Segoe UI"/>
              </a:rPr>
              <a:t>Status · date</a:t>
            </a:r>
          </a:p>
        </p:txBody>
      </p:sp>
      <p:sp>
        <p:nvSpPr>
          <p:cNvPr id="50" name="TextBox 49"/>
          <p:cNvSpPr txBox="1"/>
          <p:nvPr/>
        </p:nvSpPr>
        <p:spPr>
          <a:xfrm>
            <a:off x="6400799" y="3328416"/>
            <a:ext cx="2331720" cy="246888"/>
          </a:xfrm>
          <a:prstGeom prst="rect">
            <a:avLst/>
          </a:prstGeom>
          <a:noFill/>
        </p:spPr>
        <p:txBody>
          <a:bodyPr wrap="square" lIns="73152" tIns="27432" rIns="73152" bIns="27432" anchor="ctr">
            <a:spAutoFit/>
          </a:bodyPr>
          <a:lstStyle/>
          <a:p>
            <a:pPr algn="l"/>
            <a:r>
              <a:rPr sz="800" b="1">
                <a:solidFill>
                  <a:srgbClr val="FFFFFF"/>
                </a:solidFill>
                <a:latin typeface="Segoe UI"/>
              </a:rPr>
              <a:t>Context window</a:t>
            </a:r>
          </a:p>
        </p:txBody>
      </p:sp>
      <p:sp>
        <p:nvSpPr>
          <p:cNvPr id="51" name="TextBox 50"/>
          <p:cNvSpPr txBox="1"/>
          <p:nvPr/>
        </p:nvSpPr>
        <p:spPr>
          <a:xfrm>
            <a:off x="8732519" y="3328416"/>
            <a:ext cx="2907792" cy="246888"/>
          </a:xfrm>
          <a:prstGeom prst="rect">
            <a:avLst/>
          </a:prstGeom>
          <a:noFill/>
        </p:spPr>
        <p:txBody>
          <a:bodyPr wrap="square" lIns="73152" tIns="27432" rIns="73152" bIns="27432" anchor="ctr">
            <a:spAutoFit/>
          </a:bodyPr>
          <a:lstStyle/>
          <a:p>
            <a:pPr algn="l"/>
            <a:r>
              <a:rPr sz="800" b="1">
                <a:solidFill>
                  <a:srgbClr val="FFFFFF"/>
                </a:solidFill>
                <a:latin typeface="Segoe UI"/>
              </a:rPr>
              <a:t>Notable</a:t>
            </a:r>
          </a:p>
        </p:txBody>
      </p:sp>
      <p:sp>
        <p:nvSpPr>
          <p:cNvPr id="52" name="Rectangle 51"/>
          <p:cNvSpPr/>
          <p:nvPr/>
        </p:nvSpPr>
        <p:spPr>
          <a:xfrm>
            <a:off x="548640" y="3575304"/>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53" name="TextBox 52"/>
          <p:cNvSpPr txBox="1"/>
          <p:nvPr/>
        </p:nvSpPr>
        <p:spPr>
          <a:xfrm>
            <a:off x="548640" y="3575304"/>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gpt-6.1-sol</a:t>
            </a:r>
          </a:p>
        </p:txBody>
      </p:sp>
      <p:sp>
        <p:nvSpPr>
          <p:cNvPr id="54" name="TextBox 53"/>
          <p:cNvSpPr txBox="1"/>
          <p:nvPr/>
        </p:nvSpPr>
        <p:spPr>
          <a:xfrm>
            <a:off x="2331720" y="3575304"/>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OpenAI</a:t>
            </a:r>
          </a:p>
        </p:txBody>
      </p:sp>
      <p:sp>
        <p:nvSpPr>
          <p:cNvPr id="55" name="TextBox 54"/>
          <p:cNvSpPr txBox="1"/>
          <p:nvPr/>
        </p:nvSpPr>
        <p:spPr>
          <a:xfrm>
            <a:off x="3291839" y="3575304"/>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56" name="TextBox 55"/>
          <p:cNvSpPr txBox="1"/>
          <p:nvPr/>
        </p:nvSpPr>
        <p:spPr>
          <a:xfrm>
            <a:off x="4983479" y="3575304"/>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29 Sep 2026</a:t>
            </a:r>
          </a:p>
        </p:txBody>
      </p:sp>
      <p:sp>
        <p:nvSpPr>
          <p:cNvPr id="57" name="TextBox 56"/>
          <p:cNvSpPr txBox="1"/>
          <p:nvPr/>
        </p:nvSpPr>
        <p:spPr>
          <a:xfrm>
            <a:off x="6400799" y="3575304"/>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1,050,000 tokens (922k in · 128k out)</a:t>
            </a:r>
          </a:p>
        </p:txBody>
      </p:sp>
      <p:sp>
        <p:nvSpPr>
          <p:cNvPr id="58" name="TextBox 57"/>
          <p:cNvSpPr txBox="1"/>
          <p:nvPr/>
        </p:nvSpPr>
        <p:spPr>
          <a:xfrm>
            <a:off x="8732519" y="3575304"/>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newest GPT · multi-agent orchestration*</a:t>
            </a:r>
          </a:p>
        </p:txBody>
      </p:sp>
      <p:sp>
        <p:nvSpPr>
          <p:cNvPr id="59" name="Rectangle 58"/>
          <p:cNvSpPr/>
          <p:nvPr/>
        </p:nvSpPr>
        <p:spPr>
          <a:xfrm>
            <a:off x="548640" y="3822191"/>
            <a:ext cx="11091672" cy="246888"/>
          </a:xfrm>
          <a:prstGeom prst="rect">
            <a:avLst/>
          </a:prstGeom>
          <a:solidFill>
            <a:srgbClr val="F6F8FD"/>
          </a:solidFill>
          <a:ln w="6350">
            <a:solidFill>
              <a:srgbClr val="E1E7F4"/>
            </a:solidFill>
          </a:ln>
          <a:effectLst/>
        </p:spPr>
        <p:txBody>
          <a:bodyPr rtlCol="0" anchor="ctr"/>
          <a:lstStyle/>
          <a:p>
            <a:pPr algn="ctr"/>
            <a:endParaRPr/>
          </a:p>
        </p:txBody>
      </p:sp>
      <p:sp>
        <p:nvSpPr>
          <p:cNvPr id="60" name="TextBox 59"/>
          <p:cNvSpPr txBox="1"/>
          <p:nvPr/>
        </p:nvSpPr>
        <p:spPr>
          <a:xfrm>
            <a:off x="548640" y="3822191"/>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gpt-6 astra · luna</a:t>
            </a:r>
          </a:p>
        </p:txBody>
      </p:sp>
      <p:sp>
        <p:nvSpPr>
          <p:cNvPr id="61" name="TextBox 60"/>
          <p:cNvSpPr txBox="1"/>
          <p:nvPr/>
        </p:nvSpPr>
        <p:spPr>
          <a:xfrm>
            <a:off x="2331720" y="3822191"/>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OpenAI</a:t>
            </a:r>
          </a:p>
        </p:txBody>
      </p:sp>
      <p:sp>
        <p:nvSpPr>
          <p:cNvPr id="62" name="TextBox 61"/>
          <p:cNvSpPr txBox="1"/>
          <p:nvPr/>
        </p:nvSpPr>
        <p:spPr>
          <a:xfrm>
            <a:off x="3291839" y="3822191"/>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63" name="TextBox 62"/>
          <p:cNvSpPr txBox="1"/>
          <p:nvPr/>
        </p:nvSpPr>
        <p:spPr>
          <a:xfrm>
            <a:off x="4983479" y="3822191"/>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3–22 Sep 2026</a:t>
            </a:r>
          </a:p>
        </p:txBody>
      </p:sp>
      <p:sp>
        <p:nvSpPr>
          <p:cNvPr id="64" name="TextBox 63"/>
          <p:cNvSpPr txBox="1"/>
          <p:nvPr/>
        </p:nvSpPr>
        <p:spPr>
          <a:xfrm>
            <a:off x="6400799" y="3822191"/>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1,050,000 tokens (922k in · 128k out)</a:t>
            </a:r>
          </a:p>
        </p:txBody>
      </p:sp>
      <p:sp>
        <p:nvSpPr>
          <p:cNvPr id="65" name="TextBox 64"/>
          <p:cNvSpPr txBox="1"/>
          <p:nvPr/>
        </p:nvSpPr>
        <p:spPr>
          <a:xfrm>
            <a:off x="8732519" y="3822191"/>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reasoning · Responses API · computer use</a:t>
            </a:r>
          </a:p>
        </p:txBody>
      </p:sp>
      <p:sp>
        <p:nvSpPr>
          <p:cNvPr id="66" name="Rectangle 65"/>
          <p:cNvSpPr/>
          <p:nvPr/>
        </p:nvSpPr>
        <p:spPr>
          <a:xfrm>
            <a:off x="548640" y="4069080"/>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67" name="TextBox 66"/>
          <p:cNvSpPr txBox="1"/>
          <p:nvPr/>
        </p:nvSpPr>
        <p:spPr>
          <a:xfrm>
            <a:off x="548640" y="4069080"/>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Claude 5.5 family</a:t>
            </a:r>
          </a:p>
        </p:txBody>
      </p:sp>
      <p:sp>
        <p:nvSpPr>
          <p:cNvPr id="68" name="TextBox 67"/>
          <p:cNvSpPr txBox="1"/>
          <p:nvPr/>
        </p:nvSpPr>
        <p:spPr>
          <a:xfrm>
            <a:off x="2331720" y="4069080"/>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Anthropic</a:t>
            </a:r>
          </a:p>
        </p:txBody>
      </p:sp>
      <p:sp>
        <p:nvSpPr>
          <p:cNvPr id="69" name="TextBox 68"/>
          <p:cNvSpPr txBox="1"/>
          <p:nvPr/>
        </p:nvSpPr>
        <p:spPr>
          <a:xfrm>
            <a:off x="3291839" y="4069080"/>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Partners and community</a:t>
            </a:r>
          </a:p>
        </p:txBody>
      </p:sp>
      <p:sp>
        <p:nvSpPr>
          <p:cNvPr id="70" name="TextBox 69"/>
          <p:cNvSpPr txBox="1"/>
          <p:nvPr/>
        </p:nvSpPr>
        <p:spPr>
          <a:xfrm>
            <a:off x="4983479" y="4069080"/>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22 Sep–7 Oct 2026</a:t>
            </a:r>
          </a:p>
        </p:txBody>
      </p:sp>
      <p:sp>
        <p:nvSpPr>
          <p:cNvPr id="71" name="TextBox 70"/>
          <p:cNvSpPr txBox="1"/>
          <p:nvPr/>
        </p:nvSpPr>
        <p:spPr>
          <a:xfrm>
            <a:off x="6400799" y="4069080"/>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1,000,000 tokens · 128k out</a:t>
            </a:r>
          </a:p>
        </p:txBody>
      </p:sp>
      <p:sp>
        <p:nvSpPr>
          <p:cNvPr id="72" name="TextBox 71"/>
          <p:cNvSpPr txBox="1"/>
          <p:nvPr/>
        </p:nvSpPr>
        <p:spPr>
          <a:xfrm>
            <a:off x="8732519" y="4069080"/>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Opus · Sonnet · Haiku · Messages API</a:t>
            </a:r>
          </a:p>
        </p:txBody>
      </p:sp>
      <p:sp>
        <p:nvSpPr>
          <p:cNvPr id="73" name="Rectangle 72"/>
          <p:cNvSpPr/>
          <p:nvPr/>
        </p:nvSpPr>
        <p:spPr>
          <a:xfrm>
            <a:off x="548640" y="4315968"/>
            <a:ext cx="11091672" cy="246888"/>
          </a:xfrm>
          <a:prstGeom prst="rect">
            <a:avLst/>
          </a:prstGeom>
          <a:solidFill>
            <a:srgbClr val="F6F8FD"/>
          </a:solidFill>
          <a:ln w="6350">
            <a:solidFill>
              <a:srgbClr val="E1E7F4"/>
            </a:solidFill>
          </a:ln>
          <a:effectLst/>
        </p:spPr>
        <p:txBody>
          <a:bodyPr rtlCol="0" anchor="ctr"/>
          <a:lstStyle/>
          <a:p>
            <a:pPr algn="ctr"/>
            <a:endParaRPr/>
          </a:p>
        </p:txBody>
      </p:sp>
      <p:sp>
        <p:nvSpPr>
          <p:cNvPr id="74" name="TextBox 73"/>
          <p:cNvSpPr txBox="1"/>
          <p:nvPr/>
        </p:nvSpPr>
        <p:spPr>
          <a:xfrm>
            <a:off x="548640" y="4315968"/>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claude-fable-5-1</a:t>
            </a:r>
          </a:p>
        </p:txBody>
      </p:sp>
      <p:sp>
        <p:nvSpPr>
          <p:cNvPr id="75" name="TextBox 74"/>
          <p:cNvSpPr txBox="1"/>
          <p:nvPr/>
        </p:nvSpPr>
        <p:spPr>
          <a:xfrm>
            <a:off x="2331720" y="4315968"/>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Anthropic</a:t>
            </a:r>
          </a:p>
        </p:txBody>
      </p:sp>
      <p:sp>
        <p:nvSpPr>
          <p:cNvPr id="76" name="TextBox 75"/>
          <p:cNvSpPr txBox="1"/>
          <p:nvPr/>
        </p:nvSpPr>
        <p:spPr>
          <a:xfrm>
            <a:off x="3291839" y="4315968"/>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Partners and community</a:t>
            </a:r>
          </a:p>
        </p:txBody>
      </p:sp>
      <p:sp>
        <p:nvSpPr>
          <p:cNvPr id="77" name="TextBox 76"/>
          <p:cNvSpPr txBox="1"/>
          <p:nvPr/>
        </p:nvSpPr>
        <p:spPr>
          <a:xfrm>
            <a:off x="4983479" y="4315968"/>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Preview*</a:t>
            </a:r>
          </a:p>
        </p:txBody>
      </p:sp>
      <p:sp>
        <p:nvSpPr>
          <p:cNvPr id="78" name="TextBox 77"/>
          <p:cNvSpPr txBox="1"/>
          <p:nvPr/>
        </p:nvSpPr>
        <p:spPr>
          <a:xfrm>
            <a:off x="6400799" y="4315968"/>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1,000,000 tokens · 128k out</a:t>
            </a:r>
          </a:p>
        </p:txBody>
      </p:sp>
      <p:sp>
        <p:nvSpPr>
          <p:cNvPr id="79" name="TextBox 78"/>
          <p:cNvSpPr txBox="1"/>
          <p:nvPr/>
        </p:nvSpPr>
        <p:spPr>
          <a:xfrm>
            <a:off x="8732519" y="4315968"/>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text, image and code · Messages API</a:t>
            </a:r>
          </a:p>
        </p:txBody>
      </p:sp>
      <p:sp>
        <p:nvSpPr>
          <p:cNvPr id="80" name="Rectangle 79"/>
          <p:cNvSpPr/>
          <p:nvPr/>
        </p:nvSpPr>
        <p:spPr>
          <a:xfrm>
            <a:off x="548640" y="4562856"/>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81" name="TextBox 80"/>
          <p:cNvSpPr txBox="1"/>
          <p:nvPr/>
        </p:nvSpPr>
        <p:spPr>
          <a:xfrm>
            <a:off x="548640" y="4562856"/>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MAI family</a:t>
            </a:r>
          </a:p>
        </p:txBody>
      </p:sp>
      <p:sp>
        <p:nvSpPr>
          <p:cNvPr id="82" name="TextBox 81"/>
          <p:cNvSpPr txBox="1"/>
          <p:nvPr/>
        </p:nvSpPr>
        <p:spPr>
          <a:xfrm>
            <a:off x="2331720" y="4562856"/>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Microsoft</a:t>
            </a:r>
          </a:p>
        </p:txBody>
      </p:sp>
      <p:sp>
        <p:nvSpPr>
          <p:cNvPr id="83" name="TextBox 82"/>
          <p:cNvSpPr txBox="1"/>
          <p:nvPr/>
        </p:nvSpPr>
        <p:spPr>
          <a:xfrm>
            <a:off x="3291839" y="4562856"/>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84" name="TextBox 83"/>
          <p:cNvSpPr txBox="1"/>
          <p:nvPr/>
        </p:nvSpPr>
        <p:spPr>
          <a:xfrm>
            <a:off x="4983479" y="4562856"/>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Preview* · Build 2026</a:t>
            </a:r>
          </a:p>
        </p:txBody>
      </p:sp>
      <p:sp>
        <p:nvSpPr>
          <p:cNvPr id="85" name="TextBox 84"/>
          <p:cNvSpPr txBox="1"/>
          <p:nvPr/>
        </p:nvSpPr>
        <p:spPr>
          <a:xfrm>
            <a:off x="6400799" y="4562856"/>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86" name="TextBox 85"/>
          <p:cNvSpPr txBox="1"/>
          <p:nvPr/>
        </p:nvSpPr>
        <p:spPr>
          <a:xfrm>
            <a:off x="8732519" y="4562856"/>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Thinking-1 · Transcribe-2 · Voice-2</a:t>
            </a:r>
          </a:p>
        </p:txBody>
      </p:sp>
      <p:sp>
        <p:nvSpPr>
          <p:cNvPr id="87" name="Rectangle 86"/>
          <p:cNvSpPr/>
          <p:nvPr/>
        </p:nvSpPr>
        <p:spPr>
          <a:xfrm>
            <a:off x="548640" y="4809744"/>
            <a:ext cx="11091672" cy="246888"/>
          </a:xfrm>
          <a:prstGeom prst="rect">
            <a:avLst/>
          </a:prstGeom>
          <a:solidFill>
            <a:srgbClr val="F6F8FD"/>
          </a:solidFill>
          <a:ln w="6350">
            <a:solidFill>
              <a:srgbClr val="E1E7F4"/>
            </a:solidFill>
          </a:ln>
          <a:effectLst/>
        </p:spPr>
        <p:txBody>
          <a:bodyPr rtlCol="0" anchor="ctr"/>
          <a:lstStyle/>
          <a:p>
            <a:pPr algn="ctr"/>
            <a:endParaRPr/>
          </a:p>
        </p:txBody>
      </p:sp>
      <p:sp>
        <p:nvSpPr>
          <p:cNvPr id="88" name="TextBox 87"/>
          <p:cNvSpPr txBox="1"/>
          <p:nvPr/>
        </p:nvSpPr>
        <p:spPr>
          <a:xfrm>
            <a:off x="548640" y="4809744"/>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grok-4.7</a:t>
            </a:r>
          </a:p>
        </p:txBody>
      </p:sp>
      <p:sp>
        <p:nvSpPr>
          <p:cNvPr id="89" name="TextBox 88"/>
          <p:cNvSpPr txBox="1"/>
          <p:nvPr/>
        </p:nvSpPr>
        <p:spPr>
          <a:xfrm>
            <a:off x="2331720" y="4809744"/>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xAI</a:t>
            </a:r>
          </a:p>
        </p:txBody>
      </p:sp>
      <p:sp>
        <p:nvSpPr>
          <p:cNvPr id="90" name="TextBox 89"/>
          <p:cNvSpPr txBox="1"/>
          <p:nvPr/>
        </p:nvSpPr>
        <p:spPr>
          <a:xfrm>
            <a:off x="3291839" y="4809744"/>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Sold by Azure</a:t>
            </a:r>
          </a:p>
        </p:txBody>
      </p:sp>
      <p:sp>
        <p:nvSpPr>
          <p:cNvPr id="91" name="TextBox 90"/>
          <p:cNvSpPr txBox="1"/>
          <p:nvPr/>
        </p:nvSpPr>
        <p:spPr>
          <a:xfrm>
            <a:off x="4983479" y="4809744"/>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Oct 2026</a:t>
            </a:r>
          </a:p>
        </p:txBody>
      </p:sp>
      <p:sp>
        <p:nvSpPr>
          <p:cNvPr id="92" name="TextBox 91"/>
          <p:cNvSpPr txBox="1"/>
          <p:nvPr/>
        </p:nvSpPr>
        <p:spPr>
          <a:xfrm>
            <a:off x="6400799" y="4809744"/>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500,000 tokens</a:t>
            </a:r>
          </a:p>
        </p:txBody>
      </p:sp>
      <p:sp>
        <p:nvSpPr>
          <p:cNvPr id="93" name="TextBox 92"/>
          <p:cNvSpPr txBox="1"/>
          <p:nvPr/>
        </p:nvSpPr>
        <p:spPr>
          <a:xfrm>
            <a:off x="8732519" y="4809744"/>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six-month minimum availability</a:t>
            </a:r>
          </a:p>
        </p:txBody>
      </p:sp>
      <p:sp>
        <p:nvSpPr>
          <p:cNvPr id="94" name="Rectangle 93"/>
          <p:cNvSpPr/>
          <p:nvPr/>
        </p:nvSpPr>
        <p:spPr>
          <a:xfrm>
            <a:off x="548640" y="5056632"/>
            <a:ext cx="11091672" cy="246888"/>
          </a:xfrm>
          <a:prstGeom prst="rect">
            <a:avLst/>
          </a:prstGeom>
          <a:solidFill>
            <a:srgbClr val="FFFFFF"/>
          </a:solidFill>
          <a:ln w="6350">
            <a:solidFill>
              <a:srgbClr val="E1E7F4"/>
            </a:solidFill>
          </a:ln>
          <a:effectLst/>
        </p:spPr>
        <p:txBody>
          <a:bodyPr rtlCol="0" anchor="ctr"/>
          <a:lstStyle/>
          <a:p>
            <a:pPr algn="ctr"/>
            <a:endParaRPr/>
          </a:p>
        </p:txBody>
      </p:sp>
      <p:sp>
        <p:nvSpPr>
          <p:cNvPr id="95" name="TextBox 94"/>
          <p:cNvSpPr txBox="1"/>
          <p:nvPr/>
        </p:nvSpPr>
        <p:spPr>
          <a:xfrm>
            <a:off x="548640" y="5056632"/>
            <a:ext cx="1783080" cy="246888"/>
          </a:xfrm>
          <a:prstGeom prst="rect">
            <a:avLst/>
          </a:prstGeom>
          <a:noFill/>
        </p:spPr>
        <p:txBody>
          <a:bodyPr wrap="square" lIns="73152" tIns="27432" rIns="73152" bIns="27432" anchor="ctr">
            <a:spAutoFit/>
          </a:bodyPr>
          <a:lstStyle/>
          <a:p>
            <a:pPr algn="l"/>
            <a:r>
              <a:rPr sz="800" b="1">
                <a:solidFill>
                  <a:srgbClr val="141B33"/>
                </a:solidFill>
                <a:latin typeface="Segoe UI"/>
              </a:rPr>
              <a:t>FW-Kimi-K3</a:t>
            </a:r>
          </a:p>
        </p:txBody>
      </p:sp>
      <p:sp>
        <p:nvSpPr>
          <p:cNvPr id="96" name="TextBox 95"/>
          <p:cNvSpPr txBox="1"/>
          <p:nvPr/>
        </p:nvSpPr>
        <p:spPr>
          <a:xfrm>
            <a:off x="2331720" y="5056632"/>
            <a:ext cx="960120" cy="246888"/>
          </a:xfrm>
          <a:prstGeom prst="rect">
            <a:avLst/>
          </a:prstGeom>
          <a:noFill/>
        </p:spPr>
        <p:txBody>
          <a:bodyPr wrap="square" lIns="73152" tIns="27432" rIns="73152" bIns="27432" anchor="ctr">
            <a:spAutoFit/>
          </a:bodyPr>
          <a:lstStyle/>
          <a:p>
            <a:pPr algn="l"/>
            <a:r>
              <a:rPr sz="800" b="0">
                <a:solidFill>
                  <a:srgbClr val="44495B"/>
                </a:solidFill>
                <a:latin typeface="Segoe UI"/>
              </a:rPr>
              <a:t>Fireworks AI</a:t>
            </a:r>
          </a:p>
        </p:txBody>
      </p:sp>
      <p:sp>
        <p:nvSpPr>
          <p:cNvPr id="97" name="TextBox 96"/>
          <p:cNvSpPr txBox="1"/>
          <p:nvPr/>
        </p:nvSpPr>
        <p:spPr>
          <a:xfrm>
            <a:off x="3291839" y="5056632"/>
            <a:ext cx="1691640" cy="246888"/>
          </a:xfrm>
          <a:prstGeom prst="rect">
            <a:avLst/>
          </a:prstGeom>
          <a:noFill/>
        </p:spPr>
        <p:txBody>
          <a:bodyPr wrap="square" lIns="73152" tIns="27432" rIns="73152" bIns="27432" anchor="ctr">
            <a:spAutoFit/>
          </a:bodyPr>
          <a:lstStyle/>
          <a:p>
            <a:pPr algn="l"/>
            <a:r>
              <a:rPr sz="800" b="0">
                <a:solidFill>
                  <a:srgbClr val="44495B"/>
                </a:solidFill>
                <a:latin typeface="Segoe UI"/>
              </a:rPr>
              <a:t>Partners and community</a:t>
            </a:r>
          </a:p>
        </p:txBody>
      </p:sp>
      <p:sp>
        <p:nvSpPr>
          <p:cNvPr id="98" name="TextBox 97"/>
          <p:cNvSpPr txBox="1"/>
          <p:nvPr/>
        </p:nvSpPr>
        <p:spPr>
          <a:xfrm>
            <a:off x="4983479" y="5056632"/>
            <a:ext cx="1417320" cy="246888"/>
          </a:xfrm>
          <a:prstGeom prst="rect">
            <a:avLst/>
          </a:prstGeom>
          <a:noFill/>
        </p:spPr>
        <p:txBody>
          <a:bodyPr wrap="square" lIns="73152" tIns="27432" rIns="73152" bIns="27432" anchor="ctr">
            <a:spAutoFit/>
          </a:bodyPr>
          <a:lstStyle/>
          <a:p>
            <a:pPr algn="l"/>
            <a:r>
              <a:rPr sz="800" b="0">
                <a:solidFill>
                  <a:srgbClr val="44495B"/>
                </a:solidFill>
                <a:latin typeface="Segoe UI"/>
              </a:rPr>
              <a:t>GA · 28 Jul 2026</a:t>
            </a:r>
          </a:p>
        </p:txBody>
      </p:sp>
      <p:sp>
        <p:nvSpPr>
          <p:cNvPr id="99" name="TextBox 98"/>
          <p:cNvSpPr txBox="1"/>
          <p:nvPr/>
        </p:nvSpPr>
        <p:spPr>
          <a:xfrm>
            <a:off x="6400799" y="5056632"/>
            <a:ext cx="2331720" cy="246888"/>
          </a:xfrm>
          <a:prstGeom prst="rect">
            <a:avLst/>
          </a:prstGeom>
          <a:noFill/>
        </p:spPr>
        <p:txBody>
          <a:bodyPr wrap="square" lIns="73152" tIns="27432" rIns="73152" bIns="27432" anchor="ctr">
            <a:spAutoFit/>
          </a:bodyPr>
          <a:lstStyle/>
          <a:p>
            <a:pPr algn="l"/>
            <a:r>
              <a:rPr sz="800" b="0">
                <a:solidFill>
                  <a:srgbClr val="44495B"/>
                </a:solidFill>
                <a:latin typeface="Segoe UI"/>
              </a:rPr>
              <a:t>1,000,000 tokens</a:t>
            </a:r>
          </a:p>
        </p:txBody>
      </p:sp>
      <p:sp>
        <p:nvSpPr>
          <p:cNvPr id="100" name="TextBox 99"/>
          <p:cNvSpPr txBox="1"/>
          <p:nvPr/>
        </p:nvSpPr>
        <p:spPr>
          <a:xfrm>
            <a:off x="8732519" y="5056632"/>
            <a:ext cx="2907792" cy="246888"/>
          </a:xfrm>
          <a:prstGeom prst="rect">
            <a:avLst/>
          </a:prstGeom>
          <a:noFill/>
        </p:spPr>
        <p:txBody>
          <a:bodyPr wrap="square" lIns="73152" tIns="27432" rIns="73152" bIns="27432" anchor="ctr">
            <a:spAutoFit/>
          </a:bodyPr>
          <a:lstStyle/>
          <a:p>
            <a:pPr algn="l"/>
            <a:r>
              <a:rPr sz="800" b="0">
                <a:solidFill>
                  <a:srgbClr val="141B33"/>
                </a:solidFill>
                <a:latin typeface="Segoe UI"/>
              </a:rPr>
              <a:t>native vision</a:t>
            </a:r>
          </a:p>
        </p:txBody>
      </p:sp>
      <p:sp>
        <p:nvSpPr>
          <p:cNvPr id="101" name="TextBox 100"/>
          <p:cNvSpPr txBox="1"/>
          <p:nvPr/>
        </p:nvSpPr>
        <p:spPr>
          <a:xfrm>
            <a:off x="548640" y="5358384"/>
            <a:ext cx="11091672" cy="201168"/>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Context windows and dates as published on Microsoft Learn and in the model providers’ announcements; “—” means not stated on the model page.</a:t>
            </a: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Deployment types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deployment type combines a billing model (rows) with a processing scope (columns); the cell is what you deploy.</a:t>
            </a:r>
          </a:p>
          <a:p>
            <a:endParaRPr sz="1200">
              <a:solidFill>
                <a:srgbClr val="44495B"/>
              </a:solidFill>
              <a:latin typeface="Segoe UI"/>
            </a:endParaRPr>
          </a:p>
        </p:txBody>
      </p:sp>
      <p:sp>
        <p:nvSpPr>
          <p:cNvPr id="49" name="Shape"/>
          <p:cNvSpPr/>
          <p:nvPr/>
        </p:nvSpPr>
        <p:spPr>
          <a:xfrm>
            <a:off x="548640" y="5687568"/>
            <a:ext cx="11094720" cy="9525"/>
          </a:xfrm>
          <a:prstGeom prst="rect">
            <a:avLst/>
          </a:prstGeom>
          <a:solidFill>
            <a:srgbClr val="E1E7F4"/>
          </a:solidFill>
        </p:spPr>
        <p:txBody>
          <a:bodyPr/>
          <a:lstStyle/>
          <a:p>
            <a:endParaRPr/>
          </a:p>
        </p:txBody>
      </p:sp>
      <p:sp>
        <p:nvSpPr>
          <p:cNvPr id="5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learn.microsoft.com/azure/foundry/foundry-models/concepts/deployment-types</a:t>
            </a:r>
          </a:p>
          <a:p>
            <a:endParaRPr sz="900">
              <a:solidFill>
                <a:srgbClr val="44495B"/>
              </a:solidFill>
              <a:latin typeface="Segoe UI"/>
            </a:endParaRPr>
          </a:p>
        </p:txBody>
      </p:sp>
      <p:sp>
        <p:nvSpPr>
          <p:cNvPr id="5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8</a:t>
            </a:r>
          </a:p>
        </p:txBody>
      </p:sp>
      <p:sp>
        <p:nvSpPr>
          <p:cNvPr id="52" name="TextBox 51"/>
          <p:cNvSpPr txBox="1"/>
          <p:nvPr/>
        </p:nvSpPr>
        <p:spPr>
          <a:xfrm>
            <a:off x="548640" y="1298448"/>
            <a:ext cx="6903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DEPLOYMENT TYPES — SERVERLESS API</a:t>
            </a:r>
          </a:p>
        </p:txBody>
      </p:sp>
      <p:sp>
        <p:nvSpPr>
          <p:cNvPr id="53" name="Rectangle 52"/>
          <p:cNvSpPr/>
          <p:nvPr/>
        </p:nvSpPr>
        <p:spPr>
          <a:xfrm>
            <a:off x="548640" y="1554480"/>
            <a:ext cx="6903720" cy="420624"/>
          </a:xfrm>
          <a:prstGeom prst="rect">
            <a:avLst/>
          </a:prstGeom>
          <a:solidFill>
            <a:srgbClr val="101A3C"/>
          </a:solidFill>
          <a:ln>
            <a:noFill/>
          </a:ln>
          <a:effectLst/>
        </p:spPr>
        <p:txBody>
          <a:bodyPr rtlCol="0" anchor="ctr"/>
          <a:lstStyle/>
          <a:p>
            <a:pPr algn="ctr"/>
            <a:endParaRPr/>
          </a:p>
        </p:txBody>
      </p:sp>
      <p:sp>
        <p:nvSpPr>
          <p:cNvPr id="54" name="TextBox 53"/>
          <p:cNvSpPr txBox="1"/>
          <p:nvPr/>
        </p:nvSpPr>
        <p:spPr>
          <a:xfrm>
            <a:off x="548640" y="1554480"/>
            <a:ext cx="1874519" cy="420624"/>
          </a:xfrm>
          <a:prstGeom prst="rect">
            <a:avLst/>
          </a:prstGeom>
          <a:noFill/>
        </p:spPr>
        <p:txBody>
          <a:bodyPr wrap="square" lIns="73152" tIns="27432" rIns="73152" bIns="27432" anchor="ctr">
            <a:spAutoFit/>
          </a:bodyPr>
          <a:lstStyle/>
          <a:p>
            <a:pPr algn="l"/>
            <a:r>
              <a:rPr sz="900" b="1">
                <a:solidFill>
                  <a:srgbClr val="FFFFFF"/>
                </a:solidFill>
                <a:latin typeface="Segoe UI"/>
              </a:rPr>
              <a:t>Billing model</a:t>
            </a:r>
          </a:p>
        </p:txBody>
      </p:sp>
      <p:sp>
        <p:nvSpPr>
          <p:cNvPr id="55" name="TextBox 54"/>
          <p:cNvSpPr txBox="1"/>
          <p:nvPr/>
        </p:nvSpPr>
        <p:spPr>
          <a:xfrm>
            <a:off x="2423160" y="1554480"/>
            <a:ext cx="1691640" cy="420624"/>
          </a:xfrm>
          <a:prstGeom prst="rect">
            <a:avLst/>
          </a:prstGeom>
          <a:noFill/>
        </p:spPr>
        <p:txBody>
          <a:bodyPr wrap="square" lIns="73152" tIns="27432" rIns="73152" bIns="27432" anchor="ctr">
            <a:spAutoFit/>
          </a:bodyPr>
          <a:lstStyle/>
          <a:p>
            <a:pPr algn="l"/>
            <a:r>
              <a:rPr sz="900" b="1">
                <a:solidFill>
                  <a:srgbClr val="FFFFFF"/>
                </a:solidFill>
                <a:latin typeface="Segoe UI"/>
              </a:rPr>
              <a:t>Global</a:t>
            </a:r>
          </a:p>
          <a:p>
            <a:pPr algn="l"/>
            <a:r>
              <a:rPr sz="900" b="0">
                <a:solidFill>
                  <a:srgbClr val="FFFFFF"/>
                </a:solidFill>
                <a:latin typeface="Segoe UI"/>
              </a:rPr>
              <a:t>any Azure region</a:t>
            </a:r>
          </a:p>
        </p:txBody>
      </p:sp>
      <p:sp>
        <p:nvSpPr>
          <p:cNvPr id="56" name="TextBox 55"/>
          <p:cNvSpPr txBox="1"/>
          <p:nvPr/>
        </p:nvSpPr>
        <p:spPr>
          <a:xfrm>
            <a:off x="4114800" y="1554480"/>
            <a:ext cx="1828800" cy="420624"/>
          </a:xfrm>
          <a:prstGeom prst="rect">
            <a:avLst/>
          </a:prstGeom>
          <a:noFill/>
        </p:spPr>
        <p:txBody>
          <a:bodyPr wrap="square" lIns="73152" tIns="27432" rIns="73152" bIns="27432" anchor="ctr">
            <a:spAutoFit/>
          </a:bodyPr>
          <a:lstStyle/>
          <a:p>
            <a:pPr algn="l"/>
            <a:r>
              <a:rPr sz="900" b="1">
                <a:solidFill>
                  <a:srgbClr val="FFFFFF"/>
                </a:solidFill>
                <a:latin typeface="Segoe UI"/>
              </a:rPr>
              <a:t>Data Zone</a:t>
            </a:r>
          </a:p>
          <a:p>
            <a:pPr algn="l"/>
            <a:r>
              <a:rPr sz="900" b="0">
                <a:solidFill>
                  <a:srgbClr val="FFFFFF"/>
                </a:solidFill>
                <a:latin typeface="Segoe UI"/>
              </a:rPr>
              <a:t>US · EU · APAC</a:t>
            </a:r>
          </a:p>
        </p:txBody>
      </p:sp>
      <p:sp>
        <p:nvSpPr>
          <p:cNvPr id="57" name="TextBox 56"/>
          <p:cNvSpPr txBox="1"/>
          <p:nvPr/>
        </p:nvSpPr>
        <p:spPr>
          <a:xfrm>
            <a:off x="5943600" y="1554480"/>
            <a:ext cx="1508760" cy="420624"/>
          </a:xfrm>
          <a:prstGeom prst="rect">
            <a:avLst/>
          </a:prstGeom>
          <a:noFill/>
        </p:spPr>
        <p:txBody>
          <a:bodyPr wrap="square" lIns="73152" tIns="27432" rIns="73152" bIns="27432" anchor="ctr">
            <a:spAutoFit/>
          </a:bodyPr>
          <a:lstStyle/>
          <a:p>
            <a:pPr algn="l"/>
            <a:r>
              <a:rPr sz="900" b="1">
                <a:solidFill>
                  <a:srgbClr val="FFFFFF"/>
                </a:solidFill>
                <a:latin typeface="Segoe UI"/>
              </a:rPr>
              <a:t>Regional</a:t>
            </a:r>
          </a:p>
          <a:p>
            <a:pPr algn="l"/>
            <a:r>
              <a:rPr sz="900" b="0">
                <a:solidFill>
                  <a:srgbClr val="FFFFFF"/>
                </a:solidFill>
                <a:latin typeface="Segoe UI"/>
              </a:rPr>
              <a:t>one Azure geography</a:t>
            </a:r>
          </a:p>
        </p:txBody>
      </p:sp>
      <p:sp>
        <p:nvSpPr>
          <p:cNvPr id="58" name="Rectangle 57"/>
          <p:cNvSpPr/>
          <p:nvPr/>
        </p:nvSpPr>
        <p:spPr>
          <a:xfrm>
            <a:off x="548640" y="1975104"/>
            <a:ext cx="6903720" cy="457200"/>
          </a:xfrm>
          <a:prstGeom prst="rect">
            <a:avLst/>
          </a:prstGeom>
          <a:solidFill>
            <a:srgbClr val="FFFFFF"/>
          </a:solidFill>
          <a:ln w="6350">
            <a:solidFill>
              <a:srgbClr val="E1E7F4"/>
            </a:solidFill>
          </a:ln>
          <a:effectLst/>
        </p:spPr>
        <p:txBody>
          <a:bodyPr rtlCol="0" anchor="ctr"/>
          <a:lstStyle/>
          <a:p>
            <a:pPr algn="ctr"/>
            <a:endParaRPr/>
          </a:p>
        </p:txBody>
      </p:sp>
      <p:sp>
        <p:nvSpPr>
          <p:cNvPr id="59" name="TextBox 58"/>
          <p:cNvSpPr txBox="1"/>
          <p:nvPr/>
        </p:nvSpPr>
        <p:spPr>
          <a:xfrm>
            <a:off x="548640" y="19751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Standard</a:t>
            </a:r>
          </a:p>
          <a:p>
            <a:pPr algn="l"/>
            <a:r>
              <a:rPr sz="850" b="0">
                <a:solidFill>
                  <a:srgbClr val="141B33"/>
                </a:solidFill>
                <a:latin typeface="Segoe UI"/>
              </a:rPr>
              <a:t>pay per token · best effort</a:t>
            </a:r>
          </a:p>
        </p:txBody>
      </p:sp>
      <p:sp>
        <p:nvSpPr>
          <p:cNvPr id="60" name="TextBox 59"/>
          <p:cNvSpPr txBox="1"/>
          <p:nvPr/>
        </p:nvSpPr>
        <p:spPr>
          <a:xfrm>
            <a:off x="2423160" y="19751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GlobalStandard</a:t>
            </a:r>
          </a:p>
        </p:txBody>
      </p:sp>
      <p:sp>
        <p:nvSpPr>
          <p:cNvPr id="61" name="TextBox 60"/>
          <p:cNvSpPr txBox="1"/>
          <p:nvPr/>
        </p:nvSpPr>
        <p:spPr>
          <a:xfrm>
            <a:off x="4114800" y="1975104"/>
            <a:ext cx="1828800" cy="457200"/>
          </a:xfrm>
          <a:prstGeom prst="rect">
            <a:avLst/>
          </a:prstGeom>
          <a:noFill/>
        </p:spPr>
        <p:txBody>
          <a:bodyPr wrap="square" lIns="73152" tIns="27432" rIns="73152" bIns="27432" anchor="ctr">
            <a:spAutoFit/>
          </a:bodyPr>
          <a:lstStyle/>
          <a:p>
            <a:pPr algn="l"/>
            <a:r>
              <a:rPr sz="800" b="0">
                <a:solidFill>
                  <a:srgbClr val="141B33"/>
                </a:solidFill>
                <a:latin typeface="Segoe UI"/>
              </a:rPr>
              <a:t>DataZoneStandard</a:t>
            </a:r>
          </a:p>
        </p:txBody>
      </p:sp>
      <p:sp>
        <p:nvSpPr>
          <p:cNvPr id="62" name="TextBox 61"/>
          <p:cNvSpPr txBox="1"/>
          <p:nvPr/>
        </p:nvSpPr>
        <p:spPr>
          <a:xfrm>
            <a:off x="5943600" y="1975104"/>
            <a:ext cx="1508760" cy="457200"/>
          </a:xfrm>
          <a:prstGeom prst="rect">
            <a:avLst/>
          </a:prstGeom>
          <a:noFill/>
        </p:spPr>
        <p:txBody>
          <a:bodyPr wrap="square" lIns="73152" tIns="27432" rIns="73152" bIns="27432" anchor="ctr">
            <a:spAutoFit/>
          </a:bodyPr>
          <a:lstStyle/>
          <a:p>
            <a:pPr algn="l"/>
            <a:r>
              <a:rPr sz="800" b="0">
                <a:solidFill>
                  <a:srgbClr val="141B33"/>
                </a:solidFill>
                <a:latin typeface="Segoe UI"/>
              </a:rPr>
              <a:t>Standard</a:t>
            </a:r>
          </a:p>
        </p:txBody>
      </p:sp>
      <p:sp>
        <p:nvSpPr>
          <p:cNvPr id="63" name="Rectangle 62"/>
          <p:cNvSpPr/>
          <p:nvPr/>
        </p:nvSpPr>
        <p:spPr>
          <a:xfrm>
            <a:off x="548640" y="2432304"/>
            <a:ext cx="6903720" cy="457200"/>
          </a:xfrm>
          <a:prstGeom prst="rect">
            <a:avLst/>
          </a:prstGeom>
          <a:solidFill>
            <a:srgbClr val="F6F8FD"/>
          </a:solidFill>
          <a:ln w="6350">
            <a:solidFill>
              <a:srgbClr val="E1E7F4"/>
            </a:solidFill>
          </a:ln>
          <a:effectLst/>
        </p:spPr>
        <p:txBody>
          <a:bodyPr rtlCol="0" anchor="ctr"/>
          <a:lstStyle/>
          <a:p>
            <a:pPr algn="ctr"/>
            <a:endParaRPr/>
          </a:p>
        </p:txBody>
      </p:sp>
      <p:sp>
        <p:nvSpPr>
          <p:cNvPr id="64" name="TextBox 63"/>
          <p:cNvSpPr txBox="1"/>
          <p:nvPr/>
        </p:nvSpPr>
        <p:spPr>
          <a:xfrm>
            <a:off x="548640" y="24323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Provisioned</a:t>
            </a:r>
          </a:p>
          <a:p>
            <a:pPr algn="l"/>
            <a:r>
              <a:rPr sz="850" b="0">
                <a:solidFill>
                  <a:srgbClr val="141B33"/>
                </a:solidFill>
                <a:latin typeface="Segoe UI"/>
              </a:rPr>
              <a:t>reserved throughput (PTU) · guaranteed</a:t>
            </a:r>
          </a:p>
        </p:txBody>
      </p:sp>
      <p:sp>
        <p:nvSpPr>
          <p:cNvPr id="65" name="TextBox 64"/>
          <p:cNvSpPr txBox="1"/>
          <p:nvPr/>
        </p:nvSpPr>
        <p:spPr>
          <a:xfrm>
            <a:off x="2423160" y="24323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GlobalProvisionedManaged</a:t>
            </a:r>
          </a:p>
        </p:txBody>
      </p:sp>
      <p:sp>
        <p:nvSpPr>
          <p:cNvPr id="66" name="TextBox 65"/>
          <p:cNvSpPr txBox="1"/>
          <p:nvPr/>
        </p:nvSpPr>
        <p:spPr>
          <a:xfrm>
            <a:off x="4114800" y="2432304"/>
            <a:ext cx="1828800" cy="457200"/>
          </a:xfrm>
          <a:prstGeom prst="rect">
            <a:avLst/>
          </a:prstGeom>
          <a:noFill/>
        </p:spPr>
        <p:txBody>
          <a:bodyPr wrap="square" lIns="73152" tIns="27432" rIns="73152" bIns="27432" anchor="ctr">
            <a:spAutoFit/>
          </a:bodyPr>
          <a:lstStyle/>
          <a:p>
            <a:pPr algn="l"/>
            <a:r>
              <a:rPr sz="800" b="0">
                <a:solidFill>
                  <a:srgbClr val="141B33"/>
                </a:solidFill>
                <a:latin typeface="Segoe UI"/>
              </a:rPr>
              <a:t>DataZoneProvisionedManaged</a:t>
            </a:r>
          </a:p>
        </p:txBody>
      </p:sp>
      <p:sp>
        <p:nvSpPr>
          <p:cNvPr id="67" name="TextBox 66"/>
          <p:cNvSpPr txBox="1"/>
          <p:nvPr/>
        </p:nvSpPr>
        <p:spPr>
          <a:xfrm>
            <a:off x="5943600" y="2432304"/>
            <a:ext cx="1508760" cy="457200"/>
          </a:xfrm>
          <a:prstGeom prst="rect">
            <a:avLst/>
          </a:prstGeom>
          <a:noFill/>
        </p:spPr>
        <p:txBody>
          <a:bodyPr wrap="square" lIns="73152" tIns="27432" rIns="73152" bIns="27432" anchor="ctr">
            <a:spAutoFit/>
          </a:bodyPr>
          <a:lstStyle/>
          <a:p>
            <a:pPr algn="l"/>
            <a:r>
              <a:rPr sz="800" b="0">
                <a:solidFill>
                  <a:srgbClr val="141B33"/>
                </a:solidFill>
                <a:latin typeface="Segoe UI"/>
              </a:rPr>
              <a:t>ProvisionedManaged</a:t>
            </a:r>
          </a:p>
        </p:txBody>
      </p:sp>
      <p:sp>
        <p:nvSpPr>
          <p:cNvPr id="68" name="Rectangle 67"/>
          <p:cNvSpPr/>
          <p:nvPr/>
        </p:nvSpPr>
        <p:spPr>
          <a:xfrm>
            <a:off x="548640" y="2889504"/>
            <a:ext cx="6903720" cy="457200"/>
          </a:xfrm>
          <a:prstGeom prst="rect">
            <a:avLst/>
          </a:prstGeom>
          <a:solidFill>
            <a:srgbClr val="FFFFFF"/>
          </a:solidFill>
          <a:ln w="6350">
            <a:solidFill>
              <a:srgbClr val="E1E7F4"/>
            </a:solidFill>
          </a:ln>
          <a:effectLst/>
        </p:spPr>
        <p:txBody>
          <a:bodyPr rtlCol="0" anchor="ctr"/>
          <a:lstStyle/>
          <a:p>
            <a:pPr algn="ctr"/>
            <a:endParaRPr/>
          </a:p>
        </p:txBody>
      </p:sp>
      <p:sp>
        <p:nvSpPr>
          <p:cNvPr id="69" name="TextBox 68"/>
          <p:cNvSpPr txBox="1"/>
          <p:nvPr/>
        </p:nvSpPr>
        <p:spPr>
          <a:xfrm>
            <a:off x="548640" y="28895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Batch</a:t>
            </a:r>
          </a:p>
          <a:p>
            <a:pPr algn="l"/>
            <a:r>
              <a:rPr sz="850" b="0">
                <a:solidFill>
                  <a:srgbClr val="141B33"/>
                </a:solidFill>
                <a:latin typeface="Segoe UI"/>
              </a:rPr>
              <a:t>asynchronous · 50% discount · 24-hour target</a:t>
            </a:r>
          </a:p>
        </p:txBody>
      </p:sp>
      <p:sp>
        <p:nvSpPr>
          <p:cNvPr id="70" name="TextBox 69"/>
          <p:cNvSpPr txBox="1"/>
          <p:nvPr/>
        </p:nvSpPr>
        <p:spPr>
          <a:xfrm>
            <a:off x="2423160" y="28895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GlobalBatch</a:t>
            </a:r>
          </a:p>
        </p:txBody>
      </p:sp>
      <p:sp>
        <p:nvSpPr>
          <p:cNvPr id="71" name="TextBox 70"/>
          <p:cNvSpPr txBox="1"/>
          <p:nvPr/>
        </p:nvSpPr>
        <p:spPr>
          <a:xfrm>
            <a:off x="4114800" y="2889504"/>
            <a:ext cx="1828800" cy="457200"/>
          </a:xfrm>
          <a:prstGeom prst="rect">
            <a:avLst/>
          </a:prstGeom>
          <a:noFill/>
        </p:spPr>
        <p:txBody>
          <a:bodyPr wrap="square" lIns="73152" tIns="27432" rIns="73152" bIns="27432" anchor="ctr">
            <a:spAutoFit/>
          </a:bodyPr>
          <a:lstStyle/>
          <a:p>
            <a:pPr algn="l"/>
            <a:r>
              <a:rPr sz="800" b="0">
                <a:solidFill>
                  <a:srgbClr val="141B33"/>
                </a:solidFill>
                <a:latin typeface="Segoe UI"/>
              </a:rPr>
              <a:t>DataZoneBatch</a:t>
            </a:r>
          </a:p>
        </p:txBody>
      </p:sp>
      <p:sp>
        <p:nvSpPr>
          <p:cNvPr id="72" name="TextBox 71"/>
          <p:cNvSpPr txBox="1"/>
          <p:nvPr/>
        </p:nvSpPr>
        <p:spPr>
          <a:xfrm>
            <a:off x="5943600" y="2889504"/>
            <a:ext cx="1508760" cy="457200"/>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3" name="Rectangle 72"/>
          <p:cNvSpPr/>
          <p:nvPr/>
        </p:nvSpPr>
        <p:spPr>
          <a:xfrm>
            <a:off x="548640" y="3346704"/>
            <a:ext cx="6903720" cy="457200"/>
          </a:xfrm>
          <a:prstGeom prst="rect">
            <a:avLst/>
          </a:prstGeom>
          <a:solidFill>
            <a:srgbClr val="F6F8FD"/>
          </a:solidFill>
          <a:ln w="6350">
            <a:solidFill>
              <a:srgbClr val="E1E7F4"/>
            </a:solidFill>
          </a:ln>
          <a:effectLst/>
        </p:spPr>
        <p:txBody>
          <a:bodyPr rtlCol="0" anchor="ctr"/>
          <a:lstStyle/>
          <a:p>
            <a:pPr algn="ctr"/>
            <a:endParaRPr/>
          </a:p>
        </p:txBody>
      </p:sp>
      <p:sp>
        <p:nvSpPr>
          <p:cNvPr id="74" name="TextBox 73"/>
          <p:cNvSpPr txBox="1"/>
          <p:nvPr/>
        </p:nvSpPr>
        <p:spPr>
          <a:xfrm>
            <a:off x="548640" y="3346704"/>
            <a:ext cx="1874519" cy="457200"/>
          </a:xfrm>
          <a:prstGeom prst="rect">
            <a:avLst/>
          </a:prstGeom>
          <a:noFill/>
        </p:spPr>
        <p:txBody>
          <a:bodyPr wrap="square" lIns="73152" tIns="27432" rIns="73152" bIns="27432" anchor="ctr">
            <a:spAutoFit/>
          </a:bodyPr>
          <a:lstStyle/>
          <a:p>
            <a:pPr algn="l"/>
            <a:r>
              <a:rPr sz="850" b="1">
                <a:solidFill>
                  <a:srgbClr val="141B33"/>
                </a:solidFill>
                <a:latin typeface="Segoe UI"/>
              </a:rPr>
              <a:t>Developer</a:t>
            </a:r>
          </a:p>
          <a:p>
            <a:pPr algn="l"/>
            <a:r>
              <a:rPr sz="850" b="0">
                <a:solidFill>
                  <a:srgbClr val="141B33"/>
                </a:solidFill>
                <a:latin typeface="Segoe UI"/>
              </a:rPr>
              <a:t>fine-tuned model evaluation · 24-hour lifetime · no SLA</a:t>
            </a:r>
          </a:p>
        </p:txBody>
      </p:sp>
      <p:sp>
        <p:nvSpPr>
          <p:cNvPr id="75" name="TextBox 74"/>
          <p:cNvSpPr txBox="1"/>
          <p:nvPr/>
        </p:nvSpPr>
        <p:spPr>
          <a:xfrm>
            <a:off x="2423160" y="3346704"/>
            <a:ext cx="1691640" cy="457200"/>
          </a:xfrm>
          <a:prstGeom prst="rect">
            <a:avLst/>
          </a:prstGeom>
          <a:noFill/>
        </p:spPr>
        <p:txBody>
          <a:bodyPr wrap="square" lIns="73152" tIns="27432" rIns="73152" bIns="27432" anchor="ctr">
            <a:spAutoFit/>
          </a:bodyPr>
          <a:lstStyle/>
          <a:p>
            <a:pPr algn="l"/>
            <a:r>
              <a:rPr sz="800" b="0">
                <a:solidFill>
                  <a:srgbClr val="141B33"/>
                </a:solidFill>
                <a:latin typeface="Segoe UI"/>
              </a:rPr>
              <a:t>DeveloperTier</a:t>
            </a:r>
          </a:p>
        </p:txBody>
      </p:sp>
      <p:sp>
        <p:nvSpPr>
          <p:cNvPr id="76" name="TextBox 75"/>
          <p:cNvSpPr txBox="1"/>
          <p:nvPr/>
        </p:nvSpPr>
        <p:spPr>
          <a:xfrm>
            <a:off x="4114800" y="3346704"/>
            <a:ext cx="1828800" cy="457200"/>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7" name="TextBox 76"/>
          <p:cNvSpPr txBox="1"/>
          <p:nvPr/>
        </p:nvSpPr>
        <p:spPr>
          <a:xfrm>
            <a:off x="5943600" y="3346704"/>
            <a:ext cx="1508760" cy="457200"/>
          </a:xfrm>
          <a:prstGeom prst="rect">
            <a:avLst/>
          </a:prstGeom>
          <a:noFill/>
        </p:spPr>
        <p:txBody>
          <a:bodyPr wrap="square" lIns="73152" tIns="27432" rIns="73152" bIns="27432" anchor="ctr">
            <a:spAutoFit/>
          </a:bodyPr>
          <a:lstStyle/>
          <a:p>
            <a:pPr algn="l"/>
            <a:r>
              <a:rPr sz="800" b="0">
                <a:solidFill>
                  <a:srgbClr val="44495B"/>
                </a:solidFill>
                <a:latin typeface="Segoe UI"/>
              </a:rPr>
              <a:t>—</a:t>
            </a:r>
          </a:p>
        </p:txBody>
      </p:sp>
      <p:sp>
        <p:nvSpPr>
          <p:cNvPr id="78" name="TextBox 77"/>
          <p:cNvSpPr txBox="1"/>
          <p:nvPr/>
        </p:nvSpPr>
        <p:spPr>
          <a:xfrm>
            <a:off x="548640" y="3986784"/>
            <a:ext cx="6903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OPTIONS AND ALTERNATIVES</a:t>
            </a:r>
          </a:p>
        </p:txBody>
      </p:sp>
      <p:sp>
        <p:nvSpPr>
          <p:cNvPr id="79" name="Rectangle 78"/>
          <p:cNvSpPr/>
          <p:nvPr/>
        </p:nvSpPr>
        <p:spPr>
          <a:xfrm>
            <a:off x="548640" y="4242816"/>
            <a:ext cx="3383279" cy="932688"/>
          </a:xfrm>
          <a:prstGeom prst="rect">
            <a:avLst/>
          </a:prstGeom>
          <a:solidFill>
            <a:srgbClr val="F6F8FD"/>
          </a:solidFill>
          <a:ln w="9525">
            <a:solidFill>
              <a:srgbClr val="E1E7F4"/>
            </a:solidFill>
          </a:ln>
          <a:effectLst/>
        </p:spPr>
        <p:txBody>
          <a:bodyPr rtlCol="0" anchor="ctr"/>
          <a:lstStyle/>
          <a:p>
            <a:pPr algn="ctr"/>
            <a:endParaRPr/>
          </a:p>
        </p:txBody>
      </p:sp>
      <p:sp>
        <p:nvSpPr>
          <p:cNvPr id="80" name="Rectangle 79"/>
          <p:cNvSpPr/>
          <p:nvPr/>
        </p:nvSpPr>
        <p:spPr>
          <a:xfrm>
            <a:off x="548640" y="4242816"/>
            <a:ext cx="45720" cy="932688"/>
          </a:xfrm>
          <a:prstGeom prst="rect">
            <a:avLst/>
          </a:prstGeom>
          <a:solidFill>
            <a:srgbClr val="101A3C"/>
          </a:solidFill>
          <a:ln>
            <a:noFill/>
          </a:ln>
          <a:effectLst/>
        </p:spPr>
        <p:txBody>
          <a:bodyPr rtlCol="0" anchor="ctr"/>
          <a:lstStyle/>
          <a:p>
            <a:pPr algn="ctr"/>
            <a:endParaRPr/>
          </a:p>
        </p:txBody>
      </p:sp>
      <p:sp>
        <p:nvSpPr>
          <p:cNvPr id="81" name="TextBox 80"/>
          <p:cNvSpPr txBox="1"/>
          <p:nvPr/>
        </p:nvSpPr>
        <p:spPr>
          <a:xfrm>
            <a:off x="621792" y="4242816"/>
            <a:ext cx="3291839" cy="932688"/>
          </a:xfrm>
          <a:prstGeom prst="rect">
            <a:avLst/>
          </a:prstGeom>
          <a:noFill/>
        </p:spPr>
        <p:txBody>
          <a:bodyPr wrap="square" lIns="73152" tIns="27432" rIns="73152" bIns="27432" anchor="ctr">
            <a:spAutoFit/>
          </a:bodyPr>
          <a:lstStyle/>
          <a:p>
            <a:pPr algn="l"/>
            <a:r>
              <a:rPr sz="850" b="1">
                <a:solidFill>
                  <a:srgbClr val="141B33"/>
                </a:solidFill>
                <a:latin typeface="Segoe UI"/>
              </a:rPr>
              <a:t>Options on a Standard deployment</a:t>
            </a:r>
          </a:p>
          <a:p>
            <a:pPr algn="l">
              <a:spcBef>
                <a:spcPts val="200"/>
              </a:spcBef>
            </a:pPr>
            <a:r>
              <a:rPr sz="850" b="1">
                <a:solidFill>
                  <a:srgbClr val="141B33"/>
                </a:solidFill>
                <a:latin typeface="Segoe UI"/>
              </a:rPr>
              <a:t>Priority Processing</a:t>
            </a:r>
            <a:r>
              <a:rPr sz="850" b="0">
                <a:solidFill>
                  <a:srgbClr val="141B33"/>
                </a:solidFill>
                <a:latin typeface="Segoe UI"/>
              </a:rPr>
              <a:t> — lower, steadier latency on pay-as-you-go; Global and Data Zone Standard (US).</a:t>
            </a:r>
          </a:p>
          <a:p>
            <a:pPr algn="l">
              <a:spcBef>
                <a:spcPts val="200"/>
              </a:spcBef>
            </a:pPr>
            <a:r>
              <a:rPr sz="850" b="1">
                <a:solidFill>
                  <a:srgbClr val="141B33"/>
                </a:solidFill>
                <a:latin typeface="Segoe UI"/>
              </a:rPr>
              <a:t>Flex processing*</a:t>
            </a:r>
            <a:r>
              <a:rPr sz="850" b="0">
                <a:solidFill>
                  <a:srgbClr val="141B33"/>
                </a:solidFill>
                <a:latin typeface="Segoe UI"/>
              </a:rPr>
              <a:t> — half the Standard token price for delay-tolerant requests; Global Standard.</a:t>
            </a:r>
          </a:p>
        </p:txBody>
      </p:sp>
      <p:sp>
        <p:nvSpPr>
          <p:cNvPr id="82" name="Rectangle 81"/>
          <p:cNvSpPr/>
          <p:nvPr/>
        </p:nvSpPr>
        <p:spPr>
          <a:xfrm>
            <a:off x="4069080" y="4242816"/>
            <a:ext cx="3383279" cy="932688"/>
          </a:xfrm>
          <a:prstGeom prst="rect">
            <a:avLst/>
          </a:prstGeom>
          <a:solidFill>
            <a:srgbClr val="F6F8FD"/>
          </a:solidFill>
          <a:ln w="9525">
            <a:solidFill>
              <a:srgbClr val="E1E7F4"/>
            </a:solidFill>
          </a:ln>
          <a:effectLst/>
        </p:spPr>
        <p:txBody>
          <a:bodyPr rtlCol="0" anchor="ctr"/>
          <a:lstStyle/>
          <a:p>
            <a:pPr algn="ctr"/>
            <a:endParaRPr/>
          </a:p>
        </p:txBody>
      </p:sp>
      <p:sp>
        <p:nvSpPr>
          <p:cNvPr id="83" name="Rectangle 82"/>
          <p:cNvSpPr/>
          <p:nvPr/>
        </p:nvSpPr>
        <p:spPr>
          <a:xfrm>
            <a:off x="4069080" y="4242816"/>
            <a:ext cx="45720" cy="932688"/>
          </a:xfrm>
          <a:prstGeom prst="rect">
            <a:avLst/>
          </a:prstGeom>
          <a:solidFill>
            <a:srgbClr val="00B39F"/>
          </a:solidFill>
          <a:ln>
            <a:noFill/>
          </a:ln>
          <a:effectLst/>
        </p:spPr>
        <p:txBody>
          <a:bodyPr rtlCol="0" anchor="ctr"/>
          <a:lstStyle/>
          <a:p>
            <a:pPr algn="ctr"/>
            <a:endParaRPr/>
          </a:p>
        </p:txBody>
      </p:sp>
      <p:sp>
        <p:nvSpPr>
          <p:cNvPr id="84" name="TextBox 83"/>
          <p:cNvSpPr txBox="1"/>
          <p:nvPr/>
        </p:nvSpPr>
        <p:spPr>
          <a:xfrm>
            <a:off x="4142232" y="4242816"/>
            <a:ext cx="3291839" cy="932688"/>
          </a:xfrm>
          <a:prstGeom prst="rect">
            <a:avLst/>
          </a:prstGeom>
          <a:noFill/>
        </p:spPr>
        <p:txBody>
          <a:bodyPr wrap="square" lIns="73152" tIns="27432" rIns="73152" bIns="27432" anchor="ctr">
            <a:spAutoFit/>
          </a:bodyPr>
          <a:lstStyle/>
          <a:p>
            <a:pPr algn="l"/>
            <a:r>
              <a:rPr sz="850" b="1">
                <a:solidFill>
                  <a:srgbClr val="141B33"/>
                </a:solidFill>
                <a:latin typeface="Segoe UI"/>
              </a:rPr>
              <a:t>Alternatives to a serverless deployment</a:t>
            </a:r>
          </a:p>
          <a:p>
            <a:pPr algn="l">
              <a:spcBef>
                <a:spcPts val="200"/>
              </a:spcBef>
            </a:pPr>
            <a:r>
              <a:rPr sz="850" b="1">
                <a:solidFill>
                  <a:srgbClr val="141B33"/>
                </a:solidFill>
                <a:latin typeface="Segoe UI"/>
              </a:rPr>
              <a:t>Instant access models*</a:t>
            </a:r>
            <a:r>
              <a:rPr sz="850" b="0">
                <a:solidFill>
                  <a:srgbClr val="141B33"/>
                </a:solidFill>
                <a:latin typeface="Segoe UI"/>
              </a:rPr>
              <a:t> — call selected models by name, no deployment step.</a:t>
            </a:r>
          </a:p>
          <a:p>
            <a:pPr algn="l">
              <a:spcBef>
                <a:spcPts val="200"/>
              </a:spcBef>
            </a:pPr>
            <a:r>
              <a:rPr sz="850" b="1">
                <a:solidFill>
                  <a:srgbClr val="141B33"/>
                </a:solidFill>
                <a:latin typeface="Segoe UI"/>
              </a:rPr>
              <a:t>Managed compute*</a:t>
            </a:r>
            <a:r>
              <a:rPr sz="850" b="0">
                <a:solidFill>
                  <a:srgbClr val="141B33"/>
                </a:solidFill>
                <a:latin typeface="Segoe UI"/>
              </a:rPr>
              <a:t> — dedicated virtual machine capacity in your own resource; open and custom models.</a:t>
            </a:r>
          </a:p>
        </p:txBody>
      </p:sp>
      <p:sp>
        <p:nvSpPr>
          <p:cNvPr id="85" name="TextBox 84"/>
          <p:cNvSpPr txBox="1"/>
          <p:nvPr/>
        </p:nvSpPr>
        <p:spPr>
          <a:xfrm>
            <a:off x="7680960" y="1298448"/>
            <a:ext cx="395935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TO CHOOSE</a:t>
            </a:r>
          </a:p>
        </p:txBody>
      </p:sp>
      <p:sp>
        <p:nvSpPr>
          <p:cNvPr id="86" name="Rectangle 85"/>
          <p:cNvSpPr/>
          <p:nvPr/>
        </p:nvSpPr>
        <p:spPr>
          <a:xfrm>
            <a:off x="7680960" y="1554480"/>
            <a:ext cx="3959352" cy="713232"/>
          </a:xfrm>
          <a:prstGeom prst="rect">
            <a:avLst/>
          </a:prstGeom>
          <a:solidFill>
            <a:srgbClr val="FFFFFF"/>
          </a:solidFill>
          <a:ln w="9525">
            <a:solidFill>
              <a:srgbClr val="E1E7F4"/>
            </a:solidFill>
          </a:ln>
          <a:effectLst/>
        </p:spPr>
        <p:txBody>
          <a:bodyPr rtlCol="0" anchor="ctr"/>
          <a:lstStyle/>
          <a:p>
            <a:pPr algn="ctr"/>
            <a:endParaRPr/>
          </a:p>
        </p:txBody>
      </p:sp>
      <p:sp>
        <p:nvSpPr>
          <p:cNvPr id="87" name="Oval 86"/>
          <p:cNvSpPr/>
          <p:nvPr/>
        </p:nvSpPr>
        <p:spPr>
          <a:xfrm>
            <a:off x="7754112" y="1664207"/>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1</a:t>
            </a:r>
          </a:p>
        </p:txBody>
      </p:sp>
      <p:sp>
        <p:nvSpPr>
          <p:cNvPr id="88" name="TextBox 87"/>
          <p:cNvSpPr txBox="1"/>
          <p:nvPr/>
        </p:nvSpPr>
        <p:spPr>
          <a:xfrm>
            <a:off x="8010144" y="1554480"/>
            <a:ext cx="3593592" cy="713232"/>
          </a:xfrm>
          <a:prstGeom prst="rect">
            <a:avLst/>
          </a:prstGeom>
          <a:noFill/>
        </p:spPr>
        <p:txBody>
          <a:bodyPr wrap="square" lIns="73152" tIns="27432" rIns="73152" bIns="27432" anchor="ctr">
            <a:spAutoFit/>
          </a:bodyPr>
          <a:lstStyle/>
          <a:p>
            <a:pPr algn="l"/>
            <a:r>
              <a:rPr sz="850" b="1">
                <a:solidFill>
                  <a:srgbClr val="141B33"/>
                </a:solidFill>
                <a:latin typeface="Segoe UI"/>
              </a:rPr>
              <a:t>Where may inference run?</a:t>
            </a:r>
          </a:p>
          <a:p>
            <a:pPr algn="l"/>
            <a:r>
              <a:rPr sz="850" b="0">
                <a:solidFill>
                  <a:srgbClr val="141B33"/>
                </a:solidFill>
                <a:latin typeface="Segoe UI"/>
              </a:rPr>
              <a:t>Global — any Azure region · Data Zone — inside the US, EU or Asia-Pacific data zone · Regional — inside one geography. Data at rest always stays in the designated geography.</a:t>
            </a:r>
          </a:p>
        </p:txBody>
      </p:sp>
      <p:sp>
        <p:nvSpPr>
          <p:cNvPr id="89" name="Rectangle 88"/>
          <p:cNvSpPr/>
          <p:nvPr/>
        </p:nvSpPr>
        <p:spPr>
          <a:xfrm>
            <a:off x="7680960" y="2340864"/>
            <a:ext cx="3959352" cy="713232"/>
          </a:xfrm>
          <a:prstGeom prst="rect">
            <a:avLst/>
          </a:prstGeom>
          <a:solidFill>
            <a:srgbClr val="FFFFFF"/>
          </a:solidFill>
          <a:ln w="9525">
            <a:solidFill>
              <a:srgbClr val="E1E7F4"/>
            </a:solidFill>
          </a:ln>
          <a:effectLst/>
        </p:spPr>
        <p:txBody>
          <a:bodyPr rtlCol="0" anchor="ctr"/>
          <a:lstStyle/>
          <a:p>
            <a:pPr algn="ctr"/>
            <a:endParaRPr/>
          </a:p>
        </p:txBody>
      </p:sp>
      <p:sp>
        <p:nvSpPr>
          <p:cNvPr id="90" name="Oval 89"/>
          <p:cNvSpPr/>
          <p:nvPr/>
        </p:nvSpPr>
        <p:spPr>
          <a:xfrm>
            <a:off x="7754112" y="2450592"/>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2</a:t>
            </a:r>
          </a:p>
        </p:txBody>
      </p:sp>
      <p:sp>
        <p:nvSpPr>
          <p:cNvPr id="91" name="TextBox 90"/>
          <p:cNvSpPr txBox="1"/>
          <p:nvPr/>
        </p:nvSpPr>
        <p:spPr>
          <a:xfrm>
            <a:off x="8010144" y="2340864"/>
            <a:ext cx="3593592" cy="713232"/>
          </a:xfrm>
          <a:prstGeom prst="rect">
            <a:avLst/>
          </a:prstGeom>
          <a:noFill/>
        </p:spPr>
        <p:txBody>
          <a:bodyPr wrap="square" lIns="73152" tIns="27432" rIns="73152" bIns="27432" anchor="ctr">
            <a:spAutoFit/>
          </a:bodyPr>
          <a:lstStyle/>
          <a:p>
            <a:pPr algn="l"/>
            <a:r>
              <a:rPr sz="850" b="1">
                <a:solidFill>
                  <a:srgbClr val="141B33"/>
                </a:solidFill>
                <a:latin typeface="Segoe UI"/>
              </a:rPr>
              <a:t>How predictable must latency be?</a:t>
            </a:r>
          </a:p>
          <a:p>
            <a:pPr algn="l"/>
            <a:r>
              <a:rPr sz="850" b="0">
                <a:solidFill>
                  <a:srgbClr val="141B33"/>
                </a:solidFill>
                <a:latin typeface="Segoe UI"/>
              </a:rPr>
              <a:t>Provisioned gives guaranteed throughput and lower latency variance; Standard is best effort; Batch has no real-time target.</a:t>
            </a:r>
          </a:p>
        </p:txBody>
      </p:sp>
      <p:sp>
        <p:nvSpPr>
          <p:cNvPr id="92" name="Rectangle 91"/>
          <p:cNvSpPr/>
          <p:nvPr/>
        </p:nvSpPr>
        <p:spPr>
          <a:xfrm>
            <a:off x="7680960" y="3127248"/>
            <a:ext cx="3959352" cy="713232"/>
          </a:xfrm>
          <a:prstGeom prst="rect">
            <a:avLst/>
          </a:prstGeom>
          <a:solidFill>
            <a:srgbClr val="FFFFFF"/>
          </a:solidFill>
          <a:ln w="9525">
            <a:solidFill>
              <a:srgbClr val="E1E7F4"/>
            </a:solidFill>
          </a:ln>
          <a:effectLst/>
        </p:spPr>
        <p:txBody>
          <a:bodyPr rtlCol="0" anchor="ctr"/>
          <a:lstStyle/>
          <a:p>
            <a:pPr algn="ctr"/>
            <a:endParaRPr/>
          </a:p>
        </p:txBody>
      </p:sp>
      <p:sp>
        <p:nvSpPr>
          <p:cNvPr id="93" name="Oval 92"/>
          <p:cNvSpPr/>
          <p:nvPr/>
        </p:nvSpPr>
        <p:spPr>
          <a:xfrm>
            <a:off x="7754112" y="3236976"/>
            <a:ext cx="237744" cy="237744"/>
          </a:xfrm>
          <a:prstGeom prst="ellipse">
            <a:avLst/>
          </a:prstGeom>
          <a:solidFill>
            <a:srgbClr val="00B39F"/>
          </a:solidFill>
          <a:ln>
            <a:noFill/>
          </a:ln>
          <a:effectLst/>
        </p:spPr>
        <p:txBody>
          <a:bodyPr lIns="0" tIns="0" rIns="0" bIns="0" rtlCol="0" anchor="ctr"/>
          <a:lstStyle/>
          <a:p>
            <a:pPr algn="ctr"/>
            <a:r>
              <a:rPr sz="800" b="1">
                <a:solidFill>
                  <a:srgbClr val="FFFFFF"/>
                </a:solidFill>
                <a:latin typeface="Segoe UI"/>
              </a:rPr>
              <a:t>3</a:t>
            </a:r>
          </a:p>
        </p:txBody>
      </p:sp>
      <p:sp>
        <p:nvSpPr>
          <p:cNvPr id="94" name="TextBox 93"/>
          <p:cNvSpPr txBox="1"/>
          <p:nvPr/>
        </p:nvSpPr>
        <p:spPr>
          <a:xfrm>
            <a:off x="8010144" y="3127248"/>
            <a:ext cx="3593592" cy="713232"/>
          </a:xfrm>
          <a:prstGeom prst="rect">
            <a:avLst/>
          </a:prstGeom>
          <a:noFill/>
        </p:spPr>
        <p:txBody>
          <a:bodyPr wrap="square" lIns="73152" tIns="27432" rIns="73152" bIns="27432" anchor="ctr">
            <a:spAutoFit/>
          </a:bodyPr>
          <a:lstStyle/>
          <a:p>
            <a:pPr algn="l"/>
            <a:r>
              <a:rPr sz="850" b="1">
                <a:solidFill>
                  <a:srgbClr val="141B33"/>
                </a:solidFill>
                <a:latin typeface="Segoe UI"/>
              </a:rPr>
              <a:t>How price-sensitive is the workload?</a:t>
            </a:r>
          </a:p>
          <a:p>
            <a:pPr algn="l"/>
            <a:r>
              <a:rPr sz="850" b="0">
                <a:solidFill>
                  <a:srgbClr val="141B33"/>
                </a:solidFill>
                <a:latin typeface="Segoe UI"/>
              </a:rPr>
              <a:t>Standard bills per token; Provisioned is reserved capacity; Batch halves the token price for asynchronous jobs.</a:t>
            </a:r>
          </a:p>
        </p:txBody>
      </p:sp>
      <p:sp>
        <p:nvSpPr>
          <p:cNvPr id="95" name="Rectangle 94"/>
          <p:cNvSpPr/>
          <p:nvPr/>
        </p:nvSpPr>
        <p:spPr>
          <a:xfrm>
            <a:off x="7680960" y="3968496"/>
            <a:ext cx="3959352" cy="1517904"/>
          </a:xfrm>
          <a:prstGeom prst="rect">
            <a:avLst/>
          </a:prstGeom>
          <a:solidFill>
            <a:srgbClr val="0B1229"/>
          </a:solidFill>
          <a:ln>
            <a:noFill/>
          </a:ln>
          <a:effectLst/>
        </p:spPr>
        <p:txBody>
          <a:bodyPr rtlCol="0" anchor="ctr"/>
          <a:lstStyle/>
          <a:p>
            <a:pPr algn="ctr"/>
            <a:endParaRPr/>
          </a:p>
        </p:txBody>
      </p:sp>
      <p:sp>
        <p:nvSpPr>
          <p:cNvPr id="96" name="TextBox 95"/>
          <p:cNvSpPr txBox="1"/>
          <p:nvPr/>
        </p:nvSpPr>
        <p:spPr>
          <a:xfrm>
            <a:off x="7680960" y="3968496"/>
            <a:ext cx="3959352" cy="1517904"/>
          </a:xfrm>
          <a:prstGeom prst="rect">
            <a:avLst/>
          </a:prstGeom>
          <a:noFill/>
        </p:spPr>
        <p:txBody>
          <a:bodyPr wrap="square" lIns="73152" tIns="27432" rIns="73152" bIns="27432" anchor="ctr">
            <a:spAutoFit/>
          </a:bodyPr>
          <a:lstStyle/>
          <a:p>
            <a:pPr algn="l"/>
            <a:r>
              <a:rPr sz="850" b="1">
                <a:solidFill>
                  <a:srgbClr val="FFFFFF"/>
                </a:solidFill>
                <a:latin typeface="Segoe UI"/>
              </a:rPr>
              <a:t>Good to know</a:t>
            </a:r>
          </a:p>
          <a:p>
            <a:pPr algn="l">
              <a:spcBef>
                <a:spcPts val="200"/>
              </a:spcBef>
            </a:pPr>
            <a:r>
              <a:rPr sz="850" b="0">
                <a:solidFill>
                  <a:srgbClr val="FFFFFF"/>
                </a:solidFill>
                <a:latin typeface="Segoe UI"/>
              </a:rPr>
              <a:t>• New deployment types arrive Global first, then Data Zone, then Regional.</a:t>
            </a:r>
          </a:p>
          <a:p>
            <a:pPr algn="l">
              <a:spcBef>
                <a:spcPts val="200"/>
              </a:spcBef>
            </a:pPr>
            <a:r>
              <a:rPr sz="850" b="0">
                <a:solidFill>
                  <a:srgbClr val="FFFFFF"/>
                </a:solidFill>
                <a:latin typeface="Segoe UI"/>
              </a:rPr>
              <a:t>• Global and Data Zone Standard share the failure domain of the region a request is first routed to.</a:t>
            </a:r>
          </a:p>
          <a:p>
            <a:pPr algn="l">
              <a:spcBef>
                <a:spcPts val="200"/>
              </a:spcBef>
            </a:pPr>
            <a:r>
              <a:rPr sz="850" b="0">
                <a:solidFill>
                  <a:srgbClr val="FFFFFF"/>
                </a:solidFill>
                <a:latin typeface="Segoe UI"/>
              </a:rPr>
              <a:t>• Microsoft can add regions to a data zone without notice; the EU data zone follows the EU Data Boundary and may include EFTA countries such as Switzerland.</a:t>
            </a:r>
          </a:p>
          <a:p>
            <a:pPr algn="l">
              <a:spcBef>
                <a:spcPts val="200"/>
              </a:spcBef>
            </a:pPr>
            <a:r>
              <a:rPr sz="850" b="0">
                <a:solidFill>
                  <a:srgbClr val="FFFFFF"/>
                </a:solidFill>
                <a:latin typeface="Segoe UI"/>
              </a:rPr>
              <a:t>• Azure Policy can restrict which deployment types a subscription may create.</a:t>
            </a:r>
          </a:p>
        </p:txBody>
      </p:sp>
      <p:sp>
        <p:nvSpPr>
          <p:cNvPr id="97" name="TextBox 96"/>
          <p:cNvSpPr txBox="1"/>
          <p:nvPr/>
        </p:nvSpPr>
        <p:spPr>
          <a:xfrm>
            <a:off x="548640" y="5504688"/>
            <a:ext cx="11091672"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Priority and Flex processing</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Two service tiers selected per request on a Standard deployment: Priority for lower latency, Flex for lower cost.</a:t>
            </a:r>
          </a:p>
          <a:p>
            <a:endParaRPr sz="1200">
              <a:solidFill>
                <a:srgbClr val="44495B"/>
              </a:solidFill>
              <a:latin typeface="Segoe UI"/>
            </a:endParaRPr>
          </a:p>
        </p:txBody>
      </p:sp>
      <p:sp>
        <p:nvSpPr>
          <p:cNvPr id="5" name="Shape"/>
          <p:cNvSpPr/>
          <p:nvPr/>
        </p:nvSpPr>
        <p:spPr>
          <a:xfrm>
            <a:off x="548640" y="1417320"/>
            <a:ext cx="548640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Request carries service_tier</a:t>
            </a:r>
          </a:p>
          <a:p>
            <a:pPr algn="ctr"/>
            <a:r>
              <a:rPr sz="900">
                <a:solidFill>
                  <a:srgbClr val="141B33"/>
                </a:solidFill>
                <a:latin typeface="Segoe UI"/>
              </a:rPr>
              <a:t>auto | default | priority</a:t>
            </a:r>
          </a:p>
        </p:txBody>
      </p:sp>
      <p:sp>
        <p:nvSpPr>
          <p:cNvPr id="6" name="Shape"/>
          <p:cNvSpPr/>
          <p:nvPr/>
        </p:nvSpPr>
        <p:spPr>
          <a:xfrm>
            <a:off x="3200400" y="1874520"/>
            <a:ext cx="182880" cy="182880"/>
          </a:xfrm>
          <a:prstGeom prst="downArrow">
            <a:avLst/>
          </a:prstGeom>
          <a:solidFill>
            <a:srgbClr val="00B39F"/>
          </a:solidFill>
        </p:spPr>
        <p:txBody>
          <a:bodyPr/>
          <a:lstStyle/>
          <a:p>
            <a:endParaRPr/>
          </a:p>
        </p:txBody>
      </p:sp>
      <p:sp>
        <p:nvSpPr>
          <p:cNvPr id="7" name="Shape"/>
          <p:cNvSpPr/>
          <p:nvPr/>
        </p:nvSpPr>
        <p:spPr>
          <a:xfrm>
            <a:off x="548640" y="2148840"/>
            <a:ext cx="5486400" cy="420624"/>
          </a:xfrm>
          <a:prstGeom prst="rect">
            <a:avLst/>
          </a:prstGeom>
          <a:solidFill>
            <a:srgbClr val="101A3C"/>
          </a:solidFill>
        </p:spPr>
        <p:txBody>
          <a:bodyPr anchor="ctr"/>
          <a:lstStyle/>
          <a:p>
            <a:pPr algn="ctr"/>
            <a:r>
              <a:rPr sz="900">
                <a:solidFill>
                  <a:srgbClr val="FFFFFF"/>
                </a:solidFill>
                <a:latin typeface="Segoe UI"/>
              </a:rPr>
              <a:t>GlobalStandard or DataZoneStandard (US) deployment</a:t>
            </a:r>
          </a:p>
          <a:p>
            <a:pPr algn="ctr"/>
            <a:r>
              <a:rPr sz="900">
                <a:solidFill>
                  <a:srgbClr val="FFFFFF"/>
                </a:solidFill>
                <a:latin typeface="Segoe UI"/>
              </a:rPr>
              <a:t>model versions 2025-12-01 or later</a:t>
            </a:r>
          </a:p>
        </p:txBody>
      </p:sp>
      <p:sp>
        <p:nvSpPr>
          <p:cNvPr id="8" name="Shape"/>
          <p:cNvSpPr/>
          <p:nvPr/>
        </p:nvSpPr>
        <p:spPr>
          <a:xfrm>
            <a:off x="548640" y="2880360"/>
            <a:ext cx="2651760" cy="566928"/>
          </a:xfrm>
          <a:prstGeom prst="rect">
            <a:avLst/>
          </a:prstGeom>
          <a:solidFill>
            <a:srgbClr val="00B39F"/>
          </a:solidFill>
        </p:spPr>
        <p:txBody>
          <a:bodyPr anchor="ctr"/>
          <a:lstStyle/>
          <a:p>
            <a:pPr algn="ctr"/>
            <a:r>
              <a:rPr sz="900">
                <a:solidFill>
                  <a:srgbClr val="0B1229"/>
                </a:solidFill>
                <a:latin typeface="Segoe UI"/>
              </a:rPr>
              <a:t>Priority lane</a:t>
            </a:r>
          </a:p>
          <a:p>
            <a:pPr algn="ctr"/>
            <a:r>
              <a:rPr sz="900">
                <a:solidFill>
                  <a:srgbClr val="0B1229"/>
                </a:solidFill>
                <a:latin typeface="Segoe UI"/>
              </a:rPr>
              <a:t>latency targets apply</a:t>
            </a:r>
          </a:p>
          <a:p>
            <a:pPr algn="ctr"/>
            <a:r>
              <a:rPr sz="900">
                <a:solidFill>
                  <a:srgbClr val="0B1229"/>
                </a:solidFill>
                <a:latin typeface="Segoe UI"/>
              </a:rPr>
              <a:t>same quota as standard</a:t>
            </a:r>
          </a:p>
        </p:txBody>
      </p:sp>
      <p:sp>
        <p:nvSpPr>
          <p:cNvPr id="9" name="Shape"/>
          <p:cNvSpPr/>
          <p:nvPr/>
        </p:nvSpPr>
        <p:spPr>
          <a:xfrm>
            <a:off x="1783080" y="2660904"/>
            <a:ext cx="182880" cy="182880"/>
          </a:xfrm>
          <a:prstGeom prst="downArrow">
            <a:avLst/>
          </a:prstGeom>
          <a:solidFill>
            <a:srgbClr val="00B39F"/>
          </a:solidFill>
        </p:spPr>
        <p:txBody>
          <a:bodyPr/>
          <a:lstStyle/>
          <a:p>
            <a:endParaRPr/>
          </a:p>
        </p:txBody>
      </p:sp>
      <p:sp>
        <p:nvSpPr>
          <p:cNvPr id="10" name="Shape"/>
          <p:cNvSpPr/>
          <p:nvPr/>
        </p:nvSpPr>
        <p:spPr>
          <a:xfrm>
            <a:off x="3383280" y="2880360"/>
            <a:ext cx="2651760" cy="566928"/>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Standard lane</a:t>
            </a:r>
          </a:p>
          <a:p>
            <a:pPr algn="ctr"/>
            <a:r>
              <a:rPr sz="900">
                <a:solidFill>
                  <a:srgbClr val="141B33"/>
                </a:solidFill>
                <a:latin typeface="Segoe UI"/>
              </a:rPr>
              <a:t>best-effort service</a:t>
            </a:r>
          </a:p>
          <a:p>
            <a:pPr algn="ctr"/>
            <a:r>
              <a:rPr sz="900">
                <a:solidFill>
                  <a:srgbClr val="141B33"/>
                </a:solidFill>
                <a:latin typeface="Segoe UI"/>
              </a:rPr>
              <a:t>billed as standard</a:t>
            </a:r>
          </a:p>
        </p:txBody>
      </p:sp>
      <p:sp>
        <p:nvSpPr>
          <p:cNvPr id="11" name="Shape"/>
          <p:cNvSpPr/>
          <p:nvPr/>
        </p:nvSpPr>
        <p:spPr>
          <a:xfrm>
            <a:off x="4617720" y="2660904"/>
            <a:ext cx="182880" cy="182880"/>
          </a:xfrm>
          <a:prstGeom prst="downArrow">
            <a:avLst/>
          </a:prstGeom>
          <a:solidFill>
            <a:srgbClr val="00B39F"/>
          </a:solidFill>
        </p:spPr>
        <p:txBody>
          <a:bodyPr/>
          <a:lstStyle/>
          <a:p>
            <a:endParaRPr/>
          </a:p>
        </p:txBody>
      </p:sp>
      <p:sp>
        <p:nvSpPr>
          <p:cNvPr id="12" name="Shape"/>
          <p:cNvSpPr/>
          <p:nvPr/>
        </p:nvSpPr>
        <p:spPr>
          <a:xfrm>
            <a:off x="548640" y="3648456"/>
            <a:ext cx="5486400" cy="1328928"/>
          </a:xfrm>
          <a:prstGeom prst="rect">
            <a:avLst/>
          </a:prstGeom>
          <a:solidFill>
            <a:srgbClr val="F6F8FD"/>
          </a:solidFill>
          <a:ln w="9525">
            <a:solidFill>
              <a:srgbClr val="E1E7F4"/>
            </a:solidFill>
          </a:ln>
        </p:spPr>
        <p:txBody>
          <a:bodyPr/>
          <a:lstStyle/>
          <a:p>
            <a:endParaRPr/>
          </a:p>
        </p:txBody>
      </p:sp>
      <p:sp>
        <p:nvSpPr>
          <p:cNvPr id="13" name="Shape"/>
          <p:cNvSpPr/>
          <p:nvPr/>
        </p:nvSpPr>
        <p:spPr>
          <a:xfrm>
            <a:off x="548640" y="3648456"/>
            <a:ext cx="5486400" cy="38405"/>
          </a:xfrm>
          <a:prstGeom prst="rect">
            <a:avLst/>
          </a:prstGeom>
          <a:solidFill>
            <a:srgbClr val="101A3C"/>
          </a:solidFill>
        </p:spPr>
        <p:txBody>
          <a:bodyPr/>
          <a:lstStyle/>
          <a:p>
            <a:endParaRPr/>
          </a:p>
        </p:txBody>
      </p:sp>
      <p:sp>
        <p:nvSpPr>
          <p:cNvPr id="14" name="TextBox"/>
          <p:cNvSpPr txBox="1"/>
          <p:nvPr/>
        </p:nvSpPr>
        <p:spPr>
          <a:xfrm>
            <a:off x="603504" y="3771900"/>
            <a:ext cx="5376672" cy="472440"/>
          </a:xfrm>
          <a:prstGeom prst="rect">
            <a:avLst/>
          </a:prstGeom>
        </p:spPr>
        <p:txBody>
          <a:bodyPr anchor="ctr"/>
          <a:lstStyle/>
          <a:p>
            <a:r>
              <a:rPr sz="1100" b="1">
                <a:solidFill>
                  <a:srgbClr val="101A3C"/>
                </a:solidFill>
                <a:latin typeface="Segoe UI"/>
              </a:rPr>
              <a:t>Downgraded to standard when</a:t>
            </a:r>
          </a:p>
          <a:p>
            <a:endParaRPr sz="1100" b="1">
              <a:solidFill>
                <a:srgbClr val="101A3C"/>
              </a:solidFill>
              <a:latin typeface="Segoe UI"/>
            </a:endParaRPr>
          </a:p>
        </p:txBody>
      </p:sp>
      <p:sp>
        <p:nvSpPr>
          <p:cNvPr id="15" name="TextBox"/>
          <p:cNvSpPr txBox="1"/>
          <p:nvPr/>
        </p:nvSpPr>
        <p:spPr>
          <a:xfrm>
            <a:off x="603504" y="4076700"/>
            <a:ext cx="5376672" cy="822960"/>
          </a:xfrm>
          <a:prstGeom prst="rect">
            <a:avLst/>
          </a:prstGeom>
        </p:spPr>
        <p:txBody>
          <a:bodyPr anchor="ctr"/>
          <a:lstStyle/>
          <a:p>
            <a:r>
              <a:rPr sz="900">
                <a:solidFill>
                  <a:srgbClr val="141B33"/>
                </a:solidFill>
                <a:latin typeface="Segoe UI"/>
              </a:rPr>
              <a:t>throughput ramps more than 50% of TPM in under 15 minutes</a:t>
            </a:r>
          </a:p>
          <a:p>
            <a:r>
              <a:rPr sz="900">
                <a:solidFill>
                  <a:srgbClr val="141B33"/>
                </a:solidFill>
                <a:latin typeface="Segoe UI"/>
              </a:rPr>
              <a:t>the service is under peak demand</a:t>
            </a:r>
          </a:p>
          <a:p>
            <a:r>
              <a:rPr sz="900">
                <a:solidFill>
                  <a:srgbClr val="141B33"/>
                </a:solidFill>
                <a:latin typeface="Segoe UI"/>
              </a:rPr>
              <a:t>the request is long context: over 272k tokens on gpt-5.6 models,</a:t>
            </a:r>
          </a:p>
          <a:p>
            <a:r>
              <a:rPr sz="900">
                <a:solidFill>
                  <a:srgbClr val="141B33"/>
                </a:solidFill>
                <a:latin typeface="Segoe UI"/>
              </a:rPr>
              <a:t>over 128k on gpt-5.4 and gpt-4.1</a:t>
            </a:r>
          </a:p>
          <a:p>
            <a:r>
              <a:rPr sz="900">
                <a:solidFill>
                  <a:srgbClr val="141B33"/>
                </a:solidFill>
                <a:latin typeface="Segoe UI"/>
              </a:rPr>
              <a:t>The response echoes the service_tier that was actually applied.</a:t>
            </a:r>
          </a:p>
        </p:txBody>
      </p:sp>
      <p:sp>
        <p:nvSpPr>
          <p:cNvPr id="16" name="Shape"/>
          <p:cNvSpPr/>
          <p:nvPr/>
        </p:nvSpPr>
        <p:spPr>
          <a:xfrm>
            <a:off x="6272784" y="1417320"/>
            <a:ext cx="5370576" cy="245364"/>
          </a:xfrm>
          <a:prstGeom prst="rect">
            <a:avLst/>
          </a:prstGeom>
          <a:solidFill>
            <a:srgbClr val="101A3C"/>
          </a:solidFill>
        </p:spPr>
        <p:txBody>
          <a:bodyPr/>
          <a:lstStyle/>
          <a:p>
            <a:endParaRPr/>
          </a:p>
        </p:txBody>
      </p:sp>
      <p:sp>
        <p:nvSpPr>
          <p:cNvPr id="17" name="TextBox"/>
          <p:cNvSpPr txBox="1"/>
          <p:nvPr/>
        </p:nvSpPr>
        <p:spPr>
          <a:xfrm>
            <a:off x="6281928" y="1399032"/>
            <a:ext cx="1915119" cy="426720"/>
          </a:xfrm>
          <a:prstGeom prst="rect">
            <a:avLst/>
          </a:prstGeom>
        </p:spPr>
        <p:txBody>
          <a:bodyPr anchor="ctr"/>
          <a:lstStyle/>
          <a:p>
            <a:r>
              <a:rPr sz="950" b="1">
                <a:solidFill>
                  <a:srgbClr val="808080"/>
                </a:solidFill>
                <a:latin typeface="Segoe UI"/>
              </a:rPr>
              <a:t>Model</a:t>
            </a:r>
          </a:p>
          <a:p>
            <a:endParaRPr sz="950" b="1">
              <a:solidFill>
                <a:srgbClr val="808080"/>
              </a:solidFill>
              <a:latin typeface="Segoe UI"/>
            </a:endParaRPr>
          </a:p>
        </p:txBody>
      </p:sp>
      <p:sp>
        <p:nvSpPr>
          <p:cNvPr id="18" name="TextBox"/>
          <p:cNvSpPr txBox="1"/>
          <p:nvPr/>
        </p:nvSpPr>
        <p:spPr>
          <a:xfrm>
            <a:off x="8215335" y="1399032"/>
            <a:ext cx="3418881" cy="426720"/>
          </a:xfrm>
          <a:prstGeom prst="rect">
            <a:avLst/>
          </a:prstGeom>
        </p:spPr>
        <p:txBody>
          <a:bodyPr anchor="ctr"/>
          <a:lstStyle/>
          <a:p>
            <a:r>
              <a:rPr sz="950" b="1">
                <a:solidFill>
                  <a:srgbClr val="808080"/>
                </a:solidFill>
                <a:latin typeface="Segoe UI"/>
              </a:rPr>
              <a:t>Latency target, p50 per 5 minutes</a:t>
            </a:r>
          </a:p>
          <a:p>
            <a:endParaRPr sz="950" b="1">
              <a:solidFill>
                <a:srgbClr val="808080"/>
              </a:solidFill>
              <a:latin typeface="Segoe UI"/>
            </a:endParaRPr>
          </a:p>
        </p:txBody>
      </p:sp>
      <p:sp>
        <p:nvSpPr>
          <p:cNvPr id="19" name="Shape"/>
          <p:cNvSpPr/>
          <p:nvPr/>
        </p:nvSpPr>
        <p:spPr>
          <a:xfrm>
            <a:off x="6272784" y="1817370"/>
            <a:ext cx="5370576" cy="245364"/>
          </a:xfrm>
          <a:prstGeom prst="rect">
            <a:avLst/>
          </a:prstGeom>
          <a:solidFill>
            <a:srgbClr val="FFFFFF"/>
          </a:solidFill>
          <a:ln w="9525">
            <a:solidFill>
              <a:srgbClr val="E1E7F4"/>
            </a:solidFill>
          </a:ln>
        </p:spPr>
        <p:txBody>
          <a:bodyPr/>
          <a:lstStyle/>
          <a:p>
            <a:endParaRPr/>
          </a:p>
        </p:txBody>
      </p:sp>
      <p:sp>
        <p:nvSpPr>
          <p:cNvPr id="20" name="TextBox"/>
          <p:cNvSpPr txBox="1"/>
          <p:nvPr/>
        </p:nvSpPr>
        <p:spPr>
          <a:xfrm>
            <a:off x="6281928" y="1644396"/>
            <a:ext cx="1915119" cy="426720"/>
          </a:xfrm>
          <a:prstGeom prst="rect">
            <a:avLst/>
          </a:prstGeom>
        </p:spPr>
        <p:txBody>
          <a:bodyPr anchor="ctr"/>
          <a:lstStyle/>
          <a:p>
            <a:r>
              <a:rPr sz="950">
                <a:solidFill>
                  <a:srgbClr val="141B33"/>
                </a:solidFill>
                <a:latin typeface="Segoe UI"/>
              </a:rPr>
              <a:t>gpt-5.6-terra</a:t>
            </a:r>
          </a:p>
          <a:p>
            <a:endParaRPr sz="950">
              <a:solidFill>
                <a:srgbClr val="141B33"/>
              </a:solidFill>
              <a:latin typeface="Segoe UI"/>
            </a:endParaRPr>
          </a:p>
        </p:txBody>
      </p:sp>
      <p:sp>
        <p:nvSpPr>
          <p:cNvPr id="21" name="TextBox"/>
          <p:cNvSpPr txBox="1"/>
          <p:nvPr/>
        </p:nvSpPr>
        <p:spPr>
          <a:xfrm>
            <a:off x="8215335" y="1644396"/>
            <a:ext cx="3418881" cy="426720"/>
          </a:xfrm>
          <a:prstGeom prst="rect">
            <a:avLst/>
          </a:prstGeom>
        </p:spPr>
        <p:txBody>
          <a:bodyPr anchor="ctr"/>
          <a:lstStyle/>
          <a:p>
            <a:r>
              <a:rPr sz="950">
                <a:solidFill>
                  <a:srgbClr val="141B33"/>
                </a:solidFill>
                <a:latin typeface="Segoe UI"/>
              </a:rPr>
              <a:t>99% of windows above 70 TPS</a:t>
            </a:r>
          </a:p>
          <a:p>
            <a:endParaRPr sz="950">
              <a:solidFill>
                <a:srgbClr val="141B33"/>
              </a:solidFill>
              <a:latin typeface="Segoe UI"/>
            </a:endParaRPr>
          </a:p>
        </p:txBody>
      </p:sp>
      <p:sp>
        <p:nvSpPr>
          <p:cNvPr id="22" name="Shape"/>
          <p:cNvSpPr/>
          <p:nvPr/>
        </p:nvSpPr>
        <p:spPr>
          <a:xfrm>
            <a:off x="6272784" y="2062734"/>
            <a:ext cx="5370576" cy="245364"/>
          </a:xfrm>
          <a:prstGeom prst="rect">
            <a:avLst/>
          </a:prstGeom>
          <a:solidFill>
            <a:srgbClr val="F6F8FD"/>
          </a:solidFill>
          <a:ln w="9525">
            <a:solidFill>
              <a:srgbClr val="E1E7F4"/>
            </a:solidFill>
          </a:ln>
        </p:spPr>
        <p:txBody>
          <a:bodyPr/>
          <a:lstStyle/>
          <a:p>
            <a:endParaRPr/>
          </a:p>
        </p:txBody>
      </p:sp>
      <p:sp>
        <p:nvSpPr>
          <p:cNvPr id="23" name="TextBox"/>
          <p:cNvSpPr txBox="1"/>
          <p:nvPr/>
        </p:nvSpPr>
        <p:spPr>
          <a:xfrm>
            <a:off x="6281928" y="1889760"/>
            <a:ext cx="1915119" cy="426720"/>
          </a:xfrm>
          <a:prstGeom prst="rect">
            <a:avLst/>
          </a:prstGeom>
        </p:spPr>
        <p:txBody>
          <a:bodyPr anchor="ctr"/>
          <a:lstStyle/>
          <a:p>
            <a:r>
              <a:rPr sz="950">
                <a:solidFill>
                  <a:srgbClr val="141B33"/>
                </a:solidFill>
                <a:latin typeface="Segoe UI"/>
              </a:rPr>
              <a:t>gpt-5.6-sol</a:t>
            </a:r>
          </a:p>
          <a:p>
            <a:endParaRPr sz="950">
              <a:solidFill>
                <a:srgbClr val="141B33"/>
              </a:solidFill>
              <a:latin typeface="Segoe UI"/>
            </a:endParaRPr>
          </a:p>
        </p:txBody>
      </p:sp>
      <p:sp>
        <p:nvSpPr>
          <p:cNvPr id="24" name="TextBox"/>
          <p:cNvSpPr txBox="1"/>
          <p:nvPr/>
        </p:nvSpPr>
        <p:spPr>
          <a:xfrm>
            <a:off x="8215335" y="1889760"/>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25" name="Shape"/>
          <p:cNvSpPr/>
          <p:nvPr/>
        </p:nvSpPr>
        <p:spPr>
          <a:xfrm>
            <a:off x="6272784" y="2308098"/>
            <a:ext cx="5370576" cy="245364"/>
          </a:xfrm>
          <a:prstGeom prst="rect">
            <a:avLst/>
          </a:prstGeom>
          <a:solidFill>
            <a:srgbClr val="FFFFFF"/>
          </a:solidFill>
          <a:ln w="9525">
            <a:solidFill>
              <a:srgbClr val="E1E7F4"/>
            </a:solidFill>
          </a:ln>
        </p:spPr>
        <p:txBody>
          <a:bodyPr/>
          <a:lstStyle/>
          <a:p>
            <a:endParaRPr/>
          </a:p>
        </p:txBody>
      </p:sp>
      <p:sp>
        <p:nvSpPr>
          <p:cNvPr id="26" name="TextBox"/>
          <p:cNvSpPr txBox="1"/>
          <p:nvPr/>
        </p:nvSpPr>
        <p:spPr>
          <a:xfrm>
            <a:off x="6281928" y="2135124"/>
            <a:ext cx="1915119" cy="426720"/>
          </a:xfrm>
          <a:prstGeom prst="rect">
            <a:avLst/>
          </a:prstGeom>
        </p:spPr>
        <p:txBody>
          <a:bodyPr anchor="ctr"/>
          <a:lstStyle/>
          <a:p>
            <a:r>
              <a:rPr sz="950">
                <a:solidFill>
                  <a:srgbClr val="141B33"/>
                </a:solidFill>
                <a:latin typeface="Segoe UI"/>
              </a:rPr>
              <a:t>gpt-5.5</a:t>
            </a:r>
          </a:p>
          <a:p>
            <a:endParaRPr sz="950">
              <a:solidFill>
                <a:srgbClr val="141B33"/>
              </a:solidFill>
              <a:latin typeface="Segoe UI"/>
            </a:endParaRPr>
          </a:p>
        </p:txBody>
      </p:sp>
      <p:sp>
        <p:nvSpPr>
          <p:cNvPr id="27" name="TextBox"/>
          <p:cNvSpPr txBox="1"/>
          <p:nvPr/>
        </p:nvSpPr>
        <p:spPr>
          <a:xfrm>
            <a:off x="8215335" y="2135124"/>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28" name="Shape"/>
          <p:cNvSpPr/>
          <p:nvPr/>
        </p:nvSpPr>
        <p:spPr>
          <a:xfrm>
            <a:off x="6272784" y="2553462"/>
            <a:ext cx="5370576" cy="245364"/>
          </a:xfrm>
          <a:prstGeom prst="rect">
            <a:avLst/>
          </a:prstGeom>
          <a:solidFill>
            <a:srgbClr val="F6F8FD"/>
          </a:solidFill>
          <a:ln w="9525">
            <a:solidFill>
              <a:srgbClr val="E1E7F4"/>
            </a:solidFill>
          </a:ln>
        </p:spPr>
        <p:txBody>
          <a:bodyPr/>
          <a:lstStyle/>
          <a:p>
            <a:endParaRPr/>
          </a:p>
        </p:txBody>
      </p:sp>
      <p:sp>
        <p:nvSpPr>
          <p:cNvPr id="29" name="TextBox"/>
          <p:cNvSpPr txBox="1"/>
          <p:nvPr/>
        </p:nvSpPr>
        <p:spPr>
          <a:xfrm>
            <a:off x="6281928" y="2380488"/>
            <a:ext cx="1915119" cy="426720"/>
          </a:xfrm>
          <a:prstGeom prst="rect">
            <a:avLst/>
          </a:prstGeom>
        </p:spPr>
        <p:txBody>
          <a:bodyPr anchor="ctr"/>
          <a:lstStyle/>
          <a:p>
            <a:r>
              <a:rPr sz="950">
                <a:solidFill>
                  <a:srgbClr val="141B33"/>
                </a:solidFill>
                <a:latin typeface="Segoe UI"/>
              </a:rPr>
              <a:t>gpt-5.4-mini</a:t>
            </a:r>
          </a:p>
          <a:p>
            <a:endParaRPr sz="950">
              <a:solidFill>
                <a:srgbClr val="141B33"/>
              </a:solidFill>
              <a:latin typeface="Segoe UI"/>
            </a:endParaRPr>
          </a:p>
        </p:txBody>
      </p:sp>
      <p:sp>
        <p:nvSpPr>
          <p:cNvPr id="30" name="TextBox"/>
          <p:cNvSpPr txBox="1"/>
          <p:nvPr/>
        </p:nvSpPr>
        <p:spPr>
          <a:xfrm>
            <a:off x="8215335" y="2380488"/>
            <a:ext cx="3418881" cy="426720"/>
          </a:xfrm>
          <a:prstGeom prst="rect">
            <a:avLst/>
          </a:prstGeom>
        </p:spPr>
        <p:txBody>
          <a:bodyPr anchor="ctr"/>
          <a:lstStyle/>
          <a:p>
            <a:r>
              <a:rPr sz="950">
                <a:solidFill>
                  <a:srgbClr val="141B33"/>
                </a:solidFill>
                <a:latin typeface="Segoe UI"/>
              </a:rPr>
              <a:t>above 100 TPS</a:t>
            </a:r>
          </a:p>
          <a:p>
            <a:endParaRPr sz="950">
              <a:solidFill>
                <a:srgbClr val="141B33"/>
              </a:solidFill>
              <a:latin typeface="Segoe UI"/>
            </a:endParaRPr>
          </a:p>
        </p:txBody>
      </p:sp>
      <p:sp>
        <p:nvSpPr>
          <p:cNvPr id="31" name="Shape"/>
          <p:cNvSpPr/>
          <p:nvPr/>
        </p:nvSpPr>
        <p:spPr>
          <a:xfrm>
            <a:off x="6272784" y="2798826"/>
            <a:ext cx="5370576" cy="245364"/>
          </a:xfrm>
          <a:prstGeom prst="rect">
            <a:avLst/>
          </a:prstGeom>
          <a:solidFill>
            <a:srgbClr val="FFFFFF"/>
          </a:solidFill>
          <a:ln w="9525">
            <a:solidFill>
              <a:srgbClr val="E1E7F4"/>
            </a:solidFill>
          </a:ln>
        </p:spPr>
        <p:txBody>
          <a:bodyPr/>
          <a:lstStyle/>
          <a:p>
            <a:endParaRPr/>
          </a:p>
        </p:txBody>
      </p:sp>
      <p:sp>
        <p:nvSpPr>
          <p:cNvPr id="32" name="TextBox"/>
          <p:cNvSpPr txBox="1"/>
          <p:nvPr/>
        </p:nvSpPr>
        <p:spPr>
          <a:xfrm>
            <a:off x="6281928" y="2625852"/>
            <a:ext cx="1915119" cy="426720"/>
          </a:xfrm>
          <a:prstGeom prst="rect">
            <a:avLst/>
          </a:prstGeom>
        </p:spPr>
        <p:txBody>
          <a:bodyPr anchor="ctr"/>
          <a:lstStyle/>
          <a:p>
            <a:r>
              <a:rPr sz="950">
                <a:solidFill>
                  <a:srgbClr val="141B33"/>
                </a:solidFill>
                <a:latin typeface="Segoe UI"/>
              </a:rPr>
              <a:t>gpt-5.4</a:t>
            </a:r>
          </a:p>
          <a:p>
            <a:endParaRPr sz="950">
              <a:solidFill>
                <a:srgbClr val="141B33"/>
              </a:solidFill>
              <a:latin typeface="Segoe UI"/>
            </a:endParaRPr>
          </a:p>
        </p:txBody>
      </p:sp>
      <p:sp>
        <p:nvSpPr>
          <p:cNvPr id="33" name="TextBox"/>
          <p:cNvSpPr txBox="1"/>
          <p:nvPr/>
        </p:nvSpPr>
        <p:spPr>
          <a:xfrm>
            <a:off x="8215335" y="2625852"/>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34" name="Shape"/>
          <p:cNvSpPr/>
          <p:nvPr/>
        </p:nvSpPr>
        <p:spPr>
          <a:xfrm>
            <a:off x="6272784" y="3044190"/>
            <a:ext cx="5370576" cy="245364"/>
          </a:xfrm>
          <a:prstGeom prst="rect">
            <a:avLst/>
          </a:prstGeom>
          <a:solidFill>
            <a:srgbClr val="F6F8FD"/>
          </a:solidFill>
          <a:ln w="9525">
            <a:solidFill>
              <a:srgbClr val="E1E7F4"/>
            </a:solidFill>
          </a:ln>
        </p:spPr>
        <p:txBody>
          <a:bodyPr/>
          <a:lstStyle/>
          <a:p>
            <a:endParaRPr/>
          </a:p>
        </p:txBody>
      </p:sp>
      <p:sp>
        <p:nvSpPr>
          <p:cNvPr id="35" name="TextBox"/>
          <p:cNvSpPr txBox="1"/>
          <p:nvPr/>
        </p:nvSpPr>
        <p:spPr>
          <a:xfrm>
            <a:off x="6281928" y="2871216"/>
            <a:ext cx="1915119" cy="426720"/>
          </a:xfrm>
          <a:prstGeom prst="rect">
            <a:avLst/>
          </a:prstGeom>
        </p:spPr>
        <p:txBody>
          <a:bodyPr anchor="ctr"/>
          <a:lstStyle/>
          <a:p>
            <a:r>
              <a:rPr sz="950">
                <a:solidFill>
                  <a:srgbClr val="141B33"/>
                </a:solidFill>
                <a:latin typeface="Segoe UI"/>
              </a:rPr>
              <a:t>gpt-5.2</a:t>
            </a:r>
          </a:p>
          <a:p>
            <a:endParaRPr sz="950">
              <a:solidFill>
                <a:srgbClr val="141B33"/>
              </a:solidFill>
              <a:latin typeface="Segoe UI"/>
            </a:endParaRPr>
          </a:p>
        </p:txBody>
      </p:sp>
      <p:sp>
        <p:nvSpPr>
          <p:cNvPr id="36" name="TextBox"/>
          <p:cNvSpPr txBox="1"/>
          <p:nvPr/>
        </p:nvSpPr>
        <p:spPr>
          <a:xfrm>
            <a:off x="8215335" y="2871216"/>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37" name="Shape"/>
          <p:cNvSpPr/>
          <p:nvPr/>
        </p:nvSpPr>
        <p:spPr>
          <a:xfrm>
            <a:off x="6272784" y="3289554"/>
            <a:ext cx="5370576" cy="245364"/>
          </a:xfrm>
          <a:prstGeom prst="rect">
            <a:avLst/>
          </a:prstGeom>
          <a:solidFill>
            <a:srgbClr val="FFFFFF"/>
          </a:solidFill>
          <a:ln w="9525">
            <a:solidFill>
              <a:srgbClr val="E1E7F4"/>
            </a:solidFill>
          </a:ln>
        </p:spPr>
        <p:txBody>
          <a:bodyPr/>
          <a:lstStyle/>
          <a:p>
            <a:endParaRPr/>
          </a:p>
        </p:txBody>
      </p:sp>
      <p:sp>
        <p:nvSpPr>
          <p:cNvPr id="38" name="TextBox"/>
          <p:cNvSpPr txBox="1"/>
          <p:nvPr/>
        </p:nvSpPr>
        <p:spPr>
          <a:xfrm>
            <a:off x="6281928" y="3116580"/>
            <a:ext cx="1915119" cy="426720"/>
          </a:xfrm>
          <a:prstGeom prst="rect">
            <a:avLst/>
          </a:prstGeom>
        </p:spPr>
        <p:txBody>
          <a:bodyPr anchor="ctr"/>
          <a:lstStyle/>
          <a:p>
            <a:r>
              <a:rPr sz="950">
                <a:solidFill>
                  <a:srgbClr val="141B33"/>
                </a:solidFill>
                <a:latin typeface="Segoe UI"/>
              </a:rPr>
              <a:t>gpt-5.1</a:t>
            </a:r>
          </a:p>
          <a:p>
            <a:endParaRPr sz="950">
              <a:solidFill>
                <a:srgbClr val="141B33"/>
              </a:solidFill>
              <a:latin typeface="Segoe UI"/>
            </a:endParaRPr>
          </a:p>
        </p:txBody>
      </p:sp>
      <p:sp>
        <p:nvSpPr>
          <p:cNvPr id="39" name="TextBox"/>
          <p:cNvSpPr txBox="1"/>
          <p:nvPr/>
        </p:nvSpPr>
        <p:spPr>
          <a:xfrm>
            <a:off x="8215335" y="3116580"/>
            <a:ext cx="3418881" cy="426720"/>
          </a:xfrm>
          <a:prstGeom prst="rect">
            <a:avLst/>
          </a:prstGeom>
        </p:spPr>
        <p:txBody>
          <a:bodyPr anchor="ctr"/>
          <a:lstStyle/>
          <a:p>
            <a:r>
              <a:rPr sz="950">
                <a:solidFill>
                  <a:srgbClr val="141B33"/>
                </a:solidFill>
                <a:latin typeface="Segoe UI"/>
              </a:rPr>
              <a:t>above 50 TPS</a:t>
            </a:r>
          </a:p>
          <a:p>
            <a:endParaRPr sz="950">
              <a:solidFill>
                <a:srgbClr val="141B33"/>
              </a:solidFill>
              <a:latin typeface="Segoe UI"/>
            </a:endParaRPr>
          </a:p>
        </p:txBody>
      </p:sp>
      <p:sp>
        <p:nvSpPr>
          <p:cNvPr id="40" name="Shape"/>
          <p:cNvSpPr/>
          <p:nvPr/>
        </p:nvSpPr>
        <p:spPr>
          <a:xfrm>
            <a:off x="6272784" y="3534918"/>
            <a:ext cx="5370576" cy="245364"/>
          </a:xfrm>
          <a:prstGeom prst="rect">
            <a:avLst/>
          </a:prstGeom>
          <a:solidFill>
            <a:srgbClr val="F6F8FD"/>
          </a:solidFill>
          <a:ln w="9525">
            <a:solidFill>
              <a:srgbClr val="E1E7F4"/>
            </a:solidFill>
          </a:ln>
        </p:spPr>
        <p:txBody>
          <a:bodyPr/>
          <a:lstStyle/>
          <a:p>
            <a:endParaRPr/>
          </a:p>
        </p:txBody>
      </p:sp>
      <p:sp>
        <p:nvSpPr>
          <p:cNvPr id="41" name="TextBox"/>
          <p:cNvSpPr txBox="1"/>
          <p:nvPr/>
        </p:nvSpPr>
        <p:spPr>
          <a:xfrm>
            <a:off x="6281928" y="3361944"/>
            <a:ext cx="1915119" cy="426720"/>
          </a:xfrm>
          <a:prstGeom prst="rect">
            <a:avLst/>
          </a:prstGeom>
        </p:spPr>
        <p:txBody>
          <a:bodyPr anchor="ctr"/>
          <a:lstStyle/>
          <a:p>
            <a:r>
              <a:rPr sz="950">
                <a:solidFill>
                  <a:srgbClr val="141B33"/>
                </a:solidFill>
                <a:latin typeface="Segoe UI"/>
              </a:rPr>
              <a:t>gpt-4.1</a:t>
            </a:r>
          </a:p>
          <a:p>
            <a:endParaRPr sz="950">
              <a:solidFill>
                <a:srgbClr val="141B33"/>
              </a:solidFill>
              <a:latin typeface="Segoe UI"/>
            </a:endParaRPr>
          </a:p>
        </p:txBody>
      </p:sp>
      <p:sp>
        <p:nvSpPr>
          <p:cNvPr id="42" name="TextBox"/>
          <p:cNvSpPr txBox="1"/>
          <p:nvPr/>
        </p:nvSpPr>
        <p:spPr>
          <a:xfrm>
            <a:off x="8215335" y="3361944"/>
            <a:ext cx="3418881" cy="426720"/>
          </a:xfrm>
          <a:prstGeom prst="rect">
            <a:avLst/>
          </a:prstGeom>
        </p:spPr>
        <p:txBody>
          <a:bodyPr anchor="ctr"/>
          <a:lstStyle/>
          <a:p>
            <a:r>
              <a:rPr sz="950">
                <a:solidFill>
                  <a:srgbClr val="141B33"/>
                </a:solidFill>
                <a:latin typeface="Segoe UI"/>
              </a:rPr>
              <a:t>above 80 TPS</a:t>
            </a:r>
          </a:p>
          <a:p>
            <a:endParaRPr sz="950">
              <a:solidFill>
                <a:srgbClr val="141B33"/>
              </a:solidFill>
              <a:latin typeface="Segoe UI"/>
            </a:endParaRPr>
          </a:p>
        </p:txBody>
      </p:sp>
      <p:sp>
        <p:nvSpPr>
          <p:cNvPr id="43" name="Shape"/>
          <p:cNvSpPr/>
          <p:nvPr/>
        </p:nvSpPr>
        <p:spPr>
          <a:xfrm>
            <a:off x="6272784" y="3808476"/>
            <a:ext cx="2602992" cy="1184148"/>
          </a:xfrm>
          <a:prstGeom prst="rect">
            <a:avLst/>
          </a:prstGeom>
          <a:solidFill>
            <a:srgbClr val="F6F8FD"/>
          </a:solidFill>
          <a:ln w="9525">
            <a:solidFill>
              <a:srgbClr val="E1E7F4"/>
            </a:solidFill>
          </a:ln>
        </p:spPr>
        <p:txBody>
          <a:bodyPr/>
          <a:lstStyle/>
          <a:p>
            <a:endParaRPr/>
          </a:p>
        </p:txBody>
      </p:sp>
      <p:sp>
        <p:nvSpPr>
          <p:cNvPr id="44" name="Shape"/>
          <p:cNvSpPr/>
          <p:nvPr/>
        </p:nvSpPr>
        <p:spPr>
          <a:xfrm>
            <a:off x="6272784" y="3808476"/>
            <a:ext cx="2602992" cy="38405"/>
          </a:xfrm>
          <a:prstGeom prst="rect">
            <a:avLst/>
          </a:prstGeom>
          <a:solidFill>
            <a:srgbClr val="101A3C"/>
          </a:solidFill>
        </p:spPr>
        <p:txBody>
          <a:bodyPr/>
          <a:lstStyle/>
          <a:p>
            <a:endParaRPr/>
          </a:p>
        </p:txBody>
      </p:sp>
      <p:sp>
        <p:nvSpPr>
          <p:cNvPr id="45" name="TextBox"/>
          <p:cNvSpPr txBox="1"/>
          <p:nvPr/>
        </p:nvSpPr>
        <p:spPr>
          <a:xfrm>
            <a:off x="6327648" y="3931920"/>
            <a:ext cx="2493264" cy="457200"/>
          </a:xfrm>
          <a:prstGeom prst="rect">
            <a:avLst/>
          </a:prstGeom>
        </p:spPr>
        <p:txBody>
          <a:bodyPr anchor="ctr"/>
          <a:lstStyle/>
          <a:p>
            <a:r>
              <a:rPr sz="1050" b="1">
                <a:solidFill>
                  <a:srgbClr val="101A3C"/>
                </a:solidFill>
                <a:latin typeface="Segoe UI"/>
              </a:rPr>
              <a:t>Enable it</a:t>
            </a:r>
          </a:p>
          <a:p>
            <a:endParaRPr sz="1050" b="1">
              <a:solidFill>
                <a:srgbClr val="101A3C"/>
              </a:solidFill>
              <a:latin typeface="Segoe UI"/>
            </a:endParaRPr>
          </a:p>
        </p:txBody>
      </p:sp>
      <p:sp>
        <p:nvSpPr>
          <p:cNvPr id="46" name="TextBox"/>
          <p:cNvSpPr txBox="1"/>
          <p:nvPr/>
        </p:nvSpPr>
        <p:spPr>
          <a:xfrm>
            <a:off x="6327648" y="4229100"/>
            <a:ext cx="2493264" cy="685800"/>
          </a:xfrm>
          <a:prstGeom prst="rect">
            <a:avLst/>
          </a:prstGeom>
        </p:spPr>
        <p:txBody>
          <a:bodyPr anchor="ctr"/>
          <a:lstStyle/>
          <a:p>
            <a:r>
              <a:rPr sz="900">
                <a:solidFill>
                  <a:srgbClr val="141B33"/>
                </a:solidFill>
                <a:latin typeface="Segoe UI"/>
              </a:rPr>
              <a:t>At the deployment, or per</a:t>
            </a:r>
          </a:p>
          <a:p>
            <a:r>
              <a:rPr sz="900">
                <a:solidFill>
                  <a:srgbClr val="141B33"/>
                </a:solidFill>
                <a:latin typeface="Segoe UI"/>
              </a:rPr>
              <a:t>request with service_tier.</a:t>
            </a:r>
          </a:p>
          <a:p>
            <a:r>
              <a:rPr sz="900">
                <a:solidFill>
                  <a:srgbClr val="141B33"/>
                </a:solidFill>
                <a:latin typeface="Segoe UI"/>
              </a:rPr>
              <a:t>Not on regional standard</a:t>
            </a:r>
          </a:p>
          <a:p>
            <a:r>
              <a:rPr sz="900">
                <a:solidFill>
                  <a:srgbClr val="141B33"/>
                </a:solidFill>
                <a:latin typeface="Segoe UI"/>
              </a:rPr>
              <a:t>and not on the EU data zone.</a:t>
            </a:r>
          </a:p>
        </p:txBody>
      </p:sp>
      <p:sp>
        <p:nvSpPr>
          <p:cNvPr id="47" name="Shape"/>
          <p:cNvSpPr/>
          <p:nvPr/>
        </p:nvSpPr>
        <p:spPr>
          <a:xfrm>
            <a:off x="9040368" y="3808476"/>
            <a:ext cx="2602992" cy="1184148"/>
          </a:xfrm>
          <a:prstGeom prst="rect">
            <a:avLst/>
          </a:prstGeom>
          <a:solidFill>
            <a:srgbClr val="F6F8FD"/>
          </a:solidFill>
          <a:ln w="9525">
            <a:solidFill>
              <a:srgbClr val="E1E7F4"/>
            </a:solidFill>
          </a:ln>
        </p:spPr>
        <p:txBody>
          <a:bodyPr/>
          <a:lstStyle/>
          <a:p>
            <a:endParaRPr/>
          </a:p>
        </p:txBody>
      </p:sp>
      <p:sp>
        <p:nvSpPr>
          <p:cNvPr id="48" name="Shape"/>
          <p:cNvSpPr/>
          <p:nvPr/>
        </p:nvSpPr>
        <p:spPr>
          <a:xfrm>
            <a:off x="9040368" y="3808476"/>
            <a:ext cx="2602992" cy="38405"/>
          </a:xfrm>
          <a:prstGeom prst="rect">
            <a:avLst/>
          </a:prstGeom>
          <a:solidFill>
            <a:srgbClr val="101A3C"/>
          </a:solidFill>
        </p:spPr>
        <p:txBody>
          <a:bodyPr/>
          <a:lstStyle/>
          <a:p>
            <a:endParaRPr/>
          </a:p>
        </p:txBody>
      </p:sp>
      <p:sp>
        <p:nvSpPr>
          <p:cNvPr id="49" name="TextBox"/>
          <p:cNvSpPr txBox="1"/>
          <p:nvPr/>
        </p:nvSpPr>
        <p:spPr>
          <a:xfrm>
            <a:off x="9095232" y="3931920"/>
            <a:ext cx="2493264" cy="457200"/>
          </a:xfrm>
          <a:prstGeom prst="rect">
            <a:avLst/>
          </a:prstGeom>
        </p:spPr>
        <p:txBody>
          <a:bodyPr anchor="ctr"/>
          <a:lstStyle/>
          <a:p>
            <a:r>
              <a:rPr sz="1050" b="1">
                <a:solidFill>
                  <a:srgbClr val="101A3C"/>
                </a:solidFill>
                <a:latin typeface="Segoe UI"/>
              </a:rPr>
              <a:t>Watch it</a:t>
            </a:r>
          </a:p>
          <a:p>
            <a:endParaRPr sz="1050" b="1">
              <a:solidFill>
                <a:srgbClr val="101A3C"/>
              </a:solidFill>
              <a:latin typeface="Segoe UI"/>
            </a:endParaRPr>
          </a:p>
        </p:txBody>
      </p:sp>
      <p:sp>
        <p:nvSpPr>
          <p:cNvPr id="50" name="TextBox"/>
          <p:cNvSpPr txBox="1"/>
          <p:nvPr/>
        </p:nvSpPr>
        <p:spPr>
          <a:xfrm>
            <a:off x="9095232" y="4229100"/>
            <a:ext cx="2493264" cy="685800"/>
          </a:xfrm>
          <a:prstGeom prst="rect">
            <a:avLst/>
          </a:prstGeom>
        </p:spPr>
        <p:txBody>
          <a:bodyPr anchor="ctr"/>
          <a:lstStyle/>
          <a:p>
            <a:r>
              <a:rPr sz="900">
                <a:solidFill>
                  <a:srgbClr val="141B33"/>
                </a:solidFill>
                <a:latin typeface="Segoe UI"/>
              </a:rPr>
              <a:t>Azure Monitor metric</a:t>
            </a:r>
          </a:p>
          <a:p>
            <a:r>
              <a:rPr sz="900">
                <a:solidFill>
                  <a:srgbClr val="141B33"/>
                </a:solidFill>
                <a:latin typeface="Segoe UI"/>
              </a:rPr>
              <a:t>“Azure OpenAI requests”,</a:t>
            </a:r>
          </a:p>
          <a:p>
            <a:r>
              <a:rPr sz="900">
                <a:solidFill>
                  <a:srgbClr val="141B33"/>
                </a:solidFill>
                <a:latin typeface="Segoe UI"/>
              </a:rPr>
              <a:t>split by ServiceTierRequest</a:t>
            </a:r>
          </a:p>
          <a:p>
            <a:r>
              <a:rPr sz="900">
                <a:solidFill>
                  <a:srgbClr val="141B33"/>
                </a:solidFill>
                <a:latin typeface="Segoe UI"/>
              </a:rPr>
              <a:t>and ServiceTierResponse.</a:t>
            </a:r>
          </a:p>
        </p:txBody>
      </p:sp>
      <p:sp>
        <p:nvSpPr>
          <p:cNvPr id="53" name="Shape"/>
          <p:cNvSpPr/>
          <p:nvPr/>
        </p:nvSpPr>
        <p:spPr>
          <a:xfrm>
            <a:off x="548640" y="5687568"/>
            <a:ext cx="11094720" cy="9525"/>
          </a:xfrm>
          <a:prstGeom prst="rect">
            <a:avLst/>
          </a:prstGeom>
          <a:solidFill>
            <a:srgbClr val="E1E7F4"/>
          </a:solidFill>
        </p:spPr>
        <p:txBody>
          <a:bodyPr/>
          <a:lstStyle/>
          <a:p>
            <a:endParaRPr/>
          </a:p>
        </p:txBody>
      </p:sp>
      <p:sp>
        <p:nvSpPr>
          <p:cNvPr id="54"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learn.microsoft.com/azure/foundry/openai/concepts/priority-processing · how-to/flex-processing</a:t>
            </a:r>
          </a:p>
          <a:p>
            <a:endParaRPr sz="900">
              <a:solidFill>
                <a:srgbClr val="44495B"/>
              </a:solidFill>
              <a:latin typeface="Segoe UI"/>
            </a:endParaRPr>
          </a:p>
        </p:txBody>
      </p:sp>
      <p:sp>
        <p:nvSpPr>
          <p:cNvPr id="55"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9</a:t>
            </a:r>
          </a:p>
        </p:txBody>
      </p:sp>
      <p:sp>
        <p:nvSpPr>
          <p:cNvPr id="56" name="Rectangle 55"/>
          <p:cNvSpPr/>
          <p:nvPr/>
        </p:nvSpPr>
        <p:spPr>
          <a:xfrm>
            <a:off x="548640" y="5047488"/>
            <a:ext cx="11091672" cy="475488"/>
          </a:xfrm>
          <a:prstGeom prst="rect">
            <a:avLst/>
          </a:prstGeom>
          <a:solidFill>
            <a:srgbClr val="F6F8FD"/>
          </a:solidFill>
          <a:ln w="9525">
            <a:solidFill>
              <a:srgbClr val="E1E7F4"/>
            </a:solidFill>
          </a:ln>
          <a:effectLst/>
        </p:spPr>
        <p:txBody>
          <a:bodyPr wrap="square" rtlCol="0" anchor="ctr"/>
          <a:lstStyle/>
          <a:p>
            <a:endParaRPr/>
          </a:p>
        </p:txBody>
      </p:sp>
      <p:sp>
        <p:nvSpPr>
          <p:cNvPr id="57" name="Rectangle 56"/>
          <p:cNvSpPr/>
          <p:nvPr/>
        </p:nvSpPr>
        <p:spPr>
          <a:xfrm>
            <a:off x="548640" y="5047488"/>
            <a:ext cx="45720" cy="475488"/>
          </a:xfrm>
          <a:prstGeom prst="rect">
            <a:avLst/>
          </a:prstGeom>
          <a:solidFill>
            <a:srgbClr val="00B39F"/>
          </a:solidFill>
          <a:ln>
            <a:noFill/>
          </a:ln>
          <a:effectLst/>
        </p:spPr>
        <p:txBody>
          <a:bodyPr wrap="square" rtlCol="0" anchor="ctr"/>
          <a:lstStyle/>
          <a:p>
            <a:endParaRPr/>
          </a:p>
        </p:txBody>
      </p:sp>
      <p:sp>
        <p:nvSpPr>
          <p:cNvPr id="58" name="TextBox 57"/>
          <p:cNvSpPr txBox="1"/>
          <p:nvPr/>
        </p:nvSpPr>
        <p:spPr>
          <a:xfrm>
            <a:off x="713232" y="5120640"/>
            <a:ext cx="1600200" cy="164592"/>
          </a:xfrm>
          <a:prstGeom prst="rect">
            <a:avLst/>
          </a:prstGeom>
          <a:noFill/>
        </p:spPr>
        <p:txBody>
          <a:bodyPr wrap="square" lIns="0" tIns="0" rIns="0" bIns="0" anchor="t">
            <a:spAutoFit/>
          </a:bodyPr>
          <a:lstStyle/>
          <a:p>
            <a:pPr algn="l">
              <a:lnSpc>
                <a:spcPct val="100000"/>
              </a:lnSpc>
            </a:pPr>
            <a:r>
              <a:rPr sz="1000" b="1" i="0" dirty="0">
                <a:solidFill>
                  <a:srgbClr val="101A3C"/>
                </a:solidFill>
                <a:latin typeface="Segoe UI"/>
                <a:cs typeface="Segoe UI"/>
              </a:rPr>
              <a:t>Flex processing*</a:t>
            </a:r>
          </a:p>
        </p:txBody>
      </p:sp>
      <p:sp>
        <p:nvSpPr>
          <p:cNvPr id="59" name="TextBox 58"/>
          <p:cNvSpPr txBox="1"/>
          <p:nvPr/>
        </p:nvSpPr>
        <p:spPr>
          <a:xfrm>
            <a:off x="713232" y="5312664"/>
            <a:ext cx="1600200" cy="164592"/>
          </a:xfrm>
          <a:prstGeom prst="rect">
            <a:avLst/>
          </a:prstGeom>
          <a:noFill/>
        </p:spPr>
        <p:txBody>
          <a:bodyPr wrap="square" lIns="0" tIns="0" rIns="0" bIns="0" anchor="t">
            <a:spAutoFit/>
          </a:bodyPr>
          <a:lstStyle/>
          <a:p>
            <a:pPr algn="l">
              <a:lnSpc>
                <a:spcPct val="100000"/>
              </a:lnSpc>
            </a:pPr>
            <a:r>
              <a:rPr sz="750" b="0" i="0" dirty="0">
                <a:solidFill>
                  <a:srgbClr val="44495B"/>
                </a:solidFill>
                <a:latin typeface="Segoe UI"/>
                <a:cs typeface="Segoe UI"/>
              </a:rPr>
              <a:t>lower price, variable latency</a:t>
            </a:r>
          </a:p>
        </p:txBody>
      </p:sp>
      <p:cxnSp>
        <p:nvCxnSpPr>
          <p:cNvPr id="60" name="Connector 59"/>
          <p:cNvCxnSpPr/>
          <p:nvPr/>
        </p:nvCxnSpPr>
        <p:spPr>
          <a:xfrm>
            <a:off x="2322576" y="5129783"/>
            <a:ext cx="0" cy="310896"/>
          </a:xfrm>
          <a:prstGeom prst="line">
            <a:avLst/>
          </a:prstGeom>
          <a:ln w="9525">
            <a:solidFill>
              <a:srgbClr val="E1E7F4"/>
            </a:solidFill>
          </a:ln>
        </p:spPr>
      </p:cxnSp>
      <p:sp>
        <p:nvSpPr>
          <p:cNvPr id="61" name="TextBox 60"/>
          <p:cNvSpPr txBox="1"/>
          <p:nvPr/>
        </p:nvSpPr>
        <p:spPr>
          <a:xfrm>
            <a:off x="2395728" y="5102351"/>
            <a:ext cx="2137410" cy="146304"/>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Selected per request</a:t>
            </a:r>
          </a:p>
        </p:txBody>
      </p:sp>
      <p:sp>
        <p:nvSpPr>
          <p:cNvPr id="62" name="TextBox 61"/>
          <p:cNvSpPr txBox="1"/>
          <p:nvPr/>
        </p:nvSpPr>
        <p:spPr>
          <a:xfrm>
            <a:off x="2395728" y="5248655"/>
            <a:ext cx="2137410" cy="256032"/>
          </a:xfrm>
          <a:prstGeom prst="rect">
            <a:avLst/>
          </a:prstGeom>
          <a:noFill/>
        </p:spPr>
        <p:txBody>
          <a:bodyPr wrap="square" lIns="0" tIns="0" rIns="0" bIns="0" anchor="t">
            <a:spAutoFit/>
          </a:bodyPr>
          <a:lstStyle/>
          <a:p>
            <a:pPr algn="l">
              <a:lnSpc>
                <a:spcPct val="105000"/>
              </a:lnSpc>
            </a:pPr>
            <a:r>
              <a:rPr sz="750" b="0" i="0" dirty="0">
                <a:solidFill>
                  <a:srgbClr val="44495B"/>
                </a:solidFill>
                <a:latin typeface="Segoe UI"/>
                <a:cs typeface="Segoe UI"/>
              </a:rPr>
              <a:t>service_tier = flex; same Global Standard deployment; not the Batch API</a:t>
            </a:r>
          </a:p>
        </p:txBody>
      </p:sp>
      <p:cxnSp>
        <p:nvCxnSpPr>
          <p:cNvPr id="63" name="Connector 62"/>
          <p:cNvCxnSpPr/>
          <p:nvPr/>
        </p:nvCxnSpPr>
        <p:spPr>
          <a:xfrm>
            <a:off x="4606290" y="5129783"/>
            <a:ext cx="0" cy="310896"/>
          </a:xfrm>
          <a:prstGeom prst="line">
            <a:avLst/>
          </a:prstGeom>
          <a:ln w="9525">
            <a:solidFill>
              <a:srgbClr val="E1E7F4"/>
            </a:solidFill>
          </a:ln>
        </p:spPr>
      </p:cxnSp>
      <p:sp>
        <p:nvSpPr>
          <p:cNvPr id="64" name="TextBox 63"/>
          <p:cNvSpPr txBox="1"/>
          <p:nvPr/>
        </p:nvSpPr>
        <p:spPr>
          <a:xfrm>
            <a:off x="4679442" y="5102351"/>
            <a:ext cx="2137410" cy="146304"/>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Price and service level</a:t>
            </a:r>
          </a:p>
        </p:txBody>
      </p:sp>
      <p:sp>
        <p:nvSpPr>
          <p:cNvPr id="65" name="TextBox 64"/>
          <p:cNvSpPr txBox="1"/>
          <p:nvPr/>
        </p:nvSpPr>
        <p:spPr>
          <a:xfrm>
            <a:off x="4679442" y="5248655"/>
            <a:ext cx="2137410" cy="256032"/>
          </a:xfrm>
          <a:prstGeom prst="rect">
            <a:avLst/>
          </a:prstGeom>
          <a:noFill/>
        </p:spPr>
        <p:txBody>
          <a:bodyPr wrap="square" lIns="0" tIns="0" rIns="0" bIns="0" anchor="t">
            <a:spAutoFit/>
          </a:bodyPr>
          <a:lstStyle/>
          <a:p>
            <a:pPr algn="l">
              <a:lnSpc>
                <a:spcPct val="105000"/>
              </a:lnSpc>
            </a:pPr>
            <a:r>
              <a:rPr sz="750" b="0" i="0" dirty="0">
                <a:solidFill>
                  <a:srgbClr val="44495B"/>
                </a:solidFill>
                <a:latin typeface="Segoe UI"/>
                <a:cs typeface="Segoe UI"/>
              </a:rPr>
              <a:t>half the Standard token rate; same model output; no latency or service SLA</a:t>
            </a:r>
          </a:p>
        </p:txBody>
      </p:sp>
      <p:cxnSp>
        <p:nvCxnSpPr>
          <p:cNvPr id="66" name="Connector 65"/>
          <p:cNvCxnSpPr/>
          <p:nvPr/>
        </p:nvCxnSpPr>
        <p:spPr>
          <a:xfrm>
            <a:off x="6890004" y="5129783"/>
            <a:ext cx="0" cy="310896"/>
          </a:xfrm>
          <a:prstGeom prst="line">
            <a:avLst/>
          </a:prstGeom>
          <a:ln w="9525">
            <a:solidFill>
              <a:srgbClr val="E1E7F4"/>
            </a:solidFill>
          </a:ln>
        </p:spPr>
      </p:cxnSp>
      <p:sp>
        <p:nvSpPr>
          <p:cNvPr id="67" name="TextBox 66"/>
          <p:cNvSpPr txBox="1"/>
          <p:nvPr/>
        </p:nvSpPr>
        <p:spPr>
          <a:xfrm>
            <a:off x="6963156" y="5102351"/>
            <a:ext cx="2137410" cy="146304"/>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When capacity is short</a:t>
            </a:r>
          </a:p>
        </p:txBody>
      </p:sp>
      <p:sp>
        <p:nvSpPr>
          <p:cNvPr id="68" name="TextBox 67"/>
          <p:cNvSpPr txBox="1"/>
          <p:nvPr/>
        </p:nvSpPr>
        <p:spPr>
          <a:xfrm>
            <a:off x="6963156" y="5248655"/>
            <a:ext cx="2137410" cy="256032"/>
          </a:xfrm>
          <a:prstGeom prst="rect">
            <a:avLst/>
          </a:prstGeom>
          <a:noFill/>
        </p:spPr>
        <p:txBody>
          <a:bodyPr wrap="square" lIns="0" tIns="0" rIns="0" bIns="0" anchor="t">
            <a:spAutoFit/>
          </a:bodyPr>
          <a:lstStyle/>
          <a:p>
            <a:pPr algn="l">
              <a:lnSpc>
                <a:spcPct val="105000"/>
              </a:lnSpc>
            </a:pPr>
            <a:r>
              <a:rPr sz="750" b="0" i="0" dirty="0">
                <a:solidFill>
                  <a:srgbClr val="44495B"/>
                </a:solidFill>
                <a:latin typeface="Segoe UI"/>
                <a:cs typeface="Segoe UI"/>
              </a:rPr>
              <a:t>HTTP 429 and no automatic fallback; retry with service_tier = default</a:t>
            </a:r>
          </a:p>
        </p:txBody>
      </p:sp>
      <p:cxnSp>
        <p:nvCxnSpPr>
          <p:cNvPr id="69" name="Connector 68"/>
          <p:cNvCxnSpPr/>
          <p:nvPr/>
        </p:nvCxnSpPr>
        <p:spPr>
          <a:xfrm>
            <a:off x="9173718" y="5129783"/>
            <a:ext cx="0" cy="310896"/>
          </a:xfrm>
          <a:prstGeom prst="line">
            <a:avLst/>
          </a:prstGeom>
          <a:ln w="9525">
            <a:solidFill>
              <a:srgbClr val="E1E7F4"/>
            </a:solidFill>
          </a:ln>
        </p:spPr>
      </p:cxnSp>
      <p:sp>
        <p:nvSpPr>
          <p:cNvPr id="70" name="TextBox 69"/>
          <p:cNvSpPr txBox="1"/>
          <p:nvPr/>
        </p:nvSpPr>
        <p:spPr>
          <a:xfrm>
            <a:off x="9246870" y="5102351"/>
            <a:ext cx="2137410" cy="146304"/>
          </a:xfrm>
          <a:prstGeom prst="rect">
            <a:avLst/>
          </a:prstGeom>
          <a:noFill/>
        </p:spPr>
        <p:txBody>
          <a:bodyPr wrap="square" lIns="0" tIns="0" rIns="0" bIns="0" anchor="t">
            <a:spAutoFit/>
          </a:bodyPr>
          <a:lstStyle/>
          <a:p>
            <a:pPr algn="l">
              <a:lnSpc>
                <a:spcPct val="100000"/>
              </a:lnSpc>
            </a:pPr>
            <a:r>
              <a:rPr sz="800" b="1" i="0" dirty="0">
                <a:solidFill>
                  <a:srgbClr val="101A3C"/>
                </a:solidFill>
                <a:latin typeface="Segoe UI"/>
                <a:cs typeface="Segoe UI"/>
              </a:rPr>
              <a:t>Supported models</a:t>
            </a:r>
          </a:p>
        </p:txBody>
      </p:sp>
      <p:sp>
        <p:nvSpPr>
          <p:cNvPr id="71" name="TextBox 70"/>
          <p:cNvSpPr txBox="1"/>
          <p:nvPr/>
        </p:nvSpPr>
        <p:spPr>
          <a:xfrm>
            <a:off x="9246870" y="5248655"/>
            <a:ext cx="2137410" cy="256032"/>
          </a:xfrm>
          <a:prstGeom prst="rect">
            <a:avLst/>
          </a:prstGeom>
          <a:noFill/>
        </p:spPr>
        <p:txBody>
          <a:bodyPr wrap="square" lIns="0" tIns="0" rIns="0" bIns="0" anchor="t">
            <a:spAutoFit/>
          </a:bodyPr>
          <a:lstStyle/>
          <a:p>
            <a:pPr algn="l">
              <a:lnSpc>
                <a:spcPct val="105000"/>
              </a:lnSpc>
            </a:pPr>
            <a:r>
              <a:rPr sz="750" b="0" i="0" dirty="0">
                <a:solidFill>
                  <a:srgbClr val="44495B"/>
                </a:solidFill>
                <a:latin typeface="Segoe UI"/>
                <a:cs typeface="Segoe UI"/>
              </a:rPr>
              <a:t>gpt-6.1-sol, GPT-6 and GPT-5.6 families; others return HTTP 400</a:t>
            </a:r>
          </a:p>
        </p:txBody>
      </p:sp>
      <p:sp>
        <p:nvSpPr>
          <p:cNvPr id="72" name="TextBox 71"/>
          <p:cNvSpPr txBox="1"/>
          <p:nvPr/>
        </p:nvSpPr>
        <p:spPr>
          <a:xfrm>
            <a:off x="7863840" y="5541264"/>
            <a:ext cx="3870655" cy="128016"/>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Model Router</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trained router model deployed like any other model; it picks an eligible underlying model per prompt.</a:t>
            </a:r>
          </a:p>
          <a:p>
            <a:endParaRPr sz="1200">
              <a:solidFill>
                <a:srgbClr val="44495B"/>
              </a:solidFill>
              <a:latin typeface="Segoe UI"/>
            </a:endParaRPr>
          </a:p>
        </p:txBody>
      </p:sp>
      <p:sp>
        <p:nvSpPr>
          <p:cNvPr id="5" name="Shape"/>
          <p:cNvSpPr/>
          <p:nvPr/>
        </p:nvSpPr>
        <p:spPr>
          <a:xfrm>
            <a:off x="548640" y="1417320"/>
            <a:ext cx="141732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Incoming prompt</a:t>
            </a:r>
          </a:p>
          <a:p>
            <a:pPr algn="ctr"/>
            <a:r>
              <a:rPr sz="900">
                <a:solidFill>
                  <a:srgbClr val="141B33"/>
                </a:solidFill>
                <a:latin typeface="Segoe UI"/>
              </a:rPr>
              <a:t>text-only routing</a:t>
            </a:r>
          </a:p>
        </p:txBody>
      </p:sp>
      <p:sp>
        <p:nvSpPr>
          <p:cNvPr id="6" name="Shape"/>
          <p:cNvSpPr/>
          <p:nvPr/>
        </p:nvSpPr>
        <p:spPr>
          <a:xfrm>
            <a:off x="2020824" y="1527048"/>
            <a:ext cx="201168" cy="201168"/>
          </a:xfrm>
          <a:prstGeom prst="rightArrow">
            <a:avLst/>
          </a:prstGeom>
          <a:solidFill>
            <a:srgbClr val="00B39F"/>
          </a:solidFill>
        </p:spPr>
        <p:txBody>
          <a:bodyPr/>
          <a:lstStyle/>
          <a:p>
            <a:endParaRPr/>
          </a:p>
        </p:txBody>
      </p:sp>
      <p:sp>
        <p:nvSpPr>
          <p:cNvPr id="7" name="Shape"/>
          <p:cNvSpPr/>
          <p:nvPr/>
        </p:nvSpPr>
        <p:spPr>
          <a:xfrm>
            <a:off x="2276856" y="1417320"/>
            <a:ext cx="4306824" cy="420624"/>
          </a:xfrm>
          <a:prstGeom prst="rect">
            <a:avLst/>
          </a:prstGeom>
          <a:solidFill>
            <a:srgbClr val="101A3C"/>
          </a:solidFill>
        </p:spPr>
        <p:txBody>
          <a:bodyPr anchor="ctr"/>
          <a:lstStyle/>
          <a:p>
            <a:pPr algn="ctr"/>
            <a:r>
              <a:rPr sz="900">
                <a:solidFill>
                  <a:srgbClr val="FFFFFF"/>
                </a:solidFill>
                <a:latin typeface="Segoe UI"/>
              </a:rPr>
              <a:t>Model Router deployment</a:t>
            </a:r>
          </a:p>
          <a:p>
            <a:pPr algn="ctr"/>
            <a:r>
              <a:rPr sz="900">
                <a:solidFill>
                  <a:srgbClr val="FFFFFF"/>
                </a:solidFill>
                <a:latin typeface="Segoe UI"/>
              </a:rPr>
              <a:t>version 2025-11-18, active and updated in place</a:t>
            </a:r>
          </a:p>
        </p:txBody>
      </p:sp>
      <p:sp>
        <p:nvSpPr>
          <p:cNvPr id="8" name="Shape"/>
          <p:cNvSpPr/>
          <p:nvPr/>
        </p:nvSpPr>
        <p:spPr>
          <a:xfrm>
            <a:off x="548640" y="2057400"/>
            <a:ext cx="1938528" cy="420624"/>
          </a:xfrm>
          <a:prstGeom prst="rect">
            <a:avLst/>
          </a:prstGeom>
          <a:solidFill>
            <a:srgbClr val="00B39F"/>
          </a:solidFill>
        </p:spPr>
        <p:txBody>
          <a:bodyPr anchor="ctr"/>
          <a:lstStyle/>
          <a:p>
            <a:pPr algn="ctr"/>
            <a:r>
              <a:rPr sz="900">
                <a:solidFill>
                  <a:srgbClr val="0B1229"/>
                </a:solidFill>
                <a:latin typeface="Segoe UI"/>
              </a:rPr>
              <a:t>Balanced — default</a:t>
            </a:r>
          </a:p>
          <a:p>
            <a:pPr algn="ctr"/>
            <a:r>
              <a:rPr sz="900">
                <a:solidFill>
                  <a:srgbClr val="0B1229"/>
                </a:solidFill>
                <a:latin typeface="Segoe UI"/>
              </a:rPr>
              <a:t>quality band about 1-2%</a:t>
            </a:r>
          </a:p>
        </p:txBody>
      </p:sp>
      <p:sp>
        <p:nvSpPr>
          <p:cNvPr id="9" name="Shape"/>
          <p:cNvSpPr/>
          <p:nvPr/>
        </p:nvSpPr>
        <p:spPr>
          <a:xfrm>
            <a:off x="2596896" y="2057400"/>
            <a:ext cx="1938528" cy="420624"/>
          </a:xfrm>
          <a:prstGeom prst="rect">
            <a:avLst/>
          </a:prstGeom>
          <a:solidFill>
            <a:srgbClr val="00B39F"/>
          </a:solidFill>
        </p:spPr>
        <p:txBody>
          <a:bodyPr anchor="ctr"/>
          <a:lstStyle/>
          <a:p>
            <a:pPr algn="ctr"/>
            <a:r>
              <a:rPr sz="900">
                <a:solidFill>
                  <a:srgbClr val="0B1229"/>
                </a:solidFill>
                <a:latin typeface="Segoe UI"/>
              </a:rPr>
              <a:t>Cost</a:t>
            </a:r>
          </a:p>
          <a:p>
            <a:pPr algn="ctr"/>
            <a:r>
              <a:rPr sz="900">
                <a:solidFill>
                  <a:srgbClr val="0B1229"/>
                </a:solidFill>
                <a:latin typeface="Segoe UI"/>
              </a:rPr>
              <a:t>quality band about 5-6%</a:t>
            </a:r>
          </a:p>
        </p:txBody>
      </p:sp>
      <p:sp>
        <p:nvSpPr>
          <p:cNvPr id="10" name="Shape"/>
          <p:cNvSpPr/>
          <p:nvPr/>
        </p:nvSpPr>
        <p:spPr>
          <a:xfrm>
            <a:off x="4645152" y="2057400"/>
            <a:ext cx="1938528" cy="420624"/>
          </a:xfrm>
          <a:prstGeom prst="rect">
            <a:avLst/>
          </a:prstGeom>
          <a:solidFill>
            <a:srgbClr val="00B39F"/>
          </a:solidFill>
        </p:spPr>
        <p:txBody>
          <a:bodyPr anchor="ctr"/>
          <a:lstStyle/>
          <a:p>
            <a:pPr algn="ctr"/>
            <a:r>
              <a:rPr sz="900">
                <a:solidFill>
                  <a:srgbClr val="0B1229"/>
                </a:solidFill>
                <a:latin typeface="Segoe UI"/>
              </a:rPr>
              <a:t>Quality</a:t>
            </a:r>
          </a:p>
          <a:p>
            <a:pPr algn="ctr"/>
            <a:r>
              <a:rPr sz="900">
                <a:solidFill>
                  <a:srgbClr val="0B1229"/>
                </a:solidFill>
                <a:latin typeface="Segoe UI"/>
              </a:rPr>
              <a:t>best model, any cost</a:t>
            </a:r>
          </a:p>
        </p:txBody>
      </p:sp>
      <p:sp>
        <p:nvSpPr>
          <p:cNvPr id="11" name="Shape"/>
          <p:cNvSpPr/>
          <p:nvPr/>
        </p:nvSpPr>
        <p:spPr>
          <a:xfrm>
            <a:off x="548640" y="2697480"/>
            <a:ext cx="6035040" cy="566928"/>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Model subset — choose which models take part; new models are not added automatically.</a:t>
            </a:r>
          </a:p>
          <a:p>
            <a:pPr algn="ctr"/>
            <a:r>
              <a:rPr sz="900">
                <a:solidFill>
                  <a:srgbClr val="141B33"/>
                </a:solidFill>
                <a:latin typeface="Segoe UI"/>
              </a:rPr>
              <a:t>Automatic failover is on by default; a subset acts as the fallback set, minimum two models.</a:t>
            </a:r>
          </a:p>
          <a:p>
            <a:r>
              <a:rPr sz="900">
                <a:solidFill>
                  <a:srgbClr val="141B33"/>
                </a:solidFill>
                <a:latin typeface="Segoe UI"/>
              </a:rPr>
              <a:t>Session affinity* keeps the same model across related Chat Completions turns; routing metadata* reports the serving model and ordered attempts.</a:t>
            </a:r>
          </a:p>
        </p:txBody>
      </p:sp>
      <p:sp>
        <p:nvSpPr>
          <p:cNvPr id="12" name="Shape"/>
          <p:cNvSpPr/>
          <p:nvPr/>
        </p:nvSpPr>
        <p:spPr>
          <a:xfrm>
            <a:off x="548640" y="3337560"/>
            <a:ext cx="6035040" cy="960120"/>
          </a:xfrm>
          <a:prstGeom prst="rect">
            <a:avLst/>
          </a:prstGeom>
          <a:solidFill>
            <a:srgbClr val="101A3C"/>
          </a:solidFill>
        </p:spPr>
        <p:txBody>
          <a:bodyPr anchor="ctr"/>
          <a:lstStyle/>
          <a:p>
            <a:pPr algn="ctr"/>
            <a:r>
              <a:rPr sz="850">
                <a:solidFill>
                  <a:srgbClr val="FFFFFF"/>
                </a:solidFill>
                <a:latin typeface="Segoe UI"/>
              </a:rPr>
              <a:t>OpenAI — gpt-6-astra, gpt-5.6 sol / terra / luna, gpt-5.5, gpt-5.4 / mini / nano, gpt-5.2,</a:t>
            </a:r>
          </a:p>
          <a:p>
            <a:pPr algn="ctr"/>
            <a:r>
              <a:rPr sz="850">
                <a:solidFill>
                  <a:srgbClr val="FFFFFF"/>
                </a:solidFill>
                <a:latin typeface="Segoe UI"/>
              </a:rPr>
              <a:t>gpt-5 / mini / nano, o4-mini, gpt-4.1 / mini / nano, gpt-4o, gpt-4o-mini, gpt-oss-120b</a:t>
            </a:r>
          </a:p>
          <a:p>
            <a:pPr algn="ctr"/>
            <a:r>
              <a:rPr sz="850">
                <a:solidFill>
                  <a:srgbClr val="FFFFFF"/>
                </a:solidFill>
                <a:latin typeface="Segoe UI"/>
              </a:rPr>
              <a:t>Anthropic — claude-fable-5-1, opus-5, sonnet-5, opus-4-8 / 4-7 / 4-6, sonnet-4-5, haiku-4-5</a:t>
            </a:r>
          </a:p>
          <a:p>
            <a:pPr algn="ctr"/>
            <a:r>
              <a:rPr sz="850">
                <a:solidFill>
                  <a:srgbClr val="FFFFFF"/>
                </a:solidFill>
                <a:latin typeface="Segoe UI"/>
              </a:rPr>
              <a:t>(Claude deployments are created first; the router invokes them)</a:t>
            </a:r>
          </a:p>
          <a:p>
            <a:pPr algn="ctr"/>
            <a:r>
              <a:rPr sz="850">
                <a:solidFill>
                  <a:srgbClr val="FFFFFF"/>
                </a:solidFill>
                <a:latin typeface="Segoe UI"/>
              </a:rPr>
              <a:t>xAI — grok-4.6, grok-4-1-fast-reasoning, grok-4 · Fireworks — FW-GLM-5.3 / 5.3-Flash, FW-Kimi-K3</a:t>
            </a:r>
          </a:p>
          <a:p>
            <a:pPr algn="ctr"/>
            <a:r>
              <a:rPr sz="850">
                <a:solidFill>
                  <a:srgbClr val="FFFFFF"/>
                </a:solidFill>
                <a:latin typeface="Segoe UI"/>
              </a:rPr>
              <a:t>DeepSeek-V3.2 · Meta Llama-4-Maverick</a:t>
            </a:r>
          </a:p>
        </p:txBody>
      </p:sp>
      <p:sp>
        <p:nvSpPr>
          <p:cNvPr id="13" name="Shape"/>
          <p:cNvSpPr/>
          <p:nvPr/>
        </p:nvSpPr>
        <p:spPr>
          <a:xfrm>
            <a:off x="3474720" y="4361688"/>
            <a:ext cx="182880" cy="164592"/>
          </a:xfrm>
          <a:prstGeom prst="downArrow">
            <a:avLst/>
          </a:prstGeom>
          <a:solidFill>
            <a:srgbClr val="00B39F"/>
          </a:solidFill>
        </p:spPr>
        <p:txBody>
          <a:bodyPr/>
          <a:lstStyle/>
          <a:p>
            <a:endParaRPr/>
          </a:p>
        </p:txBody>
      </p:sp>
      <p:sp>
        <p:nvSpPr>
          <p:cNvPr id="14" name="Shape"/>
          <p:cNvSpPr/>
          <p:nvPr/>
        </p:nvSpPr>
        <p:spPr>
          <a:xfrm>
            <a:off x="548640" y="4599432"/>
            <a:ext cx="60350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Best response</a:t>
            </a:r>
          </a:p>
          <a:p>
            <a:pPr algn="ctr"/>
            <a:r>
              <a:rPr sz="900">
                <a:solidFill>
                  <a:srgbClr val="141B33"/>
                </a:solidFill>
                <a:latin typeface="Segoe UI"/>
              </a:rPr>
              <a:t>returned to the client application on one deployment</a:t>
            </a:r>
          </a:p>
        </p:txBody>
      </p:sp>
      <p:sp>
        <p:nvSpPr>
          <p:cNvPr id="15" name="Shape"/>
          <p:cNvSpPr/>
          <p:nvPr/>
        </p:nvSpPr>
        <p:spPr>
          <a:xfrm>
            <a:off x="6821424" y="1417320"/>
            <a:ext cx="2337816" cy="1321308"/>
          </a:xfrm>
          <a:prstGeom prst="rect">
            <a:avLst/>
          </a:prstGeom>
          <a:solidFill>
            <a:srgbClr val="F6F8FD"/>
          </a:solidFill>
          <a:ln w="9525">
            <a:solidFill>
              <a:srgbClr val="E1E7F4"/>
            </a:solidFill>
          </a:ln>
        </p:spPr>
        <p:txBody>
          <a:bodyPr/>
          <a:lstStyle/>
          <a:p>
            <a:endParaRPr/>
          </a:p>
        </p:txBody>
      </p:sp>
      <p:sp>
        <p:nvSpPr>
          <p:cNvPr id="16" name="Shape"/>
          <p:cNvSpPr/>
          <p:nvPr/>
        </p:nvSpPr>
        <p:spPr>
          <a:xfrm>
            <a:off x="6821424" y="1417320"/>
            <a:ext cx="2337816" cy="38405"/>
          </a:xfrm>
          <a:prstGeom prst="rect">
            <a:avLst/>
          </a:prstGeom>
          <a:solidFill>
            <a:srgbClr val="101A3C"/>
          </a:solidFill>
        </p:spPr>
        <p:txBody>
          <a:bodyPr/>
          <a:lstStyle/>
          <a:p>
            <a:endParaRPr/>
          </a:p>
        </p:txBody>
      </p:sp>
      <p:sp>
        <p:nvSpPr>
          <p:cNvPr id="17" name="TextBox"/>
          <p:cNvSpPr txBox="1"/>
          <p:nvPr/>
        </p:nvSpPr>
        <p:spPr>
          <a:xfrm>
            <a:off x="6876288" y="1540764"/>
            <a:ext cx="2228088" cy="457200"/>
          </a:xfrm>
          <a:prstGeom prst="rect">
            <a:avLst/>
          </a:prstGeom>
        </p:spPr>
        <p:txBody>
          <a:bodyPr anchor="ctr"/>
          <a:lstStyle/>
          <a:p>
            <a:r>
              <a:rPr sz="1050" b="1">
                <a:solidFill>
                  <a:srgbClr val="101A3C"/>
                </a:solidFill>
                <a:latin typeface="Segoe UI"/>
              </a:rPr>
              <a:t>Billing</a:t>
            </a:r>
          </a:p>
          <a:p>
            <a:endParaRPr sz="1050" b="1">
              <a:solidFill>
                <a:srgbClr val="101A3C"/>
              </a:solidFill>
              <a:latin typeface="Segoe UI"/>
            </a:endParaRPr>
          </a:p>
        </p:txBody>
      </p:sp>
      <p:sp>
        <p:nvSpPr>
          <p:cNvPr id="18" name="TextBox"/>
          <p:cNvSpPr txBox="1"/>
          <p:nvPr/>
        </p:nvSpPr>
        <p:spPr>
          <a:xfrm>
            <a:off x="6876288" y="1837944"/>
            <a:ext cx="2228088" cy="685800"/>
          </a:xfrm>
          <a:prstGeom prst="rect">
            <a:avLst/>
          </a:prstGeom>
        </p:spPr>
        <p:txBody>
          <a:bodyPr anchor="ctr"/>
          <a:lstStyle/>
          <a:p>
            <a:r>
              <a:rPr sz="900">
                <a:solidFill>
                  <a:srgbClr val="141B33"/>
                </a:solidFill>
                <a:latin typeface="Segoe UI"/>
              </a:rPr>
              <a:t>The router is charged for</a:t>
            </a:r>
          </a:p>
          <a:p>
            <a:r>
              <a:rPr sz="900">
                <a:solidFill>
                  <a:srgbClr val="141B33"/>
                </a:solidFill>
                <a:latin typeface="Segoe UI"/>
              </a:rPr>
              <a:t>input prompts at the rate on</a:t>
            </a:r>
          </a:p>
          <a:p>
            <a:r>
              <a:rPr sz="900">
                <a:solidFill>
                  <a:srgbClr val="141B33"/>
                </a:solidFill>
                <a:latin typeface="Segoe UI"/>
              </a:rPr>
              <a:t>the pricing page; underlying</a:t>
            </a:r>
          </a:p>
          <a:p>
            <a:r>
              <a:rPr sz="900">
                <a:solidFill>
                  <a:srgbClr val="141B33"/>
                </a:solidFill>
                <a:latin typeface="Segoe UI"/>
              </a:rPr>
              <a:t>model tokens bill normally.</a:t>
            </a:r>
          </a:p>
        </p:txBody>
      </p:sp>
      <p:sp>
        <p:nvSpPr>
          <p:cNvPr id="19" name="Shape"/>
          <p:cNvSpPr/>
          <p:nvPr/>
        </p:nvSpPr>
        <p:spPr>
          <a:xfrm>
            <a:off x="9287256" y="1417320"/>
            <a:ext cx="2337816" cy="1321308"/>
          </a:xfrm>
          <a:prstGeom prst="rect">
            <a:avLst/>
          </a:prstGeom>
          <a:solidFill>
            <a:srgbClr val="F6F8FD"/>
          </a:solidFill>
          <a:ln w="9525">
            <a:solidFill>
              <a:srgbClr val="E1E7F4"/>
            </a:solidFill>
          </a:ln>
        </p:spPr>
        <p:txBody>
          <a:bodyPr/>
          <a:lstStyle/>
          <a:p>
            <a:endParaRPr/>
          </a:p>
        </p:txBody>
      </p:sp>
      <p:sp>
        <p:nvSpPr>
          <p:cNvPr id="20" name="Shape"/>
          <p:cNvSpPr/>
          <p:nvPr/>
        </p:nvSpPr>
        <p:spPr>
          <a:xfrm>
            <a:off x="9287256" y="1417320"/>
            <a:ext cx="2337816" cy="38405"/>
          </a:xfrm>
          <a:prstGeom prst="rect">
            <a:avLst/>
          </a:prstGeom>
          <a:solidFill>
            <a:srgbClr val="101A3C"/>
          </a:solidFill>
        </p:spPr>
        <p:txBody>
          <a:bodyPr/>
          <a:lstStyle/>
          <a:p>
            <a:endParaRPr/>
          </a:p>
        </p:txBody>
      </p:sp>
      <p:sp>
        <p:nvSpPr>
          <p:cNvPr id="21" name="TextBox"/>
          <p:cNvSpPr txBox="1"/>
          <p:nvPr/>
        </p:nvSpPr>
        <p:spPr>
          <a:xfrm>
            <a:off x="9342120" y="1540764"/>
            <a:ext cx="2228088" cy="457200"/>
          </a:xfrm>
          <a:prstGeom prst="rect">
            <a:avLst/>
          </a:prstGeom>
        </p:spPr>
        <p:txBody>
          <a:bodyPr anchor="ctr"/>
          <a:lstStyle/>
          <a:p>
            <a:r>
              <a:rPr sz="1050" b="1">
                <a:solidFill>
                  <a:srgbClr val="101A3C"/>
                </a:solidFill>
                <a:latin typeface="Segoe UI"/>
              </a:rPr>
              <a:t>Quota tiers</a:t>
            </a:r>
          </a:p>
          <a:p>
            <a:endParaRPr sz="1050" b="1">
              <a:solidFill>
                <a:srgbClr val="101A3C"/>
              </a:solidFill>
              <a:latin typeface="Segoe UI"/>
            </a:endParaRPr>
          </a:p>
        </p:txBody>
      </p:sp>
      <p:sp>
        <p:nvSpPr>
          <p:cNvPr id="22" name="TextBox"/>
          <p:cNvSpPr txBox="1"/>
          <p:nvPr/>
        </p:nvSpPr>
        <p:spPr>
          <a:xfrm>
            <a:off x="9342120" y="1837944"/>
            <a:ext cx="2228088" cy="822960"/>
          </a:xfrm>
          <a:prstGeom prst="rect">
            <a:avLst/>
          </a:prstGeom>
        </p:spPr>
        <p:txBody>
          <a:bodyPr anchor="ctr"/>
          <a:lstStyle/>
          <a:p>
            <a:r>
              <a:rPr sz="900">
                <a:solidFill>
                  <a:srgbClr val="141B33"/>
                </a:solidFill>
                <a:latin typeface="Segoe UI"/>
              </a:rPr>
              <a:t>GlobalStandard Tier 1:</a:t>
            </a:r>
          </a:p>
          <a:p>
            <a:r>
              <a:rPr sz="900">
                <a:solidFill>
                  <a:srgbClr val="141B33"/>
                </a:solidFill>
                <a:latin typeface="Segoe UI"/>
              </a:rPr>
              <a:t>1,000 RPM / 1M TPM, rising</a:t>
            </a:r>
          </a:p>
          <a:p>
            <a:r>
              <a:rPr sz="900">
                <a:solidFill>
                  <a:srgbClr val="141B33"/>
                </a:solidFill>
                <a:latin typeface="Segoe UI"/>
              </a:rPr>
              <a:t>to Tier 6: 15,000 RPM /</a:t>
            </a:r>
          </a:p>
          <a:p>
            <a:r>
              <a:rPr sz="900">
                <a:solidFill>
                  <a:srgbClr val="141B33"/>
                </a:solidFill>
                <a:latin typeface="Segoe UI"/>
              </a:rPr>
              <a:t>15M TPM. DataZoneStandard</a:t>
            </a:r>
          </a:p>
          <a:p>
            <a:r>
              <a:rPr sz="900">
                <a:solidFill>
                  <a:srgbClr val="141B33"/>
                </a:solidFill>
                <a:latin typeface="Segoe UI"/>
              </a:rPr>
              <a:t>runs 300 RPM to 4,000 RPM.</a:t>
            </a:r>
          </a:p>
        </p:txBody>
      </p:sp>
      <p:sp>
        <p:nvSpPr>
          <p:cNvPr id="23" name="Shape"/>
          <p:cNvSpPr/>
          <p:nvPr/>
        </p:nvSpPr>
        <p:spPr>
          <a:xfrm>
            <a:off x="6821424" y="2866644"/>
            <a:ext cx="2337816" cy="1458468"/>
          </a:xfrm>
          <a:prstGeom prst="rect">
            <a:avLst/>
          </a:prstGeom>
          <a:solidFill>
            <a:srgbClr val="F6F8FD"/>
          </a:solidFill>
          <a:ln w="9525">
            <a:solidFill>
              <a:srgbClr val="E1E7F4"/>
            </a:solidFill>
          </a:ln>
        </p:spPr>
        <p:txBody>
          <a:bodyPr/>
          <a:lstStyle/>
          <a:p>
            <a:endParaRPr/>
          </a:p>
        </p:txBody>
      </p:sp>
      <p:sp>
        <p:nvSpPr>
          <p:cNvPr id="24" name="Shape"/>
          <p:cNvSpPr/>
          <p:nvPr/>
        </p:nvSpPr>
        <p:spPr>
          <a:xfrm>
            <a:off x="6821424" y="2866644"/>
            <a:ext cx="2337816" cy="38405"/>
          </a:xfrm>
          <a:prstGeom prst="rect">
            <a:avLst/>
          </a:prstGeom>
          <a:solidFill>
            <a:srgbClr val="101A3C"/>
          </a:solidFill>
        </p:spPr>
        <p:txBody>
          <a:bodyPr/>
          <a:lstStyle/>
          <a:p>
            <a:endParaRPr/>
          </a:p>
        </p:txBody>
      </p:sp>
      <p:sp>
        <p:nvSpPr>
          <p:cNvPr id="25" name="TextBox"/>
          <p:cNvSpPr txBox="1"/>
          <p:nvPr/>
        </p:nvSpPr>
        <p:spPr>
          <a:xfrm>
            <a:off x="6876288" y="2990088"/>
            <a:ext cx="2228088" cy="457200"/>
          </a:xfrm>
          <a:prstGeom prst="rect">
            <a:avLst/>
          </a:prstGeom>
        </p:spPr>
        <p:txBody>
          <a:bodyPr anchor="ctr"/>
          <a:lstStyle/>
          <a:p>
            <a:r>
              <a:rPr sz="1050" b="1">
                <a:solidFill>
                  <a:srgbClr val="101A3C"/>
                </a:solidFill>
                <a:latin typeface="Segoe UI"/>
              </a:rPr>
              <a:t>Limits</a:t>
            </a:r>
          </a:p>
          <a:p>
            <a:endParaRPr sz="1050" b="1">
              <a:solidFill>
                <a:srgbClr val="101A3C"/>
              </a:solidFill>
              <a:latin typeface="Segoe UI"/>
            </a:endParaRPr>
          </a:p>
        </p:txBody>
      </p:sp>
      <p:sp>
        <p:nvSpPr>
          <p:cNvPr id="26" name="TextBox"/>
          <p:cNvSpPr txBox="1"/>
          <p:nvPr/>
        </p:nvSpPr>
        <p:spPr>
          <a:xfrm>
            <a:off x="6876288" y="3287268"/>
            <a:ext cx="2228088" cy="960120"/>
          </a:xfrm>
          <a:prstGeom prst="rect">
            <a:avLst/>
          </a:prstGeom>
        </p:spPr>
        <p:txBody>
          <a:bodyPr anchor="ctr"/>
          <a:lstStyle/>
          <a:p>
            <a:r>
              <a:rPr sz="900">
                <a:solidFill>
                  <a:srgbClr val="141B33"/>
                </a:solidFill>
                <a:latin typeface="Segoe UI"/>
              </a:rPr>
              <a:t>Effective context window is</a:t>
            </a:r>
          </a:p>
          <a:p>
            <a:r>
              <a:rPr sz="900">
                <a:solidFill>
                  <a:srgbClr val="141B33"/>
                </a:solidFill>
                <a:latin typeface="Segoe UI"/>
              </a:rPr>
              <a:t>the smallest model in the</a:t>
            </a:r>
          </a:p>
          <a:p>
            <a:r>
              <a:rPr sz="900">
                <a:solidFill>
                  <a:srgbClr val="141B33"/>
                </a:solidFill>
                <a:latin typeface="Segoe UI"/>
              </a:rPr>
              <a:t>pool — use a subset.</a:t>
            </a:r>
          </a:p>
          <a:p>
            <a:r>
              <a:rPr sz="900">
                <a:solidFill>
                  <a:srgbClr val="141B33"/>
                </a:solidFill>
                <a:latin typeface="Segoe UI"/>
              </a:rPr>
              <a:t>Routing is on text only and</a:t>
            </a:r>
          </a:p>
          <a:p>
            <a:r>
              <a:rPr sz="900">
                <a:solidFill>
                  <a:srgbClr val="141B33"/>
                </a:solidFill>
                <a:latin typeface="Segoe UI"/>
              </a:rPr>
              <a:t>there is no audio input.</a:t>
            </a:r>
          </a:p>
          <a:p>
            <a:r>
              <a:rPr sz="900">
                <a:solidFill>
                  <a:srgbClr val="141B33"/>
                </a:solidFill>
                <a:latin typeface="Segoe UI"/>
              </a:rPr>
              <a:t>Evaluation target only.</a:t>
            </a:r>
          </a:p>
        </p:txBody>
      </p:sp>
      <p:sp>
        <p:nvSpPr>
          <p:cNvPr id="27" name="Shape"/>
          <p:cNvSpPr/>
          <p:nvPr/>
        </p:nvSpPr>
        <p:spPr>
          <a:xfrm>
            <a:off x="9287256" y="2866644"/>
            <a:ext cx="2337816" cy="1737360"/>
          </a:xfrm>
          <a:prstGeom prst="rect">
            <a:avLst/>
          </a:prstGeom>
          <a:solidFill>
            <a:srgbClr val="F6F8FD"/>
          </a:solidFill>
          <a:ln w="9525">
            <a:solidFill>
              <a:srgbClr val="E1E7F4"/>
            </a:solidFill>
          </a:ln>
        </p:spPr>
        <p:txBody>
          <a:bodyPr/>
          <a:lstStyle/>
          <a:p>
            <a:endParaRPr/>
          </a:p>
        </p:txBody>
      </p:sp>
      <p:sp>
        <p:nvSpPr>
          <p:cNvPr id="28" name="Shape"/>
          <p:cNvSpPr/>
          <p:nvPr/>
        </p:nvSpPr>
        <p:spPr>
          <a:xfrm>
            <a:off x="9287256" y="2866644"/>
            <a:ext cx="2337816" cy="38405"/>
          </a:xfrm>
          <a:prstGeom prst="rect">
            <a:avLst/>
          </a:prstGeom>
          <a:solidFill>
            <a:srgbClr val="101A3C"/>
          </a:solidFill>
        </p:spPr>
        <p:txBody>
          <a:bodyPr/>
          <a:lstStyle/>
          <a:p>
            <a:endParaRPr/>
          </a:p>
        </p:txBody>
      </p:sp>
      <p:sp>
        <p:nvSpPr>
          <p:cNvPr id="29" name="TextBox"/>
          <p:cNvSpPr txBox="1"/>
          <p:nvPr/>
        </p:nvSpPr>
        <p:spPr>
          <a:xfrm>
            <a:off x="9342120" y="2990088"/>
            <a:ext cx="2228088" cy="457200"/>
          </a:xfrm>
          <a:prstGeom prst="rect">
            <a:avLst/>
          </a:prstGeom>
        </p:spPr>
        <p:txBody>
          <a:bodyPr anchor="ctr"/>
          <a:lstStyle/>
          <a:p>
            <a:r>
              <a:rPr sz="1050" b="1">
                <a:solidFill>
                  <a:srgbClr val="101A3C"/>
                </a:solidFill>
                <a:latin typeface="Segoe UI"/>
              </a:rPr>
              <a:t>Governance</a:t>
            </a:r>
          </a:p>
          <a:p>
            <a:endParaRPr sz="1050" b="1">
              <a:solidFill>
                <a:srgbClr val="101A3C"/>
              </a:solidFill>
              <a:latin typeface="Segoe UI"/>
            </a:endParaRPr>
          </a:p>
        </p:txBody>
      </p:sp>
      <p:sp>
        <p:nvSpPr>
          <p:cNvPr id="30" name="TextBox"/>
          <p:cNvSpPr txBox="1"/>
          <p:nvPr/>
        </p:nvSpPr>
        <p:spPr>
          <a:xfrm>
            <a:off x="9342120" y="3287268"/>
            <a:ext cx="2228088" cy="1115568"/>
          </a:xfrm>
          <a:prstGeom prst="rect">
            <a:avLst/>
          </a:prstGeom>
        </p:spPr>
        <p:txBody>
          <a:bodyPr anchor="ctr"/>
          <a:lstStyle/>
          <a:p>
            <a:r>
              <a:rPr sz="900">
                <a:solidFill>
                  <a:srgbClr val="141B33"/>
                </a:solidFill>
                <a:latin typeface="Segoe UI"/>
              </a:rPr>
              <a:t>Azure Policy governs which</a:t>
            </a:r>
          </a:p>
          <a:p>
            <a:r>
              <a:rPr sz="900">
                <a:solidFill>
                  <a:srgbClr val="141B33"/>
                </a:solidFill>
                <a:latin typeface="Segoe UI"/>
              </a:rPr>
              <a:t>subsets may be used. The</a:t>
            </a:r>
          </a:p>
          <a:p>
            <a:r>
              <a:rPr sz="900">
                <a:solidFill>
                  <a:srgbClr val="141B33"/>
                </a:solidFill>
                <a:latin typeface="Segoe UI"/>
              </a:rPr>
              <a:t>router honours data-zone</a:t>
            </a:r>
          </a:p>
          <a:p>
            <a:r>
              <a:rPr sz="900">
                <a:solidFill>
                  <a:srgbClr val="141B33"/>
                </a:solidFill>
                <a:latin typeface="Segoe UI"/>
              </a:rPr>
              <a:t>boundaries and does not</a:t>
            </a:r>
          </a:p>
          <a:p>
            <a:r>
              <a:rPr sz="900">
                <a:solidFill>
                  <a:srgbClr val="141B33"/>
                </a:solidFill>
                <a:latin typeface="Segoe UI"/>
              </a:rPr>
              <a:t>store prompts. Now in</a:t>
            </a:r>
          </a:p>
          <a:p>
            <a:r>
              <a:rPr sz="900">
                <a:solidFill>
                  <a:srgbClr val="141B33"/>
                </a:solidFill>
                <a:latin typeface="Segoe UI"/>
              </a:rPr>
              <a:t>32 regions, 23 of them with</a:t>
            </a:r>
          </a:p>
          <a:p>
            <a:r>
              <a:rPr sz="900">
                <a:solidFill>
                  <a:srgbClr val="141B33"/>
                </a:solidFill>
                <a:latin typeface="Segoe UI"/>
              </a:rPr>
              <a:t>Data Zone Standard.</a:t>
            </a:r>
          </a:p>
        </p:txBody>
      </p:sp>
      <p:sp>
        <p:nvSpPr>
          <p:cNvPr id="31" name="Shape"/>
          <p:cNvSpPr/>
          <p:nvPr/>
        </p:nvSpPr>
        <p:spPr>
          <a:xfrm>
            <a:off x="6821424" y="4453128"/>
            <a:ext cx="4821936" cy="909828"/>
          </a:xfrm>
          <a:prstGeom prst="rect">
            <a:avLst/>
          </a:prstGeom>
          <a:solidFill>
            <a:srgbClr val="F6F8FD"/>
          </a:solidFill>
          <a:ln w="9525">
            <a:solidFill>
              <a:srgbClr val="E1E7F4"/>
            </a:solidFill>
          </a:ln>
        </p:spPr>
        <p:txBody>
          <a:bodyPr/>
          <a:lstStyle/>
          <a:p>
            <a:endParaRPr/>
          </a:p>
        </p:txBody>
      </p:sp>
      <p:sp>
        <p:nvSpPr>
          <p:cNvPr id="32" name="Shape"/>
          <p:cNvSpPr/>
          <p:nvPr/>
        </p:nvSpPr>
        <p:spPr>
          <a:xfrm>
            <a:off x="6821424" y="4453128"/>
            <a:ext cx="4821936" cy="38405"/>
          </a:xfrm>
          <a:prstGeom prst="rect">
            <a:avLst/>
          </a:prstGeom>
          <a:solidFill>
            <a:srgbClr val="00B39F"/>
          </a:solidFill>
        </p:spPr>
        <p:txBody>
          <a:bodyPr/>
          <a:lstStyle/>
          <a:p>
            <a:endParaRPr/>
          </a:p>
        </p:txBody>
      </p:sp>
      <p:sp>
        <p:nvSpPr>
          <p:cNvPr id="33" name="TextBox"/>
          <p:cNvSpPr txBox="1"/>
          <p:nvPr/>
        </p:nvSpPr>
        <p:spPr>
          <a:xfrm>
            <a:off x="6876288" y="4576572"/>
            <a:ext cx="4712208" cy="457200"/>
          </a:xfrm>
          <a:prstGeom prst="rect">
            <a:avLst/>
          </a:prstGeom>
        </p:spPr>
        <p:txBody>
          <a:bodyPr anchor="ctr"/>
          <a:lstStyle/>
          <a:p>
            <a:r>
              <a:rPr sz="1050" b="1">
                <a:solidFill>
                  <a:srgbClr val="101A3C"/>
                </a:solidFill>
                <a:latin typeface="Segoe UI"/>
              </a:rPr>
              <a:t>Retired from the routing pool</a:t>
            </a:r>
          </a:p>
          <a:p>
            <a:endParaRPr sz="1050" b="1">
              <a:solidFill>
                <a:srgbClr val="101A3C"/>
              </a:solidFill>
              <a:latin typeface="Segoe UI"/>
            </a:endParaRPr>
          </a:p>
        </p:txBody>
      </p:sp>
      <p:sp>
        <p:nvSpPr>
          <p:cNvPr id="34" name="TextBox"/>
          <p:cNvSpPr txBox="1"/>
          <p:nvPr/>
        </p:nvSpPr>
        <p:spPr>
          <a:xfrm>
            <a:off x="6876288" y="4873752"/>
            <a:ext cx="4712208" cy="411480"/>
          </a:xfrm>
          <a:prstGeom prst="rect">
            <a:avLst/>
          </a:prstGeom>
        </p:spPr>
        <p:txBody>
          <a:bodyPr anchor="ctr"/>
          <a:lstStyle/>
          <a:p>
            <a:r>
              <a:rPr sz="900">
                <a:solidFill>
                  <a:srgbClr val="141B33"/>
                </a:solidFill>
                <a:latin typeface="Segoe UI"/>
              </a:rPr>
              <a:t>gpt-5-chat, gpt-5.2-chat, gpt-5.3-chat,</a:t>
            </a:r>
          </a:p>
          <a:p>
            <a:r>
              <a:rPr sz="900">
                <a:solidFill>
                  <a:srgbClr val="141B33"/>
                </a:solidFill>
                <a:latin typeface="Segoe UI"/>
              </a:rPr>
              <a:t>DeepSeek-V3.1 and claude-opus-4.1</a:t>
            </a:r>
          </a:p>
        </p:txBody>
      </p:sp>
      <p:sp>
        <p:nvSpPr>
          <p:cNvPr id="35" name="Shape"/>
          <p:cNvSpPr/>
          <p:nvPr/>
        </p:nvSpPr>
        <p:spPr>
          <a:xfrm>
            <a:off x="548640" y="5687568"/>
            <a:ext cx="11094720" cy="9525"/>
          </a:xfrm>
          <a:prstGeom prst="rect">
            <a:avLst/>
          </a:prstGeom>
          <a:solidFill>
            <a:srgbClr val="E1E7F4"/>
          </a:solidFill>
        </p:spPr>
        <p:txBody>
          <a:bodyPr/>
          <a:lstStyle/>
          <a:p>
            <a:endParaRPr/>
          </a:p>
        </p:txBody>
      </p:sp>
      <p:sp>
        <p:nvSpPr>
          <p:cNvPr id="3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learn.microsoft.com/azure/foundry/openai/concepts/model-router</a:t>
            </a:r>
          </a:p>
          <a:p>
            <a:endParaRPr sz="900">
              <a:solidFill>
                <a:srgbClr val="44495B"/>
              </a:solidFill>
              <a:latin typeface="Segoe UI"/>
            </a:endParaRPr>
          </a:p>
        </p:txBody>
      </p:sp>
      <p:sp>
        <p:nvSpPr>
          <p:cNvPr id="3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10</a:t>
            </a:r>
          </a:p>
        </p:txBody>
      </p:sp>
      <p:sp>
        <p:nvSpPr>
          <p:cNvPr id="38" name="TextBox 37"/>
          <p:cNvSpPr txBox="1"/>
          <p:nvPr/>
        </p:nvSpPr>
        <p:spPr>
          <a:xfrm>
            <a:off x="548640" y="5230368"/>
            <a:ext cx="6035040" cy="146304"/>
          </a:xfrm>
          <a:prstGeom prst="rect">
            <a:avLst/>
          </a:prstGeom>
          <a:noFill/>
        </p:spPr>
        <p:txBody>
          <a:bodyPr wrap="square" lIns="0" tIns="0" rIns="0" bIns="0" anchor="t">
            <a:spAutoFit/>
          </a:bodyPr>
          <a:lstStyle/>
          <a:p>
            <a:pPr algn="l">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2   ·   M O D E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Decision models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Models that answer a fixed question with a probability, a choice or a score instead of generated text.</a:t>
            </a:r>
          </a:p>
          <a:p>
            <a:endParaRPr sz="1200">
              <a:solidFill>
                <a:srgbClr val="44495B"/>
              </a:solidFill>
              <a:latin typeface="Segoe UI"/>
            </a:endParaRPr>
          </a:p>
        </p:txBody>
      </p:sp>
      <p:sp>
        <p:nvSpPr>
          <p:cNvPr id="31" name="Shape"/>
          <p:cNvSpPr/>
          <p:nvPr/>
        </p:nvSpPr>
        <p:spPr>
          <a:xfrm>
            <a:off x="548640" y="5458968"/>
            <a:ext cx="11094720" cy="9525"/>
          </a:xfrm>
          <a:prstGeom prst="rect">
            <a:avLst/>
          </a:prstGeom>
          <a:solidFill>
            <a:srgbClr val="E1E7F4"/>
          </a:solidFill>
        </p:spPr>
        <p:txBody>
          <a:bodyPr/>
          <a:lstStyle/>
          <a:p>
            <a:endParaRPr/>
          </a:p>
        </p:txBody>
      </p:sp>
      <p:sp>
        <p:nvSpPr>
          <p:cNvPr id="32"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learn.microsoft.com/azure/foundry/openai/how-to/decisions · foundry-models/how-to/use-foundry-models-microsoft-decision</a:t>
            </a:r>
          </a:p>
          <a:p>
            <a:endParaRPr sz="900">
              <a:solidFill>
                <a:srgbClr val="44495B"/>
              </a:solidFill>
              <a:latin typeface="Segoe UI"/>
            </a:endParaRPr>
          </a:p>
        </p:txBody>
      </p:sp>
      <p:sp>
        <p:nvSpPr>
          <p:cNvPr id="33"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11</a:t>
            </a:r>
          </a:p>
        </p:txBody>
      </p:sp>
      <p:sp>
        <p:nvSpPr>
          <p:cNvPr id="34" name="TextBox 33"/>
          <p:cNvSpPr txBox="1"/>
          <p:nvPr/>
        </p:nvSpPr>
        <p:spPr>
          <a:xfrm>
            <a:off x="548640" y="132588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TWO WAYS TO ASK A MODEL FOR A DECISION</a:t>
            </a:r>
          </a:p>
        </p:txBody>
      </p:sp>
      <p:sp>
        <p:nvSpPr>
          <p:cNvPr id="35" name="Rectangle 34"/>
          <p:cNvSpPr/>
          <p:nvPr/>
        </p:nvSpPr>
        <p:spPr>
          <a:xfrm>
            <a:off x="548640" y="1554480"/>
            <a:ext cx="6812280" cy="310896"/>
          </a:xfrm>
          <a:prstGeom prst="rect">
            <a:avLst/>
          </a:prstGeom>
          <a:solidFill>
            <a:srgbClr val="101A3C"/>
          </a:solidFill>
          <a:ln>
            <a:noFill/>
          </a:ln>
          <a:effectLst/>
        </p:spPr>
        <p:txBody>
          <a:bodyPr wrap="square" rtlCol="0" anchor="ctr"/>
          <a:lstStyle/>
          <a:p>
            <a:endParaRPr/>
          </a:p>
        </p:txBody>
      </p:sp>
      <p:sp>
        <p:nvSpPr>
          <p:cNvPr id="36" name="TextBox 35"/>
          <p:cNvSpPr txBox="1"/>
          <p:nvPr/>
        </p:nvSpPr>
        <p:spPr>
          <a:xfrm>
            <a:off x="676656" y="1632204"/>
            <a:ext cx="1179576" cy="182880"/>
          </a:xfrm>
          <a:prstGeom prst="rect">
            <a:avLst/>
          </a:prstGeom>
          <a:noFill/>
        </p:spPr>
        <p:txBody>
          <a:bodyPr wrap="none" lIns="0" tIns="0" rIns="0" bIns="0" anchor="t">
            <a:spAutoFit/>
          </a:bodyPr>
          <a:lstStyle/>
          <a:p>
            <a:pPr algn="l">
              <a:lnSpc>
                <a:spcPct val="100000"/>
              </a:lnSpc>
            </a:pPr>
            <a:endParaRPr/>
          </a:p>
        </p:txBody>
      </p:sp>
      <p:sp>
        <p:nvSpPr>
          <p:cNvPr id="37" name="TextBox 36"/>
          <p:cNvSpPr txBox="1"/>
          <p:nvPr/>
        </p:nvSpPr>
        <p:spPr>
          <a:xfrm>
            <a:off x="2039112" y="1632204"/>
            <a:ext cx="2405786"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Azure OpenAI Decisions API</a:t>
            </a:r>
          </a:p>
        </p:txBody>
      </p:sp>
      <p:sp>
        <p:nvSpPr>
          <p:cNvPr id="38" name="TextBox 37"/>
          <p:cNvSpPr txBox="1"/>
          <p:nvPr/>
        </p:nvSpPr>
        <p:spPr>
          <a:xfrm>
            <a:off x="4627778" y="1632204"/>
            <a:ext cx="2678277" cy="182880"/>
          </a:xfrm>
          <a:prstGeom prst="rect">
            <a:avLst/>
          </a:prstGeom>
          <a:noFill/>
        </p:spPr>
        <p:txBody>
          <a:bodyPr wrap="none" lIns="0" tIns="0" rIns="0" bIns="0" anchor="t">
            <a:spAutoFit/>
          </a:bodyPr>
          <a:lstStyle/>
          <a:p>
            <a:pPr algn="l">
              <a:lnSpc>
                <a:spcPct val="100000"/>
              </a:lnSpc>
            </a:pPr>
            <a:r>
              <a:rPr sz="850" b="1" i="0" dirty="0">
                <a:solidFill>
                  <a:srgbClr val="FFFFFF"/>
                </a:solidFill>
                <a:latin typeface="Segoe UI"/>
                <a:cs typeface="Segoe UI"/>
              </a:rPr>
              <a:t>Microsoft-Decision-1*</a:t>
            </a:r>
          </a:p>
        </p:txBody>
      </p:sp>
      <p:sp>
        <p:nvSpPr>
          <p:cNvPr id="39" name="Rectangle 38"/>
          <p:cNvSpPr/>
          <p:nvPr/>
        </p:nvSpPr>
        <p:spPr>
          <a:xfrm>
            <a:off x="548640" y="1865376"/>
            <a:ext cx="6812280" cy="365760"/>
          </a:xfrm>
          <a:prstGeom prst="rect">
            <a:avLst/>
          </a:prstGeom>
          <a:solidFill>
            <a:srgbClr val="F6F8FD"/>
          </a:solidFill>
          <a:ln>
            <a:noFill/>
          </a:ln>
          <a:effectLst/>
        </p:spPr>
        <p:txBody>
          <a:bodyPr wrap="square" rtlCol="0" anchor="ctr"/>
          <a:lstStyle/>
          <a:p>
            <a:endParaRPr/>
          </a:p>
        </p:txBody>
      </p:sp>
      <p:cxnSp>
        <p:nvCxnSpPr>
          <p:cNvPr id="40" name="Connector 39"/>
          <p:cNvCxnSpPr/>
          <p:nvPr/>
        </p:nvCxnSpPr>
        <p:spPr>
          <a:xfrm>
            <a:off x="548640" y="2231136"/>
            <a:ext cx="6812280" cy="0"/>
          </a:xfrm>
          <a:prstGeom prst="line">
            <a:avLst/>
          </a:prstGeom>
          <a:ln w="9525">
            <a:solidFill>
              <a:srgbClr val="E1E7F4"/>
            </a:solidFill>
          </a:ln>
        </p:spPr>
      </p:cxnSp>
      <p:sp>
        <p:nvSpPr>
          <p:cNvPr id="41" name="TextBox 40"/>
          <p:cNvSpPr txBox="1"/>
          <p:nvPr/>
        </p:nvSpPr>
        <p:spPr>
          <a:xfrm>
            <a:off x="676656" y="1915668"/>
            <a:ext cx="1143000" cy="28346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Model</a:t>
            </a:r>
          </a:p>
        </p:txBody>
      </p:sp>
      <p:sp>
        <p:nvSpPr>
          <p:cNvPr id="42" name="TextBox 41"/>
          <p:cNvSpPr txBox="1"/>
          <p:nvPr/>
        </p:nvSpPr>
        <p:spPr>
          <a:xfrm>
            <a:off x="2039112" y="1915668"/>
            <a:ext cx="2369210"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gpt-6-luna</a:t>
            </a:r>
          </a:p>
        </p:txBody>
      </p:sp>
      <p:sp>
        <p:nvSpPr>
          <p:cNvPr id="43" name="TextBox 42"/>
          <p:cNvSpPr txBox="1"/>
          <p:nvPr/>
        </p:nvSpPr>
        <p:spPr>
          <a:xfrm>
            <a:off x="4627778" y="1915668"/>
            <a:ext cx="2641701"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Microsoft-Decision-1, built on Qwen3.5-9B</a:t>
            </a:r>
          </a:p>
        </p:txBody>
      </p:sp>
      <p:cxnSp>
        <p:nvCxnSpPr>
          <p:cNvPr id="44" name="Connector 43"/>
          <p:cNvCxnSpPr/>
          <p:nvPr/>
        </p:nvCxnSpPr>
        <p:spPr>
          <a:xfrm>
            <a:off x="548640" y="2596896"/>
            <a:ext cx="6812280" cy="0"/>
          </a:xfrm>
          <a:prstGeom prst="line">
            <a:avLst/>
          </a:prstGeom>
          <a:ln w="9525">
            <a:solidFill>
              <a:srgbClr val="E1E7F4"/>
            </a:solidFill>
          </a:ln>
        </p:spPr>
      </p:cxnSp>
      <p:sp>
        <p:nvSpPr>
          <p:cNvPr id="45" name="TextBox 44"/>
          <p:cNvSpPr txBox="1"/>
          <p:nvPr/>
        </p:nvSpPr>
        <p:spPr>
          <a:xfrm>
            <a:off x="676656" y="2281428"/>
            <a:ext cx="1143000" cy="28346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Endpoint</a:t>
            </a:r>
          </a:p>
        </p:txBody>
      </p:sp>
      <p:sp>
        <p:nvSpPr>
          <p:cNvPr id="46" name="TextBox 45"/>
          <p:cNvSpPr txBox="1"/>
          <p:nvPr/>
        </p:nvSpPr>
        <p:spPr>
          <a:xfrm>
            <a:off x="2039112" y="2281428"/>
            <a:ext cx="2369210"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/openai/v1/decisions · OpenAI SDKs or REST</a:t>
            </a:r>
          </a:p>
        </p:txBody>
      </p:sp>
      <p:sp>
        <p:nvSpPr>
          <p:cNvPr id="47" name="TextBox 46"/>
          <p:cNvSpPr txBox="1"/>
          <p:nvPr/>
        </p:nvSpPr>
        <p:spPr>
          <a:xfrm>
            <a:off x="4627778" y="2281428"/>
            <a:ext cx="2641701"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/providers/microsoft/v1/systemone</a:t>
            </a:r>
          </a:p>
        </p:txBody>
      </p:sp>
      <p:sp>
        <p:nvSpPr>
          <p:cNvPr id="48" name="Rectangle 47"/>
          <p:cNvSpPr/>
          <p:nvPr/>
        </p:nvSpPr>
        <p:spPr>
          <a:xfrm>
            <a:off x="548640" y="2596896"/>
            <a:ext cx="6812280" cy="365760"/>
          </a:xfrm>
          <a:prstGeom prst="rect">
            <a:avLst/>
          </a:prstGeom>
          <a:solidFill>
            <a:srgbClr val="F6F8FD"/>
          </a:solidFill>
          <a:ln>
            <a:noFill/>
          </a:ln>
          <a:effectLst/>
        </p:spPr>
        <p:txBody>
          <a:bodyPr wrap="square" rtlCol="0" anchor="ctr"/>
          <a:lstStyle/>
          <a:p>
            <a:endParaRPr/>
          </a:p>
        </p:txBody>
      </p:sp>
      <p:cxnSp>
        <p:nvCxnSpPr>
          <p:cNvPr id="49" name="Connector 48"/>
          <p:cNvCxnSpPr/>
          <p:nvPr/>
        </p:nvCxnSpPr>
        <p:spPr>
          <a:xfrm>
            <a:off x="548640" y="2962656"/>
            <a:ext cx="6812280" cy="0"/>
          </a:xfrm>
          <a:prstGeom prst="line">
            <a:avLst/>
          </a:prstGeom>
          <a:ln w="9525">
            <a:solidFill>
              <a:srgbClr val="E1E7F4"/>
            </a:solidFill>
          </a:ln>
        </p:spPr>
      </p:cxnSp>
      <p:sp>
        <p:nvSpPr>
          <p:cNvPr id="50" name="TextBox 49"/>
          <p:cNvSpPr txBox="1"/>
          <p:nvPr/>
        </p:nvSpPr>
        <p:spPr>
          <a:xfrm>
            <a:off x="676656" y="2647188"/>
            <a:ext cx="1143000" cy="28346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Input</a:t>
            </a:r>
          </a:p>
        </p:txBody>
      </p:sp>
      <p:sp>
        <p:nvSpPr>
          <p:cNvPr id="51" name="TextBox 50"/>
          <p:cNvSpPr txBox="1"/>
          <p:nvPr/>
        </p:nvSpPr>
        <p:spPr>
          <a:xfrm>
            <a:off x="2039112" y="2647188"/>
            <a:ext cx="2369210"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text, JSON or images · up to 128 images, 32 MB</a:t>
            </a:r>
          </a:p>
        </p:txBody>
      </p:sp>
      <p:sp>
        <p:nvSpPr>
          <p:cNvPr id="52" name="TextBox 51"/>
          <p:cNvSpPr txBox="1"/>
          <p:nvPr/>
        </p:nvSpPr>
        <p:spPr>
          <a:xfrm>
            <a:off x="4627778" y="2647188"/>
            <a:ext cx="2641701"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text or JSON (state) · 32,768-token context</a:t>
            </a:r>
          </a:p>
        </p:txBody>
      </p:sp>
      <p:cxnSp>
        <p:nvCxnSpPr>
          <p:cNvPr id="53" name="Connector 52"/>
          <p:cNvCxnSpPr/>
          <p:nvPr/>
        </p:nvCxnSpPr>
        <p:spPr>
          <a:xfrm>
            <a:off x="548640" y="3328415"/>
            <a:ext cx="6812280" cy="0"/>
          </a:xfrm>
          <a:prstGeom prst="line">
            <a:avLst/>
          </a:prstGeom>
          <a:ln w="9525">
            <a:solidFill>
              <a:srgbClr val="E1E7F4"/>
            </a:solidFill>
          </a:ln>
        </p:spPr>
      </p:cxnSp>
      <p:sp>
        <p:nvSpPr>
          <p:cNvPr id="54" name="TextBox 53"/>
          <p:cNvSpPr txBox="1"/>
          <p:nvPr/>
        </p:nvSpPr>
        <p:spPr>
          <a:xfrm>
            <a:off x="676656" y="3012948"/>
            <a:ext cx="1143000" cy="28346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Question types</a:t>
            </a:r>
          </a:p>
        </p:txBody>
      </p:sp>
      <p:sp>
        <p:nvSpPr>
          <p:cNvPr id="55" name="TextBox 54"/>
          <p:cNvSpPr txBox="1"/>
          <p:nvPr/>
        </p:nvSpPr>
        <p:spPr>
          <a:xfrm>
            <a:off x="2039112" y="3012948"/>
            <a:ext cx="2369210"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predicate · choice · score</a:t>
            </a:r>
          </a:p>
        </p:txBody>
      </p:sp>
      <p:sp>
        <p:nvSpPr>
          <p:cNvPr id="56" name="TextBox 55"/>
          <p:cNvSpPr txBox="1"/>
          <p:nvPr/>
        </p:nvSpPr>
        <p:spPr>
          <a:xfrm>
            <a:off x="4627778" y="3012948"/>
            <a:ext cx="2641701"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noul · choice · score</a:t>
            </a:r>
          </a:p>
        </p:txBody>
      </p:sp>
      <p:sp>
        <p:nvSpPr>
          <p:cNvPr id="57" name="Rectangle 56"/>
          <p:cNvSpPr/>
          <p:nvPr/>
        </p:nvSpPr>
        <p:spPr>
          <a:xfrm>
            <a:off x="548640" y="3328415"/>
            <a:ext cx="6812280" cy="365760"/>
          </a:xfrm>
          <a:prstGeom prst="rect">
            <a:avLst/>
          </a:prstGeom>
          <a:solidFill>
            <a:srgbClr val="F6F8FD"/>
          </a:solidFill>
          <a:ln>
            <a:noFill/>
          </a:ln>
          <a:effectLst/>
        </p:spPr>
        <p:txBody>
          <a:bodyPr wrap="square" rtlCol="0" anchor="ctr"/>
          <a:lstStyle/>
          <a:p>
            <a:endParaRPr/>
          </a:p>
        </p:txBody>
      </p:sp>
      <p:cxnSp>
        <p:nvCxnSpPr>
          <p:cNvPr id="58" name="Connector 57"/>
          <p:cNvCxnSpPr/>
          <p:nvPr/>
        </p:nvCxnSpPr>
        <p:spPr>
          <a:xfrm>
            <a:off x="548640" y="3694176"/>
            <a:ext cx="6812280" cy="0"/>
          </a:xfrm>
          <a:prstGeom prst="line">
            <a:avLst/>
          </a:prstGeom>
          <a:ln w="9525">
            <a:solidFill>
              <a:srgbClr val="E1E7F4"/>
            </a:solidFill>
          </a:ln>
        </p:spPr>
      </p:cxnSp>
      <p:sp>
        <p:nvSpPr>
          <p:cNvPr id="59" name="TextBox 58"/>
          <p:cNvSpPr txBox="1"/>
          <p:nvPr/>
        </p:nvSpPr>
        <p:spPr>
          <a:xfrm>
            <a:off x="676656" y="3378708"/>
            <a:ext cx="1143000" cy="28346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Per request</a:t>
            </a:r>
          </a:p>
        </p:txBody>
      </p:sp>
      <p:sp>
        <p:nvSpPr>
          <p:cNvPr id="60" name="TextBox 59"/>
          <p:cNvSpPr txBox="1"/>
          <p:nvPr/>
        </p:nvSpPr>
        <p:spPr>
          <a:xfrm>
            <a:off x="2039112" y="3378708"/>
            <a:ext cx="2369210"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up to 400 independent questions</a:t>
            </a:r>
          </a:p>
        </p:txBody>
      </p:sp>
      <p:sp>
        <p:nvSpPr>
          <p:cNvPr id="61" name="TextBox 60"/>
          <p:cNvSpPr txBox="1"/>
          <p:nvPr/>
        </p:nvSpPr>
        <p:spPr>
          <a:xfrm>
            <a:off x="4627778" y="3378708"/>
            <a:ext cx="2641701"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several named questions on one state</a:t>
            </a:r>
          </a:p>
        </p:txBody>
      </p:sp>
      <p:cxnSp>
        <p:nvCxnSpPr>
          <p:cNvPr id="62" name="Connector 61"/>
          <p:cNvCxnSpPr/>
          <p:nvPr/>
        </p:nvCxnSpPr>
        <p:spPr>
          <a:xfrm>
            <a:off x="548640" y="4059936"/>
            <a:ext cx="6812280" cy="0"/>
          </a:xfrm>
          <a:prstGeom prst="line">
            <a:avLst/>
          </a:prstGeom>
          <a:ln w="9525">
            <a:solidFill>
              <a:srgbClr val="E1E7F4"/>
            </a:solidFill>
          </a:ln>
        </p:spPr>
      </p:cxnSp>
      <p:sp>
        <p:nvSpPr>
          <p:cNvPr id="63" name="TextBox 62"/>
          <p:cNvSpPr txBox="1"/>
          <p:nvPr/>
        </p:nvSpPr>
        <p:spPr>
          <a:xfrm>
            <a:off x="676656" y="3744468"/>
            <a:ext cx="1143000" cy="283464"/>
          </a:xfrm>
          <a:prstGeom prst="rect">
            <a:avLst/>
          </a:prstGeom>
          <a:noFill/>
        </p:spPr>
        <p:txBody>
          <a:bodyPr wrap="square" lIns="0" tIns="0" rIns="0" bIns="0" anchor="ctr">
            <a:spAutoFit/>
          </a:bodyPr>
          <a:lstStyle/>
          <a:p>
            <a:pPr algn="l">
              <a:lnSpc>
                <a:spcPct val="112000"/>
              </a:lnSpc>
            </a:pPr>
            <a:r>
              <a:rPr sz="800" b="1" i="0" dirty="0">
                <a:solidFill>
                  <a:srgbClr val="101A3C"/>
                </a:solidFill>
                <a:latin typeface="Segoe UI"/>
                <a:cs typeface="Segoe UI"/>
              </a:rPr>
              <a:t>Availability</a:t>
            </a:r>
          </a:p>
        </p:txBody>
      </p:sp>
      <p:sp>
        <p:nvSpPr>
          <p:cNvPr id="64" name="TextBox 63"/>
          <p:cNvSpPr txBox="1"/>
          <p:nvPr/>
        </p:nvSpPr>
        <p:spPr>
          <a:xfrm>
            <a:off x="2039112" y="3744468"/>
            <a:ext cx="2369210"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gpt-6-luna regions, except East US 2</a:t>
            </a:r>
          </a:p>
        </p:txBody>
      </p:sp>
      <p:sp>
        <p:nvSpPr>
          <p:cNvPr id="65" name="TextBox 64"/>
          <p:cNvSpPr txBox="1"/>
          <p:nvPr/>
        </p:nvSpPr>
        <p:spPr>
          <a:xfrm>
            <a:off x="4627778" y="3744468"/>
            <a:ext cx="2641701" cy="283464"/>
          </a:xfrm>
          <a:prstGeom prst="rect">
            <a:avLst/>
          </a:prstGeom>
          <a:noFill/>
        </p:spPr>
        <p:txBody>
          <a:bodyPr wrap="square" lIns="0" tIns="0" rIns="0" bIns="0" anchor="ctr">
            <a:spAutoFit/>
          </a:bodyPr>
          <a:lstStyle/>
          <a:p>
            <a:pPr algn="l">
              <a:lnSpc>
                <a:spcPct val="112000"/>
              </a:lnSpc>
            </a:pPr>
            <a:r>
              <a:rPr sz="800" b="0" i="0" dirty="0">
                <a:solidFill>
                  <a:srgbClr val="44495B"/>
                </a:solidFill>
                <a:latin typeface="Segoe UI"/>
                <a:cs typeface="Segoe UI"/>
              </a:rPr>
              <a:t>Global Standard; Data Zone Standard in selected regions</a:t>
            </a:r>
          </a:p>
        </p:txBody>
      </p:sp>
      <p:cxnSp>
        <p:nvCxnSpPr>
          <p:cNvPr id="66" name="Connector 65"/>
          <p:cNvCxnSpPr/>
          <p:nvPr/>
        </p:nvCxnSpPr>
        <p:spPr>
          <a:xfrm>
            <a:off x="1911096" y="1865376"/>
            <a:ext cx="0" cy="2194560"/>
          </a:xfrm>
          <a:prstGeom prst="line">
            <a:avLst/>
          </a:prstGeom>
          <a:ln w="9525">
            <a:solidFill>
              <a:srgbClr val="E1E7F4"/>
            </a:solidFill>
          </a:ln>
        </p:spPr>
      </p:cxnSp>
      <p:cxnSp>
        <p:nvCxnSpPr>
          <p:cNvPr id="67" name="Connector 66"/>
          <p:cNvCxnSpPr/>
          <p:nvPr/>
        </p:nvCxnSpPr>
        <p:spPr>
          <a:xfrm>
            <a:off x="4499762" y="1865376"/>
            <a:ext cx="0" cy="2194560"/>
          </a:xfrm>
          <a:prstGeom prst="line">
            <a:avLst/>
          </a:prstGeom>
          <a:ln w="9525">
            <a:solidFill>
              <a:srgbClr val="E1E7F4"/>
            </a:solidFill>
          </a:ln>
        </p:spPr>
      </p:cxnSp>
      <p:sp>
        <p:nvSpPr>
          <p:cNvPr id="68" name="TextBox 67"/>
          <p:cNvSpPr txBox="1"/>
          <p:nvPr/>
        </p:nvSpPr>
        <p:spPr>
          <a:xfrm>
            <a:off x="7635240" y="132588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REQUEST AND RESPONSE</a:t>
            </a:r>
          </a:p>
        </p:txBody>
      </p:sp>
      <p:sp>
        <p:nvSpPr>
          <p:cNvPr id="69" name="Rectangle 68"/>
          <p:cNvSpPr/>
          <p:nvPr/>
        </p:nvSpPr>
        <p:spPr>
          <a:xfrm>
            <a:off x="7635240" y="1554480"/>
            <a:ext cx="4005072" cy="1920240"/>
          </a:xfrm>
          <a:prstGeom prst="rect">
            <a:avLst/>
          </a:prstGeom>
          <a:solidFill>
            <a:srgbClr val="0B1229"/>
          </a:solidFill>
          <a:ln>
            <a:noFill/>
          </a:ln>
          <a:effectLst/>
        </p:spPr>
        <p:txBody>
          <a:bodyPr wrap="square" rtlCol="0" anchor="ctr"/>
          <a:lstStyle/>
          <a:p>
            <a:endParaRPr/>
          </a:p>
        </p:txBody>
      </p:sp>
      <p:sp>
        <p:nvSpPr>
          <p:cNvPr id="70" name="TextBox 69"/>
          <p:cNvSpPr txBox="1"/>
          <p:nvPr/>
        </p:nvSpPr>
        <p:spPr>
          <a:xfrm>
            <a:off x="7854696" y="1700784"/>
            <a:ext cx="3566160" cy="1645920"/>
          </a:xfrm>
          <a:prstGeom prst="rect">
            <a:avLst/>
          </a:prstGeom>
          <a:noFill/>
        </p:spPr>
        <p:txBody>
          <a:bodyPr wrap="none" lIns="0" tIns="0" rIns="0" bIns="0" anchor="t">
            <a:spAutoFit/>
          </a:bodyPr>
          <a:lstStyle/>
          <a:p>
            <a:pPr algn="l">
              <a:lnSpc>
                <a:spcPct val="128000"/>
              </a:lnSpc>
            </a:pPr>
            <a:r>
              <a:rPr sz="750" b="0" i="0" dirty="0">
                <a:solidFill>
                  <a:srgbClr val="D6DEEE"/>
                </a:solidFill>
                <a:latin typeface="Consolas"/>
                <a:cs typeface="Consolas"/>
              </a:rPr>
              <a:t>POST …/openai/v1/decisions</a:t>
            </a:r>
          </a:p>
          <a:p>
            <a:pPr algn="l">
              <a:lnSpc>
                <a:spcPct val="128000"/>
              </a:lnSpc>
            </a:pPr>
            <a:r>
              <a:rPr sz="750" b="0" i="0" dirty="0">
                <a:solidFill>
                  <a:srgbClr val="D6DEEE"/>
                </a:solidFill>
                <a:latin typeface="Consolas"/>
                <a:cs typeface="Consolas"/>
              </a:rPr>
              <a:t>{ "model": "gpt-6-luna",</a:t>
            </a:r>
          </a:p>
          <a:p>
            <a:pPr algn="l">
              <a:lnSpc>
                <a:spcPct val="128000"/>
              </a:lnSpc>
            </a:pPr>
            <a:r>
              <a:rPr sz="750" b="0" i="0" dirty="0">
                <a:solidFill>
                  <a:srgbClr val="D6DEEE"/>
                </a:solidFill>
                <a:latin typeface="Consolas"/>
                <a:cs typeface="Consolas"/>
              </a:rPr>
              <a:t>  "input": "I was charged twice.",</a:t>
            </a:r>
          </a:p>
          <a:p>
            <a:pPr algn="l">
              <a:lnSpc>
                <a:spcPct val="128000"/>
              </a:lnSpc>
            </a:pPr>
            <a:r>
              <a:rPr sz="750" b="0" i="0" dirty="0">
                <a:solidFill>
                  <a:srgbClr val="D6DEEE"/>
                </a:solidFill>
                <a:latin typeface="Consolas"/>
                <a:cs typeface="Consolas"/>
              </a:rPr>
              <a:t>  "questions": [{ "type": "choice",</a:t>
            </a:r>
          </a:p>
          <a:p>
            <a:pPr algn="l">
              <a:lnSpc>
                <a:spcPct val="128000"/>
              </a:lnSpc>
            </a:pPr>
            <a:r>
              <a:rPr sz="750" b="0" i="0" dirty="0">
                <a:solidFill>
                  <a:srgbClr val="D6DEEE"/>
                </a:solidFill>
                <a:latin typeface="Consolas"/>
                <a:cs typeface="Consolas"/>
              </a:rPr>
              <a:t>     "name": "department",</a:t>
            </a:r>
          </a:p>
          <a:p>
            <a:pPr algn="l">
              <a:lnSpc>
                <a:spcPct val="128000"/>
              </a:lnSpc>
            </a:pPr>
            <a:r>
              <a:rPr sz="750" b="0" i="0" dirty="0">
                <a:solidFill>
                  <a:srgbClr val="D6DEEE"/>
                </a:solidFill>
                <a:latin typeface="Consolas"/>
                <a:cs typeface="Consolas"/>
              </a:rPr>
              <a:t>     "choices": [billing, technical, other] }] }</a:t>
            </a:r>
          </a:p>
          <a:p>
            <a:pPr algn="l">
              <a:lnSpc>
                <a:spcPct val="128000"/>
              </a:lnSpc>
            </a:pPr>
            <a:endParaRPr sz="750" b="0" i="0" dirty="0">
              <a:solidFill>
                <a:srgbClr val="D6DEEE"/>
              </a:solidFill>
              <a:latin typeface="Consolas"/>
              <a:cs typeface="Consolas"/>
            </a:endParaRPr>
          </a:p>
          <a:p>
            <a:pPr algn="l">
              <a:lnSpc>
                <a:spcPct val="128000"/>
              </a:lnSpc>
            </a:pPr>
            <a:r>
              <a:rPr sz="750" b="0" i="0" dirty="0">
                <a:solidFill>
                  <a:srgbClr val="D6DEEE"/>
                </a:solidFill>
                <a:latin typeface="Consolas"/>
                <a:cs typeface="Consolas"/>
              </a:rPr>
              <a:t>→ { "answers": [{ "type": "choice",</a:t>
            </a:r>
          </a:p>
          <a:p>
            <a:pPr algn="l">
              <a:lnSpc>
                <a:spcPct val="128000"/>
              </a:lnSpc>
            </a:pPr>
            <a:r>
              <a:rPr sz="750" b="0" i="0" dirty="0">
                <a:solidFill>
                  <a:srgbClr val="D6DEEE"/>
                </a:solidFill>
                <a:latin typeface="Consolas"/>
                <a:cs typeface="Consolas"/>
              </a:rPr>
              <a:t>     "name": "department", "choice": "billing",</a:t>
            </a:r>
          </a:p>
          <a:p>
            <a:pPr algn="l">
              <a:lnSpc>
                <a:spcPct val="128000"/>
              </a:lnSpc>
            </a:pPr>
            <a:r>
              <a:rPr sz="750" b="0" i="0" dirty="0">
                <a:solidFill>
                  <a:srgbClr val="D6DEEE"/>
                </a:solidFill>
                <a:latin typeface="Consolas"/>
                <a:cs typeface="Consolas"/>
              </a:rPr>
              <a:t>     "confidence": 0.93 }] }</a:t>
            </a:r>
          </a:p>
        </p:txBody>
      </p:sp>
      <p:sp>
        <p:nvSpPr>
          <p:cNvPr id="71" name="TextBox 70"/>
          <p:cNvSpPr txBox="1"/>
          <p:nvPr/>
        </p:nvSpPr>
        <p:spPr>
          <a:xfrm>
            <a:off x="7635240" y="3566160"/>
            <a:ext cx="869777" cy="2286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Yes or no</a:t>
            </a:r>
          </a:p>
        </p:txBody>
      </p:sp>
      <p:sp>
        <p:nvSpPr>
          <p:cNvPr id="72" name="TextBox 71"/>
          <p:cNvSpPr txBox="1"/>
          <p:nvPr/>
        </p:nvSpPr>
        <p:spPr>
          <a:xfrm>
            <a:off x="8596457" y="3566160"/>
            <a:ext cx="3043854" cy="2286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probability from 0 to 1 that the condition is true</a:t>
            </a:r>
          </a:p>
        </p:txBody>
      </p:sp>
      <p:cxnSp>
        <p:nvCxnSpPr>
          <p:cNvPr id="73" name="Connector 72"/>
          <p:cNvCxnSpPr/>
          <p:nvPr/>
        </p:nvCxnSpPr>
        <p:spPr>
          <a:xfrm>
            <a:off x="7635240" y="3776472"/>
            <a:ext cx="4005072" cy="0"/>
          </a:xfrm>
          <a:prstGeom prst="line">
            <a:avLst/>
          </a:prstGeom>
          <a:ln w="9525">
            <a:solidFill>
              <a:srgbClr val="E1E7F4"/>
            </a:solidFill>
          </a:ln>
        </p:spPr>
      </p:cxnSp>
      <p:sp>
        <p:nvSpPr>
          <p:cNvPr id="74" name="TextBox 73"/>
          <p:cNvSpPr txBox="1"/>
          <p:nvPr/>
        </p:nvSpPr>
        <p:spPr>
          <a:xfrm>
            <a:off x="7635240" y="3794760"/>
            <a:ext cx="869777" cy="2286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Choice</a:t>
            </a:r>
          </a:p>
        </p:txBody>
      </p:sp>
      <p:sp>
        <p:nvSpPr>
          <p:cNvPr id="75" name="TextBox 74"/>
          <p:cNvSpPr txBox="1"/>
          <p:nvPr/>
        </p:nvSpPr>
        <p:spPr>
          <a:xfrm>
            <a:off x="8596457" y="3794760"/>
            <a:ext cx="3043854" cy="2286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one supplied option, a probability per option</a:t>
            </a:r>
          </a:p>
        </p:txBody>
      </p:sp>
      <p:cxnSp>
        <p:nvCxnSpPr>
          <p:cNvPr id="76" name="Connector 75"/>
          <p:cNvCxnSpPr/>
          <p:nvPr/>
        </p:nvCxnSpPr>
        <p:spPr>
          <a:xfrm>
            <a:off x="7635240" y="4005072"/>
            <a:ext cx="4005072" cy="0"/>
          </a:xfrm>
          <a:prstGeom prst="line">
            <a:avLst/>
          </a:prstGeom>
          <a:ln w="9525">
            <a:solidFill>
              <a:srgbClr val="E1E7F4"/>
            </a:solidFill>
          </a:ln>
        </p:spPr>
      </p:cxnSp>
      <p:sp>
        <p:nvSpPr>
          <p:cNvPr id="77" name="TextBox 76"/>
          <p:cNvSpPr txBox="1"/>
          <p:nvPr/>
        </p:nvSpPr>
        <p:spPr>
          <a:xfrm>
            <a:off x="7635240" y="4023360"/>
            <a:ext cx="869777" cy="2286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Score</a:t>
            </a:r>
          </a:p>
        </p:txBody>
      </p:sp>
      <p:sp>
        <p:nvSpPr>
          <p:cNvPr id="78" name="TextBox 77"/>
          <p:cNvSpPr txBox="1"/>
          <p:nvPr/>
        </p:nvSpPr>
        <p:spPr>
          <a:xfrm>
            <a:off x="8596457" y="4023360"/>
            <a:ext cx="3043854" cy="2286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probability-weighted average of ordered levels</a:t>
            </a:r>
          </a:p>
        </p:txBody>
      </p:sp>
      <p:cxnSp>
        <p:nvCxnSpPr>
          <p:cNvPr id="79" name="Connector 78"/>
          <p:cNvCxnSpPr/>
          <p:nvPr/>
        </p:nvCxnSpPr>
        <p:spPr>
          <a:xfrm>
            <a:off x="7635240" y="4233672"/>
            <a:ext cx="4005072" cy="0"/>
          </a:xfrm>
          <a:prstGeom prst="line">
            <a:avLst/>
          </a:prstGeom>
          <a:ln w="9525">
            <a:solidFill>
              <a:srgbClr val="E1E7F4"/>
            </a:solidFill>
          </a:ln>
        </p:spPr>
      </p:cxnSp>
      <p:sp>
        <p:nvSpPr>
          <p:cNvPr id="80" name="TextBox 79"/>
          <p:cNvSpPr txBox="1"/>
          <p:nvPr/>
        </p:nvSpPr>
        <p:spPr>
          <a:xfrm>
            <a:off x="7635240" y="4251960"/>
            <a:ext cx="869777" cy="228600"/>
          </a:xfrm>
          <a:prstGeom prst="rect">
            <a:avLst/>
          </a:prstGeom>
          <a:noFill/>
        </p:spPr>
        <p:txBody>
          <a:bodyPr wrap="square" lIns="0" tIns="0" rIns="0" bIns="0" anchor="ctr">
            <a:spAutoFit/>
          </a:bodyPr>
          <a:lstStyle/>
          <a:p>
            <a:pPr algn="l">
              <a:lnSpc>
                <a:spcPct val="105000"/>
              </a:lnSpc>
            </a:pPr>
            <a:r>
              <a:rPr sz="800" b="1" i="0" dirty="0">
                <a:solidFill>
                  <a:srgbClr val="101A3C"/>
                </a:solidFill>
                <a:latin typeface="Segoe UI"/>
                <a:cs typeface="Segoe UI"/>
              </a:rPr>
              <a:t>Refusal</a:t>
            </a:r>
          </a:p>
        </p:txBody>
      </p:sp>
      <p:sp>
        <p:nvSpPr>
          <p:cNvPr id="81" name="TextBox 80"/>
          <p:cNvSpPr txBox="1"/>
          <p:nvPr/>
        </p:nvSpPr>
        <p:spPr>
          <a:xfrm>
            <a:off x="8596457" y="4251960"/>
            <a:ext cx="3043854" cy="228600"/>
          </a:xfrm>
          <a:prstGeom prst="rect">
            <a:avLst/>
          </a:prstGeom>
          <a:noFill/>
        </p:spPr>
        <p:txBody>
          <a:bodyPr wrap="square" lIns="0" tIns="0" rIns="0" bIns="0" anchor="ctr">
            <a:spAutoFit/>
          </a:bodyPr>
          <a:lstStyle/>
          <a:p>
            <a:pPr algn="l">
              <a:lnSpc>
                <a:spcPct val="105000"/>
              </a:lnSpc>
            </a:pPr>
            <a:r>
              <a:rPr sz="800" b="0" i="0" dirty="0">
                <a:solidFill>
                  <a:srgbClr val="44495B"/>
                </a:solidFill>
                <a:latin typeface="Segoe UI"/>
                <a:cs typeface="Segoe UI"/>
              </a:rPr>
              <a:t>possible per question; other answers still return</a:t>
            </a:r>
          </a:p>
        </p:txBody>
      </p:sp>
      <p:cxnSp>
        <p:nvCxnSpPr>
          <p:cNvPr id="82" name="Connector 81"/>
          <p:cNvCxnSpPr/>
          <p:nvPr/>
        </p:nvCxnSpPr>
        <p:spPr>
          <a:xfrm>
            <a:off x="7635240" y="4462272"/>
            <a:ext cx="4005072" cy="0"/>
          </a:xfrm>
          <a:prstGeom prst="line">
            <a:avLst/>
          </a:prstGeom>
          <a:ln w="9525">
            <a:solidFill>
              <a:srgbClr val="E1E7F4"/>
            </a:solidFill>
          </a:ln>
        </p:spPr>
      </p:cxnSp>
      <p:sp>
        <p:nvSpPr>
          <p:cNvPr id="83" name="Rectangle 82"/>
          <p:cNvSpPr/>
          <p:nvPr/>
        </p:nvSpPr>
        <p:spPr>
          <a:xfrm>
            <a:off x="548640" y="4590288"/>
            <a:ext cx="3579266" cy="859536"/>
          </a:xfrm>
          <a:prstGeom prst="rect">
            <a:avLst/>
          </a:prstGeom>
          <a:solidFill>
            <a:srgbClr val="F6F8FD"/>
          </a:solidFill>
          <a:ln w="9525">
            <a:solidFill>
              <a:srgbClr val="E1E7F4"/>
            </a:solidFill>
          </a:ln>
          <a:effectLst/>
        </p:spPr>
        <p:txBody>
          <a:bodyPr wrap="square" rtlCol="0" anchor="ctr"/>
          <a:lstStyle/>
          <a:p>
            <a:endParaRPr/>
          </a:p>
        </p:txBody>
      </p:sp>
      <p:sp>
        <p:nvSpPr>
          <p:cNvPr id="84" name="Rectangle 83"/>
          <p:cNvSpPr/>
          <p:nvPr/>
        </p:nvSpPr>
        <p:spPr>
          <a:xfrm>
            <a:off x="548640" y="4590288"/>
            <a:ext cx="3579266" cy="41148"/>
          </a:xfrm>
          <a:prstGeom prst="rect">
            <a:avLst/>
          </a:prstGeom>
          <a:solidFill>
            <a:srgbClr val="00B39F"/>
          </a:solidFill>
          <a:ln>
            <a:noFill/>
          </a:ln>
          <a:effectLst/>
        </p:spPr>
        <p:txBody>
          <a:bodyPr wrap="square" rtlCol="0" anchor="ctr"/>
          <a:lstStyle/>
          <a:p>
            <a:endParaRPr/>
          </a:p>
        </p:txBody>
      </p:sp>
      <p:sp>
        <p:nvSpPr>
          <p:cNvPr id="85" name="TextBox 84"/>
          <p:cNvSpPr txBox="1"/>
          <p:nvPr/>
        </p:nvSpPr>
        <p:spPr>
          <a:xfrm>
            <a:off x="676656" y="4709159"/>
            <a:ext cx="332323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Use it for</a:t>
            </a:r>
          </a:p>
        </p:txBody>
      </p:sp>
      <p:sp>
        <p:nvSpPr>
          <p:cNvPr id="86" name="TextBox 85"/>
          <p:cNvSpPr txBox="1"/>
          <p:nvPr/>
        </p:nvSpPr>
        <p:spPr>
          <a:xfrm>
            <a:off x="676656" y="4951475"/>
            <a:ext cx="3323234" cy="448056"/>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Gates and filters · classification and routing · ranking and grading · choosing a model, tool or agent</a:t>
            </a:r>
          </a:p>
        </p:txBody>
      </p:sp>
      <p:sp>
        <p:nvSpPr>
          <p:cNvPr id="87" name="Rectangle 86"/>
          <p:cNvSpPr/>
          <p:nvPr/>
        </p:nvSpPr>
        <p:spPr>
          <a:xfrm>
            <a:off x="4306214" y="4590288"/>
            <a:ext cx="3579266" cy="859536"/>
          </a:xfrm>
          <a:prstGeom prst="rect">
            <a:avLst/>
          </a:prstGeom>
          <a:solidFill>
            <a:srgbClr val="F6F8FD"/>
          </a:solidFill>
          <a:ln w="9525">
            <a:solidFill>
              <a:srgbClr val="E1E7F4"/>
            </a:solidFill>
          </a:ln>
          <a:effectLst/>
        </p:spPr>
        <p:txBody>
          <a:bodyPr wrap="square" rtlCol="0" anchor="ctr"/>
          <a:lstStyle/>
          <a:p>
            <a:endParaRPr/>
          </a:p>
        </p:txBody>
      </p:sp>
      <p:sp>
        <p:nvSpPr>
          <p:cNvPr id="88" name="Rectangle 87"/>
          <p:cNvSpPr/>
          <p:nvPr/>
        </p:nvSpPr>
        <p:spPr>
          <a:xfrm>
            <a:off x="4306214" y="4590288"/>
            <a:ext cx="3579266" cy="41148"/>
          </a:xfrm>
          <a:prstGeom prst="rect">
            <a:avLst/>
          </a:prstGeom>
          <a:solidFill>
            <a:srgbClr val="00B39F"/>
          </a:solidFill>
          <a:ln>
            <a:noFill/>
          </a:ln>
          <a:effectLst/>
        </p:spPr>
        <p:txBody>
          <a:bodyPr wrap="square" rtlCol="0" anchor="ctr"/>
          <a:lstStyle/>
          <a:p>
            <a:endParaRPr/>
          </a:p>
        </p:txBody>
      </p:sp>
      <p:sp>
        <p:nvSpPr>
          <p:cNvPr id="89" name="TextBox 88"/>
          <p:cNvSpPr txBox="1"/>
          <p:nvPr/>
        </p:nvSpPr>
        <p:spPr>
          <a:xfrm>
            <a:off x="4434230" y="4709159"/>
            <a:ext cx="332323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Use something else for</a:t>
            </a:r>
          </a:p>
        </p:txBody>
      </p:sp>
      <p:sp>
        <p:nvSpPr>
          <p:cNvPr id="90" name="TextBox 89"/>
          <p:cNvSpPr txBox="1"/>
          <p:nvPr/>
        </p:nvSpPr>
        <p:spPr>
          <a:xfrm>
            <a:off x="4434230" y="4951475"/>
            <a:ext cx="3323234" cy="448056"/>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Writing, summarising or explaining → Responses API · custom JSON schema → structured outputs · tool arguments → function calling</a:t>
            </a:r>
          </a:p>
        </p:txBody>
      </p:sp>
      <p:sp>
        <p:nvSpPr>
          <p:cNvPr id="91" name="Rectangle 90"/>
          <p:cNvSpPr/>
          <p:nvPr/>
        </p:nvSpPr>
        <p:spPr>
          <a:xfrm>
            <a:off x="8063788" y="4590288"/>
            <a:ext cx="3579266" cy="859536"/>
          </a:xfrm>
          <a:prstGeom prst="rect">
            <a:avLst/>
          </a:prstGeom>
          <a:solidFill>
            <a:srgbClr val="F6F8FD"/>
          </a:solidFill>
          <a:ln w="9525">
            <a:solidFill>
              <a:srgbClr val="E1E7F4"/>
            </a:solidFill>
          </a:ln>
          <a:effectLst/>
        </p:spPr>
        <p:txBody>
          <a:bodyPr wrap="square" rtlCol="0" anchor="ctr"/>
          <a:lstStyle/>
          <a:p>
            <a:endParaRPr/>
          </a:p>
        </p:txBody>
      </p:sp>
      <p:sp>
        <p:nvSpPr>
          <p:cNvPr id="92" name="Rectangle 91"/>
          <p:cNvSpPr/>
          <p:nvPr/>
        </p:nvSpPr>
        <p:spPr>
          <a:xfrm>
            <a:off x="8063788" y="4590288"/>
            <a:ext cx="3579266" cy="41148"/>
          </a:xfrm>
          <a:prstGeom prst="rect">
            <a:avLst/>
          </a:prstGeom>
          <a:solidFill>
            <a:srgbClr val="101A3C"/>
          </a:solidFill>
          <a:ln>
            <a:noFill/>
          </a:ln>
          <a:effectLst/>
        </p:spPr>
        <p:txBody>
          <a:bodyPr wrap="square" rtlCol="0" anchor="ctr"/>
          <a:lstStyle/>
          <a:p>
            <a:endParaRPr/>
          </a:p>
        </p:txBody>
      </p:sp>
      <p:sp>
        <p:nvSpPr>
          <p:cNvPr id="93" name="TextBox 92"/>
          <p:cNvSpPr txBox="1"/>
          <p:nvPr/>
        </p:nvSpPr>
        <p:spPr>
          <a:xfrm>
            <a:off x="8191804" y="4709159"/>
            <a:ext cx="332323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Design rules</a:t>
            </a:r>
          </a:p>
        </p:txBody>
      </p:sp>
      <p:sp>
        <p:nvSpPr>
          <p:cNvPr id="94" name="TextBox 93"/>
          <p:cNvSpPr txBox="1"/>
          <p:nvPr/>
        </p:nvSpPr>
        <p:spPr>
          <a:xfrm>
            <a:off x="8191804" y="4951475"/>
            <a:ext cx="3323234" cy="448056"/>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Thresholds from labelled examples · a fallback option such as "other" · never the sole basis for decisions about people</a:t>
            </a:r>
          </a:p>
        </p:txBody>
      </p:sp>
      <p:sp>
        <p:nvSpPr>
          <p:cNvPr id="95" name="TextBox 94"/>
          <p:cNvSpPr txBox="1"/>
          <p:nvPr/>
        </p:nvSpPr>
        <p:spPr>
          <a:xfrm>
            <a:off x="7863840" y="5522976"/>
            <a:ext cx="3779215"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Tools, Toolboxes and Skills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tool is one capability; a toolbox bundles tools behind one MCP endpoint; a skill packages a multi-step procedure.</a:t>
            </a:r>
          </a:p>
          <a:p>
            <a:endParaRPr sz="1200">
              <a:solidFill>
                <a:srgbClr val="44495B"/>
              </a:solidFill>
              <a:latin typeface="Segoe UI"/>
            </a:endParaRPr>
          </a:p>
        </p:txBody>
      </p:sp>
      <p:sp>
        <p:nvSpPr>
          <p:cNvPr id="31" name="Shape"/>
          <p:cNvSpPr/>
          <p:nvPr/>
        </p:nvSpPr>
        <p:spPr>
          <a:xfrm>
            <a:off x="548640" y="5458968"/>
            <a:ext cx="11094720" cy="9525"/>
          </a:xfrm>
          <a:prstGeom prst="rect">
            <a:avLst/>
          </a:prstGeom>
          <a:solidFill>
            <a:srgbClr val="E1E7F4"/>
          </a:solidFill>
        </p:spPr>
        <p:txBody>
          <a:bodyPr/>
          <a:lstStyle/>
          <a:p>
            <a:endParaRPr/>
          </a:p>
        </p:txBody>
      </p:sp>
      <p:sp>
        <p:nvSpPr>
          <p:cNvPr id="32"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learn.microsoft.com/azure/foundry/agents/concepts/toolbox-overview</a:t>
            </a:r>
          </a:p>
          <a:p>
            <a:endParaRPr sz="900">
              <a:solidFill>
                <a:srgbClr val="44495B"/>
              </a:solidFill>
              <a:latin typeface="Segoe UI"/>
            </a:endParaRPr>
          </a:p>
        </p:txBody>
      </p:sp>
      <p:sp>
        <p:nvSpPr>
          <p:cNvPr id="33"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12</a:t>
            </a:r>
          </a:p>
        </p:txBody>
      </p:sp>
      <p:sp>
        <p:nvSpPr>
          <p:cNvPr id="34" name="Rectangle 33"/>
          <p:cNvSpPr/>
          <p:nvPr/>
        </p:nvSpPr>
        <p:spPr>
          <a:xfrm>
            <a:off x="548640" y="1298448"/>
            <a:ext cx="3575304" cy="960120"/>
          </a:xfrm>
          <a:prstGeom prst="rect">
            <a:avLst/>
          </a:prstGeom>
          <a:solidFill>
            <a:srgbClr val="F6F8FD"/>
          </a:solidFill>
          <a:ln w="9525">
            <a:solidFill>
              <a:srgbClr val="E1E7F4"/>
            </a:solidFill>
          </a:ln>
          <a:effectLst/>
        </p:spPr>
        <p:txBody>
          <a:bodyPr rtlCol="0" anchor="ctr"/>
          <a:lstStyle/>
          <a:p>
            <a:pPr algn="ctr"/>
            <a:endParaRPr/>
          </a:p>
        </p:txBody>
      </p:sp>
      <p:sp>
        <p:nvSpPr>
          <p:cNvPr id="35" name="Rectangle 34"/>
          <p:cNvSpPr/>
          <p:nvPr/>
        </p:nvSpPr>
        <p:spPr>
          <a:xfrm>
            <a:off x="548640" y="1298448"/>
            <a:ext cx="3575304" cy="45720"/>
          </a:xfrm>
          <a:prstGeom prst="rect">
            <a:avLst/>
          </a:prstGeom>
          <a:solidFill>
            <a:srgbClr val="00B39F"/>
          </a:solidFill>
          <a:ln>
            <a:noFill/>
          </a:ln>
          <a:effectLst/>
        </p:spPr>
        <p:txBody>
          <a:bodyPr rtlCol="0" anchor="ctr"/>
          <a:lstStyle/>
          <a:p>
            <a:pPr algn="ctr"/>
            <a:endParaRPr/>
          </a:p>
        </p:txBody>
      </p:sp>
      <p:sp>
        <p:nvSpPr>
          <p:cNvPr id="36" name="TextBox 35"/>
          <p:cNvSpPr txBox="1"/>
          <p:nvPr/>
        </p:nvSpPr>
        <p:spPr>
          <a:xfrm>
            <a:off x="548640" y="1353312"/>
            <a:ext cx="3575304" cy="886968"/>
          </a:xfrm>
          <a:prstGeom prst="rect">
            <a:avLst/>
          </a:prstGeom>
          <a:noFill/>
        </p:spPr>
        <p:txBody>
          <a:bodyPr wrap="square" lIns="73152" tIns="27432" rIns="73152" bIns="27432" anchor="t">
            <a:spAutoFit/>
          </a:bodyPr>
          <a:lstStyle/>
          <a:p>
            <a:pPr algn="l"/>
            <a:r>
              <a:rPr sz="850" b="1">
                <a:solidFill>
                  <a:srgbClr val="141B33"/>
                </a:solidFill>
                <a:latin typeface="Segoe UI"/>
              </a:rPr>
              <a:t>Tool</a:t>
            </a:r>
          </a:p>
          <a:p>
            <a:pPr algn="l">
              <a:spcBef>
                <a:spcPts val="300"/>
              </a:spcBef>
            </a:pPr>
            <a:r>
              <a:rPr sz="850" b="0">
                <a:solidFill>
                  <a:srgbClr val="141B33"/>
                </a:solidFill>
                <a:latin typeface="Segoe UI"/>
              </a:rPr>
              <a:t>A capability an agent can invoke during a conversation. The model decides whether to call it from its instructions and the tool definitions; the client application or the service executes it and the result flows back.</a:t>
            </a:r>
          </a:p>
        </p:txBody>
      </p:sp>
      <p:sp>
        <p:nvSpPr>
          <p:cNvPr id="37" name="Rectangle 36"/>
          <p:cNvSpPr/>
          <p:nvPr/>
        </p:nvSpPr>
        <p:spPr>
          <a:xfrm>
            <a:off x="4306824" y="1298448"/>
            <a:ext cx="3575304" cy="960120"/>
          </a:xfrm>
          <a:prstGeom prst="rect">
            <a:avLst/>
          </a:prstGeom>
          <a:solidFill>
            <a:srgbClr val="F6F8FD"/>
          </a:solidFill>
          <a:ln w="9525">
            <a:solidFill>
              <a:srgbClr val="E1E7F4"/>
            </a:solidFill>
          </a:ln>
          <a:effectLst/>
        </p:spPr>
        <p:txBody>
          <a:bodyPr rtlCol="0" anchor="ctr"/>
          <a:lstStyle/>
          <a:p>
            <a:pPr algn="ctr"/>
            <a:endParaRPr/>
          </a:p>
        </p:txBody>
      </p:sp>
      <p:sp>
        <p:nvSpPr>
          <p:cNvPr id="38" name="Rectangle 37"/>
          <p:cNvSpPr/>
          <p:nvPr/>
        </p:nvSpPr>
        <p:spPr>
          <a:xfrm>
            <a:off x="4306824" y="1298448"/>
            <a:ext cx="3575304" cy="45720"/>
          </a:xfrm>
          <a:prstGeom prst="rect">
            <a:avLst/>
          </a:prstGeom>
          <a:solidFill>
            <a:srgbClr val="00B39F"/>
          </a:solidFill>
          <a:ln>
            <a:noFill/>
          </a:ln>
          <a:effectLst/>
        </p:spPr>
        <p:txBody>
          <a:bodyPr rtlCol="0" anchor="ctr"/>
          <a:lstStyle/>
          <a:p>
            <a:pPr algn="ctr"/>
            <a:endParaRPr/>
          </a:p>
        </p:txBody>
      </p:sp>
      <p:sp>
        <p:nvSpPr>
          <p:cNvPr id="39" name="TextBox 38"/>
          <p:cNvSpPr txBox="1"/>
          <p:nvPr/>
        </p:nvSpPr>
        <p:spPr>
          <a:xfrm>
            <a:off x="4306824" y="1353312"/>
            <a:ext cx="3575304" cy="886968"/>
          </a:xfrm>
          <a:prstGeom prst="rect">
            <a:avLst/>
          </a:prstGeom>
          <a:noFill/>
        </p:spPr>
        <p:txBody>
          <a:bodyPr wrap="square" lIns="73152" tIns="27432" rIns="73152" bIns="27432" anchor="t">
            <a:spAutoFit/>
          </a:bodyPr>
          <a:lstStyle/>
          <a:p>
            <a:pPr algn="l"/>
            <a:r>
              <a:rPr sz="850" b="1">
                <a:solidFill>
                  <a:srgbClr val="141B33"/>
                </a:solidFill>
                <a:latin typeface="Segoe UI"/>
              </a:rPr>
              <a:t>Toolbox</a:t>
            </a:r>
          </a:p>
          <a:p>
            <a:pPr algn="l">
              <a:spcBef>
                <a:spcPts val="300"/>
              </a:spcBef>
            </a:pPr>
            <a:r>
              <a:rPr sz="850" b="0">
                <a:solidFill>
                  <a:srgbClr val="141B33"/>
                </a:solidFill>
                <a:latin typeface="Segoe UI"/>
              </a:rPr>
              <a:t>A curated bundle of tools configured once and exposed as a single MCP-compatible endpoint. Any MCP-capable runtime can consume it — prompt agents*, Agent Framework, LangGraph, GitHub Copilot SDK or custom code.</a:t>
            </a:r>
          </a:p>
        </p:txBody>
      </p:sp>
      <p:sp>
        <p:nvSpPr>
          <p:cNvPr id="40" name="Rectangle 39"/>
          <p:cNvSpPr/>
          <p:nvPr/>
        </p:nvSpPr>
        <p:spPr>
          <a:xfrm>
            <a:off x="8065008" y="1298448"/>
            <a:ext cx="3575304" cy="960120"/>
          </a:xfrm>
          <a:prstGeom prst="rect">
            <a:avLst/>
          </a:prstGeom>
          <a:solidFill>
            <a:srgbClr val="F6F8FD"/>
          </a:solidFill>
          <a:ln w="9525">
            <a:solidFill>
              <a:srgbClr val="E1E7F4"/>
            </a:solidFill>
          </a:ln>
          <a:effectLst/>
        </p:spPr>
        <p:txBody>
          <a:bodyPr rtlCol="0" anchor="ctr"/>
          <a:lstStyle/>
          <a:p>
            <a:pPr algn="ctr"/>
            <a:endParaRPr/>
          </a:p>
        </p:txBody>
      </p:sp>
      <p:sp>
        <p:nvSpPr>
          <p:cNvPr id="41" name="Rectangle 40"/>
          <p:cNvSpPr/>
          <p:nvPr/>
        </p:nvSpPr>
        <p:spPr>
          <a:xfrm>
            <a:off x="8065008" y="1298448"/>
            <a:ext cx="3575304" cy="45720"/>
          </a:xfrm>
          <a:prstGeom prst="rect">
            <a:avLst/>
          </a:prstGeom>
          <a:solidFill>
            <a:srgbClr val="101A3C"/>
          </a:solidFill>
          <a:ln>
            <a:noFill/>
          </a:ln>
          <a:effectLst/>
        </p:spPr>
        <p:txBody>
          <a:bodyPr rtlCol="0" anchor="ctr"/>
          <a:lstStyle/>
          <a:p>
            <a:pPr algn="ctr"/>
            <a:endParaRPr/>
          </a:p>
        </p:txBody>
      </p:sp>
      <p:sp>
        <p:nvSpPr>
          <p:cNvPr id="42" name="TextBox 41"/>
          <p:cNvSpPr txBox="1"/>
          <p:nvPr/>
        </p:nvSpPr>
        <p:spPr>
          <a:xfrm>
            <a:off x="8065008" y="1353312"/>
            <a:ext cx="3575304" cy="886968"/>
          </a:xfrm>
          <a:prstGeom prst="rect">
            <a:avLst/>
          </a:prstGeom>
          <a:noFill/>
        </p:spPr>
        <p:txBody>
          <a:bodyPr wrap="square" lIns="73152" tIns="27432" rIns="73152" bIns="27432" anchor="t">
            <a:spAutoFit/>
          </a:bodyPr>
          <a:lstStyle/>
          <a:p>
            <a:pPr algn="l"/>
            <a:r>
              <a:rPr sz="850" b="1">
                <a:solidFill>
                  <a:srgbClr val="141B33"/>
                </a:solidFill>
                <a:latin typeface="Segoe UI"/>
              </a:rPr>
              <a:t>Skill*</a:t>
            </a:r>
          </a:p>
          <a:p>
            <a:pPr algn="l">
              <a:spcBef>
                <a:spcPts val="300"/>
              </a:spcBef>
            </a:pPr>
            <a:r>
              <a:rPr sz="850" b="0">
                <a:solidFill>
                  <a:srgbClr val="141B33"/>
                </a:solidFill>
                <a:latin typeface="Segoe UI"/>
              </a:rPr>
              <a:t>Tools define what an agent can do; skills define how it performs a task. A skill packages a reusable multi-step procedure, versioned and immutable, that agents discover through MCP resources.</a:t>
            </a:r>
          </a:p>
        </p:txBody>
      </p:sp>
      <p:sp>
        <p:nvSpPr>
          <p:cNvPr id="43" name="TextBox 42"/>
          <p:cNvSpPr txBox="1"/>
          <p:nvPr/>
        </p:nvSpPr>
        <p:spPr>
          <a:xfrm>
            <a:off x="548640" y="2459736"/>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TOOLS REACH AN AGENT</a:t>
            </a:r>
          </a:p>
        </p:txBody>
      </p:sp>
      <p:sp>
        <p:nvSpPr>
          <p:cNvPr id="44" name="Rectangle 43"/>
          <p:cNvSpPr/>
          <p:nvPr/>
        </p:nvSpPr>
        <p:spPr>
          <a:xfrm>
            <a:off x="548640" y="2715768"/>
            <a:ext cx="11091672" cy="365760"/>
          </a:xfrm>
          <a:prstGeom prst="rect">
            <a:avLst/>
          </a:prstGeom>
          <a:solidFill>
            <a:srgbClr val="EBEFF7"/>
          </a:solidFill>
          <a:ln>
            <a:noFill/>
          </a:ln>
          <a:effectLst/>
        </p:spPr>
        <p:txBody>
          <a:bodyPr rtlCol="0" anchor="ctr"/>
          <a:lstStyle/>
          <a:p>
            <a:pPr algn="ctr"/>
            <a:endParaRPr/>
          </a:p>
        </p:txBody>
      </p:sp>
      <p:sp>
        <p:nvSpPr>
          <p:cNvPr id="45" name="TextBox 44"/>
          <p:cNvSpPr txBox="1"/>
          <p:nvPr/>
        </p:nvSpPr>
        <p:spPr>
          <a:xfrm>
            <a:off x="548640" y="2715768"/>
            <a:ext cx="11091672" cy="365760"/>
          </a:xfrm>
          <a:prstGeom prst="rect">
            <a:avLst/>
          </a:prstGeom>
          <a:noFill/>
        </p:spPr>
        <p:txBody>
          <a:bodyPr wrap="square" lIns="73152" tIns="27432" rIns="73152" bIns="27432" anchor="ctr">
            <a:spAutoFit/>
          </a:bodyPr>
          <a:lstStyle/>
          <a:p>
            <a:pPr algn="ctr"/>
            <a:r>
              <a:rPr sz="850" b="1">
                <a:solidFill>
                  <a:srgbClr val="141B33"/>
                </a:solidFill>
                <a:latin typeface="Segoe UI"/>
              </a:rPr>
              <a:t>Agents  </a:t>
            </a:r>
            <a:r>
              <a:rPr sz="850" b="0">
                <a:solidFill>
                  <a:srgbClr val="141B33"/>
                </a:solidFill>
                <a:latin typeface="Segoe UI"/>
              </a:rPr>
              <a:t>prompt agent · hosted agent (Agent Framework, LangGraph, GitHub Copilot SDK, custom code) · any MCP-capable runtime</a:t>
            </a:r>
          </a:p>
        </p:txBody>
      </p:sp>
      <p:sp>
        <p:nvSpPr>
          <p:cNvPr id="46" name="Down Arrow 45"/>
          <p:cNvSpPr/>
          <p:nvPr/>
        </p:nvSpPr>
        <p:spPr>
          <a:xfrm>
            <a:off x="5989320" y="3108959"/>
            <a:ext cx="201168" cy="164592"/>
          </a:xfrm>
          <a:prstGeom prst="downArrow">
            <a:avLst/>
          </a:prstGeom>
          <a:solidFill>
            <a:srgbClr val="00B39F"/>
          </a:solidFill>
          <a:ln>
            <a:noFill/>
          </a:ln>
          <a:effectLst/>
        </p:spPr>
        <p:txBody>
          <a:bodyPr rtlCol="0" anchor="ctr"/>
          <a:lstStyle/>
          <a:p>
            <a:pPr algn="ctr"/>
            <a:endParaRPr/>
          </a:p>
        </p:txBody>
      </p:sp>
      <p:sp>
        <p:nvSpPr>
          <p:cNvPr id="47" name="Rectangle 46"/>
          <p:cNvSpPr/>
          <p:nvPr/>
        </p:nvSpPr>
        <p:spPr>
          <a:xfrm>
            <a:off x="548640" y="3300983"/>
            <a:ext cx="11091672" cy="420624"/>
          </a:xfrm>
          <a:prstGeom prst="rect">
            <a:avLst/>
          </a:prstGeom>
          <a:solidFill>
            <a:srgbClr val="101A3C"/>
          </a:solidFill>
          <a:ln>
            <a:noFill/>
          </a:ln>
          <a:effectLst/>
        </p:spPr>
        <p:txBody>
          <a:bodyPr rtlCol="0" anchor="ctr"/>
          <a:lstStyle/>
          <a:p>
            <a:pPr algn="ctr"/>
            <a:endParaRPr/>
          </a:p>
        </p:txBody>
      </p:sp>
      <p:sp>
        <p:nvSpPr>
          <p:cNvPr id="48" name="TextBox 47"/>
          <p:cNvSpPr txBox="1"/>
          <p:nvPr/>
        </p:nvSpPr>
        <p:spPr>
          <a:xfrm>
            <a:off x="548640" y="3300983"/>
            <a:ext cx="11091672" cy="420624"/>
          </a:xfrm>
          <a:prstGeom prst="rect">
            <a:avLst/>
          </a:prstGeom>
          <a:noFill/>
        </p:spPr>
        <p:txBody>
          <a:bodyPr wrap="square" lIns="73152" tIns="27432" rIns="73152" bIns="27432" anchor="ctr">
            <a:spAutoFit/>
          </a:bodyPr>
          <a:lstStyle/>
          <a:p>
            <a:pPr algn="ctr"/>
            <a:r>
              <a:rPr sz="850" b="1">
                <a:solidFill>
                  <a:srgbClr val="FFFFFF"/>
                </a:solidFill>
                <a:latin typeface="Segoe UI"/>
              </a:rPr>
              <a:t>Toolbox — one MCP-compatible endpoint  </a:t>
            </a:r>
            <a:r>
              <a:rPr sz="850" b="0">
                <a:solidFill>
                  <a:srgbClr val="FFFFFF"/>
                </a:solidFill>
                <a:latin typeface="Segoe UI"/>
              </a:rPr>
              <a:t>centralised authentication (key · Entra managed identity · OAuth on-behalf-of) · guardrails on tool input and output · versioning with a promoted default</a:t>
            </a:r>
          </a:p>
        </p:txBody>
      </p:sp>
      <p:sp>
        <p:nvSpPr>
          <p:cNvPr id="49" name="Down Arrow 48"/>
          <p:cNvSpPr/>
          <p:nvPr/>
        </p:nvSpPr>
        <p:spPr>
          <a:xfrm>
            <a:off x="5989320" y="3749039"/>
            <a:ext cx="201168" cy="164592"/>
          </a:xfrm>
          <a:prstGeom prst="downArrow">
            <a:avLst/>
          </a:prstGeom>
          <a:solidFill>
            <a:srgbClr val="00B39F"/>
          </a:solidFill>
          <a:ln>
            <a:noFill/>
          </a:ln>
          <a:effectLst/>
        </p:spPr>
        <p:txBody>
          <a:bodyPr rtlCol="0" anchor="ctr"/>
          <a:lstStyle/>
          <a:p>
            <a:pPr algn="ctr"/>
            <a:endParaRPr/>
          </a:p>
        </p:txBody>
      </p:sp>
      <p:sp>
        <p:nvSpPr>
          <p:cNvPr id="50" name="Rectangle 49"/>
          <p:cNvSpPr/>
          <p:nvPr/>
        </p:nvSpPr>
        <p:spPr>
          <a:xfrm>
            <a:off x="548640" y="3959351"/>
            <a:ext cx="5074920" cy="1417320"/>
          </a:xfrm>
          <a:prstGeom prst="rect">
            <a:avLst/>
          </a:prstGeom>
          <a:solidFill>
            <a:srgbClr val="F6F8FD"/>
          </a:solidFill>
          <a:ln w="9525">
            <a:solidFill>
              <a:srgbClr val="E1E7F4"/>
            </a:solidFill>
          </a:ln>
          <a:effectLst/>
        </p:spPr>
        <p:txBody>
          <a:bodyPr rtlCol="0" anchor="ctr"/>
          <a:lstStyle/>
          <a:p>
            <a:pPr algn="ctr"/>
            <a:endParaRPr/>
          </a:p>
        </p:txBody>
      </p:sp>
      <p:sp>
        <p:nvSpPr>
          <p:cNvPr id="51" name="TextBox 50"/>
          <p:cNvSpPr txBox="1"/>
          <p:nvPr/>
        </p:nvSpPr>
        <p:spPr>
          <a:xfrm>
            <a:off x="548640" y="3977639"/>
            <a:ext cx="5074920" cy="237744"/>
          </a:xfrm>
          <a:prstGeom prst="rect">
            <a:avLst/>
          </a:prstGeom>
          <a:noFill/>
        </p:spPr>
        <p:txBody>
          <a:bodyPr wrap="square" lIns="73152" tIns="27432" rIns="73152" bIns="27432" anchor="ctr">
            <a:spAutoFit/>
          </a:bodyPr>
          <a:lstStyle/>
          <a:p>
            <a:pPr algn="l"/>
            <a:r>
              <a:rPr sz="850" b="1">
                <a:solidFill>
                  <a:srgbClr val="008173"/>
                </a:solidFill>
                <a:latin typeface="Segoe UI"/>
              </a:rPr>
              <a:t>Available through a Toolbox</a:t>
            </a:r>
          </a:p>
        </p:txBody>
      </p:sp>
      <p:sp>
        <p:nvSpPr>
          <p:cNvPr id="52" name="Rectangle 51"/>
          <p:cNvSpPr/>
          <p:nvPr/>
        </p:nvSpPr>
        <p:spPr>
          <a:xfrm>
            <a:off x="621792"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3" name="TextBox 52"/>
          <p:cNvSpPr txBox="1"/>
          <p:nvPr/>
        </p:nvSpPr>
        <p:spPr>
          <a:xfrm>
            <a:off x="621792"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Web search</a:t>
            </a:r>
          </a:p>
        </p:txBody>
      </p:sp>
      <p:sp>
        <p:nvSpPr>
          <p:cNvPr id="54" name="Rectangle 53"/>
          <p:cNvSpPr/>
          <p:nvPr/>
        </p:nvSpPr>
        <p:spPr>
          <a:xfrm>
            <a:off x="1865376"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5" name="TextBox 54"/>
          <p:cNvSpPr txBox="1"/>
          <p:nvPr/>
        </p:nvSpPr>
        <p:spPr>
          <a:xfrm>
            <a:off x="1865376"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Azure AI Search</a:t>
            </a:r>
          </a:p>
        </p:txBody>
      </p:sp>
      <p:sp>
        <p:nvSpPr>
          <p:cNvPr id="56" name="Rectangle 55"/>
          <p:cNvSpPr/>
          <p:nvPr/>
        </p:nvSpPr>
        <p:spPr>
          <a:xfrm>
            <a:off x="3108960"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7" name="TextBox 56"/>
          <p:cNvSpPr txBox="1"/>
          <p:nvPr/>
        </p:nvSpPr>
        <p:spPr>
          <a:xfrm>
            <a:off x="3108960"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Code interpreter</a:t>
            </a:r>
          </a:p>
        </p:txBody>
      </p:sp>
      <p:sp>
        <p:nvSpPr>
          <p:cNvPr id="58" name="Rectangle 57"/>
          <p:cNvSpPr/>
          <p:nvPr/>
        </p:nvSpPr>
        <p:spPr>
          <a:xfrm>
            <a:off x="4352544"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59" name="TextBox 58"/>
          <p:cNvSpPr txBox="1"/>
          <p:nvPr/>
        </p:nvSpPr>
        <p:spPr>
          <a:xfrm>
            <a:off x="4352544"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File search</a:t>
            </a:r>
          </a:p>
        </p:txBody>
      </p:sp>
      <p:sp>
        <p:nvSpPr>
          <p:cNvPr id="60" name="Rectangle 59"/>
          <p:cNvSpPr/>
          <p:nvPr/>
        </p:nvSpPr>
        <p:spPr>
          <a:xfrm>
            <a:off x="621792"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621792"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OpenAPI</a:t>
            </a:r>
          </a:p>
        </p:txBody>
      </p:sp>
      <p:sp>
        <p:nvSpPr>
          <p:cNvPr id="62" name="Rectangle 61"/>
          <p:cNvSpPr/>
          <p:nvPr/>
        </p:nvSpPr>
        <p:spPr>
          <a:xfrm>
            <a:off x="1865376"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3" name="TextBox 62"/>
          <p:cNvSpPr txBox="1"/>
          <p:nvPr/>
        </p:nvSpPr>
        <p:spPr>
          <a:xfrm>
            <a:off x="1865376"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MCP servers</a:t>
            </a:r>
          </a:p>
        </p:txBody>
      </p:sp>
      <p:sp>
        <p:nvSpPr>
          <p:cNvPr id="64" name="Rectangle 63"/>
          <p:cNvSpPr/>
          <p:nvPr/>
        </p:nvSpPr>
        <p:spPr>
          <a:xfrm>
            <a:off x="3108960"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5" name="TextBox 64"/>
          <p:cNvSpPr txBox="1"/>
          <p:nvPr/>
        </p:nvSpPr>
        <p:spPr>
          <a:xfrm>
            <a:off x="3108960"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A2A</a:t>
            </a:r>
          </a:p>
        </p:txBody>
      </p:sp>
      <p:sp>
        <p:nvSpPr>
          <p:cNvPr id="66" name="Rectangle 65"/>
          <p:cNvSpPr/>
          <p:nvPr/>
        </p:nvSpPr>
        <p:spPr>
          <a:xfrm>
            <a:off x="4352544"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7" name="TextBox 66"/>
          <p:cNvSpPr txBox="1"/>
          <p:nvPr/>
        </p:nvSpPr>
        <p:spPr>
          <a:xfrm>
            <a:off x="4352544"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Browser automation</a:t>
            </a:r>
          </a:p>
        </p:txBody>
      </p:sp>
      <p:sp>
        <p:nvSpPr>
          <p:cNvPr id="68" name="Rectangle 67"/>
          <p:cNvSpPr/>
          <p:nvPr/>
        </p:nvSpPr>
        <p:spPr>
          <a:xfrm>
            <a:off x="621792" y="498347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69" name="TextBox 68"/>
          <p:cNvSpPr txBox="1"/>
          <p:nvPr/>
        </p:nvSpPr>
        <p:spPr>
          <a:xfrm>
            <a:off x="621792" y="498347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Foundry IQ</a:t>
            </a:r>
          </a:p>
        </p:txBody>
      </p:sp>
      <p:sp>
        <p:nvSpPr>
          <p:cNvPr id="70" name="Rectangle 69"/>
          <p:cNvSpPr/>
          <p:nvPr/>
        </p:nvSpPr>
        <p:spPr>
          <a:xfrm>
            <a:off x="1865376" y="498347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1" name="TextBox 70"/>
          <p:cNvSpPr txBox="1"/>
          <p:nvPr/>
        </p:nvSpPr>
        <p:spPr>
          <a:xfrm>
            <a:off x="1865376" y="498347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Work IQ*</a:t>
            </a:r>
          </a:p>
        </p:txBody>
      </p:sp>
      <p:sp>
        <p:nvSpPr>
          <p:cNvPr id="72" name="Rectangle 71"/>
          <p:cNvSpPr/>
          <p:nvPr/>
        </p:nvSpPr>
        <p:spPr>
          <a:xfrm>
            <a:off x="3108960" y="498347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3" name="TextBox 72"/>
          <p:cNvSpPr txBox="1"/>
          <p:nvPr/>
        </p:nvSpPr>
        <p:spPr>
          <a:xfrm>
            <a:off x="3108960" y="498347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Fabric IQ*</a:t>
            </a:r>
          </a:p>
        </p:txBody>
      </p:sp>
      <p:sp>
        <p:nvSpPr>
          <p:cNvPr id="74" name="Rectangle 73"/>
          <p:cNvSpPr/>
          <p:nvPr/>
        </p:nvSpPr>
        <p:spPr>
          <a:xfrm>
            <a:off x="5760720" y="3959351"/>
            <a:ext cx="2651760" cy="1417320"/>
          </a:xfrm>
          <a:prstGeom prst="rect">
            <a:avLst/>
          </a:prstGeom>
          <a:solidFill>
            <a:srgbClr val="F6F8FD"/>
          </a:solidFill>
          <a:ln w="9525">
            <a:solidFill>
              <a:srgbClr val="E1E7F4"/>
            </a:solidFill>
          </a:ln>
          <a:effectLst/>
        </p:spPr>
        <p:txBody>
          <a:bodyPr rtlCol="0" anchor="ctr"/>
          <a:lstStyle/>
          <a:p>
            <a:pPr algn="ctr"/>
            <a:endParaRPr/>
          </a:p>
        </p:txBody>
      </p:sp>
      <p:sp>
        <p:nvSpPr>
          <p:cNvPr id="75" name="TextBox 74"/>
          <p:cNvSpPr txBox="1"/>
          <p:nvPr/>
        </p:nvSpPr>
        <p:spPr>
          <a:xfrm>
            <a:off x="5760720" y="3977639"/>
            <a:ext cx="2651760" cy="237744"/>
          </a:xfrm>
          <a:prstGeom prst="rect">
            <a:avLst/>
          </a:prstGeom>
          <a:noFill/>
        </p:spPr>
        <p:txBody>
          <a:bodyPr wrap="square" lIns="73152" tIns="27432" rIns="73152" bIns="27432" anchor="ctr">
            <a:spAutoFit/>
          </a:bodyPr>
          <a:lstStyle/>
          <a:p>
            <a:pPr algn="l"/>
            <a:r>
              <a:rPr sz="850" b="1">
                <a:solidFill>
                  <a:srgbClr val="008173"/>
                </a:solidFill>
                <a:latin typeface="Segoe UI"/>
              </a:rPr>
              <a:t>Toolbox only</a:t>
            </a:r>
          </a:p>
        </p:txBody>
      </p:sp>
      <p:sp>
        <p:nvSpPr>
          <p:cNvPr id="76" name="Rectangle 75"/>
          <p:cNvSpPr/>
          <p:nvPr/>
        </p:nvSpPr>
        <p:spPr>
          <a:xfrm>
            <a:off x="5833872"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7" name="TextBox 76"/>
          <p:cNvSpPr txBox="1"/>
          <p:nvPr/>
        </p:nvSpPr>
        <p:spPr>
          <a:xfrm>
            <a:off x="5833872"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Tool search</a:t>
            </a:r>
          </a:p>
        </p:txBody>
      </p:sp>
      <p:sp>
        <p:nvSpPr>
          <p:cNvPr id="78" name="Rectangle 77"/>
          <p:cNvSpPr/>
          <p:nvPr/>
        </p:nvSpPr>
        <p:spPr>
          <a:xfrm>
            <a:off x="7077456" y="4251959"/>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79" name="TextBox 78"/>
          <p:cNvSpPr txBox="1"/>
          <p:nvPr/>
        </p:nvSpPr>
        <p:spPr>
          <a:xfrm>
            <a:off x="7077456" y="4251959"/>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Skills*</a:t>
            </a:r>
          </a:p>
        </p:txBody>
      </p:sp>
      <p:sp>
        <p:nvSpPr>
          <p:cNvPr id="80" name="Rectangle 79"/>
          <p:cNvSpPr/>
          <p:nvPr/>
        </p:nvSpPr>
        <p:spPr>
          <a:xfrm>
            <a:off x="5833872" y="4617720"/>
            <a:ext cx="1188720" cy="310896"/>
          </a:xfrm>
          <a:prstGeom prst="rect">
            <a:avLst/>
          </a:prstGeom>
          <a:solidFill>
            <a:srgbClr val="FFFFFF"/>
          </a:solidFill>
          <a:ln w="9525">
            <a:solidFill>
              <a:srgbClr val="E1E7F4"/>
            </a:solidFill>
          </a:ln>
          <a:effectLst/>
        </p:spPr>
        <p:txBody>
          <a:bodyPr rtlCol="0" anchor="ctr"/>
          <a:lstStyle/>
          <a:p>
            <a:pPr algn="ctr"/>
            <a:endParaRPr/>
          </a:p>
        </p:txBody>
      </p:sp>
      <p:sp>
        <p:nvSpPr>
          <p:cNvPr id="81" name="TextBox 80"/>
          <p:cNvSpPr txBox="1"/>
          <p:nvPr/>
        </p:nvSpPr>
        <p:spPr>
          <a:xfrm>
            <a:off x="5833872" y="4617720"/>
            <a:ext cx="1188720" cy="310896"/>
          </a:xfrm>
          <a:prstGeom prst="rect">
            <a:avLst/>
          </a:prstGeom>
          <a:noFill/>
        </p:spPr>
        <p:txBody>
          <a:bodyPr wrap="square" lIns="73152" tIns="27432" rIns="73152" bIns="27432" anchor="ctr">
            <a:spAutoFit/>
          </a:bodyPr>
          <a:lstStyle/>
          <a:p>
            <a:pPr algn="ctr"/>
            <a:r>
              <a:rPr sz="800" b="0">
                <a:solidFill>
                  <a:srgbClr val="141B33"/>
                </a:solidFill>
                <a:latin typeface="Segoe UI"/>
              </a:rPr>
              <a:t>Reminder tool*</a:t>
            </a:r>
          </a:p>
        </p:txBody>
      </p:sp>
      <p:sp>
        <p:nvSpPr>
          <p:cNvPr id="82" name="Rectangle 81"/>
          <p:cNvSpPr/>
          <p:nvPr/>
        </p:nvSpPr>
        <p:spPr>
          <a:xfrm>
            <a:off x="8549640" y="3959351"/>
            <a:ext cx="3090672" cy="1417320"/>
          </a:xfrm>
          <a:prstGeom prst="rect">
            <a:avLst/>
          </a:prstGeom>
          <a:solidFill>
            <a:srgbClr val="FFFFFF"/>
          </a:solidFill>
          <a:ln w="9525">
            <a:solidFill>
              <a:srgbClr val="E1E7F4"/>
            </a:solidFill>
          </a:ln>
          <a:effectLst/>
        </p:spPr>
        <p:txBody>
          <a:bodyPr rtlCol="0" anchor="ctr"/>
          <a:lstStyle/>
          <a:p>
            <a:pPr algn="ctr"/>
            <a:endParaRPr/>
          </a:p>
        </p:txBody>
      </p:sp>
      <p:sp>
        <p:nvSpPr>
          <p:cNvPr id="83" name="TextBox 82"/>
          <p:cNvSpPr txBox="1"/>
          <p:nvPr/>
        </p:nvSpPr>
        <p:spPr>
          <a:xfrm>
            <a:off x="8549640" y="3977639"/>
            <a:ext cx="3090672" cy="237744"/>
          </a:xfrm>
          <a:prstGeom prst="rect">
            <a:avLst/>
          </a:prstGeom>
          <a:noFill/>
        </p:spPr>
        <p:txBody>
          <a:bodyPr wrap="square" lIns="73152" tIns="27432" rIns="73152" bIns="27432" anchor="ctr">
            <a:spAutoFit/>
          </a:bodyPr>
          <a:lstStyle/>
          <a:p>
            <a:pPr algn="l"/>
            <a:r>
              <a:rPr sz="850" b="1">
                <a:solidFill>
                  <a:srgbClr val="44495B"/>
                </a:solidFill>
                <a:latin typeface="Segoe UI"/>
              </a:rPr>
              <a:t>Direct integration only</a:t>
            </a:r>
          </a:p>
        </p:txBody>
      </p:sp>
      <p:sp>
        <p:nvSpPr>
          <p:cNvPr id="84" name="Rectangle 83"/>
          <p:cNvSpPr/>
          <p:nvPr/>
        </p:nvSpPr>
        <p:spPr>
          <a:xfrm>
            <a:off x="8622792" y="4251959"/>
            <a:ext cx="1463040" cy="201168"/>
          </a:xfrm>
          <a:prstGeom prst="rect">
            <a:avLst/>
          </a:prstGeom>
          <a:solidFill>
            <a:srgbClr val="EBEFF7"/>
          </a:solidFill>
          <a:ln>
            <a:noFill/>
          </a:ln>
          <a:effectLst/>
        </p:spPr>
        <p:txBody>
          <a:bodyPr rtlCol="0" anchor="ctr"/>
          <a:lstStyle/>
          <a:p>
            <a:pPr algn="ctr"/>
            <a:endParaRPr/>
          </a:p>
        </p:txBody>
      </p:sp>
      <p:sp>
        <p:nvSpPr>
          <p:cNvPr id="85" name="TextBox 84"/>
          <p:cNvSpPr txBox="1"/>
          <p:nvPr/>
        </p:nvSpPr>
        <p:spPr>
          <a:xfrm>
            <a:off x="8622792" y="4251959"/>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Function calling</a:t>
            </a:r>
          </a:p>
        </p:txBody>
      </p:sp>
      <p:sp>
        <p:nvSpPr>
          <p:cNvPr id="86" name="Rectangle 85"/>
          <p:cNvSpPr/>
          <p:nvPr/>
        </p:nvSpPr>
        <p:spPr>
          <a:xfrm>
            <a:off x="10140696" y="4251959"/>
            <a:ext cx="1463040" cy="201168"/>
          </a:xfrm>
          <a:prstGeom prst="rect">
            <a:avLst/>
          </a:prstGeom>
          <a:solidFill>
            <a:srgbClr val="EBEFF7"/>
          </a:solidFill>
          <a:ln>
            <a:noFill/>
          </a:ln>
          <a:effectLst/>
        </p:spPr>
        <p:txBody>
          <a:bodyPr rtlCol="0" anchor="ctr"/>
          <a:lstStyle/>
          <a:p>
            <a:pPr algn="ctr"/>
            <a:endParaRPr/>
          </a:p>
        </p:txBody>
      </p:sp>
      <p:sp>
        <p:nvSpPr>
          <p:cNvPr id="87" name="TextBox 86"/>
          <p:cNvSpPr txBox="1"/>
          <p:nvPr/>
        </p:nvSpPr>
        <p:spPr>
          <a:xfrm>
            <a:off x="10140696" y="4251959"/>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Grounding with Bing</a:t>
            </a:r>
          </a:p>
        </p:txBody>
      </p:sp>
      <p:sp>
        <p:nvSpPr>
          <p:cNvPr id="88" name="Rectangle 87"/>
          <p:cNvSpPr/>
          <p:nvPr/>
        </p:nvSpPr>
        <p:spPr>
          <a:xfrm>
            <a:off x="8622792" y="4475988"/>
            <a:ext cx="1463040" cy="201168"/>
          </a:xfrm>
          <a:prstGeom prst="rect">
            <a:avLst/>
          </a:prstGeom>
          <a:solidFill>
            <a:srgbClr val="EBEFF7"/>
          </a:solidFill>
          <a:ln>
            <a:noFill/>
          </a:ln>
          <a:effectLst/>
        </p:spPr>
        <p:txBody>
          <a:bodyPr rtlCol="0" anchor="ctr"/>
          <a:lstStyle/>
          <a:p>
            <a:pPr algn="ctr"/>
            <a:endParaRPr/>
          </a:p>
        </p:txBody>
      </p:sp>
      <p:sp>
        <p:nvSpPr>
          <p:cNvPr id="89" name="TextBox 88"/>
          <p:cNvSpPr txBox="1"/>
          <p:nvPr/>
        </p:nvSpPr>
        <p:spPr>
          <a:xfrm>
            <a:off x="8622792" y="4475988"/>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Computer use*</a:t>
            </a:r>
          </a:p>
        </p:txBody>
      </p:sp>
      <p:sp>
        <p:nvSpPr>
          <p:cNvPr id="90" name="Rectangle 89"/>
          <p:cNvSpPr/>
          <p:nvPr/>
        </p:nvSpPr>
        <p:spPr>
          <a:xfrm>
            <a:off x="10140696" y="4475988"/>
            <a:ext cx="1463040" cy="201168"/>
          </a:xfrm>
          <a:prstGeom prst="rect">
            <a:avLst/>
          </a:prstGeom>
          <a:solidFill>
            <a:srgbClr val="EBEFF7"/>
          </a:solidFill>
          <a:ln>
            <a:noFill/>
          </a:ln>
          <a:effectLst/>
        </p:spPr>
        <p:txBody>
          <a:bodyPr rtlCol="0" anchor="ctr"/>
          <a:lstStyle/>
          <a:p>
            <a:pPr algn="ctr"/>
            <a:endParaRPr/>
          </a:p>
        </p:txBody>
      </p:sp>
      <p:sp>
        <p:nvSpPr>
          <p:cNvPr id="91" name="TextBox 90"/>
          <p:cNvSpPr txBox="1"/>
          <p:nvPr/>
        </p:nvSpPr>
        <p:spPr>
          <a:xfrm>
            <a:off x="10140696" y="4475988"/>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Image generation*</a:t>
            </a:r>
          </a:p>
        </p:txBody>
      </p:sp>
      <p:sp>
        <p:nvSpPr>
          <p:cNvPr id="92" name="Rectangle 91"/>
          <p:cNvSpPr/>
          <p:nvPr/>
        </p:nvSpPr>
        <p:spPr>
          <a:xfrm>
            <a:off x="8622792" y="4700016"/>
            <a:ext cx="1463040" cy="201168"/>
          </a:xfrm>
          <a:prstGeom prst="rect">
            <a:avLst/>
          </a:prstGeom>
          <a:solidFill>
            <a:srgbClr val="EBEFF7"/>
          </a:solidFill>
          <a:ln>
            <a:noFill/>
          </a:ln>
          <a:effectLst/>
        </p:spPr>
        <p:txBody>
          <a:bodyPr rtlCol="0" anchor="ctr"/>
          <a:lstStyle/>
          <a:p>
            <a:pPr algn="ctr"/>
            <a:endParaRPr/>
          </a:p>
        </p:txBody>
      </p:sp>
      <p:sp>
        <p:nvSpPr>
          <p:cNvPr id="93" name="TextBox 92"/>
          <p:cNvSpPr txBox="1"/>
          <p:nvPr/>
        </p:nvSpPr>
        <p:spPr>
          <a:xfrm>
            <a:off x="8622792" y="4700016"/>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SharePoint*</a:t>
            </a:r>
          </a:p>
        </p:txBody>
      </p:sp>
      <p:sp>
        <p:nvSpPr>
          <p:cNvPr id="94" name="Rectangle 93"/>
          <p:cNvSpPr/>
          <p:nvPr/>
        </p:nvSpPr>
        <p:spPr>
          <a:xfrm>
            <a:off x="10140696" y="4700016"/>
            <a:ext cx="1463040" cy="201168"/>
          </a:xfrm>
          <a:prstGeom prst="rect">
            <a:avLst/>
          </a:prstGeom>
          <a:solidFill>
            <a:srgbClr val="EBEFF7"/>
          </a:solidFill>
          <a:ln>
            <a:noFill/>
          </a:ln>
          <a:effectLst/>
        </p:spPr>
        <p:txBody>
          <a:bodyPr rtlCol="0" anchor="ctr"/>
          <a:lstStyle/>
          <a:p>
            <a:pPr algn="ctr"/>
            <a:endParaRPr/>
          </a:p>
        </p:txBody>
      </p:sp>
      <p:sp>
        <p:nvSpPr>
          <p:cNvPr id="95" name="TextBox 94"/>
          <p:cNvSpPr txBox="1"/>
          <p:nvPr/>
        </p:nvSpPr>
        <p:spPr>
          <a:xfrm>
            <a:off x="10140696" y="4700016"/>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Fabric data agent*</a:t>
            </a:r>
          </a:p>
        </p:txBody>
      </p:sp>
      <p:sp>
        <p:nvSpPr>
          <p:cNvPr id="96" name="Rectangle 95"/>
          <p:cNvSpPr/>
          <p:nvPr/>
        </p:nvSpPr>
        <p:spPr>
          <a:xfrm>
            <a:off x="8622792" y="4924044"/>
            <a:ext cx="1463040" cy="201168"/>
          </a:xfrm>
          <a:prstGeom prst="rect">
            <a:avLst/>
          </a:prstGeom>
          <a:solidFill>
            <a:srgbClr val="EBEFF7"/>
          </a:solidFill>
          <a:ln>
            <a:noFill/>
          </a:ln>
          <a:effectLst/>
        </p:spPr>
        <p:txBody>
          <a:bodyPr rtlCol="0" anchor="ctr"/>
          <a:lstStyle/>
          <a:p>
            <a:pPr algn="ctr"/>
            <a:endParaRPr/>
          </a:p>
        </p:txBody>
      </p:sp>
      <p:sp>
        <p:nvSpPr>
          <p:cNvPr id="97" name="TextBox 96"/>
          <p:cNvSpPr txBox="1"/>
          <p:nvPr/>
        </p:nvSpPr>
        <p:spPr>
          <a:xfrm>
            <a:off x="8622792" y="4924044"/>
            <a:ext cx="1463040" cy="201168"/>
          </a:xfrm>
          <a:prstGeom prst="rect">
            <a:avLst/>
          </a:prstGeom>
          <a:noFill/>
        </p:spPr>
        <p:txBody>
          <a:bodyPr wrap="square" lIns="73152" tIns="27432" rIns="73152" bIns="27432" anchor="ctr">
            <a:spAutoFit/>
          </a:bodyPr>
          <a:lstStyle/>
          <a:p>
            <a:pPr algn="ctr"/>
            <a:r>
              <a:rPr sz="750" b="0">
                <a:solidFill>
                  <a:srgbClr val="44495B"/>
                </a:solidFill>
                <a:latin typeface="Segoe UI"/>
              </a:rPr>
              <a:t>Azure Functions</a:t>
            </a:r>
          </a:p>
        </p:txBody>
      </p:sp>
      <p:sp>
        <p:nvSpPr>
          <p:cNvPr id="98" name="TextBox 97"/>
          <p:cNvSpPr txBox="1"/>
          <p:nvPr/>
        </p:nvSpPr>
        <p:spPr>
          <a:xfrm>
            <a:off x="548640" y="5431536"/>
            <a:ext cx="73152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Browser automation tool</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managed cloud browser in a Playwright Workspace, used by an agent through a toolbox.</a:t>
            </a:r>
          </a:p>
          <a:p>
            <a:endParaRPr sz="1200">
              <a:solidFill>
                <a:srgbClr val="44495B"/>
              </a:solidFill>
              <a:latin typeface="Segoe UI"/>
            </a:endParaRPr>
          </a:p>
        </p:txBody>
      </p:sp>
      <p:sp>
        <p:nvSpPr>
          <p:cNvPr id="31" name="Shape"/>
          <p:cNvSpPr/>
          <p:nvPr/>
        </p:nvSpPr>
        <p:spPr>
          <a:xfrm>
            <a:off x="548640" y="5458968"/>
            <a:ext cx="11094720" cy="9525"/>
          </a:xfrm>
          <a:prstGeom prst="rect">
            <a:avLst/>
          </a:prstGeom>
          <a:solidFill>
            <a:srgbClr val="E1E7F4"/>
          </a:solidFill>
        </p:spPr>
        <p:txBody>
          <a:bodyPr/>
          <a:lstStyle/>
          <a:p>
            <a:endParaRPr/>
          </a:p>
        </p:txBody>
      </p:sp>
      <p:sp>
        <p:nvSpPr>
          <p:cNvPr id="32"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learn.microsoft.com/azure/foundry/agents/how-to/tools/browser-automation · Foundry blog, 19 Oct 2026</a:t>
            </a:r>
          </a:p>
          <a:p>
            <a:endParaRPr sz="900">
              <a:solidFill>
                <a:srgbClr val="44495B"/>
              </a:solidFill>
              <a:latin typeface="Segoe UI"/>
            </a:endParaRPr>
          </a:p>
        </p:txBody>
      </p:sp>
      <p:sp>
        <p:nvSpPr>
          <p:cNvPr id="33"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13</a:t>
            </a:r>
          </a:p>
        </p:txBody>
      </p:sp>
      <p:sp>
        <p:nvSpPr>
          <p:cNvPr id="34" name="TextBox 33"/>
          <p:cNvSpPr txBox="1"/>
          <p:nvPr/>
        </p:nvSpPr>
        <p:spPr>
          <a:xfrm>
            <a:off x="548640" y="132588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HOW AN AGENT USES THE BROWSER</a:t>
            </a:r>
          </a:p>
        </p:txBody>
      </p:sp>
      <p:sp>
        <p:nvSpPr>
          <p:cNvPr id="35" name="Rectangle 34"/>
          <p:cNvSpPr/>
          <p:nvPr/>
        </p:nvSpPr>
        <p:spPr>
          <a:xfrm>
            <a:off x="548640" y="1572768"/>
            <a:ext cx="1554480" cy="731520"/>
          </a:xfrm>
          <a:prstGeom prst="rect">
            <a:avLst/>
          </a:prstGeom>
          <a:solidFill>
            <a:srgbClr val="EBEFF7"/>
          </a:solidFill>
          <a:ln>
            <a:no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Foundry agent</a:t>
            </a:r>
          </a:p>
          <a:p>
            <a:pPr algn="ctr">
              <a:lnSpc>
                <a:spcPct val="110000"/>
              </a:lnSpc>
            </a:pPr>
            <a:r>
              <a:rPr sz="750" b="0" i="0" dirty="0">
                <a:solidFill>
                  <a:srgbClr val="44495B"/>
                </a:solidFill>
                <a:latin typeface="Segoe UI"/>
                <a:cs typeface="Segoe UI"/>
              </a:rPr>
              <a:t>prompt agent · Copilot harness · hosted agent</a:t>
            </a:r>
          </a:p>
        </p:txBody>
      </p:sp>
      <p:sp>
        <p:nvSpPr>
          <p:cNvPr id="36" name="Rectangle 35"/>
          <p:cNvSpPr/>
          <p:nvPr/>
        </p:nvSpPr>
        <p:spPr>
          <a:xfrm>
            <a:off x="2423160" y="1572768"/>
            <a:ext cx="1691640" cy="731520"/>
          </a:xfrm>
          <a:prstGeom prst="rect">
            <a:avLst/>
          </a:prstGeom>
          <a:solidFill>
            <a:srgbClr val="101A3C"/>
          </a:solidFill>
          <a:ln>
            <a:noFill/>
          </a:ln>
          <a:effectLst/>
        </p:spPr>
        <p:txBody>
          <a:bodyPr wrap="square" lIns="54864" tIns="18288" rIns="54864" bIns="18288" rtlCol="0" anchor="ctr"/>
          <a:lstStyle/>
          <a:p>
            <a:pPr algn="ctr">
              <a:lnSpc>
                <a:spcPct val="110000"/>
              </a:lnSpc>
            </a:pPr>
            <a:r>
              <a:rPr sz="850" b="1" i="0" dirty="0">
                <a:solidFill>
                  <a:srgbClr val="FFFFFF"/>
                </a:solidFill>
                <a:latin typeface="Segoe UI"/>
                <a:cs typeface="Segoe UI"/>
              </a:rPr>
              <a:t>Browser automation tool</a:t>
            </a:r>
          </a:p>
          <a:p>
            <a:pPr algn="ctr">
              <a:lnSpc>
                <a:spcPct val="110000"/>
              </a:lnSpc>
            </a:pPr>
            <a:r>
              <a:rPr sz="750" b="0" i="0" dirty="0">
                <a:solidFill>
                  <a:srgbClr val="B9C2D6"/>
                </a:solidFill>
                <a:latin typeface="Segoe UI"/>
                <a:cs typeface="Segoe UI"/>
              </a:rPr>
              <a:t>in a toolbox · one MCP endpoint · approvals</a:t>
            </a:r>
          </a:p>
        </p:txBody>
      </p:sp>
      <p:sp>
        <p:nvSpPr>
          <p:cNvPr id="37" name="Rectangle 36"/>
          <p:cNvSpPr/>
          <p:nvPr/>
        </p:nvSpPr>
        <p:spPr>
          <a:xfrm>
            <a:off x="4434840" y="1572768"/>
            <a:ext cx="1600200" cy="731520"/>
          </a:xfrm>
          <a:prstGeom prst="rect">
            <a:avLst/>
          </a:prstGeom>
          <a:solidFill>
            <a:srgbClr val="FFFFFF"/>
          </a:solidFill>
          <a:ln w="9525">
            <a:solidFill>
              <a:srgbClr val="E1E7F4"/>
            </a:solid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Playwright Workspace</a:t>
            </a:r>
          </a:p>
          <a:p>
            <a:pPr algn="ctr">
              <a:lnSpc>
                <a:spcPct val="110000"/>
              </a:lnSpc>
            </a:pPr>
            <a:r>
              <a:rPr sz="750" b="0" i="0" dirty="0">
                <a:solidFill>
                  <a:srgbClr val="44495B"/>
                </a:solidFill>
                <a:latin typeface="Segoe UI"/>
                <a:cs typeface="Segoe UI"/>
              </a:rPr>
              <a:t>separate Azure resource · isolated cloud browser sessions</a:t>
            </a:r>
          </a:p>
        </p:txBody>
      </p:sp>
      <p:sp>
        <p:nvSpPr>
          <p:cNvPr id="38" name="Rectangle 37"/>
          <p:cNvSpPr/>
          <p:nvPr/>
        </p:nvSpPr>
        <p:spPr>
          <a:xfrm>
            <a:off x="6355080" y="1572768"/>
            <a:ext cx="1097280" cy="731520"/>
          </a:xfrm>
          <a:prstGeom prst="rect">
            <a:avLst/>
          </a:prstGeom>
          <a:solidFill>
            <a:srgbClr val="EBEFF7"/>
          </a:solidFill>
          <a:ln>
            <a:noFill/>
          </a:ln>
          <a:effectLst/>
        </p:spPr>
        <p:txBody>
          <a:bodyPr wrap="square" lIns="54864" tIns="18288" rIns="54864" bIns="18288" rtlCol="0" anchor="ctr"/>
          <a:lstStyle/>
          <a:p>
            <a:pPr algn="ctr">
              <a:lnSpc>
                <a:spcPct val="110000"/>
              </a:lnSpc>
            </a:pPr>
            <a:r>
              <a:rPr sz="850" b="1" i="0" dirty="0">
                <a:solidFill>
                  <a:srgbClr val="101A3C"/>
                </a:solidFill>
                <a:latin typeface="Segoe UI"/>
                <a:cs typeface="Segoe UI"/>
              </a:rPr>
              <a:t>Websites</a:t>
            </a:r>
          </a:p>
          <a:p>
            <a:pPr algn="ctr">
              <a:lnSpc>
                <a:spcPct val="110000"/>
              </a:lnSpc>
            </a:pPr>
            <a:r>
              <a:rPr sz="750" b="0" i="0" dirty="0">
                <a:solidFill>
                  <a:srgbClr val="44495B"/>
                </a:solidFill>
                <a:latin typeface="Segoe UI"/>
                <a:cs typeface="Segoe UI"/>
              </a:rPr>
              <a:t>public sites · private apps behind a VNet*</a:t>
            </a:r>
          </a:p>
        </p:txBody>
      </p:sp>
      <p:cxnSp>
        <p:nvCxnSpPr>
          <p:cNvPr id="39" name="Connector 38"/>
          <p:cNvCxnSpPr/>
          <p:nvPr/>
        </p:nvCxnSpPr>
        <p:spPr>
          <a:xfrm>
            <a:off x="2103120" y="1938528"/>
            <a:ext cx="320040" cy="0"/>
          </a:xfrm>
          <a:prstGeom prst="line">
            <a:avLst/>
          </a:prstGeom>
          <a:ln w="13970">
            <a:solidFill>
              <a:srgbClr val="44495B"/>
            </a:solidFill>
            <a:tailEnd type="triangle" w="med" len="med"/>
          </a:ln>
        </p:spPr>
      </p:cxnSp>
      <p:sp>
        <p:nvSpPr>
          <p:cNvPr id="40" name="Oval 39"/>
          <p:cNvSpPr/>
          <p:nvPr/>
        </p:nvSpPr>
        <p:spPr>
          <a:xfrm>
            <a:off x="2162556" y="1837944"/>
            <a:ext cx="201168" cy="20116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00" b="1" i="0" dirty="0">
                <a:solidFill>
                  <a:srgbClr val="FFFFFF"/>
                </a:solidFill>
                <a:latin typeface="Segoe UI"/>
                <a:cs typeface="Segoe UI"/>
              </a:rPr>
              <a:t>1</a:t>
            </a:r>
          </a:p>
        </p:txBody>
      </p:sp>
      <p:cxnSp>
        <p:nvCxnSpPr>
          <p:cNvPr id="41" name="Connector 40"/>
          <p:cNvCxnSpPr/>
          <p:nvPr/>
        </p:nvCxnSpPr>
        <p:spPr>
          <a:xfrm>
            <a:off x="4114800" y="1938528"/>
            <a:ext cx="320040" cy="0"/>
          </a:xfrm>
          <a:prstGeom prst="line">
            <a:avLst/>
          </a:prstGeom>
          <a:ln w="13970">
            <a:solidFill>
              <a:srgbClr val="44495B"/>
            </a:solidFill>
            <a:tailEnd type="triangle" w="med" len="med"/>
          </a:ln>
        </p:spPr>
      </p:cxnSp>
      <p:sp>
        <p:nvSpPr>
          <p:cNvPr id="42" name="Oval 41"/>
          <p:cNvSpPr/>
          <p:nvPr/>
        </p:nvSpPr>
        <p:spPr>
          <a:xfrm>
            <a:off x="4174235" y="1837944"/>
            <a:ext cx="201168" cy="20116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00" b="1" i="0" dirty="0">
                <a:solidFill>
                  <a:srgbClr val="FFFFFF"/>
                </a:solidFill>
                <a:latin typeface="Segoe UI"/>
                <a:cs typeface="Segoe UI"/>
              </a:rPr>
              <a:t>2</a:t>
            </a:r>
          </a:p>
        </p:txBody>
      </p:sp>
      <p:cxnSp>
        <p:nvCxnSpPr>
          <p:cNvPr id="43" name="Connector 42"/>
          <p:cNvCxnSpPr/>
          <p:nvPr/>
        </p:nvCxnSpPr>
        <p:spPr>
          <a:xfrm>
            <a:off x="6035040" y="1938528"/>
            <a:ext cx="320040" cy="0"/>
          </a:xfrm>
          <a:prstGeom prst="line">
            <a:avLst/>
          </a:prstGeom>
          <a:ln w="13970">
            <a:solidFill>
              <a:srgbClr val="44495B"/>
            </a:solidFill>
            <a:tailEnd type="triangle" w="med" len="med"/>
          </a:ln>
        </p:spPr>
      </p:cxnSp>
      <p:sp>
        <p:nvSpPr>
          <p:cNvPr id="44" name="Oval 43"/>
          <p:cNvSpPr/>
          <p:nvPr/>
        </p:nvSpPr>
        <p:spPr>
          <a:xfrm>
            <a:off x="6094476" y="1837944"/>
            <a:ext cx="201168" cy="20116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00" b="1" i="0" dirty="0">
                <a:solidFill>
                  <a:srgbClr val="FFFFFF"/>
                </a:solidFill>
                <a:latin typeface="Segoe UI"/>
                <a:cs typeface="Segoe UI"/>
              </a:rPr>
              <a:t>3</a:t>
            </a:r>
          </a:p>
        </p:txBody>
      </p:sp>
      <p:cxnSp>
        <p:nvCxnSpPr>
          <p:cNvPr id="45" name="Connector 44"/>
          <p:cNvCxnSpPr/>
          <p:nvPr/>
        </p:nvCxnSpPr>
        <p:spPr>
          <a:xfrm>
            <a:off x="6903720" y="2304288"/>
            <a:ext cx="0" cy="182880"/>
          </a:xfrm>
          <a:prstGeom prst="line">
            <a:avLst/>
          </a:prstGeom>
          <a:ln w="12700">
            <a:solidFill>
              <a:srgbClr val="44495B"/>
            </a:solidFill>
          </a:ln>
        </p:spPr>
      </p:cxnSp>
      <p:cxnSp>
        <p:nvCxnSpPr>
          <p:cNvPr id="46" name="Connector 45"/>
          <p:cNvCxnSpPr/>
          <p:nvPr/>
        </p:nvCxnSpPr>
        <p:spPr>
          <a:xfrm flipH="1">
            <a:off x="1325880" y="2487168"/>
            <a:ext cx="5577840" cy="0"/>
          </a:xfrm>
          <a:prstGeom prst="line">
            <a:avLst/>
          </a:prstGeom>
          <a:ln w="12700">
            <a:solidFill>
              <a:srgbClr val="44495B"/>
            </a:solidFill>
          </a:ln>
        </p:spPr>
      </p:cxnSp>
      <p:cxnSp>
        <p:nvCxnSpPr>
          <p:cNvPr id="47" name="Connector 46"/>
          <p:cNvCxnSpPr/>
          <p:nvPr/>
        </p:nvCxnSpPr>
        <p:spPr>
          <a:xfrm flipV="1">
            <a:off x="1325880" y="2304288"/>
            <a:ext cx="0" cy="182880"/>
          </a:xfrm>
          <a:prstGeom prst="line">
            <a:avLst/>
          </a:prstGeom>
          <a:ln w="12700">
            <a:solidFill>
              <a:srgbClr val="44495B"/>
            </a:solidFill>
            <a:tailEnd type="triangle" w="med" len="med"/>
          </a:ln>
        </p:spPr>
      </p:cxnSp>
      <p:sp>
        <p:nvSpPr>
          <p:cNvPr id="48" name="Oval 47"/>
          <p:cNvSpPr/>
          <p:nvPr/>
        </p:nvSpPr>
        <p:spPr>
          <a:xfrm>
            <a:off x="4014215" y="2386584"/>
            <a:ext cx="201168" cy="20116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00" b="1" i="0" dirty="0">
                <a:solidFill>
                  <a:srgbClr val="FFFFFF"/>
                </a:solidFill>
                <a:latin typeface="Segoe UI"/>
                <a:cs typeface="Segoe UI"/>
              </a:rPr>
              <a:t>4</a:t>
            </a:r>
          </a:p>
        </p:txBody>
      </p:sp>
      <p:sp>
        <p:nvSpPr>
          <p:cNvPr id="49" name="Oval 48"/>
          <p:cNvSpPr/>
          <p:nvPr/>
        </p:nvSpPr>
        <p:spPr>
          <a:xfrm>
            <a:off x="548640" y="2761488"/>
            <a:ext cx="201168" cy="20116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00" b="1" i="0" dirty="0">
                <a:solidFill>
                  <a:srgbClr val="FFFFFF"/>
                </a:solidFill>
                <a:latin typeface="Segoe UI"/>
                <a:cs typeface="Segoe UI"/>
              </a:rPr>
              <a:t>1</a:t>
            </a:r>
          </a:p>
        </p:txBody>
      </p:sp>
      <p:sp>
        <p:nvSpPr>
          <p:cNvPr id="50" name="TextBox 49"/>
          <p:cNvSpPr txBox="1"/>
          <p:nvPr/>
        </p:nvSpPr>
        <p:spPr>
          <a:xfrm>
            <a:off x="804672" y="2770632"/>
            <a:ext cx="1408176" cy="566928"/>
          </a:xfrm>
          <a:prstGeom prst="rect">
            <a:avLst/>
          </a:prstGeom>
          <a:noFill/>
        </p:spPr>
        <p:txBody>
          <a:bodyPr wrap="square" lIns="0" tIns="0" rIns="0" bIns="0" anchor="t">
            <a:spAutoFit/>
          </a:bodyPr>
          <a:lstStyle/>
          <a:p>
            <a:pPr algn="l">
              <a:lnSpc>
                <a:spcPct val="108000"/>
              </a:lnSpc>
            </a:pPr>
            <a:r>
              <a:rPr sz="800" b="0" i="0" dirty="0">
                <a:solidFill>
                  <a:srgbClr val="44495B"/>
                </a:solidFill>
                <a:latin typeface="Segoe UI"/>
                <a:cs typeface="Segoe UI"/>
              </a:rPr>
              <a:t>the agent calls a browser operation through the toolbox MCP endpoint</a:t>
            </a:r>
          </a:p>
        </p:txBody>
      </p:sp>
      <p:sp>
        <p:nvSpPr>
          <p:cNvPr id="51" name="Oval 50"/>
          <p:cNvSpPr/>
          <p:nvPr/>
        </p:nvSpPr>
        <p:spPr>
          <a:xfrm>
            <a:off x="2283256" y="2761488"/>
            <a:ext cx="201168" cy="20116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00" b="1" i="0" dirty="0">
                <a:solidFill>
                  <a:srgbClr val="FFFFFF"/>
                </a:solidFill>
                <a:latin typeface="Segoe UI"/>
                <a:cs typeface="Segoe UI"/>
              </a:rPr>
              <a:t>2</a:t>
            </a:r>
          </a:p>
        </p:txBody>
      </p:sp>
      <p:sp>
        <p:nvSpPr>
          <p:cNvPr id="52" name="TextBox 51"/>
          <p:cNvSpPr txBox="1"/>
          <p:nvPr/>
        </p:nvSpPr>
        <p:spPr>
          <a:xfrm>
            <a:off x="2539288" y="2770632"/>
            <a:ext cx="1408176" cy="566928"/>
          </a:xfrm>
          <a:prstGeom prst="rect">
            <a:avLst/>
          </a:prstGeom>
          <a:noFill/>
        </p:spPr>
        <p:txBody>
          <a:bodyPr wrap="square" lIns="0" tIns="0" rIns="0" bIns="0" anchor="t">
            <a:spAutoFit/>
          </a:bodyPr>
          <a:lstStyle/>
          <a:p>
            <a:pPr algn="l">
              <a:lnSpc>
                <a:spcPct val="108000"/>
              </a:lnSpc>
            </a:pPr>
            <a:r>
              <a:rPr sz="800" b="0" i="0" dirty="0">
                <a:solidFill>
                  <a:srgbClr val="44495B"/>
                </a:solidFill>
                <a:latin typeface="Segoe UI"/>
                <a:cs typeface="Segoe UI"/>
              </a:rPr>
              <a:t>the project connection authenticates: API key, project managed identity or agent identity</a:t>
            </a:r>
          </a:p>
        </p:txBody>
      </p:sp>
      <p:sp>
        <p:nvSpPr>
          <p:cNvPr id="53" name="Oval 52"/>
          <p:cNvSpPr/>
          <p:nvPr/>
        </p:nvSpPr>
        <p:spPr>
          <a:xfrm>
            <a:off x="4017873" y="2761488"/>
            <a:ext cx="201168" cy="20116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00" b="1" i="0" dirty="0">
                <a:solidFill>
                  <a:srgbClr val="FFFFFF"/>
                </a:solidFill>
                <a:latin typeface="Segoe UI"/>
                <a:cs typeface="Segoe UI"/>
              </a:rPr>
              <a:t>3</a:t>
            </a:r>
          </a:p>
        </p:txBody>
      </p:sp>
      <p:sp>
        <p:nvSpPr>
          <p:cNvPr id="54" name="TextBox 53"/>
          <p:cNvSpPr txBox="1"/>
          <p:nvPr/>
        </p:nvSpPr>
        <p:spPr>
          <a:xfrm>
            <a:off x="4273905" y="2770632"/>
            <a:ext cx="1408176" cy="566928"/>
          </a:xfrm>
          <a:prstGeom prst="rect">
            <a:avLst/>
          </a:prstGeom>
          <a:noFill/>
        </p:spPr>
        <p:txBody>
          <a:bodyPr wrap="square" lIns="0" tIns="0" rIns="0" bIns="0" anchor="t">
            <a:spAutoFit/>
          </a:bodyPr>
          <a:lstStyle/>
          <a:p>
            <a:pPr algn="l">
              <a:lnSpc>
                <a:spcPct val="108000"/>
              </a:lnSpc>
            </a:pPr>
            <a:r>
              <a:rPr sz="800" b="0" i="0" dirty="0">
                <a:solidFill>
                  <a:srgbClr val="44495B"/>
                </a:solidFill>
                <a:latin typeface="Segoe UI"/>
                <a:cs typeface="Segoe UI"/>
              </a:rPr>
              <a:t>the workspace opens an isolated session; its session ID carries the context</a:t>
            </a:r>
          </a:p>
        </p:txBody>
      </p:sp>
      <p:sp>
        <p:nvSpPr>
          <p:cNvPr id="55" name="Oval 54"/>
          <p:cNvSpPr/>
          <p:nvPr/>
        </p:nvSpPr>
        <p:spPr>
          <a:xfrm>
            <a:off x="5752490" y="2761488"/>
            <a:ext cx="201168" cy="201168"/>
          </a:xfrm>
          <a:prstGeom prst="ellipse">
            <a:avLst/>
          </a:prstGeom>
          <a:solidFill>
            <a:srgbClr val="00B39F"/>
          </a:solidFill>
          <a:ln w="15875">
            <a:solidFill>
              <a:srgbClr val="FFFFFF"/>
            </a:solidFill>
          </a:ln>
          <a:effectLst/>
        </p:spPr>
        <p:style>
          <a:lnRef idx="1">
            <a:schemeClr val="accent1"/>
          </a:lnRef>
          <a:fillRef idx="3">
            <a:schemeClr val="accent1"/>
          </a:fillRef>
          <a:effectRef idx="2">
            <a:schemeClr val="accent1"/>
          </a:effectRef>
          <a:fontRef idx="minor">
            <a:schemeClr val="lt1"/>
          </a:fontRef>
        </p:style>
        <p:txBody>
          <a:bodyPr wrap="square" lIns="0" tIns="18288" rIns="0" bIns="18288" rtlCol="0" anchor="ctr"/>
          <a:lstStyle/>
          <a:p>
            <a:pPr algn="ctr">
              <a:lnSpc>
                <a:spcPct val="100000"/>
              </a:lnSpc>
            </a:pPr>
            <a:r>
              <a:rPr sz="800" b="1" i="0" dirty="0">
                <a:solidFill>
                  <a:srgbClr val="FFFFFF"/>
                </a:solidFill>
                <a:latin typeface="Segoe UI"/>
                <a:cs typeface="Segoe UI"/>
              </a:rPr>
              <a:t>4</a:t>
            </a:r>
          </a:p>
        </p:txBody>
      </p:sp>
      <p:sp>
        <p:nvSpPr>
          <p:cNvPr id="56" name="TextBox 55"/>
          <p:cNvSpPr txBox="1"/>
          <p:nvPr/>
        </p:nvSpPr>
        <p:spPr>
          <a:xfrm>
            <a:off x="6008522" y="2770632"/>
            <a:ext cx="1408176" cy="566928"/>
          </a:xfrm>
          <a:prstGeom prst="rect">
            <a:avLst/>
          </a:prstGeom>
          <a:noFill/>
        </p:spPr>
        <p:txBody>
          <a:bodyPr wrap="square" lIns="0" tIns="0" rIns="0" bIns="0" anchor="t">
            <a:spAutoFit/>
          </a:bodyPr>
          <a:lstStyle/>
          <a:p>
            <a:pPr algn="l">
              <a:lnSpc>
                <a:spcPct val="108000"/>
              </a:lnSpc>
            </a:pPr>
            <a:r>
              <a:rPr sz="800" b="0" i="0" dirty="0">
                <a:solidFill>
                  <a:srgbClr val="44495B"/>
                </a:solidFill>
                <a:latin typeface="Segoe UI"/>
                <a:cs typeface="Segoe UI"/>
              </a:rPr>
              <a:t>observe and act: inspect the page, act, verify; the session closes at the end</a:t>
            </a:r>
          </a:p>
        </p:txBody>
      </p:sp>
      <p:sp>
        <p:nvSpPr>
          <p:cNvPr id="57" name="Rectangle 56"/>
          <p:cNvSpPr/>
          <p:nvPr/>
        </p:nvSpPr>
        <p:spPr>
          <a:xfrm>
            <a:off x="548640" y="3474720"/>
            <a:ext cx="6903720" cy="566928"/>
          </a:xfrm>
          <a:prstGeom prst="rect">
            <a:avLst/>
          </a:prstGeom>
          <a:solidFill>
            <a:srgbClr val="0B1229"/>
          </a:solidFill>
          <a:ln>
            <a:noFill/>
          </a:ln>
          <a:effectLst/>
        </p:spPr>
        <p:txBody>
          <a:bodyPr wrap="square" rtlCol="0" anchor="ctr"/>
          <a:lstStyle/>
          <a:p>
            <a:endParaRPr/>
          </a:p>
        </p:txBody>
      </p:sp>
      <p:sp>
        <p:nvSpPr>
          <p:cNvPr id="58" name="TextBox 57"/>
          <p:cNvSpPr txBox="1"/>
          <p:nvPr/>
        </p:nvSpPr>
        <p:spPr>
          <a:xfrm>
            <a:off x="685800" y="3547872"/>
            <a:ext cx="1188720" cy="420624"/>
          </a:xfrm>
          <a:prstGeom prst="rect">
            <a:avLst/>
          </a:prstGeom>
          <a:noFill/>
        </p:spPr>
        <p:txBody>
          <a:bodyPr wrap="square" lIns="0" tIns="0" rIns="0" bIns="0" anchor="t">
            <a:spAutoFit/>
          </a:bodyPr>
          <a:lstStyle/>
          <a:p>
            <a:pPr algn="l">
              <a:lnSpc>
                <a:spcPct val="105000"/>
              </a:lnSpc>
            </a:pPr>
            <a:r>
              <a:rPr sz="900" b="1" i="0" dirty="0">
                <a:solidFill>
                  <a:srgbClr val="FFFFFF"/>
                </a:solidFill>
                <a:latin typeface="Segoe UI"/>
                <a:cs typeface="Segoe UI"/>
              </a:rPr>
              <a:t>Human</a:t>
            </a:r>
          </a:p>
          <a:p>
            <a:pPr algn="l">
              <a:lnSpc>
                <a:spcPct val="105000"/>
              </a:lnSpc>
            </a:pPr>
            <a:r>
              <a:rPr sz="900" b="1" i="0" dirty="0">
                <a:solidFill>
                  <a:srgbClr val="FFFFFF"/>
                </a:solidFill>
                <a:latin typeface="Segoe UI"/>
                <a:cs typeface="Segoe UI"/>
              </a:rPr>
              <a:t>oversight</a:t>
            </a:r>
          </a:p>
        </p:txBody>
      </p:sp>
      <p:sp>
        <p:nvSpPr>
          <p:cNvPr id="59" name="TextBox 58"/>
          <p:cNvSpPr txBox="1"/>
          <p:nvPr/>
        </p:nvSpPr>
        <p:spPr>
          <a:xfrm>
            <a:off x="1920240" y="3557016"/>
            <a:ext cx="1783080" cy="420624"/>
          </a:xfrm>
          <a:prstGeom prst="rect">
            <a:avLst/>
          </a:prstGeom>
          <a:noFill/>
        </p:spPr>
        <p:txBody>
          <a:bodyPr wrap="square" lIns="0" tIns="0" rIns="0" bIns="0" anchor="t">
            <a:spAutoFit/>
          </a:bodyPr>
          <a:lstStyle/>
          <a:p>
            <a:pPr algn="l">
              <a:lnSpc>
                <a:spcPct val="108000"/>
              </a:lnSpc>
            </a:pPr>
            <a:r>
              <a:rPr sz="800" b="1" i="0" dirty="0">
                <a:solidFill>
                  <a:srgbClr val="FFFFFF"/>
                </a:solidFill>
                <a:latin typeface="Segoe UI"/>
                <a:cs typeface="Segoe UI"/>
              </a:rPr>
              <a:t>Live View</a:t>
            </a:r>
          </a:p>
          <a:p>
            <a:pPr algn="l">
              <a:lnSpc>
                <a:spcPct val="108000"/>
              </a:lnSpc>
            </a:pPr>
            <a:r>
              <a:rPr sz="800" b="0" i="0" dirty="0">
                <a:solidFill>
                  <a:srgbClr val="B9C2D6"/>
                </a:solidFill>
                <a:latin typeface="Segoe UI"/>
                <a:cs typeface="Segoe UI"/>
              </a:rPr>
              <a:t>the active session in real time</a:t>
            </a:r>
          </a:p>
        </p:txBody>
      </p:sp>
      <p:sp>
        <p:nvSpPr>
          <p:cNvPr id="60" name="TextBox 59"/>
          <p:cNvSpPr txBox="1"/>
          <p:nvPr/>
        </p:nvSpPr>
        <p:spPr>
          <a:xfrm>
            <a:off x="3767328" y="3557016"/>
            <a:ext cx="1783080" cy="420624"/>
          </a:xfrm>
          <a:prstGeom prst="rect">
            <a:avLst/>
          </a:prstGeom>
          <a:noFill/>
        </p:spPr>
        <p:txBody>
          <a:bodyPr wrap="square" lIns="0" tIns="0" rIns="0" bIns="0" anchor="t">
            <a:spAutoFit/>
          </a:bodyPr>
          <a:lstStyle/>
          <a:p>
            <a:pPr algn="l">
              <a:lnSpc>
                <a:spcPct val="108000"/>
              </a:lnSpc>
            </a:pPr>
            <a:r>
              <a:rPr sz="800" b="1" i="0" dirty="0">
                <a:solidFill>
                  <a:srgbClr val="FFFFFF"/>
                </a:solidFill>
                <a:latin typeface="Segoe UI"/>
                <a:cs typeface="Segoe UI"/>
              </a:rPr>
              <a:t>Take control</a:t>
            </a:r>
          </a:p>
          <a:p>
            <a:pPr algn="l">
              <a:lnSpc>
                <a:spcPct val="108000"/>
              </a:lnSpc>
            </a:pPr>
            <a:r>
              <a:rPr sz="800" b="0" i="0" dirty="0">
                <a:solidFill>
                  <a:srgbClr val="B9C2D6"/>
                </a:solidFill>
                <a:latin typeface="Segoe UI"/>
                <a:cs typeface="Segoe UI"/>
              </a:rPr>
              <a:t>a person acts, then hands back</a:t>
            </a:r>
          </a:p>
        </p:txBody>
      </p:sp>
      <p:sp>
        <p:nvSpPr>
          <p:cNvPr id="61" name="TextBox 60"/>
          <p:cNvSpPr txBox="1"/>
          <p:nvPr/>
        </p:nvSpPr>
        <p:spPr>
          <a:xfrm>
            <a:off x="5614416" y="3557016"/>
            <a:ext cx="1783080" cy="420624"/>
          </a:xfrm>
          <a:prstGeom prst="rect">
            <a:avLst/>
          </a:prstGeom>
          <a:noFill/>
        </p:spPr>
        <p:txBody>
          <a:bodyPr wrap="square" lIns="0" tIns="0" rIns="0" bIns="0" anchor="t">
            <a:spAutoFit/>
          </a:bodyPr>
          <a:lstStyle/>
          <a:p>
            <a:pPr algn="l">
              <a:lnSpc>
                <a:spcPct val="108000"/>
              </a:lnSpc>
            </a:pPr>
            <a:r>
              <a:rPr sz="800" b="1" i="0" dirty="0">
                <a:solidFill>
                  <a:srgbClr val="FFFFFF"/>
                </a:solidFill>
                <a:latin typeface="Segoe UI"/>
                <a:cs typeface="Segoe UI"/>
              </a:rPr>
              <a:t>Screenshot recording</a:t>
            </a:r>
          </a:p>
          <a:p>
            <a:pPr algn="l">
              <a:lnSpc>
                <a:spcPct val="108000"/>
              </a:lnSpc>
            </a:pPr>
            <a:r>
              <a:rPr sz="800" b="0" i="0" dirty="0">
                <a:solidFill>
                  <a:srgbClr val="B9C2D6"/>
                </a:solidFill>
                <a:latin typeface="Segoe UI"/>
                <a:cs typeface="Segoe UI"/>
              </a:rPr>
              <a:t>page state kept for review</a:t>
            </a:r>
          </a:p>
        </p:txBody>
      </p:sp>
      <p:sp>
        <p:nvSpPr>
          <p:cNvPr id="62" name="TextBox 61"/>
          <p:cNvSpPr txBox="1"/>
          <p:nvPr/>
        </p:nvSpPr>
        <p:spPr>
          <a:xfrm>
            <a:off x="548640" y="4160520"/>
            <a:ext cx="6400800" cy="182880"/>
          </a:xfrm>
          <a:prstGeom prst="rect">
            <a:avLst/>
          </a:prstGeom>
          <a:noFill/>
        </p:spPr>
        <p:txBody>
          <a:bodyPr wrap="square" lIns="0" tIns="0" rIns="0" bIns="0" anchor="t">
            <a:spAutoFit/>
          </a:bodyPr>
          <a:lstStyle/>
          <a:p>
            <a:pPr algn="l">
              <a:lnSpc>
                <a:spcPct val="100000"/>
              </a:lnSpc>
            </a:pPr>
            <a:r>
              <a:rPr sz="800" b="1" i="0" spc="120" dirty="0">
                <a:solidFill>
                  <a:srgbClr val="008173"/>
                </a:solidFill>
                <a:latin typeface="Segoe UI"/>
                <a:cs typeface="Segoe UI"/>
              </a:rPr>
              <a:t>SETUP PATHS</a:t>
            </a:r>
          </a:p>
        </p:txBody>
      </p:sp>
      <p:sp>
        <p:nvSpPr>
          <p:cNvPr id="63" name="Rectangle 62"/>
          <p:cNvSpPr/>
          <p:nvPr/>
        </p:nvSpPr>
        <p:spPr>
          <a:xfrm>
            <a:off x="548640" y="4389120"/>
            <a:ext cx="1645920" cy="786384"/>
          </a:xfrm>
          <a:prstGeom prst="rect">
            <a:avLst/>
          </a:prstGeom>
          <a:solidFill>
            <a:srgbClr val="F6F8FD"/>
          </a:solidFill>
          <a:ln w="9525">
            <a:solidFill>
              <a:srgbClr val="E1E7F4"/>
            </a:solidFill>
          </a:ln>
          <a:effectLst/>
        </p:spPr>
        <p:txBody>
          <a:bodyPr wrap="square" rtlCol="0" anchor="ctr"/>
          <a:lstStyle/>
          <a:p>
            <a:endParaRPr/>
          </a:p>
        </p:txBody>
      </p:sp>
      <p:sp>
        <p:nvSpPr>
          <p:cNvPr id="64" name="Rectangle 63"/>
          <p:cNvSpPr/>
          <p:nvPr/>
        </p:nvSpPr>
        <p:spPr>
          <a:xfrm>
            <a:off x="548640" y="4389120"/>
            <a:ext cx="1645920" cy="41148"/>
          </a:xfrm>
          <a:prstGeom prst="rect">
            <a:avLst/>
          </a:prstGeom>
          <a:solidFill>
            <a:srgbClr val="00B39F"/>
          </a:solidFill>
          <a:ln>
            <a:noFill/>
          </a:ln>
          <a:effectLst/>
        </p:spPr>
        <p:txBody>
          <a:bodyPr wrap="square" rtlCol="0" anchor="ctr"/>
          <a:lstStyle/>
          <a:p>
            <a:endParaRPr/>
          </a:p>
        </p:txBody>
      </p:sp>
      <p:sp>
        <p:nvSpPr>
          <p:cNvPr id="65" name="TextBox 64"/>
          <p:cNvSpPr txBox="1"/>
          <p:nvPr/>
        </p:nvSpPr>
        <p:spPr>
          <a:xfrm>
            <a:off x="658368" y="4507992"/>
            <a:ext cx="1426464"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Prompt agent</a:t>
            </a:r>
          </a:p>
        </p:txBody>
      </p:sp>
      <p:sp>
        <p:nvSpPr>
          <p:cNvPr id="66" name="TextBox 65"/>
          <p:cNvSpPr txBox="1"/>
          <p:nvPr/>
        </p:nvSpPr>
        <p:spPr>
          <a:xfrm>
            <a:off x="658368" y="4750307"/>
            <a:ext cx="1426464" cy="374904"/>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fastest path: instructions, model and tools</a:t>
            </a:r>
          </a:p>
        </p:txBody>
      </p:sp>
      <p:sp>
        <p:nvSpPr>
          <p:cNvPr id="67" name="Rectangle 66"/>
          <p:cNvSpPr/>
          <p:nvPr/>
        </p:nvSpPr>
        <p:spPr>
          <a:xfrm>
            <a:off x="2301544" y="4389120"/>
            <a:ext cx="1645920" cy="786384"/>
          </a:xfrm>
          <a:prstGeom prst="rect">
            <a:avLst/>
          </a:prstGeom>
          <a:solidFill>
            <a:srgbClr val="F6F8FD"/>
          </a:solidFill>
          <a:ln w="9525">
            <a:solidFill>
              <a:srgbClr val="E1E7F4"/>
            </a:solidFill>
          </a:ln>
          <a:effectLst/>
        </p:spPr>
        <p:txBody>
          <a:bodyPr wrap="square" rtlCol="0" anchor="ctr"/>
          <a:lstStyle/>
          <a:p>
            <a:endParaRPr/>
          </a:p>
        </p:txBody>
      </p:sp>
      <p:sp>
        <p:nvSpPr>
          <p:cNvPr id="68" name="Rectangle 67"/>
          <p:cNvSpPr/>
          <p:nvPr/>
        </p:nvSpPr>
        <p:spPr>
          <a:xfrm>
            <a:off x="2301544" y="4389120"/>
            <a:ext cx="1645920" cy="41148"/>
          </a:xfrm>
          <a:prstGeom prst="rect">
            <a:avLst/>
          </a:prstGeom>
          <a:solidFill>
            <a:srgbClr val="00B39F"/>
          </a:solidFill>
          <a:ln>
            <a:noFill/>
          </a:ln>
          <a:effectLst/>
        </p:spPr>
        <p:txBody>
          <a:bodyPr wrap="square" rtlCol="0" anchor="ctr"/>
          <a:lstStyle/>
          <a:p>
            <a:endParaRPr/>
          </a:p>
        </p:txBody>
      </p:sp>
      <p:sp>
        <p:nvSpPr>
          <p:cNvPr id="69" name="TextBox 68"/>
          <p:cNvSpPr txBox="1"/>
          <p:nvPr/>
        </p:nvSpPr>
        <p:spPr>
          <a:xfrm>
            <a:off x="2411272" y="4507992"/>
            <a:ext cx="1426464"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Copilot harness</a:t>
            </a:r>
          </a:p>
        </p:txBody>
      </p:sp>
      <p:sp>
        <p:nvSpPr>
          <p:cNvPr id="70" name="TextBox 69"/>
          <p:cNvSpPr txBox="1"/>
          <p:nvPr/>
        </p:nvSpPr>
        <p:spPr>
          <a:xfrm>
            <a:off x="2411272" y="4750307"/>
            <a:ext cx="1426464" cy="374904"/>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prompt agent on a harness that Foundry operates</a:t>
            </a:r>
          </a:p>
        </p:txBody>
      </p:sp>
      <p:sp>
        <p:nvSpPr>
          <p:cNvPr id="71" name="Rectangle 70"/>
          <p:cNvSpPr/>
          <p:nvPr/>
        </p:nvSpPr>
        <p:spPr>
          <a:xfrm>
            <a:off x="4054449" y="4389120"/>
            <a:ext cx="1645920" cy="786384"/>
          </a:xfrm>
          <a:prstGeom prst="rect">
            <a:avLst/>
          </a:prstGeom>
          <a:solidFill>
            <a:srgbClr val="F6F8FD"/>
          </a:solidFill>
          <a:ln w="9525">
            <a:solidFill>
              <a:srgbClr val="E1E7F4"/>
            </a:solidFill>
          </a:ln>
          <a:effectLst/>
        </p:spPr>
        <p:txBody>
          <a:bodyPr wrap="square" rtlCol="0" anchor="ctr"/>
          <a:lstStyle/>
          <a:p>
            <a:endParaRPr/>
          </a:p>
        </p:txBody>
      </p:sp>
      <p:sp>
        <p:nvSpPr>
          <p:cNvPr id="72" name="Rectangle 71"/>
          <p:cNvSpPr/>
          <p:nvPr/>
        </p:nvSpPr>
        <p:spPr>
          <a:xfrm>
            <a:off x="4054449" y="4389120"/>
            <a:ext cx="1645920" cy="41148"/>
          </a:xfrm>
          <a:prstGeom prst="rect">
            <a:avLst/>
          </a:prstGeom>
          <a:solidFill>
            <a:srgbClr val="00B39F"/>
          </a:solidFill>
          <a:ln>
            <a:noFill/>
          </a:ln>
          <a:effectLst/>
        </p:spPr>
        <p:txBody>
          <a:bodyPr wrap="square" rtlCol="0" anchor="ctr"/>
          <a:lstStyle/>
          <a:p>
            <a:endParaRPr/>
          </a:p>
        </p:txBody>
      </p:sp>
      <p:sp>
        <p:nvSpPr>
          <p:cNvPr id="73" name="TextBox 72"/>
          <p:cNvSpPr txBox="1"/>
          <p:nvPr/>
        </p:nvSpPr>
        <p:spPr>
          <a:xfrm>
            <a:off x="4164177" y="4507992"/>
            <a:ext cx="1426464"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Agent Framework</a:t>
            </a:r>
          </a:p>
        </p:txBody>
      </p:sp>
      <p:sp>
        <p:nvSpPr>
          <p:cNvPr id="74" name="TextBox 73"/>
          <p:cNvSpPr txBox="1"/>
          <p:nvPr/>
        </p:nvSpPr>
        <p:spPr>
          <a:xfrm>
            <a:off x="4164177" y="4750307"/>
            <a:ext cx="1426464" cy="374904"/>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hosted agent; Foundry hosts and scales it</a:t>
            </a:r>
          </a:p>
        </p:txBody>
      </p:sp>
      <p:sp>
        <p:nvSpPr>
          <p:cNvPr id="75" name="Rectangle 74"/>
          <p:cNvSpPr/>
          <p:nvPr/>
        </p:nvSpPr>
        <p:spPr>
          <a:xfrm>
            <a:off x="5807354" y="4389120"/>
            <a:ext cx="1645920" cy="786384"/>
          </a:xfrm>
          <a:prstGeom prst="rect">
            <a:avLst/>
          </a:prstGeom>
          <a:solidFill>
            <a:srgbClr val="F6F8FD"/>
          </a:solidFill>
          <a:ln w="9525">
            <a:solidFill>
              <a:srgbClr val="E1E7F4"/>
            </a:solidFill>
          </a:ln>
          <a:effectLst/>
        </p:spPr>
        <p:txBody>
          <a:bodyPr wrap="square" rtlCol="0" anchor="ctr"/>
          <a:lstStyle/>
          <a:p>
            <a:endParaRPr/>
          </a:p>
        </p:txBody>
      </p:sp>
      <p:sp>
        <p:nvSpPr>
          <p:cNvPr id="76" name="Rectangle 75"/>
          <p:cNvSpPr/>
          <p:nvPr/>
        </p:nvSpPr>
        <p:spPr>
          <a:xfrm>
            <a:off x="5807354" y="4389120"/>
            <a:ext cx="1645920" cy="41148"/>
          </a:xfrm>
          <a:prstGeom prst="rect">
            <a:avLst/>
          </a:prstGeom>
          <a:solidFill>
            <a:srgbClr val="00B39F"/>
          </a:solidFill>
          <a:ln>
            <a:noFill/>
          </a:ln>
          <a:effectLst/>
        </p:spPr>
        <p:txBody>
          <a:bodyPr wrap="square" rtlCol="0" anchor="ctr"/>
          <a:lstStyle/>
          <a:p>
            <a:endParaRPr/>
          </a:p>
        </p:txBody>
      </p:sp>
      <p:sp>
        <p:nvSpPr>
          <p:cNvPr id="77" name="TextBox 76"/>
          <p:cNvSpPr txBox="1"/>
          <p:nvPr/>
        </p:nvSpPr>
        <p:spPr>
          <a:xfrm>
            <a:off x="5917082" y="4507992"/>
            <a:ext cx="1426464" cy="201168"/>
          </a:xfrm>
          <a:prstGeom prst="rect">
            <a:avLst/>
          </a:prstGeom>
          <a:noFill/>
        </p:spPr>
        <p:txBody>
          <a:bodyPr wrap="square" lIns="0" tIns="0" rIns="0" bIns="0" anchor="t">
            <a:spAutoFit/>
          </a:bodyPr>
          <a:lstStyle/>
          <a:p>
            <a:pPr algn="l">
              <a:lnSpc>
                <a:spcPct val="95000"/>
              </a:lnSpc>
            </a:pPr>
            <a:r>
              <a:rPr sz="900" b="1" i="0" dirty="0">
                <a:solidFill>
                  <a:srgbClr val="101A3C"/>
                </a:solidFill>
                <a:latin typeface="Segoe UI"/>
                <a:cs typeface="Segoe UI"/>
              </a:rPr>
              <a:t>Own framework</a:t>
            </a:r>
          </a:p>
        </p:txBody>
      </p:sp>
      <p:sp>
        <p:nvSpPr>
          <p:cNvPr id="78" name="TextBox 77"/>
          <p:cNvSpPr txBox="1"/>
          <p:nvPr/>
        </p:nvSpPr>
        <p:spPr>
          <a:xfrm>
            <a:off x="5917082" y="4750307"/>
            <a:ext cx="1426464" cy="374904"/>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hosted agent with LangGraph or custom code over MCP</a:t>
            </a:r>
          </a:p>
        </p:txBody>
      </p:sp>
      <p:sp>
        <p:nvSpPr>
          <p:cNvPr id="79" name="Rectangle 78"/>
          <p:cNvSpPr/>
          <p:nvPr/>
        </p:nvSpPr>
        <p:spPr>
          <a:xfrm>
            <a:off x="7726679" y="1325880"/>
            <a:ext cx="3913632" cy="932688"/>
          </a:xfrm>
          <a:prstGeom prst="rect">
            <a:avLst/>
          </a:prstGeom>
          <a:solidFill>
            <a:srgbClr val="F6F8FD"/>
          </a:solidFill>
          <a:ln w="9525">
            <a:solidFill>
              <a:srgbClr val="E1E7F4"/>
            </a:solidFill>
          </a:ln>
          <a:effectLst/>
        </p:spPr>
        <p:txBody>
          <a:bodyPr wrap="square" rtlCol="0" anchor="ctr"/>
          <a:lstStyle/>
          <a:p>
            <a:endParaRPr/>
          </a:p>
        </p:txBody>
      </p:sp>
      <p:sp>
        <p:nvSpPr>
          <p:cNvPr id="80" name="Rectangle 79"/>
          <p:cNvSpPr/>
          <p:nvPr/>
        </p:nvSpPr>
        <p:spPr>
          <a:xfrm>
            <a:off x="7726679" y="1325880"/>
            <a:ext cx="41148" cy="932688"/>
          </a:xfrm>
          <a:prstGeom prst="rect">
            <a:avLst/>
          </a:prstGeom>
          <a:solidFill>
            <a:srgbClr val="101A3C"/>
          </a:solidFill>
          <a:ln>
            <a:noFill/>
          </a:ln>
          <a:effectLst/>
        </p:spPr>
        <p:txBody>
          <a:bodyPr wrap="square" rtlCol="0" anchor="ctr"/>
          <a:lstStyle/>
          <a:p>
            <a:endParaRPr/>
          </a:p>
        </p:txBody>
      </p:sp>
      <p:sp>
        <p:nvSpPr>
          <p:cNvPr id="81" name="TextBox 80"/>
          <p:cNvSpPr txBox="1"/>
          <p:nvPr/>
        </p:nvSpPr>
        <p:spPr>
          <a:xfrm>
            <a:off x="7872983" y="1426464"/>
            <a:ext cx="36210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Before connecting</a:t>
            </a:r>
          </a:p>
        </p:txBody>
      </p:sp>
      <p:sp>
        <p:nvSpPr>
          <p:cNvPr id="82" name="TextBox 81"/>
          <p:cNvSpPr txBox="1"/>
          <p:nvPr/>
        </p:nvSpPr>
        <p:spPr>
          <a:xfrm>
            <a:off x="7872983" y="1668780"/>
            <a:ext cx="3621024" cy="539495"/>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Playwright Workspace provisioned as its own resource</a:t>
            </a:r>
          </a:p>
          <a:p>
            <a:pPr algn="l">
              <a:lnSpc>
                <a:spcPct val="112000"/>
              </a:lnSpc>
              <a:spcAft>
                <a:spcPts val="250"/>
              </a:spcAft>
            </a:pPr>
            <a:r>
              <a:rPr sz="800" b="0" i="0" dirty="0">
                <a:solidFill>
                  <a:srgbClr val="44495B"/>
                </a:solidFill>
                <a:latin typeface="Segoe UI"/>
                <a:cs typeface="Segoe UI"/>
              </a:rPr>
              <a:t>Private network connection added at provisioning*</a:t>
            </a:r>
          </a:p>
          <a:p>
            <a:pPr algn="l">
              <a:lnSpc>
                <a:spcPct val="112000"/>
              </a:lnSpc>
              <a:spcAft>
                <a:spcPts val="250"/>
              </a:spcAft>
            </a:pPr>
            <a:r>
              <a:rPr sz="800" b="0" i="0" dirty="0">
                <a:solidFill>
                  <a:srgbClr val="44495B"/>
                </a:solidFill>
                <a:latin typeface="Segoe UI"/>
                <a:cs typeface="Segoe UI"/>
              </a:rPr>
              <a:t>Foundry project connection to the workspace</a:t>
            </a:r>
          </a:p>
        </p:txBody>
      </p:sp>
      <p:sp>
        <p:nvSpPr>
          <p:cNvPr id="83" name="Rectangle 82"/>
          <p:cNvSpPr/>
          <p:nvPr/>
        </p:nvSpPr>
        <p:spPr>
          <a:xfrm>
            <a:off x="7726679" y="2350008"/>
            <a:ext cx="3913632" cy="731520"/>
          </a:xfrm>
          <a:prstGeom prst="rect">
            <a:avLst/>
          </a:prstGeom>
          <a:solidFill>
            <a:srgbClr val="F6F8FD"/>
          </a:solidFill>
          <a:ln w="9525">
            <a:solidFill>
              <a:srgbClr val="E1E7F4"/>
            </a:solidFill>
          </a:ln>
          <a:effectLst/>
        </p:spPr>
        <p:txBody>
          <a:bodyPr wrap="square" rtlCol="0" anchor="ctr"/>
          <a:lstStyle/>
          <a:p>
            <a:endParaRPr/>
          </a:p>
        </p:txBody>
      </p:sp>
      <p:sp>
        <p:nvSpPr>
          <p:cNvPr id="84" name="Rectangle 83"/>
          <p:cNvSpPr/>
          <p:nvPr/>
        </p:nvSpPr>
        <p:spPr>
          <a:xfrm>
            <a:off x="7726679" y="2350008"/>
            <a:ext cx="41148" cy="731520"/>
          </a:xfrm>
          <a:prstGeom prst="rect">
            <a:avLst/>
          </a:prstGeom>
          <a:solidFill>
            <a:srgbClr val="101A3C"/>
          </a:solidFill>
          <a:ln>
            <a:noFill/>
          </a:ln>
          <a:effectLst/>
        </p:spPr>
        <p:txBody>
          <a:bodyPr wrap="square" rtlCol="0" anchor="ctr"/>
          <a:lstStyle/>
          <a:p>
            <a:endParaRPr/>
          </a:p>
        </p:txBody>
      </p:sp>
      <p:sp>
        <p:nvSpPr>
          <p:cNvPr id="85" name="TextBox 84"/>
          <p:cNvSpPr txBox="1"/>
          <p:nvPr/>
        </p:nvSpPr>
        <p:spPr>
          <a:xfrm>
            <a:off x="7872983" y="2450591"/>
            <a:ext cx="36210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Regions</a:t>
            </a:r>
          </a:p>
        </p:txBody>
      </p:sp>
      <p:sp>
        <p:nvSpPr>
          <p:cNvPr id="86" name="TextBox 85"/>
          <p:cNvSpPr txBox="1"/>
          <p:nvPr/>
        </p:nvSpPr>
        <p:spPr>
          <a:xfrm>
            <a:off x="7872983" y="2692908"/>
            <a:ext cx="3621024" cy="338328"/>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Australia East · East Asia · East US · Japan East · Switzerland North · West Europe · West US 3</a:t>
            </a:r>
          </a:p>
        </p:txBody>
      </p:sp>
      <p:sp>
        <p:nvSpPr>
          <p:cNvPr id="87" name="Rectangle 86"/>
          <p:cNvSpPr/>
          <p:nvPr/>
        </p:nvSpPr>
        <p:spPr>
          <a:xfrm>
            <a:off x="7726679" y="3172968"/>
            <a:ext cx="3913632" cy="1078992"/>
          </a:xfrm>
          <a:prstGeom prst="rect">
            <a:avLst/>
          </a:prstGeom>
          <a:solidFill>
            <a:srgbClr val="F6F8FD"/>
          </a:solidFill>
          <a:ln w="9525">
            <a:solidFill>
              <a:srgbClr val="E1E7F4"/>
            </a:solidFill>
          </a:ln>
          <a:effectLst/>
        </p:spPr>
        <p:txBody>
          <a:bodyPr wrap="square" rtlCol="0" anchor="ctr"/>
          <a:lstStyle/>
          <a:p>
            <a:endParaRPr/>
          </a:p>
        </p:txBody>
      </p:sp>
      <p:sp>
        <p:nvSpPr>
          <p:cNvPr id="88" name="Rectangle 87"/>
          <p:cNvSpPr/>
          <p:nvPr/>
        </p:nvSpPr>
        <p:spPr>
          <a:xfrm>
            <a:off x="7726679" y="3172968"/>
            <a:ext cx="41148" cy="1078992"/>
          </a:xfrm>
          <a:prstGeom prst="rect">
            <a:avLst/>
          </a:prstGeom>
          <a:solidFill>
            <a:srgbClr val="101A3C"/>
          </a:solidFill>
          <a:ln>
            <a:noFill/>
          </a:ln>
          <a:effectLst/>
        </p:spPr>
        <p:txBody>
          <a:bodyPr wrap="square" rtlCol="0" anchor="ctr"/>
          <a:lstStyle/>
          <a:p>
            <a:endParaRPr/>
          </a:p>
        </p:txBody>
      </p:sp>
      <p:sp>
        <p:nvSpPr>
          <p:cNvPr id="89" name="TextBox 88"/>
          <p:cNvSpPr txBox="1"/>
          <p:nvPr/>
        </p:nvSpPr>
        <p:spPr>
          <a:xfrm>
            <a:off x="7872983" y="3273552"/>
            <a:ext cx="36210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Governance</a:t>
            </a:r>
          </a:p>
        </p:txBody>
      </p:sp>
      <p:sp>
        <p:nvSpPr>
          <p:cNvPr id="90" name="TextBox 89"/>
          <p:cNvSpPr txBox="1"/>
          <p:nvPr/>
        </p:nvSpPr>
        <p:spPr>
          <a:xfrm>
            <a:off x="7872983" y="3515868"/>
            <a:ext cx="3621024" cy="685800"/>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Navigation and reading first; clicks, typing and uploads on demand</a:t>
            </a:r>
          </a:p>
          <a:p>
            <a:pPr algn="l">
              <a:lnSpc>
                <a:spcPct val="112000"/>
              </a:lnSpc>
              <a:spcAft>
                <a:spcPts val="250"/>
              </a:spcAft>
            </a:pPr>
            <a:r>
              <a:rPr sz="800" b="0" i="0" dirty="0">
                <a:solidFill>
                  <a:srgbClr val="44495B"/>
                </a:solidFill>
                <a:latin typeface="Segoe UI"/>
                <a:cs typeface="Segoe UI"/>
              </a:rPr>
              <a:t>Approval before state-changing actions</a:t>
            </a:r>
          </a:p>
          <a:p>
            <a:pPr algn="l">
              <a:lnSpc>
                <a:spcPct val="112000"/>
              </a:lnSpc>
              <a:spcAft>
                <a:spcPts val="250"/>
              </a:spcAft>
            </a:pPr>
            <a:r>
              <a:rPr sz="800" b="0" i="0" dirty="0">
                <a:solidFill>
                  <a:srgbClr val="44495B"/>
                </a:solidFill>
                <a:latin typeface="Segoe UI"/>
                <a:cs typeface="Segoe UI"/>
              </a:rPr>
              <a:t>Web content treated as untrusted input</a:t>
            </a:r>
          </a:p>
          <a:p>
            <a:pPr algn="l">
              <a:lnSpc>
                <a:spcPct val="112000"/>
              </a:lnSpc>
              <a:spcAft>
                <a:spcPts val="250"/>
              </a:spcAft>
            </a:pPr>
            <a:r>
              <a:rPr sz="800" b="0" i="0" dirty="0">
                <a:solidFill>
                  <a:srgbClr val="44495B"/>
                </a:solidFill>
                <a:latin typeface="Segoe UI"/>
                <a:cs typeface="Segoe UI"/>
              </a:rPr>
              <a:t>Access to trace content restricted*</a:t>
            </a:r>
          </a:p>
        </p:txBody>
      </p:sp>
      <p:sp>
        <p:nvSpPr>
          <p:cNvPr id="91" name="Rectangle 90"/>
          <p:cNvSpPr/>
          <p:nvPr/>
        </p:nvSpPr>
        <p:spPr>
          <a:xfrm>
            <a:off x="7726679" y="4343400"/>
            <a:ext cx="3913632" cy="832104"/>
          </a:xfrm>
          <a:prstGeom prst="rect">
            <a:avLst/>
          </a:prstGeom>
          <a:solidFill>
            <a:srgbClr val="F6F8FD"/>
          </a:solidFill>
          <a:ln w="9525">
            <a:solidFill>
              <a:srgbClr val="E1E7F4"/>
            </a:solidFill>
          </a:ln>
          <a:effectLst/>
        </p:spPr>
        <p:txBody>
          <a:bodyPr wrap="square" rtlCol="0" anchor="ctr"/>
          <a:lstStyle/>
          <a:p>
            <a:endParaRPr/>
          </a:p>
        </p:txBody>
      </p:sp>
      <p:sp>
        <p:nvSpPr>
          <p:cNvPr id="92" name="Rectangle 91"/>
          <p:cNvSpPr/>
          <p:nvPr/>
        </p:nvSpPr>
        <p:spPr>
          <a:xfrm>
            <a:off x="7726679" y="4343400"/>
            <a:ext cx="41148" cy="832104"/>
          </a:xfrm>
          <a:prstGeom prst="rect">
            <a:avLst/>
          </a:prstGeom>
          <a:solidFill>
            <a:srgbClr val="00B39F"/>
          </a:solidFill>
          <a:ln>
            <a:noFill/>
          </a:ln>
          <a:effectLst/>
        </p:spPr>
        <p:txBody>
          <a:bodyPr wrap="square" rtlCol="0" anchor="ctr"/>
          <a:lstStyle/>
          <a:p>
            <a:endParaRPr/>
          </a:p>
        </p:txBody>
      </p:sp>
      <p:sp>
        <p:nvSpPr>
          <p:cNvPr id="93" name="TextBox 92"/>
          <p:cNvSpPr txBox="1"/>
          <p:nvPr/>
        </p:nvSpPr>
        <p:spPr>
          <a:xfrm>
            <a:off x="7872983" y="4443984"/>
            <a:ext cx="3621024" cy="201168"/>
          </a:xfrm>
          <a:prstGeom prst="rect">
            <a:avLst/>
          </a:prstGeom>
          <a:noFill/>
        </p:spPr>
        <p:txBody>
          <a:bodyPr wrap="square" lIns="0" tIns="0" rIns="0" bIns="0" anchor="t">
            <a:spAutoFit/>
          </a:bodyPr>
          <a:lstStyle/>
          <a:p>
            <a:pPr algn="l">
              <a:lnSpc>
                <a:spcPct val="95000"/>
              </a:lnSpc>
            </a:pPr>
            <a:r>
              <a:rPr sz="950" b="1" i="0" dirty="0">
                <a:solidFill>
                  <a:srgbClr val="101A3C"/>
                </a:solidFill>
                <a:latin typeface="Segoe UI"/>
                <a:cs typeface="Segoe UI"/>
              </a:rPr>
              <a:t>Comparison with computer use</a:t>
            </a:r>
          </a:p>
        </p:txBody>
      </p:sp>
      <p:sp>
        <p:nvSpPr>
          <p:cNvPr id="94" name="TextBox 93"/>
          <p:cNvSpPr txBox="1"/>
          <p:nvPr/>
        </p:nvSpPr>
        <p:spPr>
          <a:xfrm>
            <a:off x="7872983" y="4686300"/>
            <a:ext cx="3621024" cy="438911"/>
          </a:xfrm>
          <a:prstGeom prst="rect">
            <a:avLst/>
          </a:prstGeom>
          <a:noFill/>
        </p:spPr>
        <p:txBody>
          <a:bodyPr wrap="square" lIns="0" tIns="0" rIns="0" bIns="0" anchor="t">
            <a:spAutoFit/>
          </a:bodyPr>
          <a:lstStyle/>
          <a:p>
            <a:pPr algn="l">
              <a:lnSpc>
                <a:spcPct val="112000"/>
              </a:lnSpc>
              <a:spcAft>
                <a:spcPts val="250"/>
              </a:spcAft>
            </a:pPr>
            <a:r>
              <a:rPr sz="800" b="0" i="0" dirty="0">
                <a:solidFill>
                  <a:srgbClr val="44495B"/>
                </a:solidFill>
                <a:latin typeface="Segoe UI"/>
                <a:cs typeface="Segoe UI"/>
              </a:rPr>
              <a:t>Browser automation — managed remote browser, via a toolbox</a:t>
            </a:r>
          </a:p>
          <a:p>
            <a:pPr algn="l">
              <a:lnSpc>
                <a:spcPct val="112000"/>
              </a:lnSpc>
              <a:spcAft>
                <a:spcPts val="250"/>
              </a:spcAft>
            </a:pPr>
            <a:r>
              <a:rPr sz="800" b="0" i="0" dirty="0">
                <a:solidFill>
                  <a:srgbClr val="44495B"/>
                </a:solidFill>
                <a:latin typeface="Segoe UI"/>
                <a:cs typeface="Segoe UI"/>
              </a:rPr>
              <a:t>Computer use* — virtual computer interface, attached directly</a:t>
            </a:r>
          </a:p>
        </p:txBody>
      </p:sp>
      <p:sp>
        <p:nvSpPr>
          <p:cNvPr id="95" name="Rectangle 94"/>
          <p:cNvSpPr/>
          <p:nvPr/>
        </p:nvSpPr>
        <p:spPr>
          <a:xfrm>
            <a:off x="548640" y="5280660"/>
            <a:ext cx="146304" cy="91440"/>
          </a:xfrm>
          <a:prstGeom prst="rect">
            <a:avLst/>
          </a:prstGeom>
          <a:solidFill>
            <a:srgbClr val="101A3C"/>
          </a:solidFill>
          <a:ln>
            <a:noFill/>
          </a:ln>
          <a:effectLst/>
        </p:spPr>
        <p:txBody>
          <a:bodyPr wrap="square" rtlCol="0" anchor="ctr"/>
          <a:lstStyle/>
          <a:p>
            <a:endParaRPr/>
          </a:p>
        </p:txBody>
      </p:sp>
      <p:sp>
        <p:nvSpPr>
          <p:cNvPr id="96" name="TextBox 95"/>
          <p:cNvSpPr txBox="1"/>
          <p:nvPr/>
        </p:nvSpPr>
        <p:spPr>
          <a:xfrm>
            <a:off x="768096" y="5253228"/>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Foundry capability described</a:t>
            </a:r>
          </a:p>
        </p:txBody>
      </p:sp>
      <p:sp>
        <p:nvSpPr>
          <p:cNvPr id="97" name="Rectangle 96"/>
          <p:cNvSpPr/>
          <p:nvPr/>
        </p:nvSpPr>
        <p:spPr>
          <a:xfrm>
            <a:off x="2432303" y="5280660"/>
            <a:ext cx="146304" cy="91440"/>
          </a:xfrm>
          <a:prstGeom prst="rect">
            <a:avLst/>
          </a:prstGeom>
          <a:solidFill>
            <a:srgbClr val="FFFFFF"/>
          </a:solidFill>
          <a:ln w="9525">
            <a:solidFill>
              <a:srgbClr val="E1E7F4"/>
            </a:solidFill>
          </a:ln>
          <a:effectLst/>
        </p:spPr>
        <p:txBody>
          <a:bodyPr wrap="square" rtlCol="0" anchor="ctr"/>
          <a:lstStyle/>
          <a:p>
            <a:endParaRPr/>
          </a:p>
        </p:txBody>
      </p:sp>
      <p:sp>
        <p:nvSpPr>
          <p:cNvPr id="98" name="TextBox 97"/>
          <p:cNvSpPr txBox="1"/>
          <p:nvPr/>
        </p:nvSpPr>
        <p:spPr>
          <a:xfrm>
            <a:off x="2651759" y="5253228"/>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Azure resource</a:t>
            </a:r>
          </a:p>
        </p:txBody>
      </p:sp>
      <p:sp>
        <p:nvSpPr>
          <p:cNvPr id="99" name="Rectangle 98"/>
          <p:cNvSpPr/>
          <p:nvPr/>
        </p:nvSpPr>
        <p:spPr>
          <a:xfrm>
            <a:off x="3547871" y="5280660"/>
            <a:ext cx="146304" cy="91440"/>
          </a:xfrm>
          <a:prstGeom prst="rect">
            <a:avLst/>
          </a:prstGeom>
          <a:solidFill>
            <a:srgbClr val="EBEFF7"/>
          </a:solidFill>
          <a:ln>
            <a:noFill/>
          </a:ln>
          <a:effectLst/>
        </p:spPr>
        <p:txBody>
          <a:bodyPr wrap="square" rtlCol="0" anchor="ctr"/>
          <a:lstStyle/>
          <a:p>
            <a:endParaRPr/>
          </a:p>
        </p:txBody>
      </p:sp>
      <p:sp>
        <p:nvSpPr>
          <p:cNvPr id="100" name="TextBox 99"/>
          <p:cNvSpPr txBox="1"/>
          <p:nvPr/>
        </p:nvSpPr>
        <p:spPr>
          <a:xfrm>
            <a:off x="3767327" y="5253228"/>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Caller or destination</a:t>
            </a:r>
          </a:p>
        </p:txBody>
      </p:sp>
      <p:sp>
        <p:nvSpPr>
          <p:cNvPr id="101" name="Rectangle 100"/>
          <p:cNvSpPr/>
          <p:nvPr/>
        </p:nvSpPr>
        <p:spPr>
          <a:xfrm>
            <a:off x="5047488" y="5280660"/>
            <a:ext cx="146304" cy="91440"/>
          </a:xfrm>
          <a:prstGeom prst="rect">
            <a:avLst/>
          </a:prstGeom>
          <a:solidFill>
            <a:srgbClr val="0B1229"/>
          </a:solidFill>
          <a:ln>
            <a:noFill/>
          </a:ln>
          <a:effectLst/>
        </p:spPr>
        <p:txBody>
          <a:bodyPr wrap="square" rtlCol="0" anchor="ctr"/>
          <a:lstStyle/>
          <a:p>
            <a:endParaRPr/>
          </a:p>
        </p:txBody>
      </p:sp>
      <p:sp>
        <p:nvSpPr>
          <p:cNvPr id="102" name="TextBox 101"/>
          <p:cNvSpPr txBox="1"/>
          <p:nvPr/>
        </p:nvSpPr>
        <p:spPr>
          <a:xfrm>
            <a:off x="5266944" y="5253228"/>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Human control</a:t>
            </a:r>
          </a:p>
        </p:txBody>
      </p:sp>
      <p:cxnSp>
        <p:nvCxnSpPr>
          <p:cNvPr id="103" name="Connector 102"/>
          <p:cNvCxnSpPr/>
          <p:nvPr/>
        </p:nvCxnSpPr>
        <p:spPr>
          <a:xfrm>
            <a:off x="6108192" y="5326380"/>
            <a:ext cx="164591" cy="0"/>
          </a:xfrm>
          <a:prstGeom prst="line">
            <a:avLst/>
          </a:prstGeom>
          <a:ln w="13970">
            <a:solidFill>
              <a:srgbClr val="44495B"/>
            </a:solidFill>
          </a:ln>
        </p:spPr>
      </p:cxnSp>
      <p:sp>
        <p:nvSpPr>
          <p:cNvPr id="104" name="TextBox 103"/>
          <p:cNvSpPr txBox="1"/>
          <p:nvPr/>
        </p:nvSpPr>
        <p:spPr>
          <a:xfrm>
            <a:off x="6327648" y="5253228"/>
            <a:ext cx="2926080" cy="146304"/>
          </a:xfrm>
          <a:prstGeom prst="rect">
            <a:avLst/>
          </a:prstGeom>
          <a:noFill/>
        </p:spPr>
        <p:txBody>
          <a:bodyPr wrap="none" lIns="0" tIns="0" rIns="0" bIns="0" anchor="t">
            <a:spAutoFit/>
          </a:bodyPr>
          <a:lstStyle/>
          <a:p>
            <a:pPr algn="l">
              <a:lnSpc>
                <a:spcPct val="100000"/>
              </a:lnSpc>
            </a:pPr>
            <a:r>
              <a:rPr sz="750" b="0" i="0" dirty="0">
                <a:solidFill>
                  <a:srgbClr val="44495B"/>
                </a:solidFill>
                <a:latin typeface="Segoe UI"/>
                <a:cs typeface="Segoe UI"/>
              </a:rPr>
              <a:t>Data path</a:t>
            </a:r>
          </a:p>
        </p:txBody>
      </p:sp>
      <p:sp>
        <p:nvSpPr>
          <p:cNvPr id="105" name="TextBox 104"/>
          <p:cNvSpPr txBox="1"/>
          <p:nvPr/>
        </p:nvSpPr>
        <p:spPr>
          <a:xfrm>
            <a:off x="7726679" y="5248656"/>
            <a:ext cx="3913632" cy="146304"/>
          </a:xfrm>
          <a:prstGeom prst="rect">
            <a:avLst/>
          </a:prstGeom>
          <a:noFill/>
        </p:spPr>
        <p:txBody>
          <a:bodyPr wrap="square" lIns="0" tIns="0" rIns="0" bIns="0" anchor="t">
            <a:spAutoFit/>
          </a:bodyPr>
          <a:lstStyle/>
          <a:p>
            <a:pPr algn="r">
              <a:lnSpc>
                <a:spcPct val="100000"/>
              </a:lnSpc>
            </a:pPr>
            <a:r>
              <a:rPr sz="750" b="0" i="1" dirty="0">
                <a:solidFill>
                  <a:srgbClr val="44495B"/>
                </a:solidFill>
                <a:latin typeface="Segoe UI"/>
                <a:cs typeface="Segoe UI"/>
              </a:rPr>
              <a:t>* preview — no service level agreement.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IQ: knowledge bases and agentic retrieval</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Azure AI Search underneath; a knowledge base plans, fans out, reranks and synthesises results.</a:t>
            </a:r>
          </a:p>
          <a:p>
            <a:endParaRPr sz="1200">
              <a:solidFill>
                <a:srgbClr val="44495B"/>
              </a:solidFill>
              <a:latin typeface="Segoe UI"/>
            </a:endParaRPr>
          </a:p>
        </p:txBody>
      </p:sp>
      <p:sp>
        <p:nvSpPr>
          <p:cNvPr id="5" name="Shape"/>
          <p:cNvSpPr/>
          <p:nvPr/>
        </p:nvSpPr>
        <p:spPr>
          <a:xfrm>
            <a:off x="548640" y="1417320"/>
            <a:ext cx="640080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Agent in Foundry Agent Service</a:t>
            </a:r>
          </a:p>
          <a:p>
            <a:pPr algn="ctr"/>
            <a:r>
              <a:rPr sz="900">
                <a:solidFill>
                  <a:srgbClr val="141B33"/>
                </a:solidFill>
                <a:latin typeface="Segoe UI"/>
              </a:rPr>
              <a:t>connects through a project connection using the MCP tool</a:t>
            </a:r>
          </a:p>
        </p:txBody>
      </p:sp>
      <p:sp>
        <p:nvSpPr>
          <p:cNvPr id="6" name="Shape"/>
          <p:cNvSpPr/>
          <p:nvPr/>
        </p:nvSpPr>
        <p:spPr>
          <a:xfrm>
            <a:off x="3657600" y="1865376"/>
            <a:ext cx="182880" cy="164592"/>
          </a:xfrm>
          <a:prstGeom prst="downArrow">
            <a:avLst/>
          </a:prstGeom>
          <a:solidFill>
            <a:srgbClr val="00B39F"/>
          </a:solidFill>
        </p:spPr>
        <p:txBody>
          <a:bodyPr/>
          <a:lstStyle/>
          <a:p>
            <a:endParaRPr/>
          </a:p>
        </p:txBody>
      </p:sp>
      <p:sp>
        <p:nvSpPr>
          <p:cNvPr id="7" name="Shape"/>
          <p:cNvSpPr/>
          <p:nvPr/>
        </p:nvSpPr>
        <p:spPr>
          <a:xfrm>
            <a:off x="548640" y="2075688"/>
            <a:ext cx="6400800" cy="1335024"/>
          </a:xfrm>
          <a:prstGeom prst="roundRect">
            <a:avLst/>
          </a:prstGeom>
          <a:solidFill>
            <a:srgbClr val="F6F8FD"/>
          </a:solidFill>
          <a:ln w="12700">
            <a:solidFill>
              <a:srgbClr val="101A3C"/>
            </a:solidFill>
            <a:prstDash val="dash"/>
          </a:ln>
        </p:spPr>
        <p:txBody>
          <a:bodyPr/>
          <a:lstStyle/>
          <a:p>
            <a:endParaRPr/>
          </a:p>
        </p:txBody>
      </p:sp>
      <p:sp>
        <p:nvSpPr>
          <p:cNvPr id="8" name="TextBox"/>
          <p:cNvSpPr txBox="1"/>
          <p:nvPr/>
        </p:nvSpPr>
        <p:spPr>
          <a:xfrm>
            <a:off x="594360" y="2125980"/>
            <a:ext cx="6309360" cy="411480"/>
          </a:xfrm>
          <a:prstGeom prst="rect">
            <a:avLst/>
          </a:prstGeom>
        </p:spPr>
        <p:txBody>
          <a:bodyPr anchor="ctr"/>
          <a:lstStyle/>
          <a:p>
            <a:r>
              <a:rPr sz="900" b="1">
                <a:solidFill>
                  <a:srgbClr val="44495B"/>
                </a:solidFill>
                <a:latin typeface="Segoe UI"/>
              </a:rPr>
              <a:t>K N O W L E D G E   B A S E   —   A Z U R E   A I   S E A R C H</a:t>
            </a:r>
          </a:p>
          <a:p>
            <a:endParaRPr sz="900" b="1">
              <a:solidFill>
                <a:srgbClr val="44495B"/>
              </a:solidFill>
              <a:latin typeface="Segoe UI"/>
            </a:endParaRPr>
          </a:p>
        </p:txBody>
      </p:sp>
      <p:sp>
        <p:nvSpPr>
          <p:cNvPr id="9" name="Shape"/>
          <p:cNvSpPr/>
          <p:nvPr/>
        </p:nvSpPr>
        <p:spPr>
          <a:xfrm>
            <a:off x="676656" y="2587752"/>
            <a:ext cx="1474470" cy="420624"/>
          </a:xfrm>
          <a:prstGeom prst="rect">
            <a:avLst/>
          </a:prstGeom>
          <a:solidFill>
            <a:srgbClr val="101A3C"/>
          </a:solidFill>
        </p:spPr>
        <p:txBody>
          <a:bodyPr anchor="ctr"/>
          <a:lstStyle/>
          <a:p>
            <a:pPr algn="ctr"/>
            <a:r>
              <a:rPr sz="900">
                <a:solidFill>
                  <a:srgbClr val="FFFFFF"/>
                </a:solidFill>
                <a:latin typeface="Segoe UI"/>
              </a:rPr>
              <a:t>Workflow initiation</a:t>
            </a:r>
          </a:p>
          <a:p>
            <a:pPr algn="ctr"/>
            <a:r>
              <a:rPr sz="900">
                <a:solidFill>
                  <a:srgbClr val="FFFFFF"/>
                </a:solidFill>
                <a:latin typeface="Segoe UI"/>
              </a:rPr>
              <a:t>query and chat history</a:t>
            </a:r>
          </a:p>
        </p:txBody>
      </p:sp>
      <p:sp>
        <p:nvSpPr>
          <p:cNvPr id="10" name="Shape"/>
          <p:cNvSpPr/>
          <p:nvPr/>
        </p:nvSpPr>
        <p:spPr>
          <a:xfrm>
            <a:off x="1295019" y="2276856"/>
            <a:ext cx="237744" cy="237744"/>
          </a:xfrm>
          <a:prstGeom prst="ellipse">
            <a:avLst/>
          </a:prstGeom>
          <a:solidFill>
            <a:srgbClr val="00B39F"/>
          </a:solidFill>
        </p:spPr>
        <p:txBody>
          <a:bodyPr anchor="ctr"/>
          <a:lstStyle/>
          <a:p>
            <a:pPr algn="ctr"/>
            <a:r>
              <a:rPr sz="1100" b="1">
                <a:solidFill>
                  <a:srgbClr val="0B1229"/>
                </a:solidFill>
                <a:latin typeface="Segoe UI"/>
              </a:rPr>
              <a:t>1</a:t>
            </a:r>
          </a:p>
        </p:txBody>
      </p:sp>
      <p:sp>
        <p:nvSpPr>
          <p:cNvPr id="11" name="Shape"/>
          <p:cNvSpPr/>
          <p:nvPr/>
        </p:nvSpPr>
        <p:spPr>
          <a:xfrm>
            <a:off x="2233422" y="2587752"/>
            <a:ext cx="1474470" cy="420624"/>
          </a:xfrm>
          <a:prstGeom prst="rect">
            <a:avLst/>
          </a:prstGeom>
          <a:solidFill>
            <a:srgbClr val="101A3C"/>
          </a:solidFill>
        </p:spPr>
        <p:txBody>
          <a:bodyPr anchor="ctr"/>
          <a:lstStyle/>
          <a:p>
            <a:pPr algn="ctr"/>
            <a:r>
              <a:rPr sz="900">
                <a:solidFill>
                  <a:srgbClr val="FFFFFF"/>
                </a:solidFill>
                <a:latin typeface="Segoe UI"/>
              </a:rPr>
              <a:t>Query planning</a:t>
            </a:r>
          </a:p>
          <a:p>
            <a:pPr algn="ctr"/>
            <a:r>
              <a:rPr sz="900">
                <a:solidFill>
                  <a:srgbClr val="FFFFFF"/>
                </a:solidFill>
                <a:latin typeface="Segoe UI"/>
              </a:rPr>
              <a:t>an LLM writes subqueries</a:t>
            </a:r>
          </a:p>
        </p:txBody>
      </p:sp>
      <p:sp>
        <p:nvSpPr>
          <p:cNvPr id="12" name="Shape"/>
          <p:cNvSpPr/>
          <p:nvPr/>
        </p:nvSpPr>
        <p:spPr>
          <a:xfrm>
            <a:off x="2851785" y="2276856"/>
            <a:ext cx="237744" cy="237744"/>
          </a:xfrm>
          <a:prstGeom prst="ellipse">
            <a:avLst/>
          </a:prstGeom>
          <a:solidFill>
            <a:srgbClr val="00B39F"/>
          </a:solidFill>
        </p:spPr>
        <p:txBody>
          <a:bodyPr anchor="ctr"/>
          <a:lstStyle/>
          <a:p>
            <a:pPr algn="ctr"/>
            <a:r>
              <a:rPr sz="1100" b="1">
                <a:solidFill>
                  <a:srgbClr val="0B1229"/>
                </a:solidFill>
                <a:latin typeface="Segoe UI"/>
              </a:rPr>
              <a:t>2</a:t>
            </a:r>
          </a:p>
        </p:txBody>
      </p:sp>
      <p:sp>
        <p:nvSpPr>
          <p:cNvPr id="13" name="Shape"/>
          <p:cNvSpPr/>
          <p:nvPr/>
        </p:nvSpPr>
        <p:spPr>
          <a:xfrm>
            <a:off x="3790188" y="2587752"/>
            <a:ext cx="1474470" cy="420624"/>
          </a:xfrm>
          <a:prstGeom prst="rect">
            <a:avLst/>
          </a:prstGeom>
          <a:solidFill>
            <a:srgbClr val="101A3C"/>
          </a:solidFill>
        </p:spPr>
        <p:txBody>
          <a:bodyPr anchor="ctr"/>
          <a:lstStyle/>
          <a:p>
            <a:pPr algn="ctr"/>
            <a:r>
              <a:rPr sz="900">
                <a:solidFill>
                  <a:srgbClr val="FFFFFF"/>
                </a:solidFill>
                <a:latin typeface="Segoe UI"/>
              </a:rPr>
              <a:t>Query execution</a:t>
            </a:r>
          </a:p>
          <a:p>
            <a:pPr algn="ctr"/>
            <a:r>
              <a:rPr sz="900">
                <a:solidFill>
                  <a:srgbClr val="FFFFFF"/>
                </a:solidFill>
                <a:latin typeface="Segoe UI"/>
              </a:rPr>
              <a:t>run in parallel, reranked</a:t>
            </a:r>
          </a:p>
        </p:txBody>
      </p:sp>
      <p:sp>
        <p:nvSpPr>
          <p:cNvPr id="14" name="Shape"/>
          <p:cNvSpPr/>
          <p:nvPr/>
        </p:nvSpPr>
        <p:spPr>
          <a:xfrm>
            <a:off x="4408551" y="2276856"/>
            <a:ext cx="237744" cy="237744"/>
          </a:xfrm>
          <a:prstGeom prst="ellipse">
            <a:avLst/>
          </a:prstGeom>
          <a:solidFill>
            <a:srgbClr val="00B39F"/>
          </a:solidFill>
        </p:spPr>
        <p:txBody>
          <a:bodyPr anchor="ctr"/>
          <a:lstStyle/>
          <a:p>
            <a:pPr algn="ctr"/>
            <a:r>
              <a:rPr sz="1100" b="1">
                <a:solidFill>
                  <a:srgbClr val="0B1229"/>
                </a:solidFill>
                <a:latin typeface="Segoe UI"/>
              </a:rPr>
              <a:t>3</a:t>
            </a:r>
          </a:p>
        </p:txBody>
      </p:sp>
      <p:sp>
        <p:nvSpPr>
          <p:cNvPr id="15" name="Shape"/>
          <p:cNvSpPr/>
          <p:nvPr/>
        </p:nvSpPr>
        <p:spPr>
          <a:xfrm>
            <a:off x="5346954" y="2587752"/>
            <a:ext cx="1474470" cy="420624"/>
          </a:xfrm>
          <a:prstGeom prst="rect">
            <a:avLst/>
          </a:prstGeom>
          <a:solidFill>
            <a:srgbClr val="101A3C"/>
          </a:solidFill>
        </p:spPr>
        <p:txBody>
          <a:bodyPr anchor="ctr"/>
          <a:lstStyle/>
          <a:p>
            <a:pPr algn="ctr"/>
            <a:r>
              <a:rPr sz="900">
                <a:solidFill>
                  <a:srgbClr val="FFFFFF"/>
                </a:solidFill>
                <a:latin typeface="Segoe UI"/>
              </a:rPr>
              <a:t>Result synthesis</a:t>
            </a:r>
          </a:p>
          <a:p>
            <a:pPr algn="ctr"/>
            <a:r>
              <a:rPr sz="900">
                <a:solidFill>
                  <a:srgbClr val="FFFFFF"/>
                </a:solidFill>
                <a:latin typeface="Segoe UI"/>
              </a:rPr>
              <a:t>answer, citations, log</a:t>
            </a:r>
          </a:p>
        </p:txBody>
      </p:sp>
      <p:sp>
        <p:nvSpPr>
          <p:cNvPr id="16" name="Shape"/>
          <p:cNvSpPr/>
          <p:nvPr/>
        </p:nvSpPr>
        <p:spPr>
          <a:xfrm>
            <a:off x="5965317" y="2276856"/>
            <a:ext cx="237744" cy="237744"/>
          </a:xfrm>
          <a:prstGeom prst="ellipse">
            <a:avLst/>
          </a:prstGeom>
          <a:solidFill>
            <a:srgbClr val="00B39F"/>
          </a:solidFill>
        </p:spPr>
        <p:txBody>
          <a:bodyPr anchor="ctr"/>
          <a:lstStyle/>
          <a:p>
            <a:pPr algn="ctr"/>
            <a:r>
              <a:rPr sz="1100" b="1">
                <a:solidFill>
                  <a:srgbClr val="0B1229"/>
                </a:solidFill>
                <a:latin typeface="Segoe UI"/>
              </a:rPr>
              <a:t>4</a:t>
            </a:r>
          </a:p>
        </p:txBody>
      </p:sp>
      <p:sp>
        <p:nvSpPr>
          <p:cNvPr id="17" name="Shape"/>
          <p:cNvSpPr/>
          <p:nvPr/>
        </p:nvSpPr>
        <p:spPr>
          <a:xfrm>
            <a:off x="548640" y="3575304"/>
            <a:ext cx="3118104" cy="1328928"/>
          </a:xfrm>
          <a:prstGeom prst="rect">
            <a:avLst/>
          </a:prstGeom>
          <a:solidFill>
            <a:srgbClr val="F6F8FD"/>
          </a:solidFill>
          <a:ln w="9525">
            <a:solidFill>
              <a:srgbClr val="E1E7F4"/>
            </a:solidFill>
          </a:ln>
        </p:spPr>
        <p:txBody>
          <a:bodyPr/>
          <a:lstStyle/>
          <a:p>
            <a:endParaRPr/>
          </a:p>
        </p:txBody>
      </p:sp>
      <p:sp>
        <p:nvSpPr>
          <p:cNvPr id="18" name="Shape"/>
          <p:cNvSpPr/>
          <p:nvPr/>
        </p:nvSpPr>
        <p:spPr>
          <a:xfrm>
            <a:off x="548640" y="3575304"/>
            <a:ext cx="3118104" cy="38405"/>
          </a:xfrm>
          <a:prstGeom prst="rect">
            <a:avLst/>
          </a:prstGeom>
          <a:solidFill>
            <a:srgbClr val="101A3C"/>
          </a:solidFill>
        </p:spPr>
        <p:txBody>
          <a:bodyPr/>
          <a:lstStyle/>
          <a:p>
            <a:endParaRPr/>
          </a:p>
        </p:txBody>
      </p:sp>
      <p:sp>
        <p:nvSpPr>
          <p:cNvPr id="19" name="TextBox"/>
          <p:cNvSpPr txBox="1"/>
          <p:nvPr/>
        </p:nvSpPr>
        <p:spPr>
          <a:xfrm>
            <a:off x="603504" y="3698748"/>
            <a:ext cx="3008376" cy="441960"/>
          </a:xfrm>
          <a:prstGeom prst="rect">
            <a:avLst/>
          </a:prstGeom>
        </p:spPr>
        <p:txBody>
          <a:bodyPr anchor="ctr"/>
          <a:lstStyle/>
          <a:p>
            <a:r>
              <a:rPr sz="1000" b="1">
                <a:solidFill>
                  <a:srgbClr val="101A3C"/>
                </a:solidFill>
                <a:latin typeface="Segoe UI"/>
              </a:rPr>
              <a:t>Indexed sources</a:t>
            </a:r>
          </a:p>
          <a:p>
            <a:r>
              <a:rPr sz="1000" b="1">
                <a:solidFill>
                  <a:srgbClr val="101A3C"/>
                </a:solidFill>
                <a:latin typeface="Segoe UI"/>
              </a:rPr>
              <a:t>ingested before the query</a:t>
            </a:r>
          </a:p>
        </p:txBody>
      </p:sp>
      <p:sp>
        <p:nvSpPr>
          <p:cNvPr id="20" name="TextBox"/>
          <p:cNvSpPr txBox="1"/>
          <p:nvPr/>
        </p:nvSpPr>
        <p:spPr>
          <a:xfrm>
            <a:off x="603504" y="4140708"/>
            <a:ext cx="3008376" cy="685800"/>
          </a:xfrm>
          <a:prstGeom prst="rect">
            <a:avLst/>
          </a:prstGeom>
        </p:spPr>
        <p:txBody>
          <a:bodyPr anchor="ctr"/>
          <a:lstStyle/>
          <a:p>
            <a:r>
              <a:rPr sz="900">
                <a:solidFill>
                  <a:srgbClr val="141B33"/>
                </a:solidFill>
                <a:latin typeface="Segoe UI"/>
              </a:rPr>
              <a:t>Search index (GA) · Azure blob (GA)</a:t>
            </a:r>
          </a:p>
          <a:p>
            <a:r>
              <a:rPr sz="900">
                <a:solidFill>
                  <a:srgbClr val="141B33"/>
                </a:solidFill>
                <a:latin typeface="Segoe UI"/>
              </a:rPr>
              <a:t>OneLake (GA) · Azure SQL (Preview)</a:t>
            </a:r>
          </a:p>
          <a:p>
            <a:r>
              <a:rPr sz="900">
                <a:solidFill>
                  <a:srgbClr val="141B33"/>
                </a:solidFill>
                <a:latin typeface="Segoe UI"/>
              </a:rPr>
              <a:t>File upload (Preview)</a:t>
            </a:r>
          </a:p>
          <a:p>
            <a:r>
              <a:rPr sz="900">
                <a:solidFill>
                  <a:srgbClr val="141B33"/>
                </a:solidFill>
                <a:latin typeface="Segoe UI"/>
              </a:rPr>
              <a:t>Indexed SharePoint (Preview)</a:t>
            </a:r>
          </a:p>
        </p:txBody>
      </p:sp>
      <p:sp>
        <p:nvSpPr>
          <p:cNvPr id="21" name="Shape"/>
          <p:cNvSpPr/>
          <p:nvPr/>
        </p:nvSpPr>
        <p:spPr>
          <a:xfrm>
            <a:off x="3831336" y="3575304"/>
            <a:ext cx="3118104" cy="1466088"/>
          </a:xfrm>
          <a:prstGeom prst="rect">
            <a:avLst/>
          </a:prstGeom>
          <a:solidFill>
            <a:srgbClr val="F6F8FD"/>
          </a:solidFill>
          <a:ln w="9525">
            <a:solidFill>
              <a:srgbClr val="E1E7F4"/>
            </a:solidFill>
          </a:ln>
        </p:spPr>
        <p:txBody>
          <a:bodyPr/>
          <a:lstStyle/>
          <a:p>
            <a:endParaRPr/>
          </a:p>
        </p:txBody>
      </p:sp>
      <p:sp>
        <p:nvSpPr>
          <p:cNvPr id="22" name="Shape"/>
          <p:cNvSpPr/>
          <p:nvPr/>
        </p:nvSpPr>
        <p:spPr>
          <a:xfrm>
            <a:off x="3831336" y="3575304"/>
            <a:ext cx="3118104" cy="38405"/>
          </a:xfrm>
          <a:prstGeom prst="rect">
            <a:avLst/>
          </a:prstGeom>
          <a:solidFill>
            <a:srgbClr val="101A3C"/>
          </a:solidFill>
        </p:spPr>
        <p:txBody>
          <a:bodyPr/>
          <a:lstStyle/>
          <a:p>
            <a:endParaRPr/>
          </a:p>
        </p:txBody>
      </p:sp>
      <p:sp>
        <p:nvSpPr>
          <p:cNvPr id="23" name="TextBox"/>
          <p:cNvSpPr txBox="1"/>
          <p:nvPr/>
        </p:nvSpPr>
        <p:spPr>
          <a:xfrm>
            <a:off x="3886200" y="3698748"/>
            <a:ext cx="3008376" cy="441960"/>
          </a:xfrm>
          <a:prstGeom prst="rect">
            <a:avLst/>
          </a:prstGeom>
        </p:spPr>
        <p:txBody>
          <a:bodyPr anchor="ctr"/>
          <a:lstStyle/>
          <a:p>
            <a:r>
              <a:rPr sz="1000" b="1">
                <a:solidFill>
                  <a:srgbClr val="101A3C"/>
                </a:solidFill>
                <a:latin typeface="Segoe UI"/>
              </a:rPr>
              <a:t>Remote sources</a:t>
            </a:r>
          </a:p>
          <a:p>
            <a:r>
              <a:rPr sz="1000" b="1">
                <a:solidFill>
                  <a:srgbClr val="101A3C"/>
                </a:solidFill>
                <a:latin typeface="Segoe UI"/>
              </a:rPr>
              <a:t>queried live via native APIs</a:t>
            </a:r>
          </a:p>
        </p:txBody>
      </p:sp>
      <p:sp>
        <p:nvSpPr>
          <p:cNvPr id="24" name="TextBox"/>
          <p:cNvSpPr txBox="1"/>
          <p:nvPr/>
        </p:nvSpPr>
        <p:spPr>
          <a:xfrm>
            <a:off x="3886200" y="4140708"/>
            <a:ext cx="3008376" cy="822960"/>
          </a:xfrm>
          <a:prstGeom prst="rect">
            <a:avLst/>
          </a:prstGeom>
        </p:spPr>
        <p:txBody>
          <a:bodyPr anchor="ctr"/>
          <a:lstStyle/>
          <a:p>
            <a:r>
              <a:rPr sz="900">
                <a:solidFill>
                  <a:srgbClr val="141B33"/>
                </a:solidFill>
                <a:latin typeface="Segoe UI"/>
              </a:rPr>
              <a:t>Web / Bing (GA)</a:t>
            </a:r>
          </a:p>
          <a:p>
            <a:r>
              <a:rPr sz="900">
                <a:solidFill>
                  <a:srgbClr val="141B33"/>
                </a:solidFill>
                <a:latin typeface="Segoe UI"/>
              </a:rPr>
              <a:t>Remote SharePoint (Preview)</a:t>
            </a:r>
          </a:p>
          <a:p>
            <a:r>
              <a:rPr sz="900">
                <a:solidFill>
                  <a:srgbClr val="141B33"/>
                </a:solidFill>
                <a:latin typeface="Segoe UI"/>
              </a:rPr>
              <a:t>Fabric Data Agent (Preview)</a:t>
            </a:r>
          </a:p>
          <a:p>
            <a:r>
              <a:rPr sz="900">
                <a:solidFill>
                  <a:srgbClr val="141B33"/>
                </a:solidFill>
                <a:latin typeface="Segoe UI"/>
              </a:rPr>
              <a:t>Fabric Ontology (Preview)</a:t>
            </a:r>
          </a:p>
          <a:p>
            <a:r>
              <a:rPr sz="900">
                <a:solidFill>
                  <a:srgbClr val="141B33"/>
                </a:solidFill>
                <a:latin typeface="Segoe UI"/>
              </a:rPr>
              <a:t>MCP server (Preview) · Work IQ (Preview)</a:t>
            </a:r>
          </a:p>
        </p:txBody>
      </p:sp>
      <p:sp>
        <p:nvSpPr>
          <p:cNvPr id="25" name="Shape"/>
          <p:cNvSpPr/>
          <p:nvPr/>
        </p:nvSpPr>
        <p:spPr>
          <a:xfrm>
            <a:off x="7187184" y="1417320"/>
            <a:ext cx="4456176" cy="1184148"/>
          </a:xfrm>
          <a:prstGeom prst="rect">
            <a:avLst/>
          </a:prstGeom>
          <a:solidFill>
            <a:srgbClr val="F6F8FD"/>
          </a:solidFill>
          <a:ln w="9525">
            <a:solidFill>
              <a:srgbClr val="E1E7F4"/>
            </a:solidFill>
          </a:ln>
        </p:spPr>
        <p:txBody>
          <a:bodyPr/>
          <a:lstStyle/>
          <a:p>
            <a:endParaRPr/>
          </a:p>
        </p:txBody>
      </p:sp>
      <p:sp>
        <p:nvSpPr>
          <p:cNvPr id="26" name="Shape"/>
          <p:cNvSpPr/>
          <p:nvPr/>
        </p:nvSpPr>
        <p:spPr>
          <a:xfrm>
            <a:off x="7187184" y="1417320"/>
            <a:ext cx="4456176" cy="38405"/>
          </a:xfrm>
          <a:prstGeom prst="rect">
            <a:avLst/>
          </a:prstGeom>
          <a:solidFill>
            <a:srgbClr val="00B39F"/>
          </a:solidFill>
        </p:spPr>
        <p:txBody>
          <a:bodyPr/>
          <a:lstStyle/>
          <a:p>
            <a:endParaRPr/>
          </a:p>
        </p:txBody>
      </p:sp>
      <p:sp>
        <p:nvSpPr>
          <p:cNvPr id="27" name="TextBox"/>
          <p:cNvSpPr txBox="1"/>
          <p:nvPr/>
        </p:nvSpPr>
        <p:spPr>
          <a:xfrm>
            <a:off x="7242048" y="1540764"/>
            <a:ext cx="4346448" cy="457200"/>
          </a:xfrm>
          <a:prstGeom prst="rect">
            <a:avLst/>
          </a:prstGeom>
        </p:spPr>
        <p:txBody>
          <a:bodyPr anchor="ctr"/>
          <a:lstStyle/>
          <a:p>
            <a:r>
              <a:rPr sz="1050" b="1">
                <a:solidFill>
                  <a:srgbClr val="101A3C"/>
                </a:solidFill>
                <a:latin typeface="Segoe UI"/>
              </a:rPr>
              <a:t>Status</a:t>
            </a:r>
          </a:p>
          <a:p>
            <a:endParaRPr sz="1050" b="1">
              <a:solidFill>
                <a:srgbClr val="101A3C"/>
              </a:solidFill>
              <a:latin typeface="Segoe UI"/>
            </a:endParaRPr>
          </a:p>
        </p:txBody>
      </p:sp>
      <p:sp>
        <p:nvSpPr>
          <p:cNvPr id="28" name="TextBox"/>
          <p:cNvSpPr txBox="1"/>
          <p:nvPr/>
        </p:nvSpPr>
        <p:spPr>
          <a:xfrm>
            <a:off x="7242048" y="1837944"/>
            <a:ext cx="4346448" cy="685800"/>
          </a:xfrm>
          <a:prstGeom prst="rect">
            <a:avLst/>
          </a:prstGeom>
        </p:spPr>
        <p:txBody>
          <a:bodyPr anchor="ctr"/>
          <a:lstStyle/>
          <a:p>
            <a:r>
              <a:rPr sz="900">
                <a:solidFill>
                  <a:srgbClr val="141B33"/>
                </a:solidFill>
                <a:latin typeface="Segoe UI"/>
              </a:rPr>
              <a:t>Knowledge bases are GA. A subset of agentic retrieval</a:t>
            </a:r>
          </a:p>
          <a:p>
            <a:r>
              <a:rPr sz="900">
                <a:solidFill>
                  <a:srgbClr val="141B33"/>
                </a:solidFill>
                <a:latin typeface="Segoe UI"/>
              </a:rPr>
              <a:t>is GA in REST 2026-04-01; the full set is in the</a:t>
            </a:r>
          </a:p>
          <a:p>
            <a:r>
              <a:rPr sz="900">
                <a:solidFill>
                  <a:srgbClr val="141B33"/>
                </a:solidFill>
                <a:latin typeface="Segoe UI"/>
              </a:rPr>
              <a:t>2026-08-01-preview API and the portal experiences</a:t>
            </a:r>
          </a:p>
          <a:p>
            <a:r>
              <a:rPr sz="900">
                <a:solidFill>
                  <a:srgbClr val="141B33"/>
                </a:solidFill>
                <a:latin typeface="Segoe UI"/>
              </a:rPr>
              <a:t>are preview.</a:t>
            </a:r>
          </a:p>
        </p:txBody>
      </p:sp>
      <p:sp>
        <p:nvSpPr>
          <p:cNvPr id="29" name="Shape"/>
          <p:cNvSpPr/>
          <p:nvPr/>
        </p:nvSpPr>
        <p:spPr>
          <a:xfrm>
            <a:off x="7187184" y="2729484"/>
            <a:ext cx="4456176" cy="1184148"/>
          </a:xfrm>
          <a:prstGeom prst="rect">
            <a:avLst/>
          </a:prstGeom>
          <a:solidFill>
            <a:srgbClr val="F6F8FD"/>
          </a:solidFill>
          <a:ln w="9525">
            <a:solidFill>
              <a:srgbClr val="E1E7F4"/>
            </a:solidFill>
          </a:ln>
        </p:spPr>
        <p:txBody>
          <a:bodyPr/>
          <a:lstStyle/>
          <a:p>
            <a:endParaRPr/>
          </a:p>
        </p:txBody>
      </p:sp>
      <p:sp>
        <p:nvSpPr>
          <p:cNvPr id="30" name="Shape"/>
          <p:cNvSpPr/>
          <p:nvPr/>
        </p:nvSpPr>
        <p:spPr>
          <a:xfrm>
            <a:off x="7187184" y="2729484"/>
            <a:ext cx="4456176" cy="38405"/>
          </a:xfrm>
          <a:prstGeom prst="rect">
            <a:avLst/>
          </a:prstGeom>
          <a:solidFill>
            <a:srgbClr val="00B39F"/>
          </a:solidFill>
        </p:spPr>
        <p:txBody>
          <a:bodyPr/>
          <a:lstStyle/>
          <a:p>
            <a:endParaRPr/>
          </a:p>
        </p:txBody>
      </p:sp>
      <p:sp>
        <p:nvSpPr>
          <p:cNvPr id="31" name="TextBox"/>
          <p:cNvSpPr txBox="1"/>
          <p:nvPr/>
        </p:nvSpPr>
        <p:spPr>
          <a:xfrm>
            <a:off x="7242048" y="2852928"/>
            <a:ext cx="4346448" cy="457200"/>
          </a:xfrm>
          <a:prstGeom prst="rect">
            <a:avLst/>
          </a:prstGeom>
        </p:spPr>
        <p:txBody>
          <a:bodyPr anchor="ctr"/>
          <a:lstStyle/>
          <a:p>
            <a:r>
              <a:rPr sz="1050" b="1">
                <a:solidFill>
                  <a:srgbClr val="101A3C"/>
                </a:solidFill>
                <a:latin typeface="Segoe UI"/>
              </a:rPr>
              <a:t>Access control (preview)</a:t>
            </a:r>
          </a:p>
          <a:p>
            <a:endParaRPr sz="1050" b="1">
              <a:solidFill>
                <a:srgbClr val="101A3C"/>
              </a:solidFill>
              <a:latin typeface="Segoe UI"/>
            </a:endParaRPr>
          </a:p>
        </p:txBody>
      </p:sp>
      <p:sp>
        <p:nvSpPr>
          <p:cNvPr id="32" name="TextBox"/>
          <p:cNvSpPr txBox="1"/>
          <p:nvPr/>
        </p:nvSpPr>
        <p:spPr>
          <a:xfrm>
            <a:off x="7242048" y="3150108"/>
            <a:ext cx="4346448" cy="685800"/>
          </a:xfrm>
          <a:prstGeom prst="rect">
            <a:avLst/>
          </a:prstGeom>
        </p:spPr>
        <p:txBody>
          <a:bodyPr anchor="ctr"/>
          <a:lstStyle/>
          <a:p>
            <a:r>
              <a:rPr sz="900">
                <a:solidFill>
                  <a:srgbClr val="141B33"/>
                </a:solidFill>
                <a:latin typeface="Segoe UI"/>
              </a:rPr>
              <a:t>Blob, indexed OneLake and indexed SharePoint can</a:t>
            </a:r>
          </a:p>
          <a:p>
            <a:r>
              <a:rPr sz="900">
                <a:solidFill>
                  <a:srgbClr val="141B33"/>
                </a:solidFill>
                <a:latin typeface="Segoe UI"/>
              </a:rPr>
              <a:t>ingest Purview sensitivity labels, which enforces</a:t>
            </a:r>
          </a:p>
          <a:p>
            <a:r>
              <a:rPr sz="900">
                <a:solidFill>
                  <a:srgbClr val="141B33"/>
                </a:solidFill>
                <a:latin typeface="Segoe UI"/>
              </a:rPr>
              <a:t>document-level access at query time. Remote</a:t>
            </a:r>
          </a:p>
          <a:p>
            <a:r>
              <a:rPr sz="900">
                <a:solidFill>
                  <a:srgbClr val="141B33"/>
                </a:solidFill>
                <a:latin typeface="Segoe UI"/>
              </a:rPr>
              <a:t>SharePoint and Fabric retrieval run on a user identity.</a:t>
            </a:r>
          </a:p>
        </p:txBody>
      </p:sp>
      <p:sp>
        <p:nvSpPr>
          <p:cNvPr id="33" name="Shape"/>
          <p:cNvSpPr/>
          <p:nvPr/>
        </p:nvSpPr>
        <p:spPr>
          <a:xfrm>
            <a:off x="7187184" y="4041648"/>
            <a:ext cx="4456176" cy="1458468"/>
          </a:xfrm>
          <a:prstGeom prst="rect">
            <a:avLst/>
          </a:prstGeom>
          <a:solidFill>
            <a:srgbClr val="F6F8FD"/>
          </a:solidFill>
          <a:ln w="9525">
            <a:solidFill>
              <a:srgbClr val="E1E7F4"/>
            </a:solidFill>
          </a:ln>
        </p:spPr>
        <p:txBody>
          <a:bodyPr/>
          <a:lstStyle/>
          <a:p>
            <a:endParaRPr/>
          </a:p>
        </p:txBody>
      </p:sp>
      <p:sp>
        <p:nvSpPr>
          <p:cNvPr id="34" name="Shape"/>
          <p:cNvSpPr/>
          <p:nvPr/>
        </p:nvSpPr>
        <p:spPr>
          <a:xfrm>
            <a:off x="7187184" y="4041648"/>
            <a:ext cx="4456176" cy="38405"/>
          </a:xfrm>
          <a:prstGeom prst="rect">
            <a:avLst/>
          </a:prstGeom>
          <a:solidFill>
            <a:srgbClr val="00B39F"/>
          </a:solidFill>
        </p:spPr>
        <p:txBody>
          <a:bodyPr/>
          <a:lstStyle/>
          <a:p>
            <a:endParaRPr/>
          </a:p>
        </p:txBody>
      </p:sp>
      <p:sp>
        <p:nvSpPr>
          <p:cNvPr id="35" name="TextBox"/>
          <p:cNvSpPr txBox="1"/>
          <p:nvPr/>
        </p:nvSpPr>
        <p:spPr>
          <a:xfrm>
            <a:off x="7242048" y="4165092"/>
            <a:ext cx="4346448" cy="457200"/>
          </a:xfrm>
          <a:prstGeom prst="rect">
            <a:avLst/>
          </a:prstGeom>
        </p:spPr>
        <p:txBody>
          <a:bodyPr anchor="ctr"/>
          <a:lstStyle/>
          <a:p>
            <a:r>
              <a:rPr sz="1050" b="1">
                <a:solidFill>
                  <a:srgbClr val="101A3C"/>
                </a:solidFill>
                <a:latin typeface="Segoe UI"/>
              </a:rPr>
              <a:t>Billing and how to connect</a:t>
            </a:r>
          </a:p>
          <a:p>
            <a:endParaRPr sz="1050" b="1">
              <a:solidFill>
                <a:srgbClr val="101A3C"/>
              </a:solidFill>
              <a:latin typeface="Segoe UI"/>
            </a:endParaRPr>
          </a:p>
        </p:txBody>
      </p:sp>
      <p:sp>
        <p:nvSpPr>
          <p:cNvPr id="36" name="TextBox"/>
          <p:cNvSpPr txBox="1"/>
          <p:nvPr/>
        </p:nvSpPr>
        <p:spPr>
          <a:xfrm>
            <a:off x="7242048" y="4462272"/>
            <a:ext cx="4346448" cy="960120"/>
          </a:xfrm>
          <a:prstGeom prst="rect">
            <a:avLst/>
          </a:prstGeom>
        </p:spPr>
        <p:txBody>
          <a:bodyPr anchor="ctr"/>
          <a:lstStyle/>
          <a:p>
            <a:r>
              <a:rPr sz="900">
                <a:solidFill>
                  <a:srgbClr val="141B33"/>
                </a:solidFill>
                <a:latin typeface="Segoe UI"/>
              </a:rPr>
              <a:t>Azure AI Search bills retrieval tokens for subqueries</a:t>
            </a:r>
          </a:p>
          <a:p>
            <a:r>
              <a:rPr sz="900">
                <a:solidFill>
                  <a:srgbClr val="141B33"/>
                </a:solidFill>
                <a:latin typeface="Segoe UI"/>
              </a:rPr>
              <a:t>and semantic ranking; Azure OpenAI bills planning and</a:t>
            </a:r>
          </a:p>
          <a:p>
            <a:r>
              <a:rPr sz="900">
                <a:solidFill>
                  <a:srgbClr val="141B33"/>
                </a:solidFill>
                <a:latin typeface="Segoe UI"/>
              </a:rPr>
              <a:t>synthesis tokens. Documented example: $4.32 for 2,000</a:t>
            </a:r>
          </a:p>
          <a:p>
            <a:r>
              <a:rPr sz="900">
                <a:solidFill>
                  <a:srgbClr val="141B33"/>
                </a:solidFill>
                <a:latin typeface="Segoe UI"/>
              </a:rPr>
              <a:t>retrievals with three subqueries each.</a:t>
            </a:r>
          </a:p>
          <a:p>
            <a:r>
              <a:rPr sz="900">
                <a:solidFill>
                  <a:srgbClr val="141B33"/>
                </a:solidFill>
                <a:latin typeface="Segoe UI"/>
              </a:rPr>
              <a:t>Foundry project only, not hub-based; Python SDK or</a:t>
            </a:r>
          </a:p>
          <a:p>
            <a:r>
              <a:rPr sz="900">
                <a:solidFill>
                  <a:srgbClr val="141B33"/>
                </a:solidFill>
                <a:latin typeface="Segoe UI"/>
              </a:rPr>
              <a:t>REST today, and also through a Toolbox.</a:t>
            </a:r>
          </a:p>
        </p:txBody>
      </p:sp>
      <p:sp>
        <p:nvSpPr>
          <p:cNvPr id="37" name="Shape"/>
          <p:cNvSpPr/>
          <p:nvPr/>
        </p:nvSpPr>
        <p:spPr>
          <a:xfrm>
            <a:off x="548640" y="5687568"/>
            <a:ext cx="11094720" cy="9525"/>
          </a:xfrm>
          <a:prstGeom prst="rect">
            <a:avLst/>
          </a:prstGeom>
          <a:solidFill>
            <a:srgbClr val="E1E7F4"/>
          </a:solidFill>
        </p:spPr>
        <p:txBody>
          <a:bodyPr/>
          <a:lstStyle/>
          <a:p>
            <a:endParaRPr/>
          </a:p>
        </p:txBody>
      </p:sp>
      <p:sp>
        <p:nvSpPr>
          <p:cNvPr id="38"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learn.microsoft.com/azure/search/agentic-retrieval-overview</a:t>
            </a:r>
          </a:p>
          <a:p>
            <a:endParaRPr sz="900">
              <a:solidFill>
                <a:srgbClr val="44495B"/>
              </a:solidFill>
              <a:latin typeface="Segoe UI"/>
            </a:endParaRPr>
          </a:p>
        </p:txBody>
      </p:sp>
      <p:sp>
        <p:nvSpPr>
          <p:cNvPr id="39"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14</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3   ·   D A T A   A N D   T O O L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Microsoft IQ: Foundry IQ, Work IQ and Fabric IQ</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Three intelligence layers for grounding agents — each reachable directly, through a Toolbox, or through a Foundry IQ knowledge base.</a:t>
            </a:r>
          </a:p>
          <a:p>
            <a:endParaRPr sz="1200">
              <a:solidFill>
                <a:srgbClr val="44495B"/>
              </a:solidFill>
              <a:latin typeface="Segoe UI"/>
            </a:endParaRPr>
          </a:p>
        </p:txBody>
      </p:sp>
      <p:sp>
        <p:nvSpPr>
          <p:cNvPr id="32" name="Shape"/>
          <p:cNvSpPr/>
          <p:nvPr/>
        </p:nvSpPr>
        <p:spPr>
          <a:xfrm>
            <a:off x="548640" y="5687568"/>
            <a:ext cx="11094720" cy="9525"/>
          </a:xfrm>
          <a:prstGeom prst="rect">
            <a:avLst/>
          </a:prstGeom>
          <a:solidFill>
            <a:srgbClr val="E1E7F4"/>
          </a:solidFill>
        </p:spPr>
        <p:txBody>
          <a:bodyPr/>
          <a:lstStyle/>
          <a:p>
            <a:endParaRPr/>
          </a:p>
        </p:txBody>
      </p:sp>
      <p:sp>
        <p:nvSpPr>
          <p:cNvPr id="33"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learn.microsoft.com/azure/foundry/agents/how-to — foundry-iq-connect · tools/work-iq · tools/fabric-iq</a:t>
            </a:r>
          </a:p>
          <a:p>
            <a:endParaRPr sz="900">
              <a:solidFill>
                <a:srgbClr val="44495B"/>
              </a:solidFill>
              <a:latin typeface="Segoe UI"/>
            </a:endParaRPr>
          </a:p>
        </p:txBody>
      </p:sp>
      <p:sp>
        <p:nvSpPr>
          <p:cNvPr id="34"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15</a:t>
            </a:r>
          </a:p>
        </p:txBody>
      </p:sp>
      <p:sp>
        <p:nvSpPr>
          <p:cNvPr id="35" name="TextBox 34"/>
          <p:cNvSpPr txBox="1"/>
          <p:nvPr/>
        </p:nvSpPr>
        <p:spPr>
          <a:xfrm>
            <a:off x="548640" y="1298448"/>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EACH LAYER KNOWS</a:t>
            </a:r>
          </a:p>
        </p:txBody>
      </p:sp>
      <p:sp>
        <p:nvSpPr>
          <p:cNvPr id="36" name="Rectangle 35"/>
          <p:cNvSpPr/>
          <p:nvPr/>
        </p:nvSpPr>
        <p:spPr>
          <a:xfrm>
            <a:off x="548640" y="1554480"/>
            <a:ext cx="3575304" cy="713232"/>
          </a:xfrm>
          <a:prstGeom prst="rect">
            <a:avLst/>
          </a:prstGeom>
          <a:solidFill>
            <a:srgbClr val="F6F8FD"/>
          </a:solidFill>
          <a:ln w="9525">
            <a:solidFill>
              <a:srgbClr val="E1E7F4"/>
            </a:solidFill>
          </a:ln>
          <a:effectLst/>
        </p:spPr>
        <p:txBody>
          <a:bodyPr rtlCol="0" anchor="ctr"/>
          <a:lstStyle/>
          <a:p>
            <a:pPr algn="ctr"/>
            <a:endParaRPr/>
          </a:p>
        </p:txBody>
      </p:sp>
      <p:sp>
        <p:nvSpPr>
          <p:cNvPr id="37" name="Rectangle 36"/>
          <p:cNvSpPr/>
          <p:nvPr/>
        </p:nvSpPr>
        <p:spPr>
          <a:xfrm>
            <a:off x="548640" y="1554480"/>
            <a:ext cx="3575304" cy="45720"/>
          </a:xfrm>
          <a:prstGeom prst="rect">
            <a:avLst/>
          </a:prstGeom>
          <a:solidFill>
            <a:srgbClr val="00B39F"/>
          </a:solidFill>
          <a:ln>
            <a:noFill/>
          </a:ln>
          <a:effectLst/>
        </p:spPr>
        <p:txBody>
          <a:bodyPr rtlCol="0" anchor="ctr"/>
          <a:lstStyle/>
          <a:p>
            <a:pPr algn="ctr"/>
            <a:endParaRPr/>
          </a:p>
        </p:txBody>
      </p:sp>
      <p:sp>
        <p:nvSpPr>
          <p:cNvPr id="38" name="TextBox 37"/>
          <p:cNvSpPr txBox="1"/>
          <p:nvPr/>
        </p:nvSpPr>
        <p:spPr>
          <a:xfrm>
            <a:off x="548640" y="1609344"/>
            <a:ext cx="3575304" cy="640080"/>
          </a:xfrm>
          <a:prstGeom prst="rect">
            <a:avLst/>
          </a:prstGeom>
          <a:noFill/>
        </p:spPr>
        <p:txBody>
          <a:bodyPr wrap="square" lIns="73152" tIns="27432" rIns="73152" bIns="27432" anchor="t">
            <a:spAutoFit/>
          </a:bodyPr>
          <a:lstStyle/>
          <a:p>
            <a:pPr algn="l"/>
            <a:r>
              <a:rPr sz="850" b="1">
                <a:solidFill>
                  <a:srgbClr val="141B33"/>
                </a:solidFill>
                <a:latin typeface="Segoe UI"/>
              </a:rPr>
              <a:t>Foundry IQ</a:t>
            </a:r>
          </a:p>
          <a:p>
            <a:pPr algn="l">
              <a:spcBef>
                <a:spcPts val="200"/>
              </a:spcBef>
            </a:pPr>
            <a:r>
              <a:rPr sz="850" b="0">
                <a:solidFill>
                  <a:srgbClr val="141B33"/>
                </a:solidFill>
                <a:latin typeface="Segoe UI"/>
              </a:rPr>
              <a:t>Knowledge base on Azure AI Search: agentic retrieval over indexed sources (blob, OneLake, Azure SQL) and remote sources (web, SharePoint, Fabric, MCP).</a:t>
            </a:r>
          </a:p>
        </p:txBody>
      </p:sp>
      <p:sp>
        <p:nvSpPr>
          <p:cNvPr id="39" name="Rectangle 38"/>
          <p:cNvSpPr/>
          <p:nvPr/>
        </p:nvSpPr>
        <p:spPr>
          <a:xfrm>
            <a:off x="4306824" y="1554480"/>
            <a:ext cx="3575304" cy="713232"/>
          </a:xfrm>
          <a:prstGeom prst="rect">
            <a:avLst/>
          </a:prstGeom>
          <a:solidFill>
            <a:srgbClr val="F6F8FD"/>
          </a:solidFill>
          <a:ln w="9525">
            <a:solidFill>
              <a:srgbClr val="E1E7F4"/>
            </a:solidFill>
          </a:ln>
          <a:effectLst/>
        </p:spPr>
        <p:txBody>
          <a:bodyPr rtlCol="0" anchor="ctr"/>
          <a:lstStyle/>
          <a:p>
            <a:pPr algn="ctr"/>
            <a:endParaRPr/>
          </a:p>
        </p:txBody>
      </p:sp>
      <p:sp>
        <p:nvSpPr>
          <p:cNvPr id="40" name="Rectangle 39"/>
          <p:cNvSpPr/>
          <p:nvPr/>
        </p:nvSpPr>
        <p:spPr>
          <a:xfrm>
            <a:off x="4306824" y="1554480"/>
            <a:ext cx="3575304" cy="45720"/>
          </a:xfrm>
          <a:prstGeom prst="rect">
            <a:avLst/>
          </a:prstGeom>
          <a:solidFill>
            <a:srgbClr val="101A3C"/>
          </a:solidFill>
          <a:ln>
            <a:noFill/>
          </a:ln>
          <a:effectLst/>
        </p:spPr>
        <p:txBody>
          <a:bodyPr rtlCol="0" anchor="ctr"/>
          <a:lstStyle/>
          <a:p>
            <a:pPr algn="ctr"/>
            <a:endParaRPr/>
          </a:p>
        </p:txBody>
      </p:sp>
      <p:sp>
        <p:nvSpPr>
          <p:cNvPr id="41" name="TextBox 40"/>
          <p:cNvSpPr txBox="1"/>
          <p:nvPr/>
        </p:nvSpPr>
        <p:spPr>
          <a:xfrm>
            <a:off x="4306824" y="1609344"/>
            <a:ext cx="3575304" cy="640080"/>
          </a:xfrm>
          <a:prstGeom prst="rect">
            <a:avLst/>
          </a:prstGeom>
          <a:noFill/>
        </p:spPr>
        <p:txBody>
          <a:bodyPr wrap="square" lIns="73152" tIns="27432" rIns="73152" bIns="27432" anchor="t">
            <a:spAutoFit/>
          </a:bodyPr>
          <a:lstStyle/>
          <a:p>
            <a:pPr algn="l"/>
            <a:r>
              <a:rPr sz="850" b="1">
                <a:solidFill>
                  <a:srgbClr val="141B33"/>
                </a:solidFill>
                <a:latin typeface="Segoe UI"/>
              </a:rPr>
              <a:t>Work IQ*</a:t>
            </a:r>
          </a:p>
          <a:p>
            <a:pPr algn="l">
              <a:spcBef>
                <a:spcPts val="200"/>
              </a:spcBef>
            </a:pPr>
            <a:r>
              <a:rPr sz="850" b="0">
                <a:solidFill>
                  <a:srgbClr val="141B33"/>
                </a:solidFill>
                <a:latin typeface="Segoe UI"/>
              </a:rPr>
              <a:t>Microsoft 365 context: emails, meetings, files, chats and business signals. Every request runs as the signed-in user and honours Microsoft 365 permissions.</a:t>
            </a:r>
          </a:p>
        </p:txBody>
      </p:sp>
      <p:sp>
        <p:nvSpPr>
          <p:cNvPr id="42" name="Rectangle 41"/>
          <p:cNvSpPr/>
          <p:nvPr/>
        </p:nvSpPr>
        <p:spPr>
          <a:xfrm>
            <a:off x="8065008" y="1554480"/>
            <a:ext cx="3575304" cy="713232"/>
          </a:xfrm>
          <a:prstGeom prst="rect">
            <a:avLst/>
          </a:prstGeom>
          <a:solidFill>
            <a:srgbClr val="F6F8FD"/>
          </a:solidFill>
          <a:ln w="9525">
            <a:solidFill>
              <a:srgbClr val="E1E7F4"/>
            </a:solidFill>
          </a:ln>
          <a:effectLst/>
        </p:spPr>
        <p:txBody>
          <a:bodyPr rtlCol="0" anchor="ctr"/>
          <a:lstStyle/>
          <a:p>
            <a:pPr algn="ctr"/>
            <a:endParaRPr/>
          </a:p>
        </p:txBody>
      </p:sp>
      <p:sp>
        <p:nvSpPr>
          <p:cNvPr id="43" name="Rectangle 42"/>
          <p:cNvSpPr/>
          <p:nvPr/>
        </p:nvSpPr>
        <p:spPr>
          <a:xfrm>
            <a:off x="8065008" y="1554480"/>
            <a:ext cx="3575304" cy="45720"/>
          </a:xfrm>
          <a:prstGeom prst="rect">
            <a:avLst/>
          </a:prstGeom>
          <a:solidFill>
            <a:srgbClr val="101A3C"/>
          </a:solidFill>
          <a:ln>
            <a:noFill/>
          </a:ln>
          <a:effectLst/>
        </p:spPr>
        <p:txBody>
          <a:bodyPr rtlCol="0" anchor="ctr"/>
          <a:lstStyle/>
          <a:p>
            <a:pPr algn="ctr"/>
            <a:endParaRPr/>
          </a:p>
        </p:txBody>
      </p:sp>
      <p:sp>
        <p:nvSpPr>
          <p:cNvPr id="44" name="TextBox 43"/>
          <p:cNvSpPr txBox="1"/>
          <p:nvPr/>
        </p:nvSpPr>
        <p:spPr>
          <a:xfrm>
            <a:off x="8065008" y="1609344"/>
            <a:ext cx="3575304" cy="640080"/>
          </a:xfrm>
          <a:prstGeom prst="rect">
            <a:avLst/>
          </a:prstGeom>
          <a:noFill/>
        </p:spPr>
        <p:txBody>
          <a:bodyPr wrap="square" lIns="73152" tIns="27432" rIns="73152" bIns="27432" anchor="t">
            <a:spAutoFit/>
          </a:bodyPr>
          <a:lstStyle/>
          <a:p>
            <a:pPr algn="l"/>
            <a:r>
              <a:rPr sz="850" b="1">
                <a:solidFill>
                  <a:srgbClr val="141B33"/>
                </a:solidFill>
                <a:latin typeface="Segoe UI"/>
              </a:rPr>
              <a:t>Fabric IQ*</a:t>
            </a:r>
          </a:p>
          <a:p>
            <a:pPr algn="l">
              <a:spcBef>
                <a:spcPts val="200"/>
              </a:spcBef>
            </a:pPr>
            <a:r>
              <a:rPr sz="850" b="0">
                <a:solidFill>
                  <a:srgbClr val="141B33"/>
                </a:solidFill>
                <a:latin typeface="Segoe UI"/>
              </a:rPr>
              <a:t>Microsoft Fabric data with business meaning: the ontology (entity types, relationships, bindings to OneLake), the Fabric data agent and Power BI semantic models.</a:t>
            </a:r>
          </a:p>
        </p:txBody>
      </p:sp>
      <p:sp>
        <p:nvSpPr>
          <p:cNvPr id="45" name="TextBox 44"/>
          <p:cNvSpPr txBox="1"/>
          <p:nvPr/>
        </p:nvSpPr>
        <p:spPr>
          <a:xfrm>
            <a:off x="548640" y="2377440"/>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YOUR AGENT CONNECTS — THREE PATHS</a:t>
            </a:r>
          </a:p>
        </p:txBody>
      </p:sp>
      <p:sp>
        <p:nvSpPr>
          <p:cNvPr id="46" name="Rectangle 45"/>
          <p:cNvSpPr/>
          <p:nvPr/>
        </p:nvSpPr>
        <p:spPr>
          <a:xfrm>
            <a:off x="548640" y="2633472"/>
            <a:ext cx="11091672" cy="329184"/>
          </a:xfrm>
          <a:prstGeom prst="rect">
            <a:avLst/>
          </a:prstGeom>
          <a:solidFill>
            <a:srgbClr val="101A3C"/>
          </a:solidFill>
          <a:ln>
            <a:noFill/>
          </a:ln>
          <a:effectLst/>
        </p:spPr>
        <p:txBody>
          <a:bodyPr rtlCol="0" anchor="ctr"/>
          <a:lstStyle/>
          <a:p>
            <a:pPr algn="ctr"/>
            <a:endParaRPr/>
          </a:p>
        </p:txBody>
      </p:sp>
      <p:sp>
        <p:nvSpPr>
          <p:cNvPr id="47" name="TextBox 46"/>
          <p:cNvSpPr txBox="1"/>
          <p:nvPr/>
        </p:nvSpPr>
        <p:spPr>
          <a:xfrm>
            <a:off x="548640" y="2633472"/>
            <a:ext cx="1874519" cy="329184"/>
          </a:xfrm>
          <a:prstGeom prst="rect">
            <a:avLst/>
          </a:prstGeom>
          <a:noFill/>
        </p:spPr>
        <p:txBody>
          <a:bodyPr wrap="square" lIns="73152" tIns="27432" rIns="73152" bIns="27432" anchor="ctr">
            <a:spAutoFit/>
          </a:bodyPr>
          <a:lstStyle/>
          <a:p>
            <a:pPr algn="l"/>
            <a:r>
              <a:rPr sz="850" b="1">
                <a:solidFill>
                  <a:srgbClr val="FFFFFF"/>
                </a:solidFill>
                <a:latin typeface="Segoe UI"/>
              </a:rPr>
              <a:t>Layer</a:t>
            </a:r>
          </a:p>
        </p:txBody>
      </p:sp>
      <p:sp>
        <p:nvSpPr>
          <p:cNvPr id="48" name="TextBox 47"/>
          <p:cNvSpPr txBox="1"/>
          <p:nvPr/>
        </p:nvSpPr>
        <p:spPr>
          <a:xfrm>
            <a:off x="2423160" y="2633472"/>
            <a:ext cx="3291840" cy="329184"/>
          </a:xfrm>
          <a:prstGeom prst="rect">
            <a:avLst/>
          </a:prstGeom>
          <a:noFill/>
        </p:spPr>
        <p:txBody>
          <a:bodyPr wrap="square" lIns="73152" tIns="27432" rIns="73152" bIns="27432" anchor="ctr">
            <a:spAutoFit/>
          </a:bodyPr>
          <a:lstStyle/>
          <a:p>
            <a:pPr algn="l"/>
            <a:r>
              <a:rPr sz="850" b="1">
                <a:solidFill>
                  <a:srgbClr val="FFFFFF"/>
                </a:solidFill>
                <a:latin typeface="Segoe UI"/>
              </a:rPr>
              <a:t>Directly — native mechanism</a:t>
            </a:r>
          </a:p>
          <a:p>
            <a:pPr algn="l"/>
            <a:r>
              <a:rPr sz="850" b="0">
                <a:solidFill>
                  <a:srgbClr val="FFFFFF"/>
                </a:solidFill>
                <a:latin typeface="Segoe UI"/>
              </a:rPr>
              <a:t>one connection per agent</a:t>
            </a:r>
          </a:p>
        </p:txBody>
      </p:sp>
      <p:sp>
        <p:nvSpPr>
          <p:cNvPr id="49" name="TextBox 48"/>
          <p:cNvSpPr txBox="1"/>
          <p:nvPr/>
        </p:nvSpPr>
        <p:spPr>
          <a:xfrm>
            <a:off x="5715000" y="2633472"/>
            <a:ext cx="2788920" cy="329184"/>
          </a:xfrm>
          <a:prstGeom prst="rect">
            <a:avLst/>
          </a:prstGeom>
          <a:noFill/>
        </p:spPr>
        <p:txBody>
          <a:bodyPr wrap="square" lIns="73152" tIns="27432" rIns="73152" bIns="27432" anchor="ctr">
            <a:spAutoFit/>
          </a:bodyPr>
          <a:lstStyle/>
          <a:p>
            <a:pPr algn="l"/>
            <a:r>
              <a:rPr sz="850" b="1">
                <a:solidFill>
                  <a:srgbClr val="FFFFFF"/>
                </a:solidFill>
                <a:latin typeface="Segoe UI"/>
              </a:rPr>
              <a:t>Through a Toolbox</a:t>
            </a:r>
          </a:p>
          <a:p>
            <a:pPr algn="l"/>
            <a:r>
              <a:rPr sz="850" b="0">
                <a:solidFill>
                  <a:srgbClr val="FFFFFF"/>
                </a:solidFill>
                <a:latin typeface="Segoe UI"/>
              </a:rPr>
              <a:t>one MCP endpoint, shared across agents</a:t>
            </a:r>
          </a:p>
        </p:txBody>
      </p:sp>
      <p:sp>
        <p:nvSpPr>
          <p:cNvPr id="50" name="TextBox 49"/>
          <p:cNvSpPr txBox="1"/>
          <p:nvPr/>
        </p:nvSpPr>
        <p:spPr>
          <a:xfrm>
            <a:off x="8503920" y="2633472"/>
            <a:ext cx="3136392" cy="329184"/>
          </a:xfrm>
          <a:prstGeom prst="rect">
            <a:avLst/>
          </a:prstGeom>
          <a:noFill/>
        </p:spPr>
        <p:txBody>
          <a:bodyPr wrap="square" lIns="73152" tIns="27432" rIns="73152" bIns="27432" anchor="ctr">
            <a:spAutoFit/>
          </a:bodyPr>
          <a:lstStyle/>
          <a:p>
            <a:pPr algn="l"/>
            <a:r>
              <a:rPr sz="850" b="1">
                <a:solidFill>
                  <a:srgbClr val="FFFFFF"/>
                </a:solidFill>
                <a:latin typeface="Segoe UI"/>
              </a:rPr>
              <a:t>Through a Foundry IQ knowledge base</a:t>
            </a:r>
          </a:p>
          <a:p>
            <a:pPr algn="l"/>
            <a:r>
              <a:rPr sz="850" b="0">
                <a:solidFill>
                  <a:srgbClr val="FFFFFF"/>
                </a:solidFill>
                <a:latin typeface="Segoe UI"/>
              </a:rPr>
              <a:t>as a remote knowledge source</a:t>
            </a:r>
          </a:p>
        </p:txBody>
      </p:sp>
      <p:sp>
        <p:nvSpPr>
          <p:cNvPr id="51" name="Rectangle 50"/>
          <p:cNvSpPr/>
          <p:nvPr/>
        </p:nvSpPr>
        <p:spPr>
          <a:xfrm>
            <a:off x="548640" y="2962656"/>
            <a:ext cx="11091672" cy="420624"/>
          </a:xfrm>
          <a:prstGeom prst="rect">
            <a:avLst/>
          </a:prstGeom>
          <a:solidFill>
            <a:srgbClr val="FFFFFF"/>
          </a:solidFill>
          <a:ln w="6350">
            <a:solidFill>
              <a:srgbClr val="E1E7F4"/>
            </a:solidFill>
          </a:ln>
          <a:effectLst/>
        </p:spPr>
        <p:txBody>
          <a:bodyPr rtlCol="0" anchor="ctr"/>
          <a:lstStyle/>
          <a:p>
            <a:pPr algn="ctr"/>
            <a:endParaRPr/>
          </a:p>
        </p:txBody>
      </p:sp>
      <p:sp>
        <p:nvSpPr>
          <p:cNvPr id="52" name="TextBox 51"/>
          <p:cNvSpPr txBox="1"/>
          <p:nvPr/>
        </p:nvSpPr>
        <p:spPr>
          <a:xfrm>
            <a:off x="548640" y="2962656"/>
            <a:ext cx="1874519" cy="420624"/>
          </a:xfrm>
          <a:prstGeom prst="rect">
            <a:avLst/>
          </a:prstGeom>
          <a:noFill/>
        </p:spPr>
        <p:txBody>
          <a:bodyPr wrap="square" lIns="73152" tIns="27432" rIns="73152" bIns="27432" anchor="ctr">
            <a:spAutoFit/>
          </a:bodyPr>
          <a:lstStyle/>
          <a:p>
            <a:pPr algn="l"/>
            <a:r>
              <a:rPr sz="900" b="1">
                <a:solidFill>
                  <a:srgbClr val="101A3C"/>
                </a:solidFill>
                <a:latin typeface="Segoe UI"/>
              </a:rPr>
              <a:t>Foundry IQ</a:t>
            </a:r>
          </a:p>
        </p:txBody>
      </p:sp>
      <p:sp>
        <p:nvSpPr>
          <p:cNvPr id="53" name="TextBox 52"/>
          <p:cNvSpPr txBox="1"/>
          <p:nvPr/>
        </p:nvSpPr>
        <p:spPr>
          <a:xfrm>
            <a:off x="2423160" y="2962656"/>
            <a:ext cx="3291840" cy="420624"/>
          </a:xfrm>
          <a:prstGeom prst="rect">
            <a:avLst/>
          </a:prstGeom>
          <a:noFill/>
        </p:spPr>
        <p:txBody>
          <a:bodyPr wrap="square" lIns="73152" tIns="27432" rIns="73152" bIns="27432" anchor="ctr">
            <a:spAutoFit/>
          </a:bodyPr>
          <a:lstStyle/>
          <a:p>
            <a:pPr algn="l"/>
            <a:r>
              <a:rPr sz="800" b="1">
                <a:solidFill>
                  <a:srgbClr val="141B33"/>
                </a:solidFill>
                <a:latin typeface="Segoe UI"/>
              </a:rPr>
              <a:t>MCP tool over a project connection</a:t>
            </a:r>
          </a:p>
          <a:p>
            <a:pPr algn="l"/>
            <a:r>
              <a:rPr sz="800" b="0">
                <a:solidFill>
                  <a:srgbClr val="141B33"/>
                </a:solidFill>
                <a:latin typeface="Segoe UI"/>
              </a:rPr>
              <a:t>agentic retrieval; Python SDK and REST</a:t>
            </a:r>
          </a:p>
        </p:txBody>
      </p:sp>
      <p:sp>
        <p:nvSpPr>
          <p:cNvPr id="54" name="TextBox 53"/>
          <p:cNvSpPr txBox="1"/>
          <p:nvPr/>
        </p:nvSpPr>
        <p:spPr>
          <a:xfrm>
            <a:off x="5715000" y="2962656"/>
            <a:ext cx="2788920"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Foundry IQ is Toolbox-capable</a:t>
            </a:r>
          </a:p>
        </p:txBody>
      </p:sp>
      <p:sp>
        <p:nvSpPr>
          <p:cNvPr id="55" name="TextBox 54"/>
          <p:cNvSpPr txBox="1"/>
          <p:nvPr/>
        </p:nvSpPr>
        <p:spPr>
          <a:xfrm>
            <a:off x="8503920" y="2962656"/>
            <a:ext cx="3136392" cy="420624"/>
          </a:xfrm>
          <a:prstGeom prst="rect">
            <a:avLst/>
          </a:prstGeom>
          <a:noFill/>
        </p:spPr>
        <p:txBody>
          <a:bodyPr wrap="square" lIns="73152" tIns="27432" rIns="73152" bIns="27432" anchor="ctr">
            <a:spAutoFit/>
          </a:bodyPr>
          <a:lstStyle/>
          <a:p>
            <a:pPr algn="l"/>
            <a:r>
              <a:rPr sz="800" b="1">
                <a:solidFill>
                  <a:srgbClr val="141B33"/>
                </a:solidFill>
                <a:latin typeface="Segoe UI"/>
              </a:rPr>
              <a:t>Is the knowledge base</a:t>
            </a:r>
          </a:p>
          <a:p>
            <a:pPr algn="l"/>
            <a:r>
              <a:rPr sz="800" b="0">
                <a:solidFill>
                  <a:srgbClr val="141B33"/>
                </a:solidFill>
                <a:latin typeface="Segoe UI"/>
              </a:rPr>
              <a:t>indexed and remote sources fan in here</a:t>
            </a:r>
          </a:p>
        </p:txBody>
      </p:sp>
      <p:sp>
        <p:nvSpPr>
          <p:cNvPr id="56" name="Rectangle 55"/>
          <p:cNvSpPr/>
          <p:nvPr/>
        </p:nvSpPr>
        <p:spPr>
          <a:xfrm>
            <a:off x="548640" y="3383280"/>
            <a:ext cx="11091672" cy="420624"/>
          </a:xfrm>
          <a:prstGeom prst="rect">
            <a:avLst/>
          </a:prstGeom>
          <a:solidFill>
            <a:srgbClr val="F6F8FD"/>
          </a:solidFill>
          <a:ln w="6350">
            <a:solidFill>
              <a:srgbClr val="E1E7F4"/>
            </a:solidFill>
          </a:ln>
          <a:effectLst/>
        </p:spPr>
        <p:txBody>
          <a:bodyPr rtlCol="0" anchor="ctr"/>
          <a:lstStyle/>
          <a:p>
            <a:pPr algn="ctr"/>
            <a:endParaRPr/>
          </a:p>
        </p:txBody>
      </p:sp>
      <p:sp>
        <p:nvSpPr>
          <p:cNvPr id="57" name="TextBox 56"/>
          <p:cNvSpPr txBox="1"/>
          <p:nvPr/>
        </p:nvSpPr>
        <p:spPr>
          <a:xfrm>
            <a:off x="548640" y="3383280"/>
            <a:ext cx="1874519" cy="420624"/>
          </a:xfrm>
          <a:prstGeom prst="rect">
            <a:avLst/>
          </a:prstGeom>
          <a:noFill/>
        </p:spPr>
        <p:txBody>
          <a:bodyPr wrap="square" lIns="73152" tIns="27432" rIns="73152" bIns="27432" anchor="ctr">
            <a:spAutoFit/>
          </a:bodyPr>
          <a:lstStyle/>
          <a:p>
            <a:pPr algn="l"/>
            <a:r>
              <a:rPr sz="900" b="1">
                <a:solidFill>
                  <a:srgbClr val="101A3C"/>
                </a:solidFill>
                <a:latin typeface="Segoe UI"/>
              </a:rPr>
              <a:t>Work IQ*</a:t>
            </a:r>
          </a:p>
        </p:txBody>
      </p:sp>
      <p:sp>
        <p:nvSpPr>
          <p:cNvPr id="58" name="TextBox 57"/>
          <p:cNvSpPr txBox="1"/>
          <p:nvPr/>
        </p:nvSpPr>
        <p:spPr>
          <a:xfrm>
            <a:off x="2423160" y="3383280"/>
            <a:ext cx="3291840" cy="420624"/>
          </a:xfrm>
          <a:prstGeom prst="rect">
            <a:avLst/>
          </a:prstGeom>
          <a:noFill/>
        </p:spPr>
        <p:txBody>
          <a:bodyPr wrap="square" lIns="73152" tIns="27432" rIns="73152" bIns="27432" anchor="ctr">
            <a:spAutoFit/>
          </a:bodyPr>
          <a:lstStyle/>
          <a:p>
            <a:pPr algn="l"/>
            <a:r>
              <a:rPr sz="800" b="1">
                <a:solidFill>
                  <a:srgbClr val="141B33"/>
                </a:solidFill>
                <a:latin typeface="Segoe UI"/>
              </a:rPr>
              <a:t>A2A protocol</a:t>
            </a:r>
          </a:p>
          <a:p>
            <a:pPr algn="l"/>
            <a:r>
              <a:rPr sz="800" b="0">
                <a:solidFill>
                  <a:srgbClr val="141B33"/>
                </a:solidFill>
                <a:latin typeface="Segoe UI"/>
              </a:rPr>
              <a:t>delegate a natural-language task to Work IQ as a peer agent (A2A 1.0 / 0.3)</a:t>
            </a:r>
          </a:p>
        </p:txBody>
      </p:sp>
      <p:sp>
        <p:nvSpPr>
          <p:cNvPr id="59" name="TextBox 58"/>
          <p:cNvSpPr txBox="1"/>
          <p:nvPr/>
        </p:nvSpPr>
        <p:spPr>
          <a:xfrm>
            <a:off x="5715000" y="3383280"/>
            <a:ext cx="2788920"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Work IQ MCP server inside the Toolbox</a:t>
            </a:r>
          </a:p>
        </p:txBody>
      </p:sp>
      <p:sp>
        <p:nvSpPr>
          <p:cNvPr id="60" name="TextBox 59"/>
          <p:cNvSpPr txBox="1"/>
          <p:nvPr/>
        </p:nvSpPr>
        <p:spPr>
          <a:xfrm>
            <a:off x="8503920" y="3383280"/>
            <a:ext cx="3136392"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Work IQ remote knowledge source</a:t>
            </a:r>
          </a:p>
        </p:txBody>
      </p:sp>
      <p:sp>
        <p:nvSpPr>
          <p:cNvPr id="61" name="Rectangle 60"/>
          <p:cNvSpPr/>
          <p:nvPr/>
        </p:nvSpPr>
        <p:spPr>
          <a:xfrm>
            <a:off x="548640" y="3803904"/>
            <a:ext cx="11091672" cy="420624"/>
          </a:xfrm>
          <a:prstGeom prst="rect">
            <a:avLst/>
          </a:prstGeom>
          <a:solidFill>
            <a:srgbClr val="FFFFFF"/>
          </a:solidFill>
          <a:ln w="6350">
            <a:solidFill>
              <a:srgbClr val="E1E7F4"/>
            </a:solidFill>
          </a:ln>
          <a:effectLst/>
        </p:spPr>
        <p:txBody>
          <a:bodyPr rtlCol="0" anchor="ctr"/>
          <a:lstStyle/>
          <a:p>
            <a:pPr algn="ctr"/>
            <a:endParaRPr/>
          </a:p>
        </p:txBody>
      </p:sp>
      <p:sp>
        <p:nvSpPr>
          <p:cNvPr id="62" name="TextBox 61"/>
          <p:cNvSpPr txBox="1"/>
          <p:nvPr/>
        </p:nvSpPr>
        <p:spPr>
          <a:xfrm>
            <a:off x="548640" y="3803904"/>
            <a:ext cx="1874519" cy="420624"/>
          </a:xfrm>
          <a:prstGeom prst="rect">
            <a:avLst/>
          </a:prstGeom>
          <a:noFill/>
        </p:spPr>
        <p:txBody>
          <a:bodyPr wrap="square" lIns="73152" tIns="27432" rIns="73152" bIns="27432" anchor="ctr">
            <a:spAutoFit/>
          </a:bodyPr>
          <a:lstStyle/>
          <a:p>
            <a:pPr algn="l"/>
            <a:r>
              <a:rPr sz="900" b="1">
                <a:solidFill>
                  <a:srgbClr val="101A3C"/>
                </a:solidFill>
                <a:latin typeface="Segoe UI"/>
              </a:rPr>
              <a:t>Fabric IQ*</a:t>
            </a:r>
          </a:p>
        </p:txBody>
      </p:sp>
      <p:sp>
        <p:nvSpPr>
          <p:cNvPr id="63" name="TextBox 62"/>
          <p:cNvSpPr txBox="1"/>
          <p:nvPr/>
        </p:nvSpPr>
        <p:spPr>
          <a:xfrm>
            <a:off x="2423160" y="3803904"/>
            <a:ext cx="3291840" cy="420624"/>
          </a:xfrm>
          <a:prstGeom prst="rect">
            <a:avLst/>
          </a:prstGeom>
          <a:noFill/>
        </p:spPr>
        <p:txBody>
          <a:bodyPr wrap="square" lIns="73152" tIns="27432" rIns="73152" bIns="27432" anchor="ctr">
            <a:spAutoFit/>
          </a:bodyPr>
          <a:lstStyle/>
          <a:p>
            <a:pPr algn="l"/>
            <a:r>
              <a:rPr sz="800" b="1">
                <a:solidFill>
                  <a:srgbClr val="141B33"/>
                </a:solidFill>
                <a:latin typeface="Segoe UI"/>
              </a:rPr>
              <a:t>Server-side tool</a:t>
            </a:r>
          </a:p>
          <a:p>
            <a:pPr algn="l"/>
            <a:r>
              <a:rPr sz="800" b="0">
                <a:solidFill>
                  <a:srgbClr val="141B33"/>
                </a:solidFill>
                <a:latin typeface="Segoe UI"/>
              </a:rPr>
              <a:t>registered on the agent; ontology-grounded answers</a:t>
            </a:r>
          </a:p>
        </p:txBody>
      </p:sp>
      <p:sp>
        <p:nvSpPr>
          <p:cNvPr id="64" name="TextBox 63"/>
          <p:cNvSpPr txBox="1"/>
          <p:nvPr/>
        </p:nvSpPr>
        <p:spPr>
          <a:xfrm>
            <a:off x="5715000" y="3803904"/>
            <a:ext cx="2788920"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Fabric IQ inside the Toolbox</a:t>
            </a:r>
          </a:p>
        </p:txBody>
      </p:sp>
      <p:sp>
        <p:nvSpPr>
          <p:cNvPr id="65" name="TextBox 64"/>
          <p:cNvSpPr txBox="1"/>
          <p:nvPr/>
        </p:nvSpPr>
        <p:spPr>
          <a:xfrm>
            <a:off x="8503920" y="3803904"/>
            <a:ext cx="3136392" cy="420624"/>
          </a:xfrm>
          <a:prstGeom prst="rect">
            <a:avLst/>
          </a:prstGeom>
          <a:noFill/>
        </p:spPr>
        <p:txBody>
          <a:bodyPr wrap="square" lIns="73152" tIns="27432" rIns="73152" bIns="27432" anchor="ctr">
            <a:spAutoFit/>
          </a:bodyPr>
          <a:lstStyle/>
          <a:p>
            <a:pPr algn="l"/>
            <a:r>
              <a:rPr sz="800" b="1">
                <a:solidFill>
                  <a:srgbClr val="141B33"/>
                </a:solidFill>
                <a:latin typeface="Segoe UI"/>
              </a:rPr>
              <a:t>Yes*</a:t>
            </a:r>
          </a:p>
          <a:p>
            <a:pPr algn="l"/>
            <a:r>
              <a:rPr sz="800" b="0">
                <a:solidFill>
                  <a:srgbClr val="141B33"/>
                </a:solidFill>
                <a:latin typeface="Segoe UI"/>
              </a:rPr>
              <a:t>Fabric Data Agent and Fabric Ontology remote sources</a:t>
            </a:r>
          </a:p>
        </p:txBody>
      </p:sp>
      <p:sp>
        <p:nvSpPr>
          <p:cNvPr id="66" name="TextBox 65"/>
          <p:cNvSpPr txBox="1"/>
          <p:nvPr/>
        </p:nvSpPr>
        <p:spPr>
          <a:xfrm>
            <a:off x="548640" y="4315968"/>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TO PLAN FOR</a:t>
            </a:r>
          </a:p>
        </p:txBody>
      </p:sp>
      <p:sp>
        <p:nvSpPr>
          <p:cNvPr id="67" name="Rectangle 66"/>
          <p:cNvSpPr/>
          <p:nvPr/>
        </p:nvSpPr>
        <p:spPr>
          <a:xfrm>
            <a:off x="548640" y="4572000"/>
            <a:ext cx="3575304" cy="932688"/>
          </a:xfrm>
          <a:prstGeom prst="rect">
            <a:avLst/>
          </a:prstGeom>
          <a:solidFill>
            <a:srgbClr val="F6F8FD"/>
          </a:solidFill>
          <a:ln w="9525">
            <a:solidFill>
              <a:srgbClr val="E1E7F4"/>
            </a:solidFill>
          </a:ln>
          <a:effectLst/>
        </p:spPr>
        <p:txBody>
          <a:bodyPr rtlCol="0" anchor="ctr"/>
          <a:lstStyle/>
          <a:p>
            <a:pPr algn="ctr"/>
            <a:endParaRPr/>
          </a:p>
        </p:txBody>
      </p:sp>
      <p:sp>
        <p:nvSpPr>
          <p:cNvPr id="68" name="Rectangle 67"/>
          <p:cNvSpPr/>
          <p:nvPr/>
        </p:nvSpPr>
        <p:spPr>
          <a:xfrm>
            <a:off x="548640" y="4572000"/>
            <a:ext cx="45720" cy="932688"/>
          </a:xfrm>
          <a:prstGeom prst="rect">
            <a:avLst/>
          </a:prstGeom>
          <a:solidFill>
            <a:srgbClr val="00B39F"/>
          </a:solidFill>
          <a:ln>
            <a:noFill/>
          </a:ln>
          <a:effectLst/>
        </p:spPr>
        <p:txBody>
          <a:bodyPr rtlCol="0" anchor="ctr"/>
          <a:lstStyle/>
          <a:p>
            <a:pPr algn="ctr"/>
            <a:endParaRPr/>
          </a:p>
        </p:txBody>
      </p:sp>
      <p:sp>
        <p:nvSpPr>
          <p:cNvPr id="69" name="TextBox 68"/>
          <p:cNvSpPr txBox="1"/>
          <p:nvPr/>
        </p:nvSpPr>
        <p:spPr>
          <a:xfrm>
            <a:off x="603503" y="4572000"/>
            <a:ext cx="3502152" cy="932688"/>
          </a:xfrm>
          <a:prstGeom prst="rect">
            <a:avLst/>
          </a:prstGeom>
          <a:noFill/>
        </p:spPr>
        <p:txBody>
          <a:bodyPr wrap="square" lIns="73152" tIns="27432" rIns="73152" bIns="27432" anchor="t">
            <a:spAutoFit/>
          </a:bodyPr>
          <a:lstStyle/>
          <a:p>
            <a:pPr algn="l"/>
            <a:r>
              <a:rPr sz="750" b="1">
                <a:solidFill>
                  <a:srgbClr val="141B33"/>
                </a:solidFill>
                <a:latin typeface="Segoe UI"/>
              </a:rPr>
              <a:t>Identity</a:t>
            </a:r>
          </a:p>
          <a:p>
            <a:pPr algn="l">
              <a:spcBef>
                <a:spcPts val="150"/>
              </a:spcBef>
            </a:pPr>
            <a:r>
              <a:rPr sz="750" b="0">
                <a:solidFill>
                  <a:srgbClr val="141B33"/>
                </a:solidFill>
                <a:latin typeface="Segoe UI"/>
              </a:rPr>
              <a:t>Foundry IQ — permission-aware retrieval; Purview sensitivity labels trim results at query time.</a:t>
            </a:r>
          </a:p>
          <a:p>
            <a:pPr algn="l">
              <a:spcBef>
                <a:spcPts val="150"/>
              </a:spcBef>
            </a:pPr>
            <a:r>
              <a:rPr sz="750" b="0">
                <a:solidFill>
                  <a:srgbClr val="141B33"/>
                </a:solidFill>
                <a:latin typeface="Segoe UI"/>
              </a:rPr>
              <a:t>Work IQ — runs as the signed-in user; Microsoft 365 permissions apply.</a:t>
            </a:r>
          </a:p>
          <a:p>
            <a:pPr algn="l">
              <a:spcBef>
                <a:spcPts val="150"/>
              </a:spcBef>
            </a:pPr>
            <a:r>
              <a:rPr sz="750" b="0">
                <a:solidFill>
                  <a:srgbClr val="141B33"/>
                </a:solidFill>
                <a:latin typeface="Segoe UI"/>
              </a:rPr>
              <a:t>Fabric IQ — uses the connection identity; Fabric permissions and governance apply.</a:t>
            </a:r>
          </a:p>
        </p:txBody>
      </p:sp>
      <p:sp>
        <p:nvSpPr>
          <p:cNvPr id="70" name="Rectangle 69"/>
          <p:cNvSpPr/>
          <p:nvPr/>
        </p:nvSpPr>
        <p:spPr>
          <a:xfrm>
            <a:off x="4306824" y="4572000"/>
            <a:ext cx="3575304" cy="932688"/>
          </a:xfrm>
          <a:prstGeom prst="rect">
            <a:avLst/>
          </a:prstGeom>
          <a:solidFill>
            <a:srgbClr val="F6F8FD"/>
          </a:solidFill>
          <a:ln w="9525">
            <a:solidFill>
              <a:srgbClr val="E1E7F4"/>
            </a:solidFill>
          </a:ln>
          <a:effectLst/>
        </p:spPr>
        <p:txBody>
          <a:bodyPr rtlCol="0" anchor="ctr"/>
          <a:lstStyle/>
          <a:p>
            <a:pPr algn="ctr"/>
            <a:endParaRPr/>
          </a:p>
        </p:txBody>
      </p:sp>
      <p:sp>
        <p:nvSpPr>
          <p:cNvPr id="71" name="Rectangle 70"/>
          <p:cNvSpPr/>
          <p:nvPr/>
        </p:nvSpPr>
        <p:spPr>
          <a:xfrm>
            <a:off x="4306824" y="4572000"/>
            <a:ext cx="45720" cy="932688"/>
          </a:xfrm>
          <a:prstGeom prst="rect">
            <a:avLst/>
          </a:prstGeom>
          <a:solidFill>
            <a:srgbClr val="101A3C"/>
          </a:solidFill>
          <a:ln>
            <a:noFill/>
          </a:ln>
          <a:effectLst/>
        </p:spPr>
        <p:txBody>
          <a:bodyPr rtlCol="0" anchor="ctr"/>
          <a:lstStyle/>
          <a:p>
            <a:pPr algn="ctr"/>
            <a:endParaRPr/>
          </a:p>
        </p:txBody>
      </p:sp>
      <p:sp>
        <p:nvSpPr>
          <p:cNvPr id="72" name="TextBox 71"/>
          <p:cNvSpPr txBox="1"/>
          <p:nvPr/>
        </p:nvSpPr>
        <p:spPr>
          <a:xfrm>
            <a:off x="4361688" y="4572000"/>
            <a:ext cx="3502152" cy="932688"/>
          </a:xfrm>
          <a:prstGeom prst="rect">
            <a:avLst/>
          </a:prstGeom>
          <a:noFill/>
        </p:spPr>
        <p:txBody>
          <a:bodyPr wrap="square" lIns="73152" tIns="27432" rIns="73152" bIns="27432" anchor="t">
            <a:spAutoFit/>
          </a:bodyPr>
          <a:lstStyle/>
          <a:p>
            <a:pPr algn="l"/>
            <a:r>
              <a:rPr sz="750" b="1">
                <a:solidFill>
                  <a:srgbClr val="141B33"/>
                </a:solidFill>
                <a:latin typeface="Segoe UI"/>
              </a:rPr>
              <a:t>Billing</a:t>
            </a:r>
          </a:p>
          <a:p>
            <a:pPr algn="l">
              <a:spcBef>
                <a:spcPts val="150"/>
              </a:spcBef>
            </a:pPr>
            <a:r>
              <a:rPr sz="750" b="0">
                <a:solidFill>
                  <a:srgbClr val="141B33"/>
                </a:solidFill>
                <a:latin typeface="Segoe UI"/>
              </a:rPr>
              <a:t>Foundry IQ — Azure AI Search retrieval tokens plus model tokens for planning and synthesis.</a:t>
            </a:r>
          </a:p>
          <a:p>
            <a:pPr algn="l">
              <a:spcBef>
                <a:spcPts val="150"/>
              </a:spcBef>
            </a:pPr>
            <a:r>
              <a:rPr sz="750" b="0">
                <a:solidFill>
                  <a:srgbClr val="141B33"/>
                </a:solidFill>
                <a:latin typeface="Segoe UI"/>
              </a:rPr>
              <a:t>Work IQ API (A2A, REST, MCP) — usage-based via Copilot Credits; connector-backed Microsoft 365 tools use connector licensing, possibly a Copilot licence per user.</a:t>
            </a:r>
          </a:p>
          <a:p>
            <a:pPr algn="l">
              <a:spcBef>
                <a:spcPts val="150"/>
              </a:spcBef>
            </a:pPr>
            <a:r>
              <a:rPr sz="750" b="0">
                <a:solidFill>
                  <a:srgbClr val="141B33"/>
                </a:solidFill>
                <a:latin typeface="Segoe UI"/>
              </a:rPr>
              <a:t>Fabric IQ — Fabric capacity (F2+ or Power BI Premium P1+).</a:t>
            </a:r>
          </a:p>
        </p:txBody>
      </p:sp>
      <p:sp>
        <p:nvSpPr>
          <p:cNvPr id="73" name="Rectangle 72"/>
          <p:cNvSpPr/>
          <p:nvPr/>
        </p:nvSpPr>
        <p:spPr>
          <a:xfrm>
            <a:off x="8065008" y="4572000"/>
            <a:ext cx="3575304" cy="932688"/>
          </a:xfrm>
          <a:prstGeom prst="rect">
            <a:avLst/>
          </a:prstGeom>
          <a:solidFill>
            <a:srgbClr val="F6F8FD"/>
          </a:solidFill>
          <a:ln w="9525">
            <a:solidFill>
              <a:srgbClr val="E1E7F4"/>
            </a:solidFill>
          </a:ln>
          <a:effectLst/>
        </p:spPr>
        <p:txBody>
          <a:bodyPr rtlCol="0" anchor="ctr"/>
          <a:lstStyle/>
          <a:p>
            <a:pPr algn="ctr"/>
            <a:endParaRPr/>
          </a:p>
        </p:txBody>
      </p:sp>
      <p:sp>
        <p:nvSpPr>
          <p:cNvPr id="74" name="Rectangle 73"/>
          <p:cNvSpPr/>
          <p:nvPr/>
        </p:nvSpPr>
        <p:spPr>
          <a:xfrm>
            <a:off x="8065008" y="4572000"/>
            <a:ext cx="45720" cy="932688"/>
          </a:xfrm>
          <a:prstGeom prst="rect">
            <a:avLst/>
          </a:prstGeom>
          <a:solidFill>
            <a:srgbClr val="101A3C"/>
          </a:solidFill>
          <a:ln>
            <a:noFill/>
          </a:ln>
          <a:effectLst/>
        </p:spPr>
        <p:txBody>
          <a:bodyPr rtlCol="0" anchor="ctr"/>
          <a:lstStyle/>
          <a:p>
            <a:pPr algn="ctr"/>
            <a:endParaRPr/>
          </a:p>
        </p:txBody>
      </p:sp>
      <p:sp>
        <p:nvSpPr>
          <p:cNvPr id="75" name="TextBox 74"/>
          <p:cNvSpPr txBox="1"/>
          <p:nvPr/>
        </p:nvSpPr>
        <p:spPr>
          <a:xfrm>
            <a:off x="8119872" y="4572000"/>
            <a:ext cx="3502152" cy="932688"/>
          </a:xfrm>
          <a:prstGeom prst="rect">
            <a:avLst/>
          </a:prstGeom>
          <a:noFill/>
        </p:spPr>
        <p:txBody>
          <a:bodyPr wrap="square" lIns="73152" tIns="27432" rIns="73152" bIns="27432" anchor="t">
            <a:spAutoFit/>
          </a:bodyPr>
          <a:lstStyle/>
          <a:p>
            <a:pPr algn="l"/>
            <a:r>
              <a:rPr sz="750" b="1">
                <a:solidFill>
                  <a:srgbClr val="141B33"/>
                </a:solidFill>
                <a:latin typeface="Segoe UI"/>
              </a:rPr>
              <a:t>Setup</a:t>
            </a:r>
          </a:p>
          <a:p>
            <a:pPr algn="l">
              <a:spcBef>
                <a:spcPts val="150"/>
              </a:spcBef>
            </a:pPr>
            <a:r>
              <a:rPr sz="750" b="0">
                <a:solidFill>
                  <a:srgbClr val="141B33"/>
                </a:solidFill>
                <a:latin typeface="Segoe UI"/>
              </a:rPr>
              <a:t>Foundry IQ — Foundry project (not hub-based) and an Azure AI Search service; Foundry User role.</a:t>
            </a:r>
          </a:p>
          <a:p>
            <a:pPr algn="l">
              <a:spcBef>
                <a:spcPts val="150"/>
              </a:spcBef>
            </a:pPr>
            <a:r>
              <a:rPr sz="750" b="0">
                <a:solidFill>
                  <a:srgbClr val="141B33"/>
                </a:solidFill>
                <a:latin typeface="Segoe UI"/>
              </a:rPr>
              <a:t>Work IQ — one-time Entra Global Administrator consent to the Work IQ service principal.</a:t>
            </a:r>
          </a:p>
          <a:p>
            <a:pPr algn="l">
              <a:spcBef>
                <a:spcPts val="150"/>
              </a:spcBef>
            </a:pPr>
            <a:r>
              <a:rPr sz="750" b="0">
                <a:solidFill>
                  <a:srgbClr val="141B33"/>
                </a:solidFill>
                <a:latin typeface="Segoe UI"/>
              </a:rPr>
              <a:t>Fabric IQ — a published Fabric data agent in the same region as its data sources.</a:t>
            </a:r>
          </a:p>
        </p:txBody>
      </p:sp>
      <p:sp>
        <p:nvSpPr>
          <p:cNvPr id="76" name="TextBox 75"/>
          <p:cNvSpPr txBox="1"/>
          <p:nvPr/>
        </p:nvSpPr>
        <p:spPr>
          <a:xfrm>
            <a:off x="548640" y="5522976"/>
            <a:ext cx="11091672"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Work IQ and Fabric IQ may send data outside the Azure compliance boundary; review before enabling.</a:t>
            </a: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Agent Service</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managed platform that runs agents and connects them to models, tools, memory and observability through one project endpoint.</a:t>
            </a:r>
          </a:p>
          <a:p>
            <a:endParaRPr sz="1200">
              <a:solidFill>
                <a:srgbClr val="44495B"/>
              </a:solidFill>
              <a:latin typeface="Segoe UI"/>
            </a:endParaRPr>
          </a:p>
        </p:txBody>
      </p:sp>
      <p:sp>
        <p:nvSpPr>
          <p:cNvPr id="30" name="Shape"/>
          <p:cNvSpPr/>
          <p:nvPr/>
        </p:nvSpPr>
        <p:spPr>
          <a:xfrm>
            <a:off x="548640" y="5687568"/>
            <a:ext cx="11094720" cy="9525"/>
          </a:xfrm>
          <a:prstGeom prst="rect">
            <a:avLst/>
          </a:prstGeom>
          <a:solidFill>
            <a:srgbClr val="E1E7F4"/>
          </a:solidFill>
        </p:spPr>
        <p:txBody>
          <a:bodyPr/>
          <a:lstStyle/>
          <a:p>
            <a:endParaRPr/>
          </a:p>
        </p:txBody>
      </p:sp>
      <p:sp>
        <p:nvSpPr>
          <p:cNvPr id="31"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 — overview · hosted-agents · use-your-own-resources</a:t>
            </a:r>
          </a:p>
          <a:p>
            <a:endParaRPr sz="900">
              <a:solidFill>
                <a:srgbClr val="44495B"/>
              </a:solidFill>
              <a:latin typeface="Segoe UI"/>
            </a:endParaRPr>
          </a:p>
        </p:txBody>
      </p:sp>
      <p:sp>
        <p:nvSpPr>
          <p:cNvPr id="32"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16</a:t>
            </a:r>
          </a:p>
        </p:txBody>
      </p:sp>
      <p:sp>
        <p:nvSpPr>
          <p:cNvPr id="33" name="Rectangle 32"/>
          <p:cNvSpPr/>
          <p:nvPr/>
        </p:nvSpPr>
        <p:spPr>
          <a:xfrm>
            <a:off x="548640" y="2167128"/>
            <a:ext cx="1417320" cy="512064"/>
          </a:xfrm>
          <a:prstGeom prst="rect">
            <a:avLst/>
          </a:prstGeom>
          <a:solidFill>
            <a:srgbClr val="EBEFF7"/>
          </a:solidFill>
          <a:ln>
            <a:noFill/>
          </a:ln>
          <a:effectLst/>
        </p:spPr>
        <p:txBody>
          <a:bodyPr rtlCol="0" anchor="ctr"/>
          <a:lstStyle/>
          <a:p>
            <a:pPr algn="ctr"/>
            <a:endParaRPr/>
          </a:p>
        </p:txBody>
      </p:sp>
      <p:sp>
        <p:nvSpPr>
          <p:cNvPr id="34" name="TextBox 33"/>
          <p:cNvSpPr txBox="1"/>
          <p:nvPr/>
        </p:nvSpPr>
        <p:spPr>
          <a:xfrm>
            <a:off x="548640" y="2167128"/>
            <a:ext cx="1417320" cy="512064"/>
          </a:xfrm>
          <a:prstGeom prst="rect">
            <a:avLst/>
          </a:prstGeom>
          <a:noFill/>
        </p:spPr>
        <p:txBody>
          <a:bodyPr wrap="square" lIns="73152" tIns="27432" rIns="73152" bIns="27432" anchor="ctr">
            <a:spAutoFit/>
          </a:bodyPr>
          <a:lstStyle/>
          <a:p>
            <a:pPr algn="ctr"/>
            <a:r>
              <a:rPr sz="800" b="1">
                <a:solidFill>
                  <a:srgbClr val="141B33"/>
                </a:solidFill>
                <a:latin typeface="Segoe UI"/>
              </a:rPr>
              <a:t>Client application</a:t>
            </a:r>
          </a:p>
          <a:p>
            <a:pPr algn="ctr"/>
            <a:r>
              <a:rPr sz="800" b="0">
                <a:solidFill>
                  <a:srgbClr val="141B33"/>
                </a:solidFill>
                <a:latin typeface="Segoe UI"/>
              </a:rPr>
              <a:t>web app · API · Teams and Microsoft 365 Copilot</a:t>
            </a:r>
          </a:p>
        </p:txBody>
      </p:sp>
      <p:sp>
        <p:nvSpPr>
          <p:cNvPr id="35" name="Rectangle 34"/>
          <p:cNvSpPr/>
          <p:nvPr/>
        </p:nvSpPr>
        <p:spPr>
          <a:xfrm>
            <a:off x="548640" y="2788920"/>
            <a:ext cx="1417320" cy="512064"/>
          </a:xfrm>
          <a:prstGeom prst="rect">
            <a:avLst/>
          </a:prstGeom>
          <a:solidFill>
            <a:srgbClr val="EBEFF7"/>
          </a:solidFill>
          <a:ln>
            <a:noFill/>
          </a:ln>
          <a:effectLst/>
        </p:spPr>
        <p:txBody>
          <a:bodyPr rtlCol="0" anchor="ctr"/>
          <a:lstStyle/>
          <a:p>
            <a:pPr algn="ctr"/>
            <a:endParaRPr/>
          </a:p>
        </p:txBody>
      </p:sp>
      <p:sp>
        <p:nvSpPr>
          <p:cNvPr id="36" name="TextBox 35"/>
          <p:cNvSpPr txBox="1"/>
          <p:nvPr/>
        </p:nvSpPr>
        <p:spPr>
          <a:xfrm>
            <a:off x="548640" y="2788920"/>
            <a:ext cx="1417320" cy="512064"/>
          </a:xfrm>
          <a:prstGeom prst="rect">
            <a:avLst/>
          </a:prstGeom>
          <a:noFill/>
        </p:spPr>
        <p:txBody>
          <a:bodyPr wrap="square" lIns="73152" tIns="27432" rIns="73152" bIns="27432" anchor="ctr">
            <a:spAutoFit/>
          </a:bodyPr>
          <a:lstStyle/>
          <a:p>
            <a:pPr algn="ctr"/>
            <a:r>
              <a:rPr sz="800" b="1">
                <a:solidFill>
                  <a:srgbClr val="141B33"/>
                </a:solidFill>
                <a:latin typeface="Segoe UI"/>
              </a:rPr>
              <a:t>Other agents</a:t>
            </a:r>
          </a:p>
          <a:p>
            <a:pPr algn="ctr"/>
            <a:r>
              <a:rPr sz="800" b="0">
                <a:solidFill>
                  <a:srgbClr val="141B33"/>
                </a:solidFill>
                <a:latin typeface="Segoe UI"/>
              </a:rPr>
              <a:t>A2A · Invocations</a:t>
            </a:r>
          </a:p>
        </p:txBody>
      </p:sp>
      <p:sp>
        <p:nvSpPr>
          <p:cNvPr id="37" name="Rectangle 36"/>
          <p:cNvSpPr/>
          <p:nvPr/>
        </p:nvSpPr>
        <p:spPr>
          <a:xfrm>
            <a:off x="2240280" y="1298448"/>
            <a:ext cx="5806440" cy="3200400"/>
          </a:xfrm>
          <a:prstGeom prst="rect">
            <a:avLst/>
          </a:prstGeom>
          <a:solidFill>
            <a:srgbClr val="F6F8FD"/>
          </a:solidFill>
          <a:ln w="9525">
            <a:solidFill>
              <a:srgbClr val="44495B"/>
            </a:solidFill>
            <a:prstDash val="dash"/>
          </a:ln>
          <a:effectLst/>
        </p:spPr>
        <p:txBody>
          <a:bodyPr rtlCol="0" anchor="ctr"/>
          <a:lstStyle/>
          <a:p>
            <a:pPr algn="ctr"/>
            <a:endParaRPr/>
          </a:p>
        </p:txBody>
      </p:sp>
      <p:sp>
        <p:nvSpPr>
          <p:cNvPr id="38" name="TextBox 37"/>
          <p:cNvSpPr txBox="1"/>
          <p:nvPr/>
        </p:nvSpPr>
        <p:spPr>
          <a:xfrm>
            <a:off x="2286000" y="1316736"/>
            <a:ext cx="580644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FOUNDRY AGENT SERVICE</a:t>
            </a:r>
          </a:p>
        </p:txBody>
      </p:sp>
      <p:sp>
        <p:nvSpPr>
          <p:cNvPr id="39" name="Rectangle 38"/>
          <p:cNvSpPr/>
          <p:nvPr/>
        </p:nvSpPr>
        <p:spPr>
          <a:xfrm>
            <a:off x="2468880" y="1801368"/>
            <a:ext cx="2788920" cy="2057400"/>
          </a:xfrm>
          <a:prstGeom prst="rect">
            <a:avLst/>
          </a:prstGeom>
          <a:solidFill>
            <a:srgbClr val="101A3C"/>
          </a:solidFill>
          <a:ln>
            <a:noFill/>
          </a:ln>
          <a:effectLst/>
        </p:spPr>
        <p:txBody>
          <a:bodyPr rtlCol="0" anchor="ctr"/>
          <a:lstStyle/>
          <a:p>
            <a:pPr algn="ctr"/>
            <a:endParaRPr/>
          </a:p>
        </p:txBody>
      </p:sp>
      <p:sp>
        <p:nvSpPr>
          <p:cNvPr id="40" name="TextBox 39"/>
          <p:cNvSpPr txBox="1"/>
          <p:nvPr/>
        </p:nvSpPr>
        <p:spPr>
          <a:xfrm>
            <a:off x="2468880" y="1837943"/>
            <a:ext cx="2788920" cy="402336"/>
          </a:xfrm>
          <a:prstGeom prst="rect">
            <a:avLst/>
          </a:prstGeom>
          <a:noFill/>
        </p:spPr>
        <p:txBody>
          <a:bodyPr wrap="square" lIns="73152" tIns="27432" rIns="73152" bIns="27432" anchor="ctr">
            <a:spAutoFit/>
          </a:bodyPr>
          <a:lstStyle/>
          <a:p>
            <a:pPr algn="ctr"/>
            <a:r>
              <a:rPr sz="900" b="1">
                <a:solidFill>
                  <a:srgbClr val="FFFFFF"/>
                </a:solidFill>
                <a:latin typeface="Segoe UI"/>
              </a:rPr>
              <a:t>Agent Runtime</a:t>
            </a:r>
          </a:p>
          <a:p>
            <a:pPr algn="ctr"/>
            <a:r>
              <a:rPr sz="900" b="0">
                <a:solidFill>
                  <a:srgbClr val="FFFFFF"/>
                </a:solidFill>
                <a:latin typeface="Segoe UI"/>
              </a:rPr>
              <a:t>conversations · tool calls · agent lifecycle</a:t>
            </a:r>
          </a:p>
        </p:txBody>
      </p:sp>
      <p:sp>
        <p:nvSpPr>
          <p:cNvPr id="41" name="Rectangle 40"/>
          <p:cNvSpPr/>
          <p:nvPr/>
        </p:nvSpPr>
        <p:spPr>
          <a:xfrm>
            <a:off x="2606040" y="2304288"/>
            <a:ext cx="2514600" cy="457200"/>
          </a:xfrm>
          <a:prstGeom prst="rect">
            <a:avLst/>
          </a:prstGeom>
          <a:solidFill>
            <a:srgbClr val="FFFFFF"/>
          </a:solidFill>
          <a:ln w="9525">
            <a:solidFill>
              <a:srgbClr val="E1E7F4"/>
            </a:solidFill>
          </a:ln>
          <a:effectLst/>
        </p:spPr>
        <p:txBody>
          <a:bodyPr rtlCol="0" anchor="ctr"/>
          <a:lstStyle/>
          <a:p>
            <a:pPr algn="ctr"/>
            <a:endParaRPr/>
          </a:p>
        </p:txBody>
      </p:sp>
      <p:sp>
        <p:nvSpPr>
          <p:cNvPr id="42" name="TextBox 41"/>
          <p:cNvSpPr txBox="1"/>
          <p:nvPr/>
        </p:nvSpPr>
        <p:spPr>
          <a:xfrm>
            <a:off x="2606040" y="2304288"/>
            <a:ext cx="2514600" cy="457200"/>
          </a:xfrm>
          <a:prstGeom prst="rect">
            <a:avLst/>
          </a:prstGeom>
          <a:noFill/>
        </p:spPr>
        <p:txBody>
          <a:bodyPr wrap="square" lIns="73152" tIns="27432" rIns="73152" bIns="27432" anchor="ctr">
            <a:spAutoFit/>
          </a:bodyPr>
          <a:lstStyle/>
          <a:p>
            <a:pPr algn="ctr"/>
            <a:r>
              <a:rPr sz="800" b="1">
                <a:solidFill>
                  <a:srgbClr val="141B33"/>
                </a:solidFill>
                <a:latin typeface="Segoe UI"/>
              </a:rPr>
              <a:t>Prompt agent</a:t>
            </a:r>
          </a:p>
          <a:p>
            <a:pPr algn="ctr"/>
            <a:r>
              <a:rPr sz="800" b="0">
                <a:solidFill>
                  <a:srgbClr val="141B33"/>
                </a:solidFill>
                <a:latin typeface="Segoe UI"/>
              </a:rPr>
              <a:t>text or voice* · instructions + model + tools; Foundry runs it</a:t>
            </a:r>
          </a:p>
        </p:txBody>
      </p:sp>
      <p:sp>
        <p:nvSpPr>
          <p:cNvPr id="43" name="Rectangle 42"/>
          <p:cNvSpPr/>
          <p:nvPr/>
        </p:nvSpPr>
        <p:spPr>
          <a:xfrm>
            <a:off x="2606040" y="2825496"/>
            <a:ext cx="2514600" cy="457200"/>
          </a:xfrm>
          <a:prstGeom prst="rect">
            <a:avLst/>
          </a:prstGeom>
          <a:solidFill>
            <a:srgbClr val="FFFFFF"/>
          </a:solidFill>
          <a:ln w="9525">
            <a:solidFill>
              <a:srgbClr val="E1E7F4"/>
            </a:solidFill>
          </a:ln>
          <a:effectLst/>
        </p:spPr>
        <p:txBody>
          <a:bodyPr rtlCol="0" anchor="ctr"/>
          <a:lstStyle/>
          <a:p>
            <a:pPr algn="ctr"/>
            <a:endParaRPr/>
          </a:p>
        </p:txBody>
      </p:sp>
      <p:sp>
        <p:nvSpPr>
          <p:cNvPr id="44" name="TextBox 43"/>
          <p:cNvSpPr txBox="1"/>
          <p:nvPr/>
        </p:nvSpPr>
        <p:spPr>
          <a:xfrm>
            <a:off x="2606040" y="2825496"/>
            <a:ext cx="2514600" cy="457200"/>
          </a:xfrm>
          <a:prstGeom prst="rect">
            <a:avLst/>
          </a:prstGeom>
          <a:noFill/>
        </p:spPr>
        <p:txBody>
          <a:bodyPr wrap="square" lIns="73152" tIns="27432" rIns="73152" bIns="27432" anchor="ctr">
            <a:spAutoFit/>
          </a:bodyPr>
          <a:lstStyle/>
          <a:p>
            <a:pPr algn="ctr"/>
            <a:r>
              <a:rPr sz="800" b="1">
                <a:solidFill>
                  <a:srgbClr val="141B33"/>
                </a:solidFill>
                <a:latin typeface="Segoe UI"/>
              </a:rPr>
              <a:t>Hosted agent</a:t>
            </a:r>
          </a:p>
          <a:p>
            <a:pPr algn="ctr"/>
            <a:r>
              <a:rPr sz="800" b="0">
                <a:solidFill>
                  <a:srgbClr val="141B33"/>
                </a:solidFill>
                <a:latin typeface="Segoe UI"/>
              </a:rPr>
              <a:t>application code and framework in a container; per-session VM-isolated sandbox</a:t>
            </a:r>
          </a:p>
        </p:txBody>
      </p:sp>
      <p:sp>
        <p:nvSpPr>
          <p:cNvPr id="45" name="Rectangle 44"/>
          <p:cNvSpPr/>
          <p:nvPr/>
        </p:nvSpPr>
        <p:spPr>
          <a:xfrm>
            <a:off x="2606040" y="3291840"/>
            <a:ext cx="2514600" cy="457200"/>
          </a:xfrm>
          <a:prstGeom prst="rect">
            <a:avLst/>
          </a:prstGeom>
          <a:solidFill>
            <a:srgbClr val="EBEFF7"/>
          </a:solidFill>
          <a:ln>
            <a:noFill/>
          </a:ln>
          <a:effectLst/>
        </p:spPr>
        <p:txBody>
          <a:bodyPr rtlCol="0" anchor="ctr"/>
          <a:lstStyle/>
          <a:p>
            <a:pPr algn="ctr"/>
            <a:endParaRPr/>
          </a:p>
        </p:txBody>
      </p:sp>
      <p:sp>
        <p:nvSpPr>
          <p:cNvPr id="46" name="TextBox 45"/>
          <p:cNvSpPr txBox="1"/>
          <p:nvPr/>
        </p:nvSpPr>
        <p:spPr>
          <a:xfrm>
            <a:off x="2606040" y="3291840"/>
            <a:ext cx="2514600" cy="457200"/>
          </a:xfrm>
          <a:prstGeom prst="rect">
            <a:avLst/>
          </a:prstGeom>
          <a:noFill/>
        </p:spPr>
        <p:txBody>
          <a:bodyPr wrap="square" lIns="73152" tIns="27432" rIns="73152" bIns="27432" anchor="ctr">
            <a:spAutoFit/>
          </a:bodyPr>
          <a:lstStyle/>
          <a:p>
            <a:pPr algn="ctr"/>
            <a:r>
              <a:rPr sz="800" b="1">
                <a:solidFill>
                  <a:srgbClr val="44495B"/>
                </a:solidFill>
                <a:latin typeface="Segoe UI"/>
              </a:rPr>
              <a:t>Responses API call</a:t>
            </a:r>
          </a:p>
          <a:p>
            <a:pPr algn="ctr"/>
            <a:r>
              <a:rPr sz="800" b="0">
                <a:solidFill>
                  <a:srgbClr val="44495B"/>
                </a:solidFill>
                <a:latin typeface="Segoe UI"/>
              </a:rPr>
              <a:t>ephemeral agent defined in application code; no agent resource</a:t>
            </a:r>
          </a:p>
        </p:txBody>
      </p:sp>
      <p:sp>
        <p:nvSpPr>
          <p:cNvPr id="47" name="Rectangle 46"/>
          <p:cNvSpPr/>
          <p:nvPr/>
        </p:nvSpPr>
        <p:spPr>
          <a:xfrm>
            <a:off x="5760720" y="1801368"/>
            <a:ext cx="2103120" cy="475488"/>
          </a:xfrm>
          <a:prstGeom prst="rect">
            <a:avLst/>
          </a:prstGeom>
          <a:solidFill>
            <a:srgbClr val="FFFFFF"/>
          </a:solidFill>
          <a:ln w="9525">
            <a:solidFill>
              <a:srgbClr val="E1E7F4"/>
            </a:solidFill>
          </a:ln>
          <a:effectLst/>
        </p:spPr>
        <p:txBody>
          <a:bodyPr rtlCol="0" anchor="ctr"/>
          <a:lstStyle/>
          <a:p>
            <a:pPr algn="ctr"/>
            <a:endParaRPr/>
          </a:p>
        </p:txBody>
      </p:sp>
      <p:sp>
        <p:nvSpPr>
          <p:cNvPr id="48" name="TextBox 47"/>
          <p:cNvSpPr txBox="1"/>
          <p:nvPr/>
        </p:nvSpPr>
        <p:spPr>
          <a:xfrm>
            <a:off x="5760720" y="1801368"/>
            <a:ext cx="2103120" cy="475488"/>
          </a:xfrm>
          <a:prstGeom prst="rect">
            <a:avLst/>
          </a:prstGeom>
          <a:noFill/>
        </p:spPr>
        <p:txBody>
          <a:bodyPr wrap="square" lIns="73152" tIns="27432" rIns="73152" bIns="27432" anchor="ctr">
            <a:spAutoFit/>
          </a:bodyPr>
          <a:lstStyle/>
          <a:p>
            <a:pPr algn="ctr"/>
            <a:r>
              <a:rPr sz="800" b="1">
                <a:solidFill>
                  <a:srgbClr val="141B33"/>
                </a:solidFill>
                <a:latin typeface="Segoe UI"/>
              </a:rPr>
              <a:t>Foundry Models</a:t>
            </a:r>
          </a:p>
          <a:p>
            <a:pPr algn="ctr"/>
            <a:r>
              <a:rPr sz="800" b="0">
                <a:solidFill>
                  <a:srgbClr val="141B33"/>
                </a:solidFill>
                <a:latin typeface="Segoe UI"/>
              </a:rPr>
              <a:t>catalog · Model Router · swap models without code changes</a:t>
            </a:r>
          </a:p>
        </p:txBody>
      </p:sp>
      <p:cxnSp>
        <p:nvCxnSpPr>
          <p:cNvPr id="49" name="Connector 48"/>
          <p:cNvCxnSpPr/>
          <p:nvPr/>
        </p:nvCxnSpPr>
        <p:spPr>
          <a:xfrm>
            <a:off x="5257800" y="2039112"/>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50" name="Rectangle 49"/>
          <p:cNvSpPr/>
          <p:nvPr/>
        </p:nvSpPr>
        <p:spPr>
          <a:xfrm>
            <a:off x="5760720" y="2359152"/>
            <a:ext cx="2103120" cy="475488"/>
          </a:xfrm>
          <a:prstGeom prst="rect">
            <a:avLst/>
          </a:prstGeom>
          <a:solidFill>
            <a:srgbClr val="FFFFFF"/>
          </a:solidFill>
          <a:ln w="9525">
            <a:solidFill>
              <a:srgbClr val="E1E7F4"/>
            </a:solidFill>
          </a:ln>
          <a:effectLst/>
        </p:spPr>
        <p:txBody>
          <a:bodyPr rtlCol="0" anchor="ctr"/>
          <a:lstStyle/>
          <a:p>
            <a:pPr algn="ctr"/>
            <a:endParaRPr/>
          </a:p>
        </p:txBody>
      </p:sp>
      <p:sp>
        <p:nvSpPr>
          <p:cNvPr id="51" name="TextBox 50"/>
          <p:cNvSpPr txBox="1"/>
          <p:nvPr/>
        </p:nvSpPr>
        <p:spPr>
          <a:xfrm>
            <a:off x="5760720" y="2359152"/>
            <a:ext cx="2103120" cy="475488"/>
          </a:xfrm>
          <a:prstGeom prst="rect">
            <a:avLst/>
          </a:prstGeom>
          <a:noFill/>
        </p:spPr>
        <p:txBody>
          <a:bodyPr wrap="square" lIns="73152" tIns="27432" rIns="73152" bIns="27432" anchor="ctr">
            <a:spAutoFit/>
          </a:bodyPr>
          <a:lstStyle/>
          <a:p>
            <a:pPr algn="ctr"/>
            <a:r>
              <a:rPr sz="800" b="1">
                <a:solidFill>
                  <a:srgbClr val="141B33"/>
                </a:solidFill>
                <a:latin typeface="Segoe UI"/>
              </a:rPr>
              <a:t>Toolbox</a:t>
            </a:r>
          </a:p>
          <a:p>
            <a:pPr algn="ctr"/>
            <a:r>
              <a:rPr sz="800" b="0">
                <a:solidFill>
                  <a:srgbClr val="141B33"/>
                </a:solidFill>
                <a:latin typeface="Segoe UI"/>
              </a:rPr>
              <a:t>one MCP endpoint · centralised auth · Foundry IQ, Work IQ*, Fabric IQ*</a:t>
            </a:r>
          </a:p>
        </p:txBody>
      </p:sp>
      <p:cxnSp>
        <p:nvCxnSpPr>
          <p:cNvPr id="52" name="Connector 51"/>
          <p:cNvCxnSpPr/>
          <p:nvPr/>
        </p:nvCxnSpPr>
        <p:spPr>
          <a:xfrm>
            <a:off x="5257800" y="2596896"/>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53" name="Rectangle 52"/>
          <p:cNvSpPr/>
          <p:nvPr/>
        </p:nvSpPr>
        <p:spPr>
          <a:xfrm>
            <a:off x="5760720" y="2916936"/>
            <a:ext cx="2103120" cy="475488"/>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5760720" y="2916936"/>
            <a:ext cx="2103120" cy="475488"/>
          </a:xfrm>
          <a:prstGeom prst="rect">
            <a:avLst/>
          </a:prstGeom>
          <a:noFill/>
        </p:spPr>
        <p:txBody>
          <a:bodyPr wrap="square" lIns="73152" tIns="27432" rIns="73152" bIns="27432" anchor="ctr">
            <a:spAutoFit/>
          </a:bodyPr>
          <a:lstStyle/>
          <a:p>
            <a:pPr algn="ctr"/>
            <a:r>
              <a:rPr sz="800" b="1">
                <a:solidFill>
                  <a:srgbClr val="141B33"/>
                </a:solidFill>
                <a:latin typeface="Segoe UI"/>
              </a:rPr>
              <a:t>Memory*</a:t>
            </a:r>
          </a:p>
          <a:p>
            <a:pPr algn="ctr"/>
            <a:r>
              <a:rPr sz="800" b="0">
                <a:solidFill>
                  <a:srgbClr val="141B33"/>
                </a:solidFill>
                <a:latin typeface="Segoe UI"/>
              </a:rPr>
              <a:t>procedural · user · session</a:t>
            </a:r>
          </a:p>
        </p:txBody>
      </p:sp>
      <p:cxnSp>
        <p:nvCxnSpPr>
          <p:cNvPr id="55" name="Connector 54"/>
          <p:cNvCxnSpPr/>
          <p:nvPr/>
        </p:nvCxnSpPr>
        <p:spPr>
          <a:xfrm>
            <a:off x="5257800" y="3154680"/>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56" name="Rectangle 55"/>
          <p:cNvSpPr/>
          <p:nvPr/>
        </p:nvSpPr>
        <p:spPr>
          <a:xfrm>
            <a:off x="5760720" y="3474720"/>
            <a:ext cx="2103120" cy="548640"/>
          </a:xfrm>
          <a:prstGeom prst="rect">
            <a:avLst/>
          </a:prstGeom>
          <a:solidFill>
            <a:srgbClr val="FFFFFF"/>
          </a:solidFill>
          <a:ln w="9525">
            <a:solidFill>
              <a:srgbClr val="E1E7F4"/>
            </a:solidFill>
          </a:ln>
          <a:effectLst/>
        </p:spPr>
        <p:txBody>
          <a:bodyPr rtlCol="0" anchor="ctr"/>
          <a:lstStyle/>
          <a:p>
            <a:pPr algn="ctr"/>
            <a:endParaRPr/>
          </a:p>
        </p:txBody>
      </p:sp>
      <p:sp>
        <p:nvSpPr>
          <p:cNvPr id="57" name="TextBox 56"/>
          <p:cNvSpPr txBox="1"/>
          <p:nvPr/>
        </p:nvSpPr>
        <p:spPr>
          <a:xfrm>
            <a:off x="5760720" y="3474720"/>
            <a:ext cx="2103120" cy="548640"/>
          </a:xfrm>
          <a:prstGeom prst="rect">
            <a:avLst/>
          </a:prstGeom>
          <a:noFill/>
        </p:spPr>
        <p:txBody>
          <a:bodyPr wrap="square" lIns="73152" tIns="27432" rIns="73152" bIns="27432" anchor="ctr">
            <a:spAutoFit/>
          </a:bodyPr>
          <a:lstStyle/>
          <a:p>
            <a:pPr algn="ctr"/>
            <a:r>
              <a:rPr sz="800" b="1">
                <a:solidFill>
                  <a:srgbClr val="141B33"/>
                </a:solidFill>
                <a:latin typeface="Segoe UI"/>
              </a:rPr>
              <a:t>Observability</a:t>
            </a:r>
          </a:p>
          <a:p>
            <a:pPr algn="ctr"/>
            <a:r>
              <a:rPr sz="800" b="0">
                <a:solidFill>
                  <a:srgbClr val="141B33"/>
                </a:solidFill>
                <a:latin typeface="Segoe UI"/>
              </a:rPr>
              <a:t>server-side traces · evaluations · Agent Optimizer*</a:t>
            </a:r>
          </a:p>
        </p:txBody>
      </p:sp>
      <p:cxnSp>
        <p:nvCxnSpPr>
          <p:cNvPr id="58" name="Connector 57"/>
          <p:cNvCxnSpPr/>
          <p:nvPr/>
        </p:nvCxnSpPr>
        <p:spPr>
          <a:xfrm>
            <a:off x="5257800" y="3712463"/>
            <a:ext cx="502920" cy="0"/>
          </a:xfrm>
          <a:prstGeom prst="line">
            <a:avLst/>
          </a:prstGeom>
          <a:ln w="15875">
            <a:solidFill>
              <a:srgbClr val="44495B"/>
            </a:solidFill>
            <a:prstDash val="dash"/>
            <a:tailEnd type="triangle" w="sm" len="sm"/>
          </a:ln>
        </p:spPr>
        <p:style>
          <a:lnRef idx="2">
            <a:schemeClr val="accent1"/>
          </a:lnRef>
          <a:fillRef idx="0">
            <a:schemeClr val="accent1"/>
          </a:fillRef>
          <a:effectRef idx="1">
            <a:schemeClr val="accent1"/>
          </a:effectRef>
          <a:fontRef idx="minor">
            <a:schemeClr val="tx1"/>
          </a:fontRef>
        </p:style>
      </p:cxnSp>
      <p:sp>
        <p:nvSpPr>
          <p:cNvPr id="59" name="Rectangle 58"/>
          <p:cNvSpPr/>
          <p:nvPr/>
        </p:nvSpPr>
        <p:spPr>
          <a:xfrm>
            <a:off x="2468880" y="3931920"/>
            <a:ext cx="5394960" cy="384048"/>
          </a:xfrm>
          <a:prstGeom prst="rect">
            <a:avLst/>
          </a:prstGeom>
          <a:solidFill>
            <a:srgbClr val="0B1229"/>
          </a:solidFill>
          <a:ln>
            <a:noFill/>
          </a:ln>
          <a:effectLst/>
        </p:spPr>
        <p:txBody>
          <a:bodyPr rtlCol="0" anchor="ctr"/>
          <a:lstStyle/>
          <a:p>
            <a:pPr algn="ctr"/>
            <a:endParaRPr/>
          </a:p>
        </p:txBody>
      </p:sp>
      <p:sp>
        <p:nvSpPr>
          <p:cNvPr id="60" name="TextBox 59"/>
          <p:cNvSpPr txBox="1"/>
          <p:nvPr/>
        </p:nvSpPr>
        <p:spPr>
          <a:xfrm>
            <a:off x="2468880" y="3931920"/>
            <a:ext cx="5394960" cy="384048"/>
          </a:xfrm>
          <a:prstGeom prst="rect">
            <a:avLst/>
          </a:prstGeom>
          <a:noFill/>
        </p:spPr>
        <p:txBody>
          <a:bodyPr wrap="square" lIns="73152" tIns="27432" rIns="73152" bIns="27432" anchor="ctr">
            <a:spAutoFit/>
          </a:bodyPr>
          <a:lstStyle/>
          <a:p>
            <a:pPr algn="ctr"/>
            <a:r>
              <a:rPr sz="800" b="1">
                <a:solidFill>
                  <a:srgbClr val="FFFFFF"/>
                </a:solidFill>
                <a:latin typeface="Segoe UI"/>
              </a:rPr>
              <a:t>Identity and security  </a:t>
            </a:r>
            <a:r>
              <a:rPr sz="800" b="0">
                <a:solidFill>
                  <a:srgbClr val="FFFFFF"/>
                </a:solidFill>
                <a:latin typeface="Segoe UI"/>
              </a:rPr>
              <a:t>Entra agent identity per agent · project managed identity · RBAC · guardrails · private networking and BYO VNet</a:t>
            </a:r>
          </a:p>
        </p:txBody>
      </p:sp>
      <p:cxnSp>
        <p:nvCxnSpPr>
          <p:cNvPr id="61" name="Connector 60"/>
          <p:cNvCxnSpPr/>
          <p:nvPr/>
        </p:nvCxnSpPr>
        <p:spPr>
          <a:xfrm>
            <a:off x="1965960" y="2423160"/>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62" name="Connector 61"/>
          <p:cNvCxnSpPr/>
          <p:nvPr/>
        </p:nvCxnSpPr>
        <p:spPr>
          <a:xfrm>
            <a:off x="1965960" y="3044952"/>
            <a:ext cx="50292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8275320" y="2167128"/>
            <a:ext cx="1600200" cy="786384"/>
          </a:xfrm>
          <a:prstGeom prst="rect">
            <a:avLst/>
          </a:prstGeom>
          <a:solidFill>
            <a:srgbClr val="FFFFFF"/>
          </a:solidFill>
          <a:ln w="9525">
            <a:solidFill>
              <a:srgbClr val="E1E7F4"/>
            </a:solidFill>
          </a:ln>
          <a:effectLst/>
        </p:spPr>
        <p:txBody>
          <a:bodyPr rtlCol="0" anchor="ctr"/>
          <a:lstStyle/>
          <a:p>
            <a:pPr algn="ctr"/>
            <a:endParaRPr/>
          </a:p>
        </p:txBody>
      </p:sp>
      <p:sp>
        <p:nvSpPr>
          <p:cNvPr id="64" name="TextBox 63"/>
          <p:cNvSpPr txBox="1"/>
          <p:nvPr/>
        </p:nvSpPr>
        <p:spPr>
          <a:xfrm>
            <a:off x="8275320" y="2167128"/>
            <a:ext cx="1600200" cy="786384"/>
          </a:xfrm>
          <a:prstGeom prst="rect">
            <a:avLst/>
          </a:prstGeom>
          <a:noFill/>
        </p:spPr>
        <p:txBody>
          <a:bodyPr wrap="square" lIns="73152" tIns="27432" rIns="73152" bIns="27432" anchor="ctr">
            <a:spAutoFit/>
          </a:bodyPr>
          <a:lstStyle/>
          <a:p>
            <a:pPr algn="ctr"/>
            <a:r>
              <a:rPr sz="800" b="1">
                <a:solidFill>
                  <a:srgbClr val="141B33"/>
                </a:solidFill>
                <a:latin typeface="Segoe UI"/>
              </a:rPr>
              <a:t>Publishing</a:t>
            </a:r>
          </a:p>
          <a:p>
            <a:pPr algn="ctr"/>
            <a:r>
              <a:rPr sz="800" b="0">
                <a:solidFill>
                  <a:srgbClr val="141B33"/>
                </a:solidFill>
                <a:latin typeface="Segoe UI"/>
              </a:rPr>
              <a:t>versioned agents · stable endpoints · Microsoft 365 Copilot and Teams · Entra Agent Registry</a:t>
            </a:r>
          </a:p>
        </p:txBody>
      </p:sp>
      <p:cxnSp>
        <p:nvCxnSpPr>
          <p:cNvPr id="65" name="Connector 64"/>
          <p:cNvCxnSpPr/>
          <p:nvPr/>
        </p:nvCxnSpPr>
        <p:spPr>
          <a:xfrm>
            <a:off x="8046720" y="2560320"/>
            <a:ext cx="22860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66" name="Rectangle 65"/>
          <p:cNvSpPr/>
          <p:nvPr/>
        </p:nvSpPr>
        <p:spPr>
          <a:xfrm>
            <a:off x="8275320" y="1298448"/>
            <a:ext cx="3364992" cy="731520"/>
          </a:xfrm>
          <a:prstGeom prst="rect">
            <a:avLst/>
          </a:prstGeom>
          <a:solidFill>
            <a:srgbClr val="FFFFFF"/>
          </a:solidFill>
          <a:ln w="9525">
            <a:solidFill>
              <a:srgbClr val="E1E7F4"/>
            </a:solidFill>
          </a:ln>
          <a:effectLst/>
        </p:spPr>
        <p:txBody>
          <a:bodyPr rtlCol="0" anchor="ctr"/>
          <a:lstStyle/>
          <a:p>
            <a:pPr algn="ctr"/>
            <a:endParaRPr/>
          </a:p>
        </p:txBody>
      </p:sp>
      <p:sp>
        <p:nvSpPr>
          <p:cNvPr id="67" name="Rectangle 66"/>
          <p:cNvSpPr/>
          <p:nvPr/>
        </p:nvSpPr>
        <p:spPr>
          <a:xfrm>
            <a:off x="8275320" y="1298448"/>
            <a:ext cx="3364992" cy="36576"/>
          </a:xfrm>
          <a:prstGeom prst="rect">
            <a:avLst/>
          </a:prstGeom>
          <a:solidFill>
            <a:srgbClr val="00B39F"/>
          </a:solidFill>
          <a:ln>
            <a:noFill/>
          </a:ln>
          <a:effectLst/>
        </p:spPr>
        <p:txBody>
          <a:bodyPr rtlCol="0" anchor="ctr"/>
          <a:lstStyle/>
          <a:p>
            <a:pPr algn="ctr"/>
            <a:endParaRPr/>
          </a:p>
        </p:txBody>
      </p:sp>
      <p:sp>
        <p:nvSpPr>
          <p:cNvPr id="68" name="TextBox 67"/>
          <p:cNvSpPr txBox="1"/>
          <p:nvPr/>
        </p:nvSpPr>
        <p:spPr>
          <a:xfrm>
            <a:off x="8275320" y="1335024"/>
            <a:ext cx="3364992" cy="694944"/>
          </a:xfrm>
          <a:prstGeom prst="rect">
            <a:avLst/>
          </a:prstGeom>
          <a:noFill/>
        </p:spPr>
        <p:txBody>
          <a:bodyPr wrap="square" lIns="73152" tIns="27432" rIns="73152" bIns="27432" anchor="t">
            <a:spAutoFit/>
          </a:bodyPr>
          <a:lstStyle/>
          <a:p>
            <a:pPr algn="l"/>
            <a:r>
              <a:rPr sz="800" b="1">
                <a:solidFill>
                  <a:srgbClr val="141B33"/>
                </a:solidFill>
                <a:latin typeface="Segoe UI"/>
              </a:rPr>
              <a:t>Foundry Agents API — built on the Responses API</a:t>
            </a:r>
          </a:p>
          <a:p>
            <a:pPr algn="l">
              <a:spcBef>
                <a:spcPts val="200"/>
              </a:spcBef>
            </a:pPr>
            <a:r>
              <a:rPr sz="800" b="0">
                <a:solidFill>
                  <a:srgbClr val="141B33"/>
                </a:solidFill>
                <a:latin typeface="Segoe UI"/>
              </a:rPr>
              <a:t>Threads → Conversations · Runs → Responses · Assistants → Agents. A superset of the OpenAI Responses API; migration tool available.</a:t>
            </a:r>
          </a:p>
        </p:txBody>
      </p:sp>
      <p:sp>
        <p:nvSpPr>
          <p:cNvPr id="69" name="Rectangle 68"/>
          <p:cNvSpPr/>
          <p:nvPr/>
        </p:nvSpPr>
        <p:spPr>
          <a:xfrm>
            <a:off x="8275320" y="3081528"/>
            <a:ext cx="3364992" cy="1463040"/>
          </a:xfrm>
          <a:prstGeom prst="rect">
            <a:avLst/>
          </a:prstGeom>
          <a:solidFill>
            <a:srgbClr val="FFFFFF"/>
          </a:solidFill>
          <a:ln w="9525">
            <a:solidFill>
              <a:srgbClr val="E1E7F4"/>
            </a:solidFill>
          </a:ln>
          <a:effectLst/>
        </p:spPr>
        <p:txBody>
          <a:bodyPr rtlCol="0" anchor="ctr"/>
          <a:lstStyle/>
          <a:p>
            <a:pPr algn="ctr"/>
            <a:endParaRPr/>
          </a:p>
        </p:txBody>
      </p:sp>
      <p:sp>
        <p:nvSpPr>
          <p:cNvPr id="70" name="Rectangle 69"/>
          <p:cNvSpPr/>
          <p:nvPr/>
        </p:nvSpPr>
        <p:spPr>
          <a:xfrm>
            <a:off x="8275320" y="3081528"/>
            <a:ext cx="3364992" cy="36576"/>
          </a:xfrm>
          <a:prstGeom prst="rect">
            <a:avLst/>
          </a:prstGeom>
          <a:solidFill>
            <a:srgbClr val="101A3C"/>
          </a:solidFill>
          <a:ln>
            <a:noFill/>
          </a:ln>
          <a:effectLst/>
        </p:spPr>
        <p:txBody>
          <a:bodyPr rtlCol="0" anchor="ctr"/>
          <a:lstStyle/>
          <a:p>
            <a:pPr algn="ctr"/>
            <a:endParaRPr/>
          </a:p>
        </p:txBody>
      </p:sp>
      <p:sp>
        <p:nvSpPr>
          <p:cNvPr id="71" name="TextBox 70"/>
          <p:cNvSpPr txBox="1"/>
          <p:nvPr/>
        </p:nvSpPr>
        <p:spPr>
          <a:xfrm>
            <a:off x="8275320" y="3118104"/>
            <a:ext cx="3364992" cy="274320"/>
          </a:xfrm>
          <a:prstGeom prst="rect">
            <a:avLst/>
          </a:prstGeom>
          <a:noFill/>
        </p:spPr>
        <p:txBody>
          <a:bodyPr wrap="square" lIns="73152" tIns="27432" rIns="73152" bIns="27432" anchor="ctr">
            <a:spAutoFit/>
          </a:bodyPr>
          <a:lstStyle/>
          <a:p>
            <a:pPr algn="l"/>
            <a:r>
              <a:rPr sz="850" b="1">
                <a:solidFill>
                  <a:srgbClr val="141B33"/>
                </a:solidFill>
                <a:latin typeface="Segoe UI"/>
              </a:rPr>
              <a:t>Hosted agent runtime</a:t>
            </a:r>
          </a:p>
        </p:txBody>
      </p:sp>
      <p:sp>
        <p:nvSpPr>
          <p:cNvPr id="72" name="TextBox 71"/>
          <p:cNvSpPr txBox="1"/>
          <p:nvPr/>
        </p:nvSpPr>
        <p:spPr>
          <a:xfrm>
            <a:off x="8293608" y="3410712"/>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Sandbox</a:t>
            </a:r>
          </a:p>
        </p:txBody>
      </p:sp>
      <p:sp>
        <p:nvSpPr>
          <p:cNvPr id="73" name="TextBox 72"/>
          <p:cNvSpPr txBox="1"/>
          <p:nvPr/>
        </p:nvSpPr>
        <p:spPr>
          <a:xfrm>
            <a:off x="9144000" y="3410712"/>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0.5–2 vCPU · 1–4 GiB · disk up to 20 GiB</a:t>
            </a:r>
          </a:p>
        </p:txBody>
      </p:sp>
      <p:sp>
        <p:nvSpPr>
          <p:cNvPr id="74" name="TextBox 73"/>
          <p:cNvSpPr txBox="1"/>
          <p:nvPr/>
        </p:nvSpPr>
        <p:spPr>
          <a:xfrm>
            <a:off x="8293608" y="3639312"/>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Idle timeout</a:t>
            </a:r>
          </a:p>
        </p:txBody>
      </p:sp>
      <p:sp>
        <p:nvSpPr>
          <p:cNvPr id="75" name="TextBox 74"/>
          <p:cNvSpPr txBox="1"/>
          <p:nvPr/>
        </p:nvSpPr>
        <p:spPr>
          <a:xfrm>
            <a:off x="9144000" y="3639312"/>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2–60 min (default 15) · 30-day idle deletion</a:t>
            </a:r>
          </a:p>
        </p:txBody>
      </p:sp>
      <p:sp>
        <p:nvSpPr>
          <p:cNvPr id="76" name="TextBox 75"/>
          <p:cNvSpPr txBox="1"/>
          <p:nvPr/>
        </p:nvSpPr>
        <p:spPr>
          <a:xfrm>
            <a:off x="8293608" y="3877056"/>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Versions</a:t>
            </a:r>
          </a:p>
        </p:txBody>
      </p:sp>
      <p:sp>
        <p:nvSpPr>
          <p:cNvPr id="77" name="TextBox 76"/>
          <p:cNvSpPr txBox="1"/>
          <p:nvPr/>
        </p:nvSpPr>
        <p:spPr>
          <a:xfrm>
            <a:off x="9144000" y="3877056"/>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immutable; one version per endpoint</a:t>
            </a:r>
          </a:p>
        </p:txBody>
      </p:sp>
      <p:sp>
        <p:nvSpPr>
          <p:cNvPr id="78" name="TextBox 77"/>
          <p:cNvSpPr txBox="1"/>
          <p:nvPr/>
        </p:nvSpPr>
        <p:spPr>
          <a:xfrm>
            <a:off x="8293608" y="4114800"/>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Protocols</a:t>
            </a:r>
          </a:p>
        </p:txBody>
      </p:sp>
      <p:sp>
        <p:nvSpPr>
          <p:cNvPr id="79" name="TextBox 78"/>
          <p:cNvSpPr txBox="1"/>
          <p:nvPr/>
        </p:nvSpPr>
        <p:spPr>
          <a:xfrm>
            <a:off x="9144000" y="4114800"/>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Responses · Invocations · Activity · A2A</a:t>
            </a:r>
          </a:p>
        </p:txBody>
      </p:sp>
      <p:sp>
        <p:nvSpPr>
          <p:cNvPr id="80" name="TextBox 79"/>
          <p:cNvSpPr txBox="1"/>
          <p:nvPr/>
        </p:nvSpPr>
        <p:spPr>
          <a:xfrm>
            <a:off x="8293608" y="4352544"/>
            <a:ext cx="868680" cy="274320"/>
          </a:xfrm>
          <a:prstGeom prst="rect">
            <a:avLst/>
          </a:prstGeom>
          <a:noFill/>
        </p:spPr>
        <p:txBody>
          <a:bodyPr wrap="square" lIns="73152" tIns="27432" rIns="73152" bIns="27432" anchor="t">
            <a:spAutoFit/>
          </a:bodyPr>
          <a:lstStyle/>
          <a:p>
            <a:pPr algn="l"/>
            <a:r>
              <a:rPr sz="750" b="1">
                <a:solidFill>
                  <a:srgbClr val="44495B"/>
                </a:solidFill>
                <a:latin typeface="Segoe UI"/>
              </a:rPr>
              <a:t>Libraries</a:t>
            </a:r>
          </a:p>
        </p:txBody>
      </p:sp>
      <p:sp>
        <p:nvSpPr>
          <p:cNvPr id="81" name="TextBox 80"/>
          <p:cNvSpPr txBox="1"/>
          <p:nvPr/>
        </p:nvSpPr>
        <p:spPr>
          <a:xfrm>
            <a:off x="9144000" y="4352544"/>
            <a:ext cx="2450592" cy="274320"/>
          </a:xfrm>
          <a:prstGeom prst="rect">
            <a:avLst/>
          </a:prstGeom>
          <a:noFill/>
        </p:spPr>
        <p:txBody>
          <a:bodyPr wrap="square" lIns="73152" tIns="27432" rIns="73152" bIns="27432" anchor="t">
            <a:spAutoFit/>
          </a:bodyPr>
          <a:lstStyle/>
          <a:p>
            <a:pPr algn="l"/>
            <a:r>
              <a:rPr sz="750" b="0">
                <a:solidFill>
                  <a:srgbClr val="141B33"/>
                </a:solidFill>
                <a:latin typeface="Segoe UI"/>
              </a:rPr>
              <a:t>Python and C# · 31 regions</a:t>
            </a:r>
          </a:p>
        </p:txBody>
      </p:sp>
      <p:sp>
        <p:nvSpPr>
          <p:cNvPr id="82" name="TextBox 81"/>
          <p:cNvSpPr txBox="1"/>
          <p:nvPr/>
        </p:nvSpPr>
        <p:spPr>
          <a:xfrm>
            <a:off x="548640" y="4645152"/>
            <a:ext cx="73152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WHERE AGENT STATE LIVES — TWO DEPLOYMENT TEMPLATES</a:t>
            </a:r>
          </a:p>
        </p:txBody>
      </p:sp>
      <p:sp>
        <p:nvSpPr>
          <p:cNvPr id="83" name="Rectangle 82"/>
          <p:cNvSpPr/>
          <p:nvPr/>
        </p:nvSpPr>
        <p:spPr>
          <a:xfrm>
            <a:off x="548640" y="4892040"/>
            <a:ext cx="5454396" cy="566928"/>
          </a:xfrm>
          <a:prstGeom prst="rect">
            <a:avLst/>
          </a:prstGeom>
          <a:solidFill>
            <a:srgbClr val="F6F8FD"/>
          </a:solidFill>
          <a:ln w="9525">
            <a:solidFill>
              <a:srgbClr val="E1E7F4"/>
            </a:solidFill>
          </a:ln>
          <a:effectLst/>
        </p:spPr>
        <p:txBody>
          <a:bodyPr rtlCol="0" anchor="ctr"/>
          <a:lstStyle/>
          <a:p>
            <a:pPr algn="ctr"/>
            <a:endParaRPr/>
          </a:p>
        </p:txBody>
      </p:sp>
      <p:sp>
        <p:nvSpPr>
          <p:cNvPr id="84" name="Rectangle 83"/>
          <p:cNvSpPr/>
          <p:nvPr/>
        </p:nvSpPr>
        <p:spPr>
          <a:xfrm>
            <a:off x="548640" y="4892040"/>
            <a:ext cx="45720" cy="566928"/>
          </a:xfrm>
          <a:prstGeom prst="rect">
            <a:avLst/>
          </a:prstGeom>
          <a:solidFill>
            <a:srgbClr val="101A3C"/>
          </a:solidFill>
          <a:ln>
            <a:noFill/>
          </a:ln>
          <a:effectLst/>
        </p:spPr>
        <p:txBody>
          <a:bodyPr rtlCol="0" anchor="ctr"/>
          <a:lstStyle/>
          <a:p>
            <a:pPr algn="ctr"/>
            <a:endParaRPr/>
          </a:p>
        </p:txBody>
      </p:sp>
      <p:sp>
        <p:nvSpPr>
          <p:cNvPr id="85" name="TextBox 84"/>
          <p:cNvSpPr txBox="1"/>
          <p:nvPr/>
        </p:nvSpPr>
        <p:spPr>
          <a:xfrm>
            <a:off x="621792" y="4892040"/>
            <a:ext cx="5362956" cy="566928"/>
          </a:xfrm>
          <a:prstGeom prst="rect">
            <a:avLst/>
          </a:prstGeom>
          <a:noFill/>
        </p:spPr>
        <p:txBody>
          <a:bodyPr wrap="square" lIns="73152" tIns="27432" rIns="73152" bIns="27432" anchor="ctr">
            <a:spAutoFit/>
          </a:bodyPr>
          <a:lstStyle/>
          <a:p>
            <a:pPr algn="l"/>
            <a:r>
              <a:rPr sz="800" b="1">
                <a:solidFill>
                  <a:srgbClr val="141B33"/>
                </a:solidFill>
                <a:latin typeface="Segoe UI"/>
              </a:rPr>
              <a:t>Basic agent setup  </a:t>
            </a:r>
            <a:r>
              <a:rPr sz="800" b="0">
                <a:solidFill>
                  <a:srgbClr val="141B33"/>
                </a:solidFill>
                <a:latin typeface="Segoe UI"/>
              </a:rPr>
              <a:t>files, conversations and vector stores on Microsoft-managed platform storage; reuse an existing Azure OpenAI resource. Fastest start.</a:t>
            </a:r>
          </a:p>
        </p:txBody>
      </p:sp>
      <p:sp>
        <p:nvSpPr>
          <p:cNvPr id="86" name="Rectangle 85"/>
          <p:cNvSpPr/>
          <p:nvPr/>
        </p:nvSpPr>
        <p:spPr>
          <a:xfrm>
            <a:off x="6185916" y="4892040"/>
            <a:ext cx="5454396" cy="566928"/>
          </a:xfrm>
          <a:prstGeom prst="rect">
            <a:avLst/>
          </a:prstGeom>
          <a:solidFill>
            <a:srgbClr val="F6F8FD"/>
          </a:solidFill>
          <a:ln w="9525">
            <a:solidFill>
              <a:srgbClr val="E1E7F4"/>
            </a:solidFill>
          </a:ln>
          <a:effectLst/>
        </p:spPr>
        <p:txBody>
          <a:bodyPr rtlCol="0" anchor="ctr"/>
          <a:lstStyle/>
          <a:p>
            <a:pPr algn="ctr"/>
            <a:endParaRPr/>
          </a:p>
        </p:txBody>
      </p:sp>
      <p:sp>
        <p:nvSpPr>
          <p:cNvPr id="87" name="Rectangle 86"/>
          <p:cNvSpPr/>
          <p:nvPr/>
        </p:nvSpPr>
        <p:spPr>
          <a:xfrm>
            <a:off x="6185916" y="4892040"/>
            <a:ext cx="45720" cy="566928"/>
          </a:xfrm>
          <a:prstGeom prst="rect">
            <a:avLst/>
          </a:prstGeom>
          <a:solidFill>
            <a:srgbClr val="00B39F"/>
          </a:solidFill>
          <a:ln>
            <a:noFill/>
          </a:ln>
          <a:effectLst/>
        </p:spPr>
        <p:txBody>
          <a:bodyPr rtlCol="0" anchor="ctr"/>
          <a:lstStyle/>
          <a:p>
            <a:pPr algn="ctr"/>
            <a:endParaRPr/>
          </a:p>
        </p:txBody>
      </p:sp>
      <p:sp>
        <p:nvSpPr>
          <p:cNvPr id="88" name="TextBox 87"/>
          <p:cNvSpPr txBox="1"/>
          <p:nvPr/>
        </p:nvSpPr>
        <p:spPr>
          <a:xfrm>
            <a:off x="6259068" y="4892040"/>
            <a:ext cx="5362956" cy="566928"/>
          </a:xfrm>
          <a:prstGeom prst="rect">
            <a:avLst/>
          </a:prstGeom>
          <a:noFill/>
        </p:spPr>
        <p:txBody>
          <a:bodyPr wrap="square" lIns="73152" tIns="27432" rIns="73152" bIns="27432" anchor="ctr">
            <a:spAutoFit/>
          </a:bodyPr>
          <a:lstStyle/>
          <a:p>
            <a:pPr algn="l"/>
            <a:r>
              <a:rPr sz="800" b="1">
                <a:solidFill>
                  <a:srgbClr val="141B33"/>
                </a:solidFill>
                <a:latin typeface="Segoe UI"/>
              </a:rPr>
              <a:t>Standard agent setup  </a:t>
            </a:r>
            <a:r>
              <a:rPr sz="800" b="0">
                <a:solidFill>
                  <a:srgbClr val="141B33"/>
                </a:solidFill>
                <a:latin typeface="Segoe UI"/>
              </a:rPr>
              <a:t>all customer data in customer-owned Azure Cosmos DB, Storage and AI Search; enables customer-managed keys and network isolation. Cosmos DB needs ≥ 3,000 RU/s per project.</a:t>
            </a:r>
          </a:p>
        </p:txBody>
      </p:sp>
      <p:sp>
        <p:nvSpPr>
          <p:cNvPr id="89" name="TextBox 88"/>
          <p:cNvSpPr txBox="1"/>
          <p:nvPr/>
        </p:nvSpPr>
        <p:spPr>
          <a:xfrm>
            <a:off x="548640" y="5477256"/>
            <a:ext cx="73152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Protocols and APIs an agent speaks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Inbound: Responses, Invocations, Activity, A2A. Outbound to tools: MCP, OpenAPI, A2A.</a:t>
            </a:r>
          </a:p>
          <a:p>
            <a:endParaRPr sz="1200">
              <a:solidFill>
                <a:srgbClr val="44495B"/>
              </a:solidFill>
              <a:latin typeface="Segoe UI"/>
            </a:endParaRPr>
          </a:p>
        </p:txBody>
      </p:sp>
      <p:sp>
        <p:nvSpPr>
          <p:cNvPr id="5" name="TextBox"/>
          <p:cNvSpPr txBox="1"/>
          <p:nvPr/>
        </p:nvSpPr>
        <p:spPr>
          <a:xfrm>
            <a:off x="457200" y="1202436"/>
            <a:ext cx="2331720" cy="411480"/>
          </a:xfrm>
          <a:prstGeom prst="rect">
            <a:avLst/>
          </a:prstGeom>
        </p:spPr>
        <p:txBody>
          <a:bodyPr anchor="ctr"/>
          <a:lstStyle/>
          <a:p>
            <a:r>
              <a:rPr sz="900" b="1">
                <a:solidFill>
                  <a:srgbClr val="008577"/>
                </a:solidFill>
                <a:latin typeface="Segoe UI"/>
              </a:rPr>
              <a:t>C A L L E R S</a:t>
            </a:r>
          </a:p>
          <a:p>
            <a:endParaRPr sz="900" b="1">
              <a:solidFill>
                <a:srgbClr val="008577"/>
              </a:solidFill>
              <a:latin typeface="Segoe UI"/>
            </a:endParaRPr>
          </a:p>
        </p:txBody>
      </p:sp>
      <p:sp>
        <p:nvSpPr>
          <p:cNvPr id="6" name="Shape"/>
          <p:cNvSpPr/>
          <p:nvPr/>
        </p:nvSpPr>
        <p:spPr>
          <a:xfrm>
            <a:off x="548640" y="1417320"/>
            <a:ext cx="21488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Your application</a:t>
            </a:r>
          </a:p>
          <a:p>
            <a:pPr algn="ctr"/>
            <a:r>
              <a:rPr sz="900">
                <a:solidFill>
                  <a:srgbClr val="141B33"/>
                </a:solidFill>
                <a:latin typeface="Segoe UI"/>
              </a:rPr>
              <a:t>web or service client</a:t>
            </a:r>
          </a:p>
        </p:txBody>
      </p:sp>
      <p:sp>
        <p:nvSpPr>
          <p:cNvPr id="7" name="Shape"/>
          <p:cNvSpPr/>
          <p:nvPr/>
        </p:nvSpPr>
        <p:spPr>
          <a:xfrm>
            <a:off x="548640" y="1929384"/>
            <a:ext cx="21488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Microsoft 365 Copilot</a:t>
            </a:r>
          </a:p>
          <a:p>
            <a:pPr algn="ctr"/>
            <a:r>
              <a:rPr sz="900">
                <a:solidFill>
                  <a:srgbClr val="141B33"/>
                </a:solidFill>
                <a:latin typeface="Segoe UI"/>
              </a:rPr>
              <a:t>and Microsoft Teams</a:t>
            </a:r>
          </a:p>
        </p:txBody>
      </p:sp>
      <p:sp>
        <p:nvSpPr>
          <p:cNvPr id="8" name="Shape"/>
          <p:cNvSpPr/>
          <p:nvPr/>
        </p:nvSpPr>
        <p:spPr>
          <a:xfrm>
            <a:off x="548640" y="2441448"/>
            <a:ext cx="2148840" cy="420624"/>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Other agents</a:t>
            </a:r>
          </a:p>
          <a:p>
            <a:pPr algn="ctr"/>
            <a:r>
              <a:rPr sz="900">
                <a:solidFill>
                  <a:srgbClr val="141B33"/>
                </a:solidFill>
                <a:latin typeface="Segoe UI"/>
              </a:rPr>
              <a:t>via A2A delegation</a:t>
            </a:r>
          </a:p>
        </p:txBody>
      </p:sp>
      <p:sp>
        <p:nvSpPr>
          <p:cNvPr id="9" name="Shape"/>
          <p:cNvSpPr/>
          <p:nvPr/>
        </p:nvSpPr>
        <p:spPr>
          <a:xfrm>
            <a:off x="2734056" y="2039112"/>
            <a:ext cx="164592" cy="201168"/>
          </a:xfrm>
          <a:prstGeom prst="rightArrow">
            <a:avLst/>
          </a:prstGeom>
          <a:solidFill>
            <a:srgbClr val="00B39F"/>
          </a:solidFill>
        </p:spPr>
        <p:txBody>
          <a:bodyPr/>
          <a:lstStyle/>
          <a:p>
            <a:endParaRPr/>
          </a:p>
        </p:txBody>
      </p:sp>
      <p:sp>
        <p:nvSpPr>
          <p:cNvPr id="10" name="Shape"/>
          <p:cNvSpPr/>
          <p:nvPr/>
        </p:nvSpPr>
        <p:spPr>
          <a:xfrm>
            <a:off x="2935224" y="1417320"/>
            <a:ext cx="4617720" cy="365760"/>
          </a:xfrm>
          <a:prstGeom prst="rect">
            <a:avLst/>
          </a:prstGeom>
          <a:solidFill>
            <a:srgbClr val="101A3C"/>
          </a:solidFill>
        </p:spPr>
        <p:txBody>
          <a:bodyPr anchor="ctr"/>
          <a:lstStyle/>
          <a:p>
            <a:pPr algn="ctr"/>
            <a:r>
              <a:rPr sz="900">
                <a:solidFill>
                  <a:srgbClr val="FFFFFF"/>
                </a:solidFill>
                <a:latin typeface="Segoe UI"/>
              </a:rPr>
              <a:t>Hosted agent endpoint</a:t>
            </a:r>
          </a:p>
          <a:p>
            <a:pPr algn="ctr"/>
            <a:r>
              <a:rPr sz="900">
                <a:solidFill>
                  <a:srgbClr val="FFFFFF"/>
                </a:solidFill>
                <a:latin typeface="Segoe UI"/>
              </a:rPr>
              <a:t>{project}/agents/{name}/endpoint/protocols/…</a:t>
            </a:r>
          </a:p>
        </p:txBody>
      </p:sp>
      <p:sp>
        <p:nvSpPr>
          <p:cNvPr id="11" name="Shape"/>
          <p:cNvSpPr/>
          <p:nvPr/>
        </p:nvSpPr>
        <p:spPr>
          <a:xfrm>
            <a:off x="2935224" y="1837943"/>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openai/responses — GA</a:t>
            </a:r>
          </a:p>
          <a:p>
            <a:pPr algn="ctr"/>
            <a:r>
              <a:rPr sz="900">
                <a:solidFill>
                  <a:srgbClr val="141B33"/>
                </a:solidFill>
                <a:latin typeface="Segoe UI"/>
              </a:rPr>
              <a:t>OpenAI-compatible and stateful</a:t>
            </a:r>
          </a:p>
        </p:txBody>
      </p:sp>
      <p:sp>
        <p:nvSpPr>
          <p:cNvPr id="12" name="Shape"/>
          <p:cNvSpPr/>
          <p:nvPr/>
        </p:nvSpPr>
        <p:spPr>
          <a:xfrm>
            <a:off x="2935224" y="2258568"/>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invocations — GA</a:t>
            </a:r>
          </a:p>
          <a:p>
            <a:pPr algn="ctr"/>
            <a:r>
              <a:rPr sz="900">
                <a:solidFill>
                  <a:srgbClr val="141B33"/>
                </a:solidFill>
                <a:latin typeface="Segoe UI"/>
              </a:rPr>
              <a:t>schema-free request and response</a:t>
            </a:r>
          </a:p>
        </p:txBody>
      </p:sp>
      <p:sp>
        <p:nvSpPr>
          <p:cNvPr id="13" name="Shape"/>
          <p:cNvSpPr/>
          <p:nvPr/>
        </p:nvSpPr>
        <p:spPr>
          <a:xfrm>
            <a:off x="2935224" y="2679192"/>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invocations_ws — GA</a:t>
            </a:r>
          </a:p>
          <a:p>
            <a:pPr algn="ctr"/>
            <a:r>
              <a:rPr sz="900">
                <a:solidFill>
                  <a:srgbClr val="141B33"/>
                </a:solidFill>
                <a:latin typeface="Segoe UI"/>
              </a:rPr>
              <a:t>the same over a WebSocket</a:t>
            </a:r>
          </a:p>
        </p:txBody>
      </p:sp>
      <p:sp>
        <p:nvSpPr>
          <p:cNvPr id="14" name="Shape"/>
          <p:cNvSpPr/>
          <p:nvPr/>
        </p:nvSpPr>
        <p:spPr>
          <a:xfrm>
            <a:off x="2935224" y="3099816"/>
            <a:ext cx="4617720" cy="475488"/>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Activity protocol</a:t>
            </a:r>
          </a:p>
          <a:p>
            <a:pPr algn="ctr"/>
            <a:r>
              <a:rPr sz="900">
                <a:solidFill>
                  <a:srgbClr val="141B33"/>
                </a:solidFill>
                <a:latin typeface="Segoe UI"/>
              </a:rPr>
              <a:t>Teams and Microsoft 365 channels;</a:t>
            </a:r>
          </a:p>
          <a:p>
            <a:pPr algn="ctr"/>
            <a:r>
              <a:rPr sz="900">
                <a:solidFill>
                  <a:srgbClr val="141B33"/>
                </a:solidFill>
                <a:latin typeface="Segoe UI"/>
              </a:rPr>
              <a:t>bridged automatically from Responses</a:t>
            </a:r>
          </a:p>
        </p:txBody>
      </p:sp>
      <p:sp>
        <p:nvSpPr>
          <p:cNvPr id="15" name="Shape"/>
          <p:cNvSpPr/>
          <p:nvPr/>
        </p:nvSpPr>
        <p:spPr>
          <a:xfrm>
            <a:off x="2935224" y="3630168"/>
            <a:ext cx="4617720" cy="365760"/>
          </a:xfrm>
          <a:prstGeom prst="rect">
            <a:avLst/>
          </a:prstGeom>
          <a:solidFill>
            <a:srgbClr val="EBEFF7"/>
          </a:solidFill>
          <a:ln w="9525">
            <a:solidFill>
              <a:srgbClr val="E1E7F4"/>
            </a:solidFill>
          </a:ln>
        </p:spPr>
        <p:txBody>
          <a:bodyPr anchor="ctr"/>
          <a:lstStyle/>
          <a:p>
            <a:pPr algn="ctr"/>
            <a:r>
              <a:rPr sz="900">
                <a:solidFill>
                  <a:srgbClr val="141B33"/>
                </a:solidFill>
                <a:latin typeface="Segoe UI"/>
              </a:rPr>
              <a:t>a2a — GA</a:t>
            </a:r>
          </a:p>
          <a:p>
            <a:pPr algn="ctr"/>
            <a:r>
              <a:rPr sz="900">
                <a:solidFill>
                  <a:srgbClr val="141B33"/>
                </a:solidFill>
                <a:latin typeface="Segoe UI"/>
              </a:rPr>
              <a:t>agent-to-agent delegation</a:t>
            </a:r>
          </a:p>
        </p:txBody>
      </p:sp>
      <p:sp>
        <p:nvSpPr>
          <p:cNvPr id="16" name="TextBox"/>
          <p:cNvSpPr txBox="1"/>
          <p:nvPr/>
        </p:nvSpPr>
        <p:spPr>
          <a:xfrm>
            <a:off x="7699248" y="1202436"/>
            <a:ext cx="4035552" cy="411480"/>
          </a:xfrm>
          <a:prstGeom prst="rect">
            <a:avLst/>
          </a:prstGeom>
        </p:spPr>
        <p:txBody>
          <a:bodyPr anchor="ctr"/>
          <a:lstStyle/>
          <a:p>
            <a:r>
              <a:rPr sz="900" b="1">
                <a:solidFill>
                  <a:srgbClr val="008577"/>
                </a:solidFill>
                <a:latin typeface="Segoe UI"/>
              </a:rPr>
              <a:t>O U T B O U N D</a:t>
            </a:r>
          </a:p>
          <a:p>
            <a:endParaRPr sz="900" b="1">
              <a:solidFill>
                <a:srgbClr val="008577"/>
              </a:solidFill>
              <a:latin typeface="Segoe UI"/>
            </a:endParaRPr>
          </a:p>
        </p:txBody>
      </p:sp>
      <p:sp>
        <p:nvSpPr>
          <p:cNvPr id="17" name="Shape"/>
          <p:cNvSpPr/>
          <p:nvPr/>
        </p:nvSpPr>
        <p:spPr>
          <a:xfrm>
            <a:off x="7790688" y="1417320"/>
            <a:ext cx="3852672" cy="420624"/>
          </a:xfrm>
          <a:prstGeom prst="rect">
            <a:avLst/>
          </a:prstGeom>
          <a:solidFill>
            <a:srgbClr val="101A3C"/>
          </a:solidFill>
        </p:spPr>
        <p:txBody>
          <a:bodyPr anchor="ctr"/>
          <a:lstStyle/>
          <a:p>
            <a:pPr algn="ctr"/>
            <a:r>
              <a:rPr sz="900">
                <a:solidFill>
                  <a:srgbClr val="FFFFFF"/>
                </a:solidFill>
                <a:latin typeface="Segoe UI"/>
              </a:rPr>
              <a:t>Toolbox and MCP servers</a:t>
            </a:r>
          </a:p>
          <a:p>
            <a:pPr algn="ctr"/>
            <a:r>
              <a:rPr sz="900">
                <a:solidFill>
                  <a:srgbClr val="FFFFFF"/>
                </a:solidFill>
                <a:latin typeface="Segoe UI"/>
              </a:rPr>
              <a:t>GA</a:t>
            </a:r>
          </a:p>
        </p:txBody>
      </p:sp>
      <p:sp>
        <p:nvSpPr>
          <p:cNvPr id="18" name="Shape"/>
          <p:cNvSpPr/>
          <p:nvPr/>
        </p:nvSpPr>
        <p:spPr>
          <a:xfrm>
            <a:off x="7790688" y="1929384"/>
            <a:ext cx="3852672" cy="420624"/>
          </a:xfrm>
          <a:prstGeom prst="rect">
            <a:avLst/>
          </a:prstGeom>
          <a:solidFill>
            <a:srgbClr val="101A3C"/>
          </a:solidFill>
        </p:spPr>
        <p:txBody>
          <a:bodyPr anchor="ctr"/>
          <a:lstStyle/>
          <a:p>
            <a:pPr algn="ctr"/>
            <a:r>
              <a:rPr sz="900">
                <a:solidFill>
                  <a:srgbClr val="FFFFFF"/>
                </a:solidFill>
                <a:latin typeface="Segoe UI"/>
              </a:rPr>
              <a:t>OpenAPI 3.0 / 3.1 tools</a:t>
            </a:r>
          </a:p>
          <a:p>
            <a:pPr algn="ctr"/>
            <a:r>
              <a:rPr sz="900">
                <a:solidFill>
                  <a:srgbClr val="FFFFFF"/>
                </a:solidFill>
                <a:latin typeface="Segoe UI"/>
              </a:rPr>
              <a:t>GA</a:t>
            </a:r>
          </a:p>
        </p:txBody>
      </p:sp>
      <p:sp>
        <p:nvSpPr>
          <p:cNvPr id="19" name="Shape"/>
          <p:cNvSpPr/>
          <p:nvPr/>
        </p:nvSpPr>
        <p:spPr>
          <a:xfrm>
            <a:off x="7790688" y="2441448"/>
            <a:ext cx="3852672" cy="420624"/>
          </a:xfrm>
          <a:prstGeom prst="rect">
            <a:avLst/>
          </a:prstGeom>
          <a:solidFill>
            <a:srgbClr val="101A3C"/>
          </a:solidFill>
        </p:spPr>
        <p:txBody>
          <a:bodyPr anchor="ctr"/>
          <a:lstStyle/>
          <a:p>
            <a:pPr algn="ctr"/>
            <a:r>
              <a:rPr sz="900">
                <a:solidFill>
                  <a:srgbClr val="FFFFFF"/>
                </a:solidFill>
                <a:latin typeface="Segoe UI"/>
              </a:rPr>
              <a:t>A2A peers</a:t>
            </a:r>
          </a:p>
          <a:p>
            <a:pPr algn="ctr"/>
            <a:r>
              <a:rPr sz="900">
                <a:solidFill>
                  <a:srgbClr val="FFFFFF"/>
                </a:solidFill>
                <a:latin typeface="Segoe UI"/>
              </a:rPr>
              <a:t>GA</a:t>
            </a:r>
          </a:p>
        </p:txBody>
      </p:sp>
      <p:sp>
        <p:nvSpPr>
          <p:cNvPr id="20" name="Shape"/>
          <p:cNvSpPr/>
          <p:nvPr/>
        </p:nvSpPr>
        <p:spPr>
          <a:xfrm>
            <a:off x="7790688" y="2953512"/>
            <a:ext cx="3852672" cy="420624"/>
          </a:xfrm>
          <a:prstGeom prst="rect">
            <a:avLst/>
          </a:prstGeom>
          <a:solidFill>
            <a:srgbClr val="101A3C"/>
          </a:solidFill>
        </p:spPr>
        <p:txBody>
          <a:bodyPr anchor="ctr"/>
          <a:lstStyle/>
          <a:p>
            <a:pPr algn="ctr"/>
            <a:r>
              <a:rPr sz="900">
                <a:solidFill>
                  <a:srgbClr val="FFFFFF"/>
                </a:solidFill>
                <a:latin typeface="Segoe UI"/>
              </a:rPr>
              <a:t>Foundry Models</a:t>
            </a:r>
          </a:p>
          <a:p>
            <a:pPr algn="ctr"/>
            <a:r>
              <a:rPr sz="900">
                <a:solidFill>
                  <a:srgbClr val="FFFFFF"/>
                </a:solidFill>
                <a:latin typeface="Segoe UI"/>
              </a:rPr>
              <a:t>inference</a:t>
            </a:r>
          </a:p>
        </p:txBody>
      </p:sp>
      <p:sp>
        <p:nvSpPr>
          <p:cNvPr id="21" name="Shape"/>
          <p:cNvSpPr/>
          <p:nvPr/>
        </p:nvSpPr>
        <p:spPr>
          <a:xfrm>
            <a:off x="7589520" y="2039112"/>
            <a:ext cx="164592" cy="201168"/>
          </a:xfrm>
          <a:prstGeom prst="rightArrow">
            <a:avLst/>
          </a:prstGeom>
          <a:solidFill>
            <a:srgbClr val="00B39F"/>
          </a:solidFill>
        </p:spPr>
        <p:txBody>
          <a:bodyPr/>
          <a:lstStyle/>
          <a:p>
            <a:endParaRPr/>
          </a:p>
        </p:txBody>
      </p:sp>
      <p:sp>
        <p:nvSpPr>
          <p:cNvPr id="22" name="TextBox"/>
          <p:cNvSpPr txBox="1"/>
          <p:nvPr/>
        </p:nvSpPr>
        <p:spPr>
          <a:xfrm>
            <a:off x="457200" y="4023360"/>
            <a:ext cx="5669280" cy="411480"/>
          </a:xfrm>
          <a:prstGeom prst="rect">
            <a:avLst/>
          </a:prstGeom>
        </p:spPr>
        <p:txBody>
          <a:bodyPr anchor="ctr"/>
          <a:lstStyle/>
          <a:p>
            <a:r>
              <a:rPr sz="900" b="1">
                <a:solidFill>
                  <a:srgbClr val="008577"/>
                </a:solidFill>
                <a:latin typeface="Segoe UI"/>
              </a:rPr>
              <a:t>T O O L   A V A I L A B I L I T Y ,   C L A S S I C   T O   N E W</a:t>
            </a:r>
          </a:p>
          <a:p>
            <a:endParaRPr sz="900" b="1">
              <a:solidFill>
                <a:srgbClr val="008577"/>
              </a:solidFill>
              <a:latin typeface="Segoe UI"/>
            </a:endParaRPr>
          </a:p>
        </p:txBody>
      </p:sp>
      <p:sp>
        <p:nvSpPr>
          <p:cNvPr id="23" name="Shape"/>
          <p:cNvSpPr/>
          <p:nvPr/>
        </p:nvSpPr>
        <p:spPr>
          <a:xfrm>
            <a:off x="548640" y="4343400"/>
            <a:ext cx="11094720" cy="384048"/>
          </a:xfrm>
          <a:prstGeom prst="rect">
            <a:avLst/>
          </a:prstGeom>
          <a:solidFill>
            <a:srgbClr val="101A3C"/>
          </a:solidFill>
        </p:spPr>
        <p:txBody>
          <a:bodyPr/>
          <a:lstStyle/>
          <a:p>
            <a:endParaRPr/>
          </a:p>
        </p:txBody>
      </p:sp>
      <p:sp>
        <p:nvSpPr>
          <p:cNvPr id="24" name="TextBox"/>
          <p:cNvSpPr txBox="1"/>
          <p:nvPr/>
        </p:nvSpPr>
        <p:spPr>
          <a:xfrm>
            <a:off x="2332939" y="4361688"/>
            <a:ext cx="1313078" cy="426720"/>
          </a:xfrm>
          <a:prstGeom prst="rect">
            <a:avLst/>
          </a:prstGeom>
        </p:spPr>
        <p:txBody>
          <a:bodyPr anchor="ctr"/>
          <a:lstStyle/>
          <a:p>
            <a:r>
              <a:rPr sz="950" b="1">
                <a:solidFill>
                  <a:srgbClr val="FFFFFF"/>
                </a:solidFill>
                <a:latin typeface="Segoe UI"/>
              </a:rPr>
              <a:t>A2A</a:t>
            </a:r>
          </a:p>
          <a:p>
            <a:endParaRPr sz="950" b="1">
              <a:solidFill>
                <a:srgbClr val="FFFFFF"/>
              </a:solidFill>
              <a:latin typeface="Segoe UI"/>
            </a:endParaRPr>
          </a:p>
        </p:txBody>
      </p:sp>
      <p:sp>
        <p:nvSpPr>
          <p:cNvPr id="25" name="TextBox"/>
          <p:cNvSpPr txBox="1"/>
          <p:nvPr/>
        </p:nvSpPr>
        <p:spPr>
          <a:xfrm>
            <a:off x="3664305" y="4361688"/>
            <a:ext cx="1313078" cy="426720"/>
          </a:xfrm>
          <a:prstGeom prst="rect">
            <a:avLst/>
          </a:prstGeom>
        </p:spPr>
        <p:txBody>
          <a:bodyPr anchor="ctr"/>
          <a:lstStyle/>
          <a:p>
            <a:r>
              <a:rPr sz="950" b="1">
                <a:solidFill>
                  <a:srgbClr val="FFFFFF"/>
                </a:solidFill>
                <a:latin typeface="Segoe UI"/>
              </a:rPr>
              <a:t>Web search</a:t>
            </a:r>
          </a:p>
          <a:p>
            <a:endParaRPr sz="950" b="1">
              <a:solidFill>
                <a:srgbClr val="FFFFFF"/>
              </a:solidFill>
              <a:latin typeface="Segoe UI"/>
            </a:endParaRPr>
          </a:p>
        </p:txBody>
      </p:sp>
      <p:sp>
        <p:nvSpPr>
          <p:cNvPr id="26" name="TextBox"/>
          <p:cNvSpPr txBox="1"/>
          <p:nvPr/>
        </p:nvSpPr>
        <p:spPr>
          <a:xfrm>
            <a:off x="4995671" y="4361688"/>
            <a:ext cx="1313078" cy="426720"/>
          </a:xfrm>
          <a:prstGeom prst="rect">
            <a:avLst/>
          </a:prstGeom>
        </p:spPr>
        <p:txBody>
          <a:bodyPr anchor="ctr"/>
          <a:lstStyle/>
          <a:p>
            <a:r>
              <a:rPr sz="950" b="1">
                <a:solidFill>
                  <a:srgbClr val="FFFFFF"/>
                </a:solidFill>
                <a:latin typeface="Segoe UI"/>
              </a:rPr>
              <a:t>Image gen.</a:t>
            </a:r>
          </a:p>
          <a:p>
            <a:endParaRPr sz="950" b="1">
              <a:solidFill>
                <a:srgbClr val="FFFFFF"/>
              </a:solidFill>
              <a:latin typeface="Segoe UI"/>
            </a:endParaRPr>
          </a:p>
        </p:txBody>
      </p:sp>
      <p:sp>
        <p:nvSpPr>
          <p:cNvPr id="27" name="TextBox"/>
          <p:cNvSpPr txBox="1"/>
          <p:nvPr/>
        </p:nvSpPr>
        <p:spPr>
          <a:xfrm>
            <a:off x="6327037" y="4361688"/>
            <a:ext cx="1313078" cy="426720"/>
          </a:xfrm>
          <a:prstGeom prst="rect">
            <a:avLst/>
          </a:prstGeom>
        </p:spPr>
        <p:txBody>
          <a:bodyPr anchor="ctr"/>
          <a:lstStyle/>
          <a:p>
            <a:r>
              <a:rPr sz="950" b="1">
                <a:solidFill>
                  <a:srgbClr val="FFFFFF"/>
                </a:solidFill>
                <a:latin typeface="Segoe UI"/>
              </a:rPr>
              <a:t>MCP</a:t>
            </a:r>
          </a:p>
          <a:p>
            <a:endParaRPr sz="950" b="1">
              <a:solidFill>
                <a:srgbClr val="FFFFFF"/>
              </a:solidFill>
              <a:latin typeface="Segoe UI"/>
            </a:endParaRPr>
          </a:p>
        </p:txBody>
      </p:sp>
      <p:sp>
        <p:nvSpPr>
          <p:cNvPr id="28" name="TextBox"/>
          <p:cNvSpPr txBox="1"/>
          <p:nvPr/>
        </p:nvSpPr>
        <p:spPr>
          <a:xfrm>
            <a:off x="7658403" y="4361688"/>
            <a:ext cx="1313078" cy="426720"/>
          </a:xfrm>
          <a:prstGeom prst="rect">
            <a:avLst/>
          </a:prstGeom>
        </p:spPr>
        <p:txBody>
          <a:bodyPr anchor="ctr"/>
          <a:lstStyle/>
          <a:p>
            <a:r>
              <a:rPr sz="950" b="1">
                <a:solidFill>
                  <a:srgbClr val="FFFFFF"/>
                </a:solidFill>
                <a:latin typeface="Segoe UI"/>
              </a:rPr>
              <a:t>Azure</a:t>
            </a:r>
          </a:p>
          <a:p>
            <a:r>
              <a:rPr sz="950" b="1">
                <a:solidFill>
                  <a:srgbClr val="FFFFFF"/>
                </a:solidFill>
                <a:latin typeface="Segoe UI"/>
              </a:rPr>
              <a:t>Functions</a:t>
            </a:r>
          </a:p>
        </p:txBody>
      </p:sp>
      <p:sp>
        <p:nvSpPr>
          <p:cNvPr id="29" name="TextBox"/>
          <p:cNvSpPr txBox="1"/>
          <p:nvPr/>
        </p:nvSpPr>
        <p:spPr>
          <a:xfrm>
            <a:off x="8989769" y="4361688"/>
            <a:ext cx="1313078" cy="426720"/>
          </a:xfrm>
          <a:prstGeom prst="rect">
            <a:avLst/>
          </a:prstGeom>
        </p:spPr>
        <p:txBody>
          <a:bodyPr anchor="ctr"/>
          <a:lstStyle/>
          <a:p>
            <a:r>
              <a:rPr sz="950" b="1">
                <a:solidFill>
                  <a:srgbClr val="FFFFFF"/>
                </a:solidFill>
                <a:latin typeface="Segoe UI"/>
              </a:rPr>
              <a:t>Connected</a:t>
            </a:r>
          </a:p>
          <a:p>
            <a:r>
              <a:rPr sz="950" b="1">
                <a:solidFill>
                  <a:srgbClr val="FFFFFF"/>
                </a:solidFill>
                <a:latin typeface="Segoe UI"/>
              </a:rPr>
              <a:t>agents</a:t>
            </a:r>
          </a:p>
        </p:txBody>
      </p:sp>
      <p:sp>
        <p:nvSpPr>
          <p:cNvPr id="30" name="TextBox"/>
          <p:cNvSpPr txBox="1"/>
          <p:nvPr/>
        </p:nvSpPr>
        <p:spPr>
          <a:xfrm>
            <a:off x="10321135" y="4361688"/>
            <a:ext cx="1313081" cy="426720"/>
          </a:xfrm>
          <a:prstGeom prst="rect">
            <a:avLst/>
          </a:prstGeom>
        </p:spPr>
        <p:txBody>
          <a:bodyPr anchor="ctr"/>
          <a:lstStyle/>
          <a:p>
            <a:r>
              <a:rPr sz="950" b="1">
                <a:solidFill>
                  <a:srgbClr val="FFFFFF"/>
                </a:solidFill>
                <a:latin typeface="Segoe UI"/>
              </a:rPr>
              <a:t>Deep</a:t>
            </a:r>
          </a:p>
          <a:p>
            <a:r>
              <a:rPr sz="950" b="1">
                <a:solidFill>
                  <a:srgbClr val="FFFFFF"/>
                </a:solidFill>
                <a:latin typeface="Segoe UI"/>
              </a:rPr>
              <a:t>Research</a:t>
            </a:r>
          </a:p>
        </p:txBody>
      </p:sp>
      <p:sp>
        <p:nvSpPr>
          <p:cNvPr id="31" name="Shape"/>
          <p:cNvSpPr/>
          <p:nvPr/>
        </p:nvSpPr>
        <p:spPr>
          <a:xfrm>
            <a:off x="548640" y="4754880"/>
            <a:ext cx="11094720" cy="310896"/>
          </a:xfrm>
          <a:prstGeom prst="rect">
            <a:avLst/>
          </a:prstGeom>
          <a:solidFill>
            <a:srgbClr val="FFFFFF"/>
          </a:solidFill>
          <a:ln w="9525">
            <a:solidFill>
              <a:srgbClr val="E1E7F4"/>
            </a:solidFill>
          </a:ln>
        </p:spPr>
        <p:txBody>
          <a:bodyPr/>
          <a:lstStyle/>
          <a:p>
            <a:endParaRPr/>
          </a:p>
        </p:txBody>
      </p:sp>
      <p:sp>
        <p:nvSpPr>
          <p:cNvPr id="32" name="TextBox"/>
          <p:cNvSpPr txBox="1"/>
          <p:nvPr/>
        </p:nvSpPr>
        <p:spPr>
          <a:xfrm>
            <a:off x="557784" y="4754880"/>
            <a:ext cx="1756867" cy="426720"/>
          </a:xfrm>
          <a:prstGeom prst="rect">
            <a:avLst/>
          </a:prstGeom>
        </p:spPr>
        <p:txBody>
          <a:bodyPr anchor="ctr"/>
          <a:lstStyle/>
          <a:p>
            <a:r>
              <a:rPr sz="950">
                <a:solidFill>
                  <a:srgbClr val="808080"/>
                </a:solidFill>
                <a:latin typeface="Segoe UI"/>
              </a:rPr>
              <a:t>Classic</a:t>
            </a:r>
          </a:p>
          <a:p>
            <a:endParaRPr sz="950">
              <a:solidFill>
                <a:srgbClr val="808080"/>
              </a:solidFill>
              <a:latin typeface="Segoe UI"/>
            </a:endParaRPr>
          </a:p>
        </p:txBody>
      </p:sp>
      <p:sp>
        <p:nvSpPr>
          <p:cNvPr id="33" name="TextBox"/>
          <p:cNvSpPr txBox="1"/>
          <p:nvPr/>
        </p:nvSpPr>
        <p:spPr>
          <a:xfrm>
            <a:off x="2332939" y="4754880"/>
            <a:ext cx="1313078" cy="426720"/>
          </a:xfrm>
          <a:prstGeom prst="rect">
            <a:avLst/>
          </a:prstGeom>
        </p:spPr>
        <p:txBody>
          <a:bodyPr anchor="ctr"/>
          <a:lstStyle/>
          <a:p>
            <a:r>
              <a:rPr sz="950">
                <a:solidFill>
                  <a:srgbClr val="808080"/>
                </a:solidFill>
                <a:latin typeface="Segoe UI"/>
              </a:rPr>
              <a:t>no</a:t>
            </a:r>
          </a:p>
          <a:p>
            <a:endParaRPr sz="950">
              <a:solidFill>
                <a:srgbClr val="808080"/>
              </a:solidFill>
              <a:latin typeface="Segoe UI"/>
            </a:endParaRPr>
          </a:p>
        </p:txBody>
      </p:sp>
      <p:sp>
        <p:nvSpPr>
          <p:cNvPr id="34" name="TextBox"/>
          <p:cNvSpPr txBox="1"/>
          <p:nvPr/>
        </p:nvSpPr>
        <p:spPr>
          <a:xfrm>
            <a:off x="3664305" y="4754880"/>
            <a:ext cx="1313078" cy="426720"/>
          </a:xfrm>
          <a:prstGeom prst="rect">
            <a:avLst/>
          </a:prstGeom>
        </p:spPr>
        <p:txBody>
          <a:bodyPr anchor="ctr"/>
          <a:lstStyle/>
          <a:p>
            <a:r>
              <a:rPr sz="950">
                <a:solidFill>
                  <a:srgbClr val="808080"/>
                </a:solidFill>
                <a:latin typeface="Segoe UI"/>
              </a:rPr>
              <a:t>no</a:t>
            </a:r>
          </a:p>
          <a:p>
            <a:endParaRPr sz="950">
              <a:solidFill>
                <a:srgbClr val="808080"/>
              </a:solidFill>
              <a:latin typeface="Segoe UI"/>
            </a:endParaRPr>
          </a:p>
        </p:txBody>
      </p:sp>
      <p:sp>
        <p:nvSpPr>
          <p:cNvPr id="35" name="TextBox"/>
          <p:cNvSpPr txBox="1"/>
          <p:nvPr/>
        </p:nvSpPr>
        <p:spPr>
          <a:xfrm>
            <a:off x="4995671" y="4754880"/>
            <a:ext cx="1313078" cy="426720"/>
          </a:xfrm>
          <a:prstGeom prst="rect">
            <a:avLst/>
          </a:prstGeom>
        </p:spPr>
        <p:txBody>
          <a:bodyPr anchor="ctr"/>
          <a:lstStyle/>
          <a:p>
            <a:r>
              <a:rPr sz="950">
                <a:solidFill>
                  <a:srgbClr val="808080"/>
                </a:solidFill>
                <a:latin typeface="Segoe UI"/>
              </a:rPr>
              <a:t>no</a:t>
            </a:r>
          </a:p>
          <a:p>
            <a:endParaRPr sz="950">
              <a:solidFill>
                <a:srgbClr val="808080"/>
              </a:solidFill>
              <a:latin typeface="Segoe UI"/>
            </a:endParaRPr>
          </a:p>
        </p:txBody>
      </p:sp>
      <p:sp>
        <p:nvSpPr>
          <p:cNvPr id="36" name="TextBox"/>
          <p:cNvSpPr txBox="1"/>
          <p:nvPr/>
        </p:nvSpPr>
        <p:spPr>
          <a:xfrm>
            <a:off x="6327037" y="4754880"/>
            <a:ext cx="1313078" cy="426720"/>
          </a:xfrm>
          <a:prstGeom prst="rect">
            <a:avLst/>
          </a:prstGeom>
        </p:spPr>
        <p:txBody>
          <a:bodyPr anchor="ctr"/>
          <a:lstStyle/>
          <a:p>
            <a:r>
              <a:rPr sz="950">
                <a:solidFill>
                  <a:srgbClr val="808080"/>
                </a:solidFill>
                <a:latin typeface="Segoe UI"/>
              </a:rPr>
              <a:t>preview</a:t>
            </a:r>
          </a:p>
          <a:p>
            <a:endParaRPr sz="950">
              <a:solidFill>
                <a:srgbClr val="808080"/>
              </a:solidFill>
              <a:latin typeface="Segoe UI"/>
            </a:endParaRPr>
          </a:p>
        </p:txBody>
      </p:sp>
      <p:sp>
        <p:nvSpPr>
          <p:cNvPr id="37" name="TextBox"/>
          <p:cNvSpPr txBox="1"/>
          <p:nvPr/>
        </p:nvSpPr>
        <p:spPr>
          <a:xfrm>
            <a:off x="7658403" y="4754880"/>
            <a:ext cx="1313078" cy="426720"/>
          </a:xfrm>
          <a:prstGeom prst="rect">
            <a:avLst/>
          </a:prstGeom>
        </p:spPr>
        <p:txBody>
          <a:bodyPr anchor="ctr"/>
          <a:lstStyle/>
          <a:p>
            <a:r>
              <a:rPr sz="950">
                <a:solidFill>
                  <a:srgbClr val="808080"/>
                </a:solidFill>
                <a:latin typeface="Segoe UI"/>
              </a:rPr>
              <a:t>GA</a:t>
            </a:r>
          </a:p>
          <a:p>
            <a:endParaRPr sz="950">
              <a:solidFill>
                <a:srgbClr val="808080"/>
              </a:solidFill>
              <a:latin typeface="Segoe UI"/>
            </a:endParaRPr>
          </a:p>
        </p:txBody>
      </p:sp>
      <p:sp>
        <p:nvSpPr>
          <p:cNvPr id="38" name="TextBox"/>
          <p:cNvSpPr txBox="1"/>
          <p:nvPr/>
        </p:nvSpPr>
        <p:spPr>
          <a:xfrm>
            <a:off x="8989769" y="4754880"/>
            <a:ext cx="1313078" cy="426720"/>
          </a:xfrm>
          <a:prstGeom prst="rect">
            <a:avLst/>
          </a:prstGeom>
        </p:spPr>
        <p:txBody>
          <a:bodyPr anchor="ctr"/>
          <a:lstStyle/>
          <a:p>
            <a:r>
              <a:rPr sz="950">
                <a:solidFill>
                  <a:srgbClr val="808080"/>
                </a:solidFill>
                <a:latin typeface="Segoe UI"/>
              </a:rPr>
              <a:t>preview</a:t>
            </a:r>
          </a:p>
          <a:p>
            <a:endParaRPr sz="950">
              <a:solidFill>
                <a:srgbClr val="808080"/>
              </a:solidFill>
              <a:latin typeface="Segoe UI"/>
            </a:endParaRPr>
          </a:p>
        </p:txBody>
      </p:sp>
      <p:sp>
        <p:nvSpPr>
          <p:cNvPr id="39" name="TextBox"/>
          <p:cNvSpPr txBox="1"/>
          <p:nvPr/>
        </p:nvSpPr>
        <p:spPr>
          <a:xfrm>
            <a:off x="10321135" y="4754880"/>
            <a:ext cx="1313081" cy="426720"/>
          </a:xfrm>
          <a:prstGeom prst="rect">
            <a:avLst/>
          </a:prstGeom>
        </p:spPr>
        <p:txBody>
          <a:bodyPr anchor="ctr"/>
          <a:lstStyle/>
          <a:p>
            <a:r>
              <a:rPr sz="950">
                <a:solidFill>
                  <a:srgbClr val="808080"/>
                </a:solidFill>
                <a:latin typeface="Segoe UI"/>
              </a:rPr>
              <a:t>preview</a:t>
            </a:r>
          </a:p>
          <a:p>
            <a:endParaRPr sz="950">
              <a:solidFill>
                <a:srgbClr val="808080"/>
              </a:solidFill>
              <a:latin typeface="Segoe UI"/>
            </a:endParaRPr>
          </a:p>
        </p:txBody>
      </p:sp>
      <p:sp>
        <p:nvSpPr>
          <p:cNvPr id="40" name="Shape"/>
          <p:cNvSpPr/>
          <p:nvPr/>
        </p:nvSpPr>
        <p:spPr>
          <a:xfrm>
            <a:off x="548640" y="5102352"/>
            <a:ext cx="11094720" cy="457200"/>
          </a:xfrm>
          <a:prstGeom prst="rect">
            <a:avLst/>
          </a:prstGeom>
          <a:solidFill>
            <a:srgbClr val="F6F8FD"/>
          </a:solidFill>
          <a:ln w="9525">
            <a:solidFill>
              <a:srgbClr val="E1E7F4"/>
            </a:solidFill>
          </a:ln>
        </p:spPr>
        <p:txBody>
          <a:bodyPr/>
          <a:lstStyle/>
          <a:p>
            <a:endParaRPr/>
          </a:p>
        </p:txBody>
      </p:sp>
      <p:sp>
        <p:nvSpPr>
          <p:cNvPr id="41" name="TextBox"/>
          <p:cNvSpPr txBox="1"/>
          <p:nvPr/>
        </p:nvSpPr>
        <p:spPr>
          <a:xfrm>
            <a:off x="557784" y="5102352"/>
            <a:ext cx="1756867" cy="426720"/>
          </a:xfrm>
          <a:prstGeom prst="rect">
            <a:avLst/>
          </a:prstGeom>
        </p:spPr>
        <p:txBody>
          <a:bodyPr anchor="ctr"/>
          <a:lstStyle/>
          <a:p>
            <a:r>
              <a:rPr sz="950">
                <a:solidFill>
                  <a:srgbClr val="141B33"/>
                </a:solidFill>
                <a:latin typeface="Segoe UI"/>
              </a:rPr>
              <a:t>New experience</a:t>
            </a:r>
          </a:p>
          <a:p>
            <a:endParaRPr sz="950">
              <a:solidFill>
                <a:srgbClr val="141B33"/>
              </a:solidFill>
              <a:latin typeface="Segoe UI"/>
            </a:endParaRPr>
          </a:p>
        </p:txBody>
      </p:sp>
      <p:sp>
        <p:nvSpPr>
          <p:cNvPr id="42" name="TextBox"/>
          <p:cNvSpPr txBox="1"/>
          <p:nvPr/>
        </p:nvSpPr>
        <p:spPr>
          <a:xfrm>
            <a:off x="2332939" y="5102352"/>
            <a:ext cx="1313078" cy="426720"/>
          </a:xfrm>
          <a:prstGeom prst="rect">
            <a:avLst/>
          </a:prstGeom>
        </p:spPr>
        <p:txBody>
          <a:bodyPr anchor="ctr"/>
          <a:lstStyle/>
          <a:p>
            <a:r>
              <a:rPr sz="950">
                <a:solidFill>
                  <a:srgbClr val="141B33"/>
                </a:solidFill>
                <a:latin typeface="Segoe UI"/>
              </a:rPr>
              <a:t>GA</a:t>
            </a:r>
          </a:p>
          <a:p>
            <a:endParaRPr sz="950">
              <a:solidFill>
                <a:srgbClr val="141B33"/>
              </a:solidFill>
              <a:latin typeface="Segoe UI"/>
            </a:endParaRPr>
          </a:p>
        </p:txBody>
      </p:sp>
      <p:sp>
        <p:nvSpPr>
          <p:cNvPr id="43" name="TextBox"/>
          <p:cNvSpPr txBox="1"/>
          <p:nvPr/>
        </p:nvSpPr>
        <p:spPr>
          <a:xfrm>
            <a:off x="3664305" y="5102352"/>
            <a:ext cx="1313078" cy="426720"/>
          </a:xfrm>
          <a:prstGeom prst="rect">
            <a:avLst/>
          </a:prstGeom>
        </p:spPr>
        <p:txBody>
          <a:bodyPr anchor="ctr"/>
          <a:lstStyle/>
          <a:p>
            <a:r>
              <a:rPr sz="950">
                <a:solidFill>
                  <a:srgbClr val="141B33"/>
                </a:solidFill>
                <a:latin typeface="Segoe UI"/>
              </a:rPr>
              <a:t>GA</a:t>
            </a:r>
          </a:p>
          <a:p>
            <a:endParaRPr sz="950">
              <a:solidFill>
                <a:srgbClr val="141B33"/>
              </a:solidFill>
              <a:latin typeface="Segoe UI"/>
            </a:endParaRPr>
          </a:p>
        </p:txBody>
      </p:sp>
      <p:sp>
        <p:nvSpPr>
          <p:cNvPr id="44" name="TextBox"/>
          <p:cNvSpPr txBox="1"/>
          <p:nvPr/>
        </p:nvSpPr>
        <p:spPr>
          <a:xfrm>
            <a:off x="4995671" y="5102352"/>
            <a:ext cx="1313078" cy="426720"/>
          </a:xfrm>
          <a:prstGeom prst="rect">
            <a:avLst/>
          </a:prstGeom>
        </p:spPr>
        <p:txBody>
          <a:bodyPr anchor="ctr"/>
          <a:lstStyle/>
          <a:p>
            <a:r>
              <a:rPr sz="950">
                <a:solidFill>
                  <a:srgbClr val="141B33"/>
                </a:solidFill>
                <a:latin typeface="Segoe UI"/>
              </a:rPr>
              <a:t>Preview</a:t>
            </a:r>
          </a:p>
          <a:p>
            <a:endParaRPr sz="950">
              <a:solidFill>
                <a:srgbClr val="141B33"/>
              </a:solidFill>
              <a:latin typeface="Segoe UI"/>
            </a:endParaRPr>
          </a:p>
        </p:txBody>
      </p:sp>
      <p:sp>
        <p:nvSpPr>
          <p:cNvPr id="45" name="TextBox"/>
          <p:cNvSpPr txBox="1"/>
          <p:nvPr/>
        </p:nvSpPr>
        <p:spPr>
          <a:xfrm>
            <a:off x="6327037" y="5102352"/>
            <a:ext cx="1313078" cy="426720"/>
          </a:xfrm>
          <a:prstGeom prst="rect">
            <a:avLst/>
          </a:prstGeom>
        </p:spPr>
        <p:txBody>
          <a:bodyPr anchor="ctr"/>
          <a:lstStyle/>
          <a:p>
            <a:r>
              <a:rPr sz="950">
                <a:solidFill>
                  <a:srgbClr val="141B33"/>
                </a:solidFill>
                <a:latin typeface="Segoe UI"/>
              </a:rPr>
              <a:t>GA</a:t>
            </a:r>
          </a:p>
          <a:p>
            <a:endParaRPr sz="950">
              <a:solidFill>
                <a:srgbClr val="141B33"/>
              </a:solidFill>
              <a:latin typeface="Segoe UI"/>
            </a:endParaRPr>
          </a:p>
        </p:txBody>
      </p:sp>
      <p:sp>
        <p:nvSpPr>
          <p:cNvPr id="46" name="TextBox"/>
          <p:cNvSpPr txBox="1"/>
          <p:nvPr/>
        </p:nvSpPr>
        <p:spPr>
          <a:xfrm>
            <a:off x="7658403" y="5102352"/>
            <a:ext cx="1313078" cy="426720"/>
          </a:xfrm>
          <a:prstGeom prst="rect">
            <a:avLst/>
          </a:prstGeom>
        </p:spPr>
        <p:txBody>
          <a:bodyPr anchor="ctr"/>
          <a:lstStyle/>
          <a:p>
            <a:r>
              <a:rPr sz="950">
                <a:solidFill>
                  <a:srgbClr val="141B33"/>
                </a:solidFill>
                <a:latin typeface="Segoe UI"/>
              </a:rPr>
              <a:t>removed</a:t>
            </a:r>
          </a:p>
          <a:p>
            <a:endParaRPr sz="950">
              <a:solidFill>
                <a:srgbClr val="141B33"/>
              </a:solidFill>
              <a:latin typeface="Segoe UI"/>
            </a:endParaRPr>
          </a:p>
        </p:txBody>
      </p:sp>
      <p:sp>
        <p:nvSpPr>
          <p:cNvPr id="47" name="TextBox"/>
          <p:cNvSpPr txBox="1"/>
          <p:nvPr/>
        </p:nvSpPr>
        <p:spPr>
          <a:xfrm>
            <a:off x="8989769" y="5102352"/>
            <a:ext cx="1313078" cy="426720"/>
          </a:xfrm>
          <a:prstGeom prst="rect">
            <a:avLst/>
          </a:prstGeom>
        </p:spPr>
        <p:txBody>
          <a:bodyPr anchor="ctr"/>
          <a:lstStyle/>
          <a:p>
            <a:r>
              <a:rPr sz="950">
                <a:solidFill>
                  <a:srgbClr val="141B33"/>
                </a:solidFill>
                <a:latin typeface="Segoe UI"/>
              </a:rPr>
              <a:t>removed</a:t>
            </a:r>
          </a:p>
          <a:p>
            <a:r>
              <a:rPr sz="950">
                <a:solidFill>
                  <a:srgbClr val="141B33"/>
                </a:solidFill>
                <a:latin typeface="Segoe UI"/>
              </a:rPr>
              <a:t>use A2A</a:t>
            </a:r>
          </a:p>
        </p:txBody>
      </p:sp>
      <p:sp>
        <p:nvSpPr>
          <p:cNvPr id="48" name="TextBox"/>
          <p:cNvSpPr txBox="1"/>
          <p:nvPr/>
        </p:nvSpPr>
        <p:spPr>
          <a:xfrm>
            <a:off x="10321135" y="5102352"/>
            <a:ext cx="1313081" cy="426720"/>
          </a:xfrm>
          <a:prstGeom prst="rect">
            <a:avLst/>
          </a:prstGeom>
        </p:spPr>
        <p:txBody>
          <a:bodyPr anchor="ctr"/>
          <a:lstStyle/>
          <a:p>
            <a:r>
              <a:rPr sz="950">
                <a:solidFill>
                  <a:srgbClr val="141B33"/>
                </a:solidFill>
                <a:latin typeface="Segoe UI"/>
              </a:rPr>
              <a:t>removed</a:t>
            </a:r>
          </a:p>
          <a:p>
            <a:r>
              <a:rPr sz="950">
                <a:solidFill>
                  <a:srgbClr val="141B33"/>
                </a:solidFill>
                <a:latin typeface="Segoe UI"/>
              </a:rPr>
              <a:t>model + web</a:t>
            </a:r>
          </a:p>
        </p:txBody>
      </p:sp>
      <p:sp>
        <p:nvSpPr>
          <p:cNvPr id="49" name="Shape"/>
          <p:cNvSpPr/>
          <p:nvPr/>
        </p:nvSpPr>
        <p:spPr>
          <a:xfrm>
            <a:off x="548640" y="5687568"/>
            <a:ext cx="11094720" cy="9525"/>
          </a:xfrm>
          <a:prstGeom prst="rect">
            <a:avLst/>
          </a:prstGeom>
          <a:solidFill>
            <a:srgbClr val="E1E7F4"/>
          </a:solidFill>
        </p:spPr>
        <p:txBody>
          <a:bodyPr/>
          <a:lstStyle/>
          <a:p>
            <a:endParaRPr/>
          </a:p>
        </p:txBody>
      </p:sp>
      <p:sp>
        <p:nvSpPr>
          <p:cNvPr id="5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learn.microsoft.com/azure/foundry/agents/concepts/hosted-agents</a:t>
            </a:r>
          </a:p>
          <a:p>
            <a:endParaRPr sz="900">
              <a:solidFill>
                <a:srgbClr val="44495B"/>
              </a:solidFill>
              <a:latin typeface="Segoe UI"/>
            </a:endParaRPr>
          </a:p>
        </p:txBody>
      </p:sp>
      <p:sp>
        <p:nvSpPr>
          <p:cNvPr id="5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17</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Publishing a hosted agent to Teams and Microsoft 365</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What is generally available today, and how a private-networked agent reaches Microsoft 365 channels.</a:t>
            </a:r>
          </a:p>
          <a:p>
            <a:endParaRPr sz="1200">
              <a:solidFill>
                <a:srgbClr val="44495B"/>
              </a:solidFill>
              <a:latin typeface="Segoe UI"/>
            </a:endParaRPr>
          </a:p>
        </p:txBody>
      </p:sp>
      <p:sp>
        <p:nvSpPr>
          <p:cNvPr id="5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 — concepts/hosted-agents · how-to/publish-copilot-virtual-network</a:t>
            </a:r>
          </a:p>
          <a:p>
            <a:endParaRPr sz="900">
              <a:solidFill>
                <a:srgbClr val="44495B"/>
              </a:solidFill>
              <a:latin typeface="Segoe UI"/>
            </a:endParaRPr>
          </a:p>
        </p:txBody>
      </p:sp>
      <p:sp>
        <p:nvSpPr>
          <p:cNvPr id="5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18</a:t>
            </a:r>
          </a:p>
        </p:txBody>
      </p:sp>
      <p:sp>
        <p:nvSpPr>
          <p:cNvPr id="52" name="TextBox 51"/>
          <p:cNvSpPr txBox="1"/>
          <p:nvPr/>
        </p:nvSpPr>
        <p:spPr>
          <a:xfrm>
            <a:off x="457200" y="1243584"/>
            <a:ext cx="54864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H O S T E D   A G E N T   C A P A B I L I T I E S</a:t>
            </a:r>
          </a:p>
        </p:txBody>
      </p:sp>
      <p:sp>
        <p:nvSpPr>
          <p:cNvPr id="53" name="Rectangle 52"/>
          <p:cNvSpPr/>
          <p:nvPr/>
        </p:nvSpPr>
        <p:spPr>
          <a:xfrm>
            <a:off x="548640" y="1481328"/>
            <a:ext cx="5230368" cy="292608"/>
          </a:xfrm>
          <a:prstGeom prst="rect">
            <a:avLst/>
          </a:prstGeom>
          <a:solidFill>
            <a:srgbClr val="101A3C"/>
          </a:solidFill>
          <a:ln>
            <a:noFill/>
          </a:ln>
          <a:effectLst/>
        </p:spPr>
        <p:txBody>
          <a:bodyPr wrap="square" rtlCol="0" anchor="ctr"/>
          <a:lstStyle/>
          <a:p>
            <a:pPr algn="ctr"/>
            <a:endParaRPr/>
          </a:p>
        </p:txBody>
      </p:sp>
      <p:sp>
        <p:nvSpPr>
          <p:cNvPr id="54" name="TextBox 53"/>
          <p:cNvSpPr txBox="1"/>
          <p:nvPr/>
        </p:nvSpPr>
        <p:spPr>
          <a:xfrm>
            <a:off x="676656" y="1549908"/>
            <a:ext cx="3566160"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Capability</a:t>
            </a:r>
          </a:p>
        </p:txBody>
      </p:sp>
      <p:sp>
        <p:nvSpPr>
          <p:cNvPr id="55" name="TextBox 54"/>
          <p:cNvSpPr txBox="1"/>
          <p:nvPr/>
        </p:nvSpPr>
        <p:spPr>
          <a:xfrm>
            <a:off x="4773168" y="1549908"/>
            <a:ext cx="914400"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Status</a:t>
            </a:r>
          </a:p>
        </p:txBody>
      </p:sp>
      <p:sp>
        <p:nvSpPr>
          <p:cNvPr id="56" name="Rectangle 55"/>
          <p:cNvSpPr/>
          <p:nvPr/>
        </p:nvSpPr>
        <p:spPr>
          <a:xfrm>
            <a:off x="548640" y="1773936"/>
            <a:ext cx="5230368" cy="306324"/>
          </a:xfrm>
          <a:prstGeom prst="rect">
            <a:avLst/>
          </a:prstGeom>
          <a:solidFill>
            <a:srgbClr val="F6F8FD"/>
          </a:solidFill>
          <a:ln>
            <a:noFill/>
          </a:ln>
          <a:effectLst/>
        </p:spPr>
        <p:txBody>
          <a:bodyPr wrap="square" rtlCol="0" anchor="ctr"/>
          <a:lstStyle/>
          <a:p>
            <a:pPr algn="ctr"/>
            <a:endParaRPr/>
          </a:p>
        </p:txBody>
      </p:sp>
      <p:sp>
        <p:nvSpPr>
          <p:cNvPr id="57" name="TextBox 56"/>
          <p:cNvSpPr txBox="1"/>
          <p:nvPr/>
        </p:nvSpPr>
        <p:spPr>
          <a:xfrm>
            <a:off x="676656" y="1773936"/>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Managed container runtime · per-session isolated sandbox</a:t>
            </a:r>
          </a:p>
        </p:txBody>
      </p:sp>
      <p:sp>
        <p:nvSpPr>
          <p:cNvPr id="58" name="TextBox 57"/>
          <p:cNvSpPr txBox="1"/>
          <p:nvPr/>
        </p:nvSpPr>
        <p:spPr>
          <a:xfrm>
            <a:off x="4773168" y="1773936"/>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59" name="Connector 58"/>
          <p:cNvCxnSpPr/>
          <p:nvPr/>
        </p:nvCxnSpPr>
        <p:spPr>
          <a:xfrm>
            <a:off x="548640" y="2080260"/>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0" name="TextBox 59"/>
          <p:cNvSpPr txBox="1"/>
          <p:nvPr/>
        </p:nvSpPr>
        <p:spPr>
          <a:xfrm>
            <a:off x="676656" y="2080260"/>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Responses · Invocations · Invocations over WebSocket</a:t>
            </a:r>
          </a:p>
        </p:txBody>
      </p:sp>
      <p:sp>
        <p:nvSpPr>
          <p:cNvPr id="61" name="TextBox 60"/>
          <p:cNvSpPr txBox="1"/>
          <p:nvPr/>
        </p:nvSpPr>
        <p:spPr>
          <a:xfrm>
            <a:off x="4773168" y="2080260"/>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62" name="Connector 61"/>
          <p:cNvCxnSpPr/>
          <p:nvPr/>
        </p:nvCxnSpPr>
        <p:spPr>
          <a:xfrm>
            <a:off x="548640" y="2386584"/>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3" name="Rectangle 62"/>
          <p:cNvSpPr/>
          <p:nvPr/>
        </p:nvSpPr>
        <p:spPr>
          <a:xfrm>
            <a:off x="548640" y="2386584"/>
            <a:ext cx="5230368" cy="306324"/>
          </a:xfrm>
          <a:prstGeom prst="rect">
            <a:avLst/>
          </a:prstGeom>
          <a:solidFill>
            <a:srgbClr val="F6F8FD"/>
          </a:solidFill>
          <a:ln>
            <a:noFill/>
          </a:ln>
          <a:effectLst/>
        </p:spPr>
        <p:txBody>
          <a:bodyPr wrap="square" rtlCol="0" anchor="ctr"/>
          <a:lstStyle/>
          <a:p>
            <a:pPr algn="ctr"/>
            <a:endParaRPr/>
          </a:p>
        </p:txBody>
      </p:sp>
      <p:sp>
        <p:nvSpPr>
          <p:cNvPr id="64" name="TextBox 63"/>
          <p:cNvSpPr txBox="1"/>
          <p:nvPr/>
        </p:nvSpPr>
        <p:spPr>
          <a:xfrm>
            <a:off x="676656" y="2386584"/>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Activity protocol for Teams and Microsoft 365</a:t>
            </a:r>
          </a:p>
        </p:txBody>
      </p:sp>
      <p:sp>
        <p:nvSpPr>
          <p:cNvPr id="65" name="TextBox 64"/>
          <p:cNvSpPr txBox="1"/>
          <p:nvPr/>
        </p:nvSpPr>
        <p:spPr>
          <a:xfrm>
            <a:off x="4773168" y="2386584"/>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66" name="Connector 65"/>
          <p:cNvCxnSpPr/>
          <p:nvPr/>
        </p:nvCxnSpPr>
        <p:spPr>
          <a:xfrm>
            <a:off x="548640" y="2692908"/>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67" name="TextBox 66"/>
          <p:cNvSpPr txBox="1"/>
          <p:nvPr/>
        </p:nvSpPr>
        <p:spPr>
          <a:xfrm>
            <a:off x="676656" y="2692908"/>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Agent-to-agent (A2A) v1.0 — v0.3 remains preview</a:t>
            </a:r>
          </a:p>
        </p:txBody>
      </p:sp>
      <p:sp>
        <p:nvSpPr>
          <p:cNvPr id="68" name="TextBox 67"/>
          <p:cNvSpPr txBox="1"/>
          <p:nvPr/>
        </p:nvSpPr>
        <p:spPr>
          <a:xfrm>
            <a:off x="4773168" y="2692908"/>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69" name="Connector 68"/>
          <p:cNvCxnSpPr/>
          <p:nvPr/>
        </p:nvCxnSpPr>
        <p:spPr>
          <a:xfrm>
            <a:off x="548640" y="2999232"/>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0" name="Rectangle 69"/>
          <p:cNvSpPr/>
          <p:nvPr/>
        </p:nvSpPr>
        <p:spPr>
          <a:xfrm>
            <a:off x="548640" y="2999232"/>
            <a:ext cx="5230368" cy="306324"/>
          </a:xfrm>
          <a:prstGeom prst="rect">
            <a:avLst/>
          </a:prstGeom>
          <a:solidFill>
            <a:srgbClr val="F6F8FD"/>
          </a:solidFill>
          <a:ln>
            <a:noFill/>
          </a:ln>
          <a:effectLst/>
        </p:spPr>
        <p:txBody>
          <a:bodyPr wrap="square" rtlCol="0" anchor="ctr"/>
          <a:lstStyle/>
          <a:p>
            <a:pPr algn="ctr"/>
            <a:endParaRPr/>
          </a:p>
        </p:txBody>
      </p:sp>
      <p:sp>
        <p:nvSpPr>
          <p:cNvPr id="71" name="TextBox 70"/>
          <p:cNvSpPr txBox="1"/>
          <p:nvPr/>
        </p:nvSpPr>
        <p:spPr>
          <a:xfrm>
            <a:off x="676656" y="2999232"/>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Sessions, conversations and durable state store</a:t>
            </a:r>
          </a:p>
        </p:txBody>
      </p:sp>
      <p:sp>
        <p:nvSpPr>
          <p:cNvPr id="72" name="TextBox 71"/>
          <p:cNvSpPr txBox="1"/>
          <p:nvPr/>
        </p:nvSpPr>
        <p:spPr>
          <a:xfrm>
            <a:off x="4773168" y="2999232"/>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73" name="Connector 72"/>
          <p:cNvCxnSpPr/>
          <p:nvPr/>
        </p:nvCxnSpPr>
        <p:spPr>
          <a:xfrm>
            <a:off x="548640" y="3305556"/>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4" name="TextBox 73"/>
          <p:cNvSpPr txBox="1"/>
          <p:nvPr/>
        </p:nvSpPr>
        <p:spPr>
          <a:xfrm>
            <a:off x="676656" y="3305556"/>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Private networking and customer-provided virtual network</a:t>
            </a:r>
          </a:p>
        </p:txBody>
      </p:sp>
      <p:sp>
        <p:nvSpPr>
          <p:cNvPr id="75" name="TextBox 74"/>
          <p:cNvSpPr txBox="1"/>
          <p:nvPr/>
        </p:nvSpPr>
        <p:spPr>
          <a:xfrm>
            <a:off x="4773168" y="3305556"/>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76" name="Connector 75"/>
          <p:cNvCxnSpPr/>
          <p:nvPr/>
        </p:nvCxnSpPr>
        <p:spPr>
          <a:xfrm>
            <a:off x="548640" y="3611880"/>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77" name="Rectangle 76"/>
          <p:cNvSpPr/>
          <p:nvPr/>
        </p:nvSpPr>
        <p:spPr>
          <a:xfrm>
            <a:off x="548640" y="3611880"/>
            <a:ext cx="5230368" cy="306324"/>
          </a:xfrm>
          <a:prstGeom prst="rect">
            <a:avLst/>
          </a:prstGeom>
          <a:solidFill>
            <a:srgbClr val="F6F8FD"/>
          </a:solidFill>
          <a:ln>
            <a:noFill/>
          </a:ln>
          <a:effectLst/>
        </p:spPr>
        <p:txBody>
          <a:bodyPr wrap="square" rtlCol="0" anchor="ctr"/>
          <a:lstStyle/>
          <a:p>
            <a:pPr algn="ctr"/>
            <a:endParaRPr/>
          </a:p>
        </p:txBody>
      </p:sp>
      <p:sp>
        <p:nvSpPr>
          <p:cNvPr id="78" name="TextBox 77"/>
          <p:cNvSpPr txBox="1"/>
          <p:nvPr/>
        </p:nvSpPr>
        <p:spPr>
          <a:xfrm>
            <a:off x="676656" y="3611880"/>
            <a:ext cx="4059936" cy="306324"/>
          </a:xfrm>
          <a:prstGeom prst="rect">
            <a:avLst/>
          </a:prstGeom>
          <a:noFill/>
        </p:spPr>
        <p:txBody>
          <a:bodyPr wrap="square" lIns="0" tIns="0" rIns="0" bIns="0" anchor="ctr">
            <a:spAutoFit/>
          </a:bodyPr>
          <a:lstStyle/>
          <a:p>
            <a:pPr algn="l">
              <a:lnSpc>
                <a:spcPct val="106000"/>
              </a:lnSpc>
            </a:pPr>
            <a:r>
              <a:rPr sz="800" b="0" i="0">
                <a:solidFill>
                  <a:srgbClr val="101A3C"/>
                </a:solidFill>
                <a:latin typeface="Segoe UI"/>
                <a:cs typeface="Segoe UI"/>
              </a:rPr>
              <a:t>Network-secured Azure Container Registry for the image</a:t>
            </a:r>
          </a:p>
        </p:txBody>
      </p:sp>
      <p:sp>
        <p:nvSpPr>
          <p:cNvPr id="79" name="TextBox 78"/>
          <p:cNvSpPr txBox="1"/>
          <p:nvPr/>
        </p:nvSpPr>
        <p:spPr>
          <a:xfrm>
            <a:off x="4773168" y="3611880"/>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GA</a:t>
            </a:r>
          </a:p>
        </p:txBody>
      </p:sp>
      <p:cxnSp>
        <p:nvCxnSpPr>
          <p:cNvPr id="80" name="Connector 79"/>
          <p:cNvCxnSpPr/>
          <p:nvPr/>
        </p:nvCxnSpPr>
        <p:spPr>
          <a:xfrm>
            <a:off x="548640" y="3918204"/>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1" name="TextBox 80"/>
          <p:cNvSpPr txBox="1"/>
          <p:nvPr/>
        </p:nvSpPr>
        <p:spPr>
          <a:xfrm>
            <a:off x="676656" y="3918204"/>
            <a:ext cx="4059936" cy="306324"/>
          </a:xfrm>
          <a:prstGeom prst="rect">
            <a:avLst/>
          </a:prstGeom>
          <a:noFill/>
        </p:spPr>
        <p:txBody>
          <a:bodyPr wrap="square" lIns="0" tIns="0" rIns="0" bIns="0" anchor="ctr">
            <a:spAutoFit/>
          </a:bodyPr>
          <a:lstStyle/>
          <a:p>
            <a:pPr algn="l">
              <a:lnSpc>
                <a:spcPct val="106000"/>
              </a:lnSpc>
            </a:pPr>
            <a:r>
              <a:rPr sz="800" b="0" i="0">
                <a:solidFill>
                  <a:srgbClr val="44495B"/>
                </a:solidFill>
                <a:latin typeface="Segoe UI"/>
                <a:cs typeface="Segoe UI"/>
              </a:rPr>
              <a:t>Resilient execution for long-running work</a:t>
            </a:r>
          </a:p>
        </p:txBody>
      </p:sp>
      <p:sp>
        <p:nvSpPr>
          <p:cNvPr id="82" name="TextBox 81"/>
          <p:cNvSpPr txBox="1"/>
          <p:nvPr/>
        </p:nvSpPr>
        <p:spPr>
          <a:xfrm>
            <a:off x="4773168" y="3918204"/>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Preview</a:t>
            </a:r>
          </a:p>
        </p:txBody>
      </p:sp>
      <p:cxnSp>
        <p:nvCxnSpPr>
          <p:cNvPr id="83" name="Connector 82"/>
          <p:cNvCxnSpPr/>
          <p:nvPr/>
        </p:nvCxnSpPr>
        <p:spPr>
          <a:xfrm>
            <a:off x="548640" y="4224528"/>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4" name="Rectangle 83"/>
          <p:cNvSpPr/>
          <p:nvPr/>
        </p:nvSpPr>
        <p:spPr>
          <a:xfrm>
            <a:off x="548640" y="4224528"/>
            <a:ext cx="5230368" cy="306324"/>
          </a:xfrm>
          <a:prstGeom prst="rect">
            <a:avLst/>
          </a:prstGeom>
          <a:solidFill>
            <a:srgbClr val="F6F8FD"/>
          </a:solidFill>
          <a:ln>
            <a:noFill/>
          </a:ln>
          <a:effectLst/>
        </p:spPr>
        <p:txBody>
          <a:bodyPr wrap="square" rtlCol="0" anchor="ctr"/>
          <a:lstStyle/>
          <a:p>
            <a:pPr algn="ctr"/>
            <a:endParaRPr/>
          </a:p>
        </p:txBody>
      </p:sp>
      <p:sp>
        <p:nvSpPr>
          <p:cNvPr id="85" name="TextBox 84"/>
          <p:cNvSpPr txBox="1"/>
          <p:nvPr/>
        </p:nvSpPr>
        <p:spPr>
          <a:xfrm>
            <a:off x="676656" y="4224528"/>
            <a:ext cx="4059936" cy="306324"/>
          </a:xfrm>
          <a:prstGeom prst="rect">
            <a:avLst/>
          </a:prstGeom>
          <a:noFill/>
        </p:spPr>
        <p:txBody>
          <a:bodyPr wrap="square" lIns="0" tIns="0" rIns="0" bIns="0" anchor="ctr">
            <a:spAutoFit/>
          </a:bodyPr>
          <a:lstStyle/>
          <a:p>
            <a:pPr algn="l">
              <a:lnSpc>
                <a:spcPct val="106000"/>
              </a:lnSpc>
            </a:pPr>
            <a:r>
              <a:rPr sz="800" b="0" i="0">
                <a:solidFill>
                  <a:srgbClr val="44495B"/>
                </a:solidFill>
                <a:latin typeface="Segoe UI"/>
                <a:cs typeface="Segoe UI"/>
              </a:rPr>
              <a:t>Agent Optimizer</a:t>
            </a:r>
          </a:p>
        </p:txBody>
      </p:sp>
      <p:sp>
        <p:nvSpPr>
          <p:cNvPr id="86" name="TextBox 85"/>
          <p:cNvSpPr txBox="1"/>
          <p:nvPr/>
        </p:nvSpPr>
        <p:spPr>
          <a:xfrm>
            <a:off x="4773168" y="4224528"/>
            <a:ext cx="914400" cy="306324"/>
          </a:xfrm>
          <a:prstGeom prst="rect">
            <a:avLst/>
          </a:prstGeom>
          <a:noFill/>
        </p:spPr>
        <p:txBody>
          <a:bodyPr wrap="square" lIns="0" tIns="0" rIns="0" bIns="0" anchor="ctr">
            <a:spAutoFit/>
          </a:bodyPr>
          <a:lstStyle/>
          <a:p>
            <a:pPr algn="l">
              <a:lnSpc>
                <a:spcPct val="112000"/>
              </a:lnSpc>
            </a:pPr>
            <a:r>
              <a:rPr sz="800" b="0" i="0">
                <a:solidFill>
                  <a:srgbClr val="44495B"/>
                </a:solidFill>
                <a:latin typeface="Segoe UI"/>
                <a:cs typeface="Segoe UI"/>
              </a:rPr>
              <a:t>Preview</a:t>
            </a:r>
          </a:p>
        </p:txBody>
      </p:sp>
      <p:cxnSp>
        <p:nvCxnSpPr>
          <p:cNvPr id="87" name="Connector 86"/>
          <p:cNvCxnSpPr/>
          <p:nvPr/>
        </p:nvCxnSpPr>
        <p:spPr>
          <a:xfrm>
            <a:off x="548640" y="4530852"/>
            <a:ext cx="5230367"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8" name="Rectangle 87"/>
          <p:cNvSpPr/>
          <p:nvPr/>
        </p:nvSpPr>
        <p:spPr>
          <a:xfrm>
            <a:off x="548640" y="4663440"/>
            <a:ext cx="5230368" cy="896112"/>
          </a:xfrm>
          <a:prstGeom prst="rect">
            <a:avLst/>
          </a:prstGeom>
          <a:solidFill>
            <a:srgbClr val="EBEFF7"/>
          </a:solidFill>
          <a:ln>
            <a:noFill/>
          </a:ln>
          <a:effectLst/>
        </p:spPr>
        <p:txBody>
          <a:bodyPr wrap="square" rtlCol="0" anchor="ctr"/>
          <a:lstStyle/>
          <a:p>
            <a:pPr algn="ctr"/>
            <a:endParaRPr/>
          </a:p>
        </p:txBody>
      </p:sp>
      <p:sp>
        <p:nvSpPr>
          <p:cNvPr id="89" name="Rectangle 88"/>
          <p:cNvSpPr/>
          <p:nvPr/>
        </p:nvSpPr>
        <p:spPr>
          <a:xfrm>
            <a:off x="548640" y="4663440"/>
            <a:ext cx="41148" cy="896112"/>
          </a:xfrm>
          <a:prstGeom prst="rect">
            <a:avLst/>
          </a:prstGeom>
          <a:solidFill>
            <a:srgbClr val="00B39F"/>
          </a:solidFill>
          <a:ln>
            <a:noFill/>
          </a:ln>
          <a:effectLst/>
        </p:spPr>
        <p:txBody>
          <a:bodyPr wrap="square" rtlCol="0" anchor="ctr"/>
          <a:lstStyle/>
          <a:p>
            <a:pPr algn="ctr"/>
            <a:endParaRPr/>
          </a:p>
        </p:txBody>
      </p:sp>
      <p:sp>
        <p:nvSpPr>
          <p:cNvPr id="90" name="TextBox 89"/>
          <p:cNvSpPr txBox="1"/>
          <p:nvPr/>
        </p:nvSpPr>
        <p:spPr>
          <a:xfrm>
            <a:off x="786384" y="4773168"/>
            <a:ext cx="4809744" cy="694944"/>
          </a:xfrm>
          <a:prstGeom prst="rect">
            <a:avLst/>
          </a:prstGeom>
          <a:noFill/>
        </p:spPr>
        <p:txBody>
          <a:bodyPr wrap="square" lIns="0" tIns="0" rIns="0" bIns="0" anchor="t">
            <a:spAutoFit/>
          </a:bodyPr>
          <a:lstStyle/>
          <a:p>
            <a:pPr algn="l">
              <a:lnSpc>
                <a:spcPct val="120000"/>
              </a:lnSpc>
            </a:pPr>
            <a:r>
              <a:rPr sz="850" b="0" i="0">
                <a:solidFill>
                  <a:srgbClr val="101A3C"/>
                </a:solidFill>
                <a:latin typeface="Segoe UI"/>
                <a:cs typeface="Segoe UI"/>
              </a:rPr>
              <a:t>Every hosted agent gets its own Microsoft Entra agent identity and a stable endpoint at deploy time — publishing is a separate, optional step. Sandbox compute follows the session, not the request: it is released after the idle timeout and the session’s $HOME and files are restored when it resumes.</a:t>
            </a:r>
          </a:p>
        </p:txBody>
      </p:sp>
      <p:sp>
        <p:nvSpPr>
          <p:cNvPr id="91" name="TextBox 90"/>
          <p:cNvSpPr txBox="1"/>
          <p:nvPr/>
        </p:nvSpPr>
        <p:spPr>
          <a:xfrm>
            <a:off x="6217920" y="1243584"/>
            <a:ext cx="54864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R E A C H I N G   M I C R O S O F T   3 6 5   F R O M   A   P R I V A T E   N E T W O R K</a:t>
            </a:r>
          </a:p>
        </p:txBody>
      </p:sp>
      <p:sp>
        <p:nvSpPr>
          <p:cNvPr id="92" name="Rectangle 91"/>
          <p:cNvSpPr/>
          <p:nvPr/>
        </p:nvSpPr>
        <p:spPr>
          <a:xfrm>
            <a:off x="6309360" y="1481328"/>
            <a:ext cx="5330952" cy="402336"/>
          </a:xfrm>
          <a:prstGeom prst="rect">
            <a:avLst/>
          </a:prstGeom>
          <a:solidFill>
            <a:srgbClr val="EBEFF7"/>
          </a:solidFill>
          <a:ln w="9525">
            <a:solidFill>
              <a:srgbClr val="E1E7F4"/>
            </a:solidFill>
          </a:ln>
          <a:effectLst/>
        </p:spPr>
        <p:txBody>
          <a:bodyPr wrap="square" lIns="73152" tIns="18288" rIns="73152" bIns="18288" rtlCol="0" anchor="ctr"/>
          <a:lstStyle/>
          <a:p>
            <a:pPr algn="ctr">
              <a:lnSpc>
                <a:spcPct val="116000"/>
              </a:lnSpc>
            </a:pPr>
            <a:r>
              <a:rPr sz="950" b="1">
                <a:solidFill>
                  <a:srgbClr val="101A3C"/>
                </a:solidFill>
                <a:latin typeface="Segoe UI"/>
                <a:cs typeface="Segoe UI"/>
              </a:rPr>
              <a:t>Microsoft 365 Copilot and Microsoft Teams</a:t>
            </a:r>
          </a:p>
        </p:txBody>
      </p:sp>
      <p:cxnSp>
        <p:nvCxnSpPr>
          <p:cNvPr id="93" name="Connector 92"/>
          <p:cNvCxnSpPr/>
          <p:nvPr/>
        </p:nvCxnSpPr>
        <p:spPr>
          <a:xfrm>
            <a:off x="8974836" y="1883664"/>
            <a:ext cx="0" cy="36576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4" name="Oval 93"/>
          <p:cNvSpPr/>
          <p:nvPr/>
        </p:nvSpPr>
        <p:spPr>
          <a:xfrm>
            <a:off x="8874252" y="1965960"/>
            <a:ext cx="201168" cy="201168"/>
          </a:xfrm>
          <a:prstGeom prst="ellipse">
            <a:avLst/>
          </a:prstGeom>
          <a:solidFill>
            <a:srgbClr val="00B39F"/>
          </a:solidFill>
          <a:ln w="15875">
            <a:solidFill>
              <a:srgbClr val="FFFFFF"/>
            </a:solidFill>
          </a:ln>
          <a:effectLst/>
        </p:spPr>
        <p:txBody>
          <a:bodyPr lIns="0" tIns="18288" rIns="0" bIns="18288" rtlCol="0" anchor="ctr"/>
          <a:lstStyle/>
          <a:p>
            <a:pPr algn="ctr">
              <a:lnSpc>
                <a:spcPct val="116000"/>
              </a:lnSpc>
            </a:pPr>
            <a:r>
              <a:rPr sz="800" b="1">
                <a:solidFill>
                  <a:srgbClr val="FFFFFF"/>
                </a:solidFill>
                <a:latin typeface="Segoe UI"/>
                <a:cs typeface="Segoe UI"/>
              </a:rPr>
              <a:t>1</a:t>
            </a:r>
          </a:p>
        </p:txBody>
      </p:sp>
      <p:sp>
        <p:nvSpPr>
          <p:cNvPr id="95" name="TextBox 94"/>
          <p:cNvSpPr txBox="1"/>
          <p:nvPr/>
        </p:nvSpPr>
        <p:spPr>
          <a:xfrm>
            <a:off x="9157716" y="1956816"/>
            <a:ext cx="3108960" cy="219456"/>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activity sent over the public internet</a:t>
            </a:r>
          </a:p>
        </p:txBody>
      </p:sp>
      <p:sp>
        <p:nvSpPr>
          <p:cNvPr id="96" name="Rectangle 95"/>
          <p:cNvSpPr/>
          <p:nvPr/>
        </p:nvSpPr>
        <p:spPr>
          <a:xfrm>
            <a:off x="6309360" y="2249424"/>
            <a:ext cx="5330952" cy="566928"/>
          </a:xfrm>
          <a:prstGeom prst="rect">
            <a:avLst/>
          </a:prstGeom>
          <a:solidFill>
            <a:srgbClr val="0B1229"/>
          </a:solidFill>
          <a:ln>
            <a:noFill/>
          </a:ln>
          <a:effectLst/>
        </p:spPr>
        <p:txBody>
          <a:bodyPr wrap="square" lIns="73152" tIns="18288" rIns="73152" bIns="18288" rtlCol="0" anchor="ctr"/>
          <a:lstStyle/>
          <a:p>
            <a:pPr algn="ctr">
              <a:lnSpc>
                <a:spcPct val="124000"/>
              </a:lnSpc>
            </a:pPr>
            <a:r>
              <a:rPr sz="900" b="1">
                <a:solidFill>
                  <a:srgbClr val="FFFFFF"/>
                </a:solidFill>
                <a:latin typeface="Segoe UI"/>
                <a:cs typeface="Segoe UI"/>
              </a:rPr>
              <a:t>Activity Protocol route — source-IP filtered public service endpoint</a:t>
            </a:r>
          </a:p>
          <a:p>
            <a:pPr algn="ctr">
              <a:lnSpc>
                <a:spcPct val="124000"/>
              </a:lnSpc>
            </a:pPr>
            <a:r>
              <a:rPr sz="750" b="0">
                <a:solidFill>
                  <a:srgbClr val="B9C2D6"/>
                </a:solidFill>
                <a:latin typeface="Segoe UI"/>
                <a:cs typeface="Segoe UI"/>
              </a:rPr>
              <a:t>Foundry terminates TLS, maintains the Bot Service and Microsoft 365 source ranges, and fails closed</a:t>
            </a:r>
          </a:p>
        </p:txBody>
      </p:sp>
      <p:cxnSp>
        <p:nvCxnSpPr>
          <p:cNvPr id="97" name="Connector 96"/>
          <p:cNvCxnSpPr/>
          <p:nvPr/>
        </p:nvCxnSpPr>
        <p:spPr>
          <a:xfrm>
            <a:off x="8974836" y="2816352"/>
            <a:ext cx="0" cy="36576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98" name="Oval 97"/>
          <p:cNvSpPr/>
          <p:nvPr/>
        </p:nvSpPr>
        <p:spPr>
          <a:xfrm>
            <a:off x="8874252" y="2898648"/>
            <a:ext cx="201168" cy="201168"/>
          </a:xfrm>
          <a:prstGeom prst="ellipse">
            <a:avLst/>
          </a:prstGeom>
          <a:solidFill>
            <a:srgbClr val="00B39F"/>
          </a:solidFill>
          <a:ln w="15875">
            <a:solidFill>
              <a:srgbClr val="FFFFFF"/>
            </a:solidFill>
          </a:ln>
          <a:effectLst/>
        </p:spPr>
        <p:txBody>
          <a:bodyPr lIns="0" tIns="18288" rIns="0" bIns="18288" rtlCol="0" anchor="ctr"/>
          <a:lstStyle/>
          <a:p>
            <a:pPr algn="ctr">
              <a:lnSpc>
                <a:spcPct val="116000"/>
              </a:lnSpc>
            </a:pPr>
            <a:r>
              <a:rPr sz="800" b="1">
                <a:solidFill>
                  <a:srgbClr val="FFFFFF"/>
                </a:solidFill>
                <a:latin typeface="Segoe UI"/>
                <a:cs typeface="Segoe UI"/>
              </a:rPr>
              <a:t>2</a:t>
            </a:r>
          </a:p>
        </p:txBody>
      </p:sp>
      <p:sp>
        <p:nvSpPr>
          <p:cNvPr id="99" name="TextBox 98"/>
          <p:cNvSpPr txBox="1"/>
          <p:nvPr/>
        </p:nvSpPr>
        <p:spPr>
          <a:xfrm>
            <a:off x="9157716" y="2889504"/>
            <a:ext cx="3108960" cy="219456"/>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Bot Service or Entra authorization applied</a:t>
            </a:r>
          </a:p>
        </p:txBody>
      </p:sp>
      <p:sp>
        <p:nvSpPr>
          <p:cNvPr id="100" name="Rectangle 99"/>
          <p:cNvSpPr/>
          <p:nvPr/>
        </p:nvSpPr>
        <p:spPr>
          <a:xfrm>
            <a:off x="6309360" y="3182112"/>
            <a:ext cx="5330952" cy="1152144"/>
          </a:xfrm>
          <a:prstGeom prst="rect">
            <a:avLst/>
          </a:prstGeom>
          <a:noFill/>
          <a:ln w="9525">
            <a:solidFill>
              <a:srgbClr val="44495B"/>
            </a:solidFill>
            <a:prstDash val="dash"/>
          </a:ln>
          <a:effectLst/>
        </p:spPr>
        <p:txBody>
          <a:bodyPr wrap="square" rtlCol="0" anchor="ctr"/>
          <a:lstStyle/>
          <a:p>
            <a:pPr algn="ctr"/>
            <a:endParaRPr/>
          </a:p>
        </p:txBody>
      </p:sp>
      <p:sp>
        <p:nvSpPr>
          <p:cNvPr id="101" name="TextBox 100"/>
          <p:cNvSpPr txBox="1"/>
          <p:nvPr/>
        </p:nvSpPr>
        <p:spPr>
          <a:xfrm>
            <a:off x="6437376" y="3246120"/>
            <a:ext cx="4572000" cy="164592"/>
          </a:xfrm>
          <a:prstGeom prst="rect">
            <a:avLst/>
          </a:prstGeom>
          <a:noFill/>
        </p:spPr>
        <p:txBody>
          <a:bodyPr wrap="square" lIns="0" tIns="0" rIns="0" bIns="0" anchor="t">
            <a:spAutoFit/>
          </a:bodyPr>
          <a:lstStyle/>
          <a:p>
            <a:pPr algn="l">
              <a:lnSpc>
                <a:spcPct val="112000"/>
              </a:lnSpc>
            </a:pPr>
            <a:r>
              <a:rPr sz="750" b="1" i="0">
                <a:solidFill>
                  <a:srgbClr val="44495B"/>
                </a:solidFill>
                <a:latin typeface="Segoe UI"/>
                <a:cs typeface="Segoe UI"/>
              </a:rPr>
              <a:t>F O U N D R Y   P R O J E C T   ·   P U B L I C   N E T W O R K   A C C E S S   D I S A B L E D</a:t>
            </a:r>
          </a:p>
        </p:txBody>
      </p:sp>
      <p:sp>
        <p:nvSpPr>
          <p:cNvPr id="102" name="Rectangle 101"/>
          <p:cNvSpPr/>
          <p:nvPr/>
        </p:nvSpPr>
        <p:spPr>
          <a:xfrm>
            <a:off x="6473952" y="3493008"/>
            <a:ext cx="2231136" cy="676656"/>
          </a:xfrm>
          <a:prstGeom prst="rect">
            <a:avLst/>
          </a:prstGeom>
          <a:solidFill>
            <a:srgbClr val="101A3C"/>
          </a:solidFill>
          <a:ln>
            <a:noFill/>
          </a:ln>
          <a:effectLst/>
        </p:spPr>
        <p:txBody>
          <a:bodyPr wrap="square" lIns="73152" tIns="18288" rIns="73152" bIns="18288" rtlCol="0" anchor="ctr"/>
          <a:lstStyle/>
          <a:p>
            <a:pPr algn="ctr">
              <a:lnSpc>
                <a:spcPct val="122000"/>
              </a:lnSpc>
            </a:pPr>
            <a:r>
              <a:rPr sz="950" b="1">
                <a:solidFill>
                  <a:srgbClr val="FFFFFF"/>
                </a:solidFill>
                <a:latin typeface="Segoe UI"/>
                <a:cs typeface="Segoe UI"/>
              </a:rPr>
              <a:t>Hosted agent</a:t>
            </a:r>
          </a:p>
          <a:p>
            <a:pPr algn="ctr">
              <a:lnSpc>
                <a:spcPct val="122000"/>
              </a:lnSpc>
            </a:pPr>
            <a:r>
              <a:rPr sz="750" b="0">
                <a:solidFill>
                  <a:srgbClr val="00B39F"/>
                </a:solidFill>
                <a:latin typeface="Segoe UI"/>
                <a:cs typeface="Segoe UI"/>
              </a:rPr>
              <a:t>active version</a:t>
            </a:r>
          </a:p>
        </p:txBody>
      </p:sp>
      <p:sp>
        <p:nvSpPr>
          <p:cNvPr id="103" name="Rectangle 102"/>
          <p:cNvSpPr/>
          <p:nvPr/>
        </p:nvSpPr>
        <p:spPr>
          <a:xfrm>
            <a:off x="8869680" y="3493008"/>
            <a:ext cx="2606040" cy="676656"/>
          </a:xfrm>
          <a:prstGeom prst="rect">
            <a:avLst/>
          </a:prstGeom>
          <a:solidFill>
            <a:srgbClr val="FFFFFF"/>
          </a:solidFill>
          <a:ln w="9525">
            <a:solidFill>
              <a:srgbClr val="E1E7F4"/>
            </a:solidFill>
          </a:ln>
          <a:effectLst/>
        </p:spPr>
        <p:txBody>
          <a:bodyPr wrap="square" lIns="73152" tIns="18288" rIns="73152" bIns="18288" rtlCol="0" anchor="ctr"/>
          <a:lstStyle/>
          <a:p>
            <a:pPr algn="ctr">
              <a:lnSpc>
                <a:spcPct val="118000"/>
              </a:lnSpc>
            </a:pPr>
            <a:r>
              <a:rPr sz="800" b="1">
                <a:solidFill>
                  <a:srgbClr val="101A3C"/>
                </a:solidFill>
                <a:latin typeface="Segoe UI"/>
                <a:cs typeface="Segoe UI"/>
              </a:rPr>
              <a:t>Responses · Invocations · A2A · MCP</a:t>
            </a:r>
          </a:p>
          <a:p>
            <a:pPr algn="ctr">
              <a:lnSpc>
                <a:spcPct val="118000"/>
              </a:lnSpc>
            </a:pPr>
            <a:r>
              <a:rPr sz="750" b="0">
                <a:solidFill>
                  <a:srgbClr val="44495B"/>
                </a:solidFill>
                <a:latin typeface="Segoe UI"/>
                <a:cs typeface="Segoe UI"/>
              </a:rPr>
              <a:t>and the management APIs — reachable</a:t>
            </a:r>
          </a:p>
          <a:p>
            <a:pPr algn="ctr">
              <a:lnSpc>
                <a:spcPct val="118000"/>
              </a:lnSpc>
            </a:pPr>
            <a:r>
              <a:rPr sz="750" b="0">
                <a:solidFill>
                  <a:srgbClr val="44495B"/>
                </a:solidFill>
                <a:latin typeface="Segoe UI"/>
                <a:cs typeface="Segoe UI"/>
              </a:rPr>
              <a:t>only over the private endpoint</a:t>
            </a:r>
          </a:p>
        </p:txBody>
      </p:sp>
      <p:cxnSp>
        <p:nvCxnSpPr>
          <p:cNvPr id="104" name="Connector 103"/>
          <p:cNvCxnSpPr/>
          <p:nvPr/>
        </p:nvCxnSpPr>
        <p:spPr>
          <a:xfrm>
            <a:off x="8705088" y="3831336"/>
            <a:ext cx="164592" cy="0"/>
          </a:xfrm>
          <a:prstGeom prst="line">
            <a:avLst/>
          </a:prstGeom>
          <a:ln w="13970">
            <a:solidFill>
              <a:srgbClr val="E1E7F4"/>
            </a:solidFill>
            <a:prstDash val="dash"/>
          </a:ln>
          <a:effectLst/>
        </p:spPr>
        <p:style>
          <a:lnRef idx="2">
            <a:schemeClr val="accent1"/>
          </a:lnRef>
          <a:fillRef idx="0">
            <a:schemeClr val="accent1"/>
          </a:fillRef>
          <a:effectRef idx="1">
            <a:schemeClr val="accent1"/>
          </a:effectRef>
          <a:fontRef idx="minor">
            <a:schemeClr val="tx1"/>
          </a:fontRef>
        </p:style>
      </p:cxnSp>
      <p:sp>
        <p:nvSpPr>
          <p:cNvPr id="105" name="Rectangle 104"/>
          <p:cNvSpPr/>
          <p:nvPr/>
        </p:nvSpPr>
        <p:spPr>
          <a:xfrm>
            <a:off x="6309360" y="4443984"/>
            <a:ext cx="5330952" cy="402336"/>
          </a:xfrm>
          <a:prstGeom prst="rect">
            <a:avLst/>
          </a:prstGeom>
          <a:solidFill>
            <a:srgbClr val="0B1229"/>
          </a:solidFill>
          <a:ln>
            <a:noFill/>
          </a:ln>
          <a:effectLst/>
        </p:spPr>
        <p:txBody>
          <a:bodyPr wrap="square" rtlCol="0" anchor="ctr"/>
          <a:lstStyle/>
          <a:p>
            <a:pPr algn="ctr"/>
            <a:endParaRPr/>
          </a:p>
        </p:txBody>
      </p:sp>
      <p:sp>
        <p:nvSpPr>
          <p:cNvPr id="106" name="TextBox 105"/>
          <p:cNvSpPr txBox="1"/>
          <p:nvPr/>
        </p:nvSpPr>
        <p:spPr>
          <a:xfrm>
            <a:off x="6510528" y="4517136"/>
            <a:ext cx="4965192" cy="274320"/>
          </a:xfrm>
          <a:prstGeom prst="rect">
            <a:avLst/>
          </a:prstGeom>
          <a:noFill/>
        </p:spPr>
        <p:txBody>
          <a:bodyPr wrap="none" lIns="0" tIns="0" rIns="0" bIns="0" anchor="t">
            <a:spAutoFit/>
          </a:bodyPr>
          <a:lstStyle/>
          <a:p>
            <a:pPr algn="l">
              <a:lnSpc>
                <a:spcPct val="122000"/>
              </a:lnSpc>
            </a:pPr>
            <a:r>
              <a:rPr sz="750" b="0" i="0">
                <a:solidFill>
                  <a:srgbClr val="D6DEEE"/>
                </a:solidFill>
                <a:latin typeface="Consolas"/>
                <a:cs typeface="Consolas"/>
              </a:rPr>
              <a:t>"activity": { "enable_m365_public_endpoint": true }</a:t>
            </a:r>
          </a:p>
          <a:p>
            <a:pPr algn="l">
              <a:lnSpc>
                <a:spcPct val="122000"/>
              </a:lnSpc>
            </a:pPr>
            <a:r>
              <a:rPr sz="750" b="0" i="0">
                <a:solidFill>
                  <a:srgbClr val="D6DEEE"/>
                </a:solidFill>
                <a:latin typeface="Consolas"/>
                <a:cs typeface="Consolas"/>
              </a:rPr>
              <a:t>keep BotServiceRbac or BotServiceTenant in authorization_schemes</a:t>
            </a:r>
          </a:p>
        </p:txBody>
      </p:sp>
      <p:sp>
        <p:nvSpPr>
          <p:cNvPr id="107" name="Rectangle 106"/>
          <p:cNvSpPr/>
          <p:nvPr/>
        </p:nvSpPr>
        <p:spPr>
          <a:xfrm>
            <a:off x="6309360" y="4956048"/>
            <a:ext cx="2596896" cy="694944"/>
          </a:xfrm>
          <a:prstGeom prst="rect">
            <a:avLst/>
          </a:prstGeom>
          <a:solidFill>
            <a:srgbClr val="F6F8FD"/>
          </a:solidFill>
          <a:ln w="9525">
            <a:solidFill>
              <a:srgbClr val="E1E7F4"/>
            </a:solidFill>
          </a:ln>
          <a:effectLst/>
        </p:spPr>
        <p:txBody>
          <a:bodyPr wrap="square" rtlCol="0" anchor="ctr"/>
          <a:lstStyle/>
          <a:p>
            <a:pPr algn="ctr"/>
            <a:endParaRPr/>
          </a:p>
        </p:txBody>
      </p:sp>
      <p:sp>
        <p:nvSpPr>
          <p:cNvPr id="108" name="Rectangle 107"/>
          <p:cNvSpPr/>
          <p:nvPr/>
        </p:nvSpPr>
        <p:spPr>
          <a:xfrm>
            <a:off x="6309360" y="4956048"/>
            <a:ext cx="2596896" cy="41148"/>
          </a:xfrm>
          <a:prstGeom prst="rect">
            <a:avLst/>
          </a:prstGeom>
          <a:solidFill>
            <a:srgbClr val="00B39F"/>
          </a:solidFill>
          <a:ln>
            <a:noFill/>
          </a:ln>
          <a:effectLst/>
        </p:spPr>
        <p:txBody>
          <a:bodyPr wrap="square" rtlCol="0" anchor="ctr"/>
          <a:lstStyle/>
          <a:p>
            <a:pPr algn="ctr"/>
            <a:endParaRPr/>
          </a:p>
        </p:txBody>
      </p:sp>
      <p:sp>
        <p:nvSpPr>
          <p:cNvPr id="109" name="TextBox 108"/>
          <p:cNvSpPr txBox="1"/>
          <p:nvPr/>
        </p:nvSpPr>
        <p:spPr>
          <a:xfrm>
            <a:off x="6455664" y="5074920"/>
            <a:ext cx="2304288" cy="164592"/>
          </a:xfrm>
          <a:prstGeom prst="rect">
            <a:avLst/>
          </a:prstGeom>
          <a:noFill/>
        </p:spPr>
        <p:txBody>
          <a:bodyPr wrap="square" lIns="0" tIns="0" rIns="0" bIns="0" anchor="t">
            <a:spAutoFit/>
          </a:bodyPr>
          <a:lstStyle/>
          <a:p>
            <a:pPr algn="l">
              <a:lnSpc>
                <a:spcPct val="112000"/>
              </a:lnSpc>
            </a:pPr>
            <a:r>
              <a:rPr sz="850" b="1" i="0">
                <a:solidFill>
                  <a:srgbClr val="101A3C"/>
                </a:solidFill>
                <a:latin typeface="Segoe UI"/>
                <a:cs typeface="Segoe UI"/>
              </a:rPr>
              <a:t>Reachability, not authorization</a:t>
            </a:r>
          </a:p>
        </p:txBody>
      </p:sp>
      <p:sp>
        <p:nvSpPr>
          <p:cNvPr id="110" name="TextBox 109"/>
          <p:cNvSpPr txBox="1"/>
          <p:nvPr/>
        </p:nvSpPr>
        <p:spPr>
          <a:xfrm>
            <a:off x="6455664" y="5266944"/>
            <a:ext cx="2304288" cy="36576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Source-IP filtering is defence in depth. A request from an allowed range must still pass token validation and tenant or role checks.</a:t>
            </a:r>
          </a:p>
        </p:txBody>
      </p:sp>
      <p:sp>
        <p:nvSpPr>
          <p:cNvPr id="111" name="Rectangle 110"/>
          <p:cNvSpPr/>
          <p:nvPr/>
        </p:nvSpPr>
        <p:spPr>
          <a:xfrm>
            <a:off x="9043416" y="4956048"/>
            <a:ext cx="2596896" cy="694944"/>
          </a:xfrm>
          <a:prstGeom prst="rect">
            <a:avLst/>
          </a:prstGeom>
          <a:solidFill>
            <a:srgbClr val="F6F8FD"/>
          </a:solidFill>
          <a:ln w="9525">
            <a:solidFill>
              <a:srgbClr val="E1E7F4"/>
            </a:solidFill>
          </a:ln>
          <a:effectLst/>
        </p:spPr>
        <p:txBody>
          <a:bodyPr wrap="square" rtlCol="0" anchor="ctr"/>
          <a:lstStyle/>
          <a:p>
            <a:pPr algn="ctr"/>
            <a:endParaRPr/>
          </a:p>
        </p:txBody>
      </p:sp>
      <p:sp>
        <p:nvSpPr>
          <p:cNvPr id="112" name="Rectangle 111"/>
          <p:cNvSpPr/>
          <p:nvPr/>
        </p:nvSpPr>
        <p:spPr>
          <a:xfrm>
            <a:off x="9043416" y="4956048"/>
            <a:ext cx="2596896" cy="41148"/>
          </a:xfrm>
          <a:prstGeom prst="rect">
            <a:avLst/>
          </a:prstGeom>
          <a:solidFill>
            <a:srgbClr val="00B39F"/>
          </a:solidFill>
          <a:ln>
            <a:noFill/>
          </a:ln>
          <a:effectLst/>
        </p:spPr>
        <p:txBody>
          <a:bodyPr wrap="square" rtlCol="0" anchor="ctr"/>
          <a:lstStyle/>
          <a:p>
            <a:pPr algn="ctr"/>
            <a:endParaRPr/>
          </a:p>
        </p:txBody>
      </p:sp>
      <p:sp>
        <p:nvSpPr>
          <p:cNvPr id="113" name="TextBox 112"/>
          <p:cNvSpPr txBox="1"/>
          <p:nvPr/>
        </p:nvSpPr>
        <p:spPr>
          <a:xfrm>
            <a:off x="9189720" y="5074920"/>
            <a:ext cx="2304288" cy="164592"/>
          </a:xfrm>
          <a:prstGeom prst="rect">
            <a:avLst/>
          </a:prstGeom>
          <a:noFill/>
        </p:spPr>
        <p:txBody>
          <a:bodyPr wrap="square" lIns="0" tIns="0" rIns="0" bIns="0" anchor="t">
            <a:spAutoFit/>
          </a:bodyPr>
          <a:lstStyle/>
          <a:p>
            <a:pPr algn="l">
              <a:lnSpc>
                <a:spcPct val="112000"/>
              </a:lnSpc>
            </a:pPr>
            <a:r>
              <a:rPr sz="850" b="1" i="0">
                <a:solidFill>
                  <a:srgbClr val="101A3C"/>
                </a:solidFill>
                <a:latin typeface="Segoe UI"/>
                <a:cs typeface="Segoe UI"/>
              </a:rPr>
              <a:t>What it does not change</a:t>
            </a:r>
          </a:p>
        </p:txBody>
      </p:sp>
      <p:sp>
        <p:nvSpPr>
          <p:cNvPr id="114" name="TextBox 113"/>
          <p:cNvSpPr txBox="1"/>
          <p:nvPr/>
        </p:nvSpPr>
        <p:spPr>
          <a:xfrm>
            <a:off x="9189720" y="5266944"/>
            <a:ext cx="2304288" cy="36576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Teams and Microsoft 365 stay public-network services, outbound egress rules are unchanged, and published agents carry no streaming.</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Agent Service vs Microsoft Agent Framework</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is a self-hosted open-source SDK; the other is the managed runtime — hosted agents bridge them.</a:t>
            </a:r>
          </a:p>
          <a:p>
            <a:endParaRPr sz="1200">
              <a:solidFill>
                <a:srgbClr val="44495B"/>
              </a:solidFill>
              <a:latin typeface="Segoe UI"/>
            </a:endParaRPr>
          </a:p>
        </p:txBody>
      </p:sp>
      <p:sp>
        <p:nvSpPr>
          <p:cNvPr id="5" name="Shape"/>
          <p:cNvSpPr/>
          <p:nvPr/>
        </p:nvSpPr>
        <p:spPr>
          <a:xfrm>
            <a:off x="548640" y="1417320"/>
            <a:ext cx="11094720" cy="309372"/>
          </a:xfrm>
          <a:prstGeom prst="rect">
            <a:avLst/>
          </a:prstGeom>
          <a:solidFill>
            <a:srgbClr val="101A3C"/>
          </a:solidFill>
        </p:spPr>
        <p:txBody>
          <a:bodyPr/>
          <a:lstStyle/>
          <a:p>
            <a:endParaRPr/>
          </a:p>
        </p:txBody>
      </p:sp>
      <p:sp>
        <p:nvSpPr>
          <p:cNvPr id="6" name="TextBox"/>
          <p:cNvSpPr txBox="1"/>
          <p:nvPr/>
        </p:nvSpPr>
        <p:spPr>
          <a:xfrm>
            <a:off x="2221992" y="1431036"/>
            <a:ext cx="4696968" cy="426720"/>
          </a:xfrm>
          <a:prstGeom prst="rect">
            <a:avLst/>
          </a:prstGeom>
        </p:spPr>
        <p:txBody>
          <a:bodyPr anchor="ctr"/>
          <a:lstStyle/>
          <a:p>
            <a:r>
              <a:rPr sz="950" b="1">
                <a:solidFill>
                  <a:srgbClr val="808080"/>
                </a:solidFill>
                <a:latin typeface="Segoe UI"/>
              </a:rPr>
              <a:t>Microsoft Agent Framework</a:t>
            </a:r>
          </a:p>
          <a:p>
            <a:endParaRPr sz="950" b="1">
              <a:solidFill>
                <a:srgbClr val="808080"/>
              </a:solidFill>
              <a:latin typeface="Segoe UI"/>
            </a:endParaRPr>
          </a:p>
        </p:txBody>
      </p:sp>
      <p:sp>
        <p:nvSpPr>
          <p:cNvPr id="7" name="TextBox"/>
          <p:cNvSpPr txBox="1"/>
          <p:nvPr/>
        </p:nvSpPr>
        <p:spPr>
          <a:xfrm>
            <a:off x="6937248" y="1431036"/>
            <a:ext cx="4696968" cy="426720"/>
          </a:xfrm>
          <a:prstGeom prst="rect">
            <a:avLst/>
          </a:prstGeom>
        </p:spPr>
        <p:txBody>
          <a:bodyPr anchor="ctr"/>
          <a:lstStyle/>
          <a:p>
            <a:r>
              <a:rPr sz="950" b="1">
                <a:solidFill>
                  <a:srgbClr val="808080"/>
                </a:solidFill>
                <a:latin typeface="Segoe UI"/>
              </a:rPr>
              <a:t>Foundry Agent Service</a:t>
            </a:r>
          </a:p>
          <a:p>
            <a:endParaRPr sz="950" b="1">
              <a:solidFill>
                <a:srgbClr val="808080"/>
              </a:solidFill>
              <a:latin typeface="Segoe UI"/>
            </a:endParaRPr>
          </a:p>
        </p:txBody>
      </p:sp>
      <p:sp>
        <p:nvSpPr>
          <p:cNvPr id="8" name="Shape"/>
          <p:cNvSpPr/>
          <p:nvPr/>
        </p:nvSpPr>
        <p:spPr>
          <a:xfrm>
            <a:off x="548640" y="1849374"/>
            <a:ext cx="11094720" cy="309372"/>
          </a:xfrm>
          <a:prstGeom prst="rect">
            <a:avLst/>
          </a:prstGeom>
          <a:solidFill>
            <a:srgbClr val="FFFFFF"/>
          </a:solidFill>
          <a:ln w="9525">
            <a:solidFill>
              <a:srgbClr val="E1E7F4"/>
            </a:solidFill>
          </a:ln>
        </p:spPr>
        <p:txBody>
          <a:bodyPr/>
          <a:lstStyle/>
          <a:p>
            <a:endParaRPr/>
          </a:p>
        </p:txBody>
      </p:sp>
      <p:sp>
        <p:nvSpPr>
          <p:cNvPr id="9" name="TextBox"/>
          <p:cNvSpPr txBox="1"/>
          <p:nvPr/>
        </p:nvSpPr>
        <p:spPr>
          <a:xfrm>
            <a:off x="557784" y="1740408"/>
            <a:ext cx="1645920" cy="426720"/>
          </a:xfrm>
          <a:prstGeom prst="rect">
            <a:avLst/>
          </a:prstGeom>
        </p:spPr>
        <p:txBody>
          <a:bodyPr anchor="ctr"/>
          <a:lstStyle/>
          <a:p>
            <a:r>
              <a:rPr sz="950">
                <a:solidFill>
                  <a:srgbClr val="141B33"/>
                </a:solidFill>
                <a:latin typeface="Segoe UI"/>
              </a:rPr>
              <a:t>What it is</a:t>
            </a:r>
          </a:p>
          <a:p>
            <a:endParaRPr sz="950">
              <a:solidFill>
                <a:srgbClr val="141B33"/>
              </a:solidFill>
              <a:latin typeface="Segoe UI"/>
            </a:endParaRPr>
          </a:p>
        </p:txBody>
      </p:sp>
      <p:sp>
        <p:nvSpPr>
          <p:cNvPr id="10" name="TextBox"/>
          <p:cNvSpPr txBox="1"/>
          <p:nvPr/>
        </p:nvSpPr>
        <p:spPr>
          <a:xfrm>
            <a:off x="2221992" y="1740408"/>
            <a:ext cx="4696968" cy="426720"/>
          </a:xfrm>
          <a:prstGeom prst="rect">
            <a:avLst/>
          </a:prstGeom>
        </p:spPr>
        <p:txBody>
          <a:bodyPr anchor="ctr"/>
          <a:lstStyle/>
          <a:p>
            <a:r>
              <a:rPr sz="950">
                <a:solidFill>
                  <a:srgbClr val="141B33"/>
                </a:solidFill>
                <a:latin typeface="Segoe UI"/>
              </a:rPr>
              <a:t>Open-source SDK, self-hosted</a:t>
            </a:r>
          </a:p>
          <a:p>
            <a:endParaRPr sz="950">
              <a:solidFill>
                <a:srgbClr val="141B33"/>
              </a:solidFill>
              <a:latin typeface="Segoe UI"/>
            </a:endParaRPr>
          </a:p>
        </p:txBody>
      </p:sp>
      <p:sp>
        <p:nvSpPr>
          <p:cNvPr id="11" name="TextBox"/>
          <p:cNvSpPr txBox="1"/>
          <p:nvPr/>
        </p:nvSpPr>
        <p:spPr>
          <a:xfrm>
            <a:off x="6937248" y="1740408"/>
            <a:ext cx="4696968" cy="426720"/>
          </a:xfrm>
          <a:prstGeom prst="rect">
            <a:avLst/>
          </a:prstGeom>
        </p:spPr>
        <p:txBody>
          <a:bodyPr anchor="ctr"/>
          <a:lstStyle/>
          <a:p>
            <a:r>
              <a:rPr sz="950">
                <a:solidFill>
                  <a:srgbClr val="141B33"/>
                </a:solidFill>
                <a:latin typeface="Segoe UI"/>
              </a:rPr>
              <a:t>Managed platform for building, deploying and scaling agents</a:t>
            </a:r>
          </a:p>
          <a:p>
            <a:endParaRPr sz="950">
              <a:solidFill>
                <a:srgbClr val="141B33"/>
              </a:solidFill>
              <a:latin typeface="Segoe UI"/>
            </a:endParaRPr>
          </a:p>
        </p:txBody>
      </p:sp>
      <p:sp>
        <p:nvSpPr>
          <p:cNvPr id="12" name="Shape"/>
          <p:cNvSpPr/>
          <p:nvPr/>
        </p:nvSpPr>
        <p:spPr>
          <a:xfrm>
            <a:off x="548640" y="2158746"/>
            <a:ext cx="11094720" cy="454152"/>
          </a:xfrm>
          <a:prstGeom prst="rect">
            <a:avLst/>
          </a:prstGeom>
          <a:solidFill>
            <a:srgbClr val="F6F8FD"/>
          </a:solidFill>
          <a:ln w="9525">
            <a:solidFill>
              <a:srgbClr val="E1E7F4"/>
            </a:solidFill>
          </a:ln>
        </p:spPr>
        <p:txBody>
          <a:bodyPr/>
          <a:lstStyle/>
          <a:p>
            <a:endParaRPr/>
          </a:p>
        </p:txBody>
      </p:sp>
      <p:sp>
        <p:nvSpPr>
          <p:cNvPr id="13" name="TextBox"/>
          <p:cNvSpPr txBox="1"/>
          <p:nvPr/>
        </p:nvSpPr>
        <p:spPr>
          <a:xfrm>
            <a:off x="557784" y="2049780"/>
            <a:ext cx="1645920" cy="426720"/>
          </a:xfrm>
          <a:prstGeom prst="rect">
            <a:avLst/>
          </a:prstGeom>
        </p:spPr>
        <p:txBody>
          <a:bodyPr anchor="ctr"/>
          <a:lstStyle/>
          <a:p>
            <a:r>
              <a:rPr sz="950">
                <a:solidFill>
                  <a:srgbClr val="141B33"/>
                </a:solidFill>
                <a:latin typeface="Segoe UI"/>
              </a:rPr>
              <a:t>Status</a:t>
            </a:r>
          </a:p>
          <a:p>
            <a:endParaRPr sz="950">
              <a:solidFill>
                <a:srgbClr val="141B33"/>
              </a:solidFill>
              <a:latin typeface="Segoe UI"/>
            </a:endParaRPr>
          </a:p>
        </p:txBody>
      </p:sp>
      <p:sp>
        <p:nvSpPr>
          <p:cNvPr id="14" name="TextBox"/>
          <p:cNvSpPr txBox="1"/>
          <p:nvPr/>
        </p:nvSpPr>
        <p:spPr>
          <a:xfrm>
            <a:off x="2221992" y="2049780"/>
            <a:ext cx="4696968" cy="426720"/>
          </a:xfrm>
          <a:prstGeom prst="rect">
            <a:avLst/>
          </a:prstGeom>
        </p:spPr>
        <p:txBody>
          <a:bodyPr anchor="ctr"/>
          <a:lstStyle/>
          <a:p>
            <a:r>
              <a:rPr sz="950">
                <a:solidFill>
                  <a:srgbClr val="141B33"/>
                </a:solidFill>
                <a:latin typeface="Segoe UI"/>
              </a:rPr>
              <a:t>1.0 GA 3 Apr 2026 for .NET and Python; Go preview.</a:t>
            </a:r>
          </a:p>
          <a:p>
            <a:r>
              <a:rPr sz="950">
                <a:solidFill>
                  <a:srgbClr val="141B33"/>
                </a:solidFill>
                <a:latin typeface="Segoe UI"/>
              </a:rPr>
              <a:t>Current releases python-1.22.0 and dotnet-1.25.0</a:t>
            </a:r>
          </a:p>
        </p:txBody>
      </p:sp>
      <p:sp>
        <p:nvSpPr>
          <p:cNvPr id="15" name="TextBox"/>
          <p:cNvSpPr txBox="1"/>
          <p:nvPr/>
        </p:nvSpPr>
        <p:spPr>
          <a:xfrm>
            <a:off x="6937248" y="2049780"/>
            <a:ext cx="4696968" cy="426720"/>
          </a:xfrm>
          <a:prstGeom prst="rect">
            <a:avLst/>
          </a:prstGeom>
        </p:spPr>
        <p:txBody>
          <a:bodyPr anchor="ctr"/>
          <a:lstStyle/>
          <a:p>
            <a:r>
              <a:rPr sz="950">
                <a:solidFill>
                  <a:srgbClr val="141B33"/>
                </a:solidFill>
                <a:latin typeface="Segoe UI"/>
              </a:rPr>
              <a:t>GA. Hosted agents GA 9 Jul 2026; Toolboxes GA Jul 2026</a:t>
            </a:r>
          </a:p>
          <a:p>
            <a:endParaRPr sz="950">
              <a:solidFill>
                <a:srgbClr val="141B33"/>
              </a:solidFill>
              <a:latin typeface="Segoe UI"/>
            </a:endParaRPr>
          </a:p>
        </p:txBody>
      </p:sp>
      <p:sp>
        <p:nvSpPr>
          <p:cNvPr id="16" name="Shape"/>
          <p:cNvSpPr/>
          <p:nvPr/>
        </p:nvSpPr>
        <p:spPr>
          <a:xfrm>
            <a:off x="548640" y="2490216"/>
            <a:ext cx="11094720" cy="309372"/>
          </a:xfrm>
          <a:prstGeom prst="rect">
            <a:avLst/>
          </a:prstGeom>
          <a:solidFill>
            <a:srgbClr val="FFFFFF"/>
          </a:solidFill>
          <a:ln w="9525">
            <a:solidFill>
              <a:srgbClr val="E1E7F4"/>
            </a:solidFill>
          </a:ln>
        </p:spPr>
        <p:txBody>
          <a:bodyPr/>
          <a:lstStyle/>
          <a:p>
            <a:endParaRPr/>
          </a:p>
        </p:txBody>
      </p:sp>
      <p:sp>
        <p:nvSpPr>
          <p:cNvPr id="17" name="TextBox"/>
          <p:cNvSpPr txBox="1"/>
          <p:nvPr/>
        </p:nvSpPr>
        <p:spPr>
          <a:xfrm>
            <a:off x="557784" y="2503932"/>
            <a:ext cx="1645920" cy="426720"/>
          </a:xfrm>
          <a:prstGeom prst="rect">
            <a:avLst/>
          </a:prstGeom>
        </p:spPr>
        <p:txBody>
          <a:bodyPr anchor="ctr"/>
          <a:lstStyle/>
          <a:p>
            <a:r>
              <a:rPr sz="950">
                <a:solidFill>
                  <a:srgbClr val="141B33"/>
                </a:solidFill>
                <a:latin typeface="Segoe UI"/>
              </a:rPr>
              <a:t>Runtime</a:t>
            </a:r>
          </a:p>
          <a:p>
            <a:endParaRPr sz="950">
              <a:solidFill>
                <a:srgbClr val="141B33"/>
              </a:solidFill>
              <a:latin typeface="Segoe UI"/>
            </a:endParaRPr>
          </a:p>
        </p:txBody>
      </p:sp>
      <p:sp>
        <p:nvSpPr>
          <p:cNvPr id="18" name="TextBox"/>
          <p:cNvSpPr txBox="1"/>
          <p:nvPr/>
        </p:nvSpPr>
        <p:spPr>
          <a:xfrm>
            <a:off x="2221992" y="2503932"/>
            <a:ext cx="4696968" cy="426720"/>
          </a:xfrm>
          <a:prstGeom prst="rect">
            <a:avLst/>
          </a:prstGeom>
        </p:spPr>
        <p:txBody>
          <a:bodyPr anchor="ctr"/>
          <a:lstStyle/>
          <a:p>
            <a:r>
              <a:rPr sz="950">
                <a:solidFill>
                  <a:srgbClr val="141B33"/>
                </a:solidFill>
                <a:latin typeface="Segoe UI"/>
              </a:rPr>
              <a:t>Application process, on a self-managed host</a:t>
            </a:r>
          </a:p>
          <a:p>
            <a:endParaRPr sz="950">
              <a:solidFill>
                <a:srgbClr val="141B33"/>
              </a:solidFill>
              <a:latin typeface="Segoe UI"/>
            </a:endParaRPr>
          </a:p>
        </p:txBody>
      </p:sp>
      <p:sp>
        <p:nvSpPr>
          <p:cNvPr id="19" name="TextBox"/>
          <p:cNvSpPr txBox="1"/>
          <p:nvPr/>
        </p:nvSpPr>
        <p:spPr>
          <a:xfrm>
            <a:off x="6937248" y="2503932"/>
            <a:ext cx="4696968" cy="426720"/>
          </a:xfrm>
          <a:prstGeom prst="rect">
            <a:avLst/>
          </a:prstGeom>
        </p:spPr>
        <p:txBody>
          <a:bodyPr anchor="ctr"/>
          <a:lstStyle/>
          <a:p>
            <a:r>
              <a:rPr sz="950">
                <a:solidFill>
                  <a:srgbClr val="141B33"/>
                </a:solidFill>
                <a:latin typeface="Segoe UI"/>
              </a:rPr>
              <a:t>Foundry-managed agent runtime; per-session VM-isolated sandbox</a:t>
            </a:r>
          </a:p>
          <a:p>
            <a:endParaRPr sz="950">
              <a:solidFill>
                <a:srgbClr val="141B33"/>
              </a:solidFill>
              <a:latin typeface="Segoe UI"/>
            </a:endParaRPr>
          </a:p>
        </p:txBody>
      </p:sp>
      <p:sp>
        <p:nvSpPr>
          <p:cNvPr id="20" name="Shape"/>
          <p:cNvSpPr/>
          <p:nvPr/>
        </p:nvSpPr>
        <p:spPr>
          <a:xfrm>
            <a:off x="548640" y="2922270"/>
            <a:ext cx="11094720" cy="454152"/>
          </a:xfrm>
          <a:prstGeom prst="rect">
            <a:avLst/>
          </a:prstGeom>
          <a:solidFill>
            <a:srgbClr val="F6F8FD"/>
          </a:solidFill>
          <a:ln w="9525">
            <a:solidFill>
              <a:srgbClr val="E1E7F4"/>
            </a:solidFill>
          </a:ln>
        </p:spPr>
        <p:txBody>
          <a:bodyPr/>
          <a:lstStyle/>
          <a:p>
            <a:endParaRPr/>
          </a:p>
        </p:txBody>
      </p:sp>
      <p:sp>
        <p:nvSpPr>
          <p:cNvPr id="21" name="TextBox"/>
          <p:cNvSpPr txBox="1"/>
          <p:nvPr/>
        </p:nvSpPr>
        <p:spPr>
          <a:xfrm>
            <a:off x="557784" y="2813304"/>
            <a:ext cx="1645920" cy="426720"/>
          </a:xfrm>
          <a:prstGeom prst="rect">
            <a:avLst/>
          </a:prstGeom>
        </p:spPr>
        <p:txBody>
          <a:bodyPr anchor="ctr"/>
          <a:lstStyle/>
          <a:p>
            <a:r>
              <a:rPr sz="950">
                <a:solidFill>
                  <a:srgbClr val="141B33"/>
                </a:solidFill>
                <a:latin typeface="Segoe UI"/>
              </a:rPr>
              <a:t>Packages</a:t>
            </a:r>
          </a:p>
          <a:p>
            <a:endParaRPr sz="950">
              <a:solidFill>
                <a:srgbClr val="141B33"/>
              </a:solidFill>
              <a:latin typeface="Segoe UI"/>
            </a:endParaRPr>
          </a:p>
        </p:txBody>
      </p:sp>
      <p:sp>
        <p:nvSpPr>
          <p:cNvPr id="22" name="TextBox"/>
          <p:cNvSpPr txBox="1"/>
          <p:nvPr/>
        </p:nvSpPr>
        <p:spPr>
          <a:xfrm>
            <a:off x="2221992" y="2813304"/>
            <a:ext cx="4696968" cy="426720"/>
          </a:xfrm>
          <a:prstGeom prst="rect">
            <a:avLst/>
          </a:prstGeom>
        </p:spPr>
        <p:txBody>
          <a:bodyPr anchor="ctr"/>
          <a:lstStyle/>
          <a:p>
            <a:r>
              <a:rPr sz="950">
                <a:solidFill>
                  <a:srgbClr val="141B33"/>
                </a:solidFill>
                <a:latin typeface="Segoe UI"/>
              </a:rPr>
              <a:t>pip install agent-framework; Microsoft.Agents.AI and</a:t>
            </a:r>
          </a:p>
          <a:p>
            <a:r>
              <a:rPr sz="950">
                <a:solidFill>
                  <a:srgbClr val="141B33"/>
                </a:solidFill>
                <a:latin typeface="Segoe UI"/>
              </a:rPr>
              <a:t>Microsoft.Agents.AI.Foundry on NuGet</a:t>
            </a:r>
          </a:p>
        </p:txBody>
      </p:sp>
      <p:sp>
        <p:nvSpPr>
          <p:cNvPr id="23" name="TextBox"/>
          <p:cNvSpPr txBox="1"/>
          <p:nvPr/>
        </p:nvSpPr>
        <p:spPr>
          <a:xfrm>
            <a:off x="6937248" y="2813304"/>
            <a:ext cx="4696968" cy="426720"/>
          </a:xfrm>
          <a:prstGeom prst="rect">
            <a:avLst/>
          </a:prstGeom>
        </p:spPr>
        <p:txBody>
          <a:bodyPr anchor="ctr"/>
          <a:lstStyle/>
          <a:p>
            <a:r>
              <a:rPr sz="950">
                <a:solidFill>
                  <a:srgbClr val="141B33"/>
                </a:solidFill>
                <a:latin typeface="Segoe UI"/>
              </a:rPr>
              <a:t>azure-ai-projects, plus the agentserver protocol libraries</a:t>
            </a:r>
          </a:p>
          <a:p>
            <a:endParaRPr sz="950">
              <a:solidFill>
                <a:srgbClr val="141B33"/>
              </a:solidFill>
              <a:latin typeface="Segoe UI"/>
            </a:endParaRPr>
          </a:p>
        </p:txBody>
      </p:sp>
      <p:sp>
        <p:nvSpPr>
          <p:cNvPr id="24" name="Shape"/>
          <p:cNvSpPr/>
          <p:nvPr/>
        </p:nvSpPr>
        <p:spPr>
          <a:xfrm>
            <a:off x="548640" y="3253740"/>
            <a:ext cx="11094720" cy="454152"/>
          </a:xfrm>
          <a:prstGeom prst="rect">
            <a:avLst/>
          </a:prstGeom>
          <a:solidFill>
            <a:srgbClr val="FFFFFF"/>
          </a:solidFill>
          <a:ln w="9525">
            <a:solidFill>
              <a:srgbClr val="E1E7F4"/>
            </a:solidFill>
          </a:ln>
        </p:spPr>
        <p:txBody>
          <a:bodyPr/>
          <a:lstStyle/>
          <a:p>
            <a:endParaRPr/>
          </a:p>
        </p:txBody>
      </p:sp>
      <p:sp>
        <p:nvSpPr>
          <p:cNvPr id="25" name="TextBox"/>
          <p:cNvSpPr txBox="1"/>
          <p:nvPr/>
        </p:nvSpPr>
        <p:spPr>
          <a:xfrm>
            <a:off x="557784" y="3267456"/>
            <a:ext cx="1645920" cy="426720"/>
          </a:xfrm>
          <a:prstGeom prst="rect">
            <a:avLst/>
          </a:prstGeom>
        </p:spPr>
        <p:txBody>
          <a:bodyPr anchor="ctr"/>
          <a:lstStyle/>
          <a:p>
            <a:r>
              <a:rPr sz="950">
                <a:solidFill>
                  <a:srgbClr val="141B33"/>
                </a:solidFill>
                <a:latin typeface="Segoe UI"/>
              </a:rPr>
              <a:t>Primitives</a:t>
            </a:r>
          </a:p>
          <a:p>
            <a:endParaRPr sz="950">
              <a:solidFill>
                <a:srgbClr val="141B33"/>
              </a:solidFill>
              <a:latin typeface="Segoe UI"/>
            </a:endParaRPr>
          </a:p>
        </p:txBody>
      </p:sp>
      <p:sp>
        <p:nvSpPr>
          <p:cNvPr id="26" name="TextBox"/>
          <p:cNvSpPr txBox="1"/>
          <p:nvPr/>
        </p:nvSpPr>
        <p:spPr>
          <a:xfrm>
            <a:off x="2221992" y="3267456"/>
            <a:ext cx="4696968" cy="426720"/>
          </a:xfrm>
          <a:prstGeom prst="rect">
            <a:avLst/>
          </a:prstGeom>
        </p:spPr>
        <p:txBody>
          <a:bodyPr anchor="ctr"/>
          <a:lstStyle/>
          <a:p>
            <a:r>
              <a:rPr sz="950">
                <a:solidFill>
                  <a:srgbClr val="141B33"/>
                </a:solidFill>
                <a:latin typeface="Segoe UI"/>
              </a:rPr>
              <a:t>Agent / AIAgent, agent session, context providers, middleware,</a:t>
            </a:r>
          </a:p>
          <a:p>
            <a:r>
              <a:rPr sz="950">
                <a:solidFill>
                  <a:srgbClr val="141B33"/>
                </a:solidFill>
                <a:latin typeface="Segoe UI"/>
              </a:rPr>
              <a:t>MCP clients, workflows, Harness Agent</a:t>
            </a:r>
          </a:p>
        </p:txBody>
      </p:sp>
      <p:sp>
        <p:nvSpPr>
          <p:cNvPr id="27" name="TextBox"/>
          <p:cNvSpPr txBox="1"/>
          <p:nvPr/>
        </p:nvSpPr>
        <p:spPr>
          <a:xfrm>
            <a:off x="6937248" y="3267456"/>
            <a:ext cx="4696968" cy="426720"/>
          </a:xfrm>
          <a:prstGeom prst="rect">
            <a:avLst/>
          </a:prstGeom>
        </p:spPr>
        <p:txBody>
          <a:bodyPr anchor="ctr"/>
          <a:lstStyle/>
          <a:p>
            <a:r>
              <a:rPr sz="950">
                <a:solidFill>
                  <a:srgbClr val="141B33"/>
                </a:solidFill>
                <a:latin typeface="Segoe UI"/>
              </a:rPr>
              <a:t>Prompt agents, hosted agents, conversations, toolboxes and</a:t>
            </a:r>
          </a:p>
          <a:p>
            <a:r>
              <a:rPr sz="950">
                <a:solidFill>
                  <a:srgbClr val="141B33"/>
                </a:solidFill>
                <a:latin typeface="Segoe UI"/>
              </a:rPr>
              <a:t>memory stores (preview)</a:t>
            </a:r>
          </a:p>
        </p:txBody>
      </p:sp>
      <p:sp>
        <p:nvSpPr>
          <p:cNvPr id="28" name="Shape"/>
          <p:cNvSpPr/>
          <p:nvPr/>
        </p:nvSpPr>
        <p:spPr>
          <a:xfrm>
            <a:off x="548640" y="3707892"/>
            <a:ext cx="11094720" cy="454152"/>
          </a:xfrm>
          <a:prstGeom prst="rect">
            <a:avLst/>
          </a:prstGeom>
          <a:solidFill>
            <a:srgbClr val="F6F8FD"/>
          </a:solidFill>
          <a:ln w="9525">
            <a:solidFill>
              <a:srgbClr val="E1E7F4"/>
            </a:solidFill>
          </a:ln>
        </p:spPr>
        <p:txBody>
          <a:bodyPr/>
          <a:lstStyle/>
          <a:p>
            <a:endParaRPr/>
          </a:p>
        </p:txBody>
      </p:sp>
      <p:sp>
        <p:nvSpPr>
          <p:cNvPr id="29" name="TextBox"/>
          <p:cNvSpPr txBox="1"/>
          <p:nvPr/>
        </p:nvSpPr>
        <p:spPr>
          <a:xfrm>
            <a:off x="557784" y="3721608"/>
            <a:ext cx="1645920" cy="426720"/>
          </a:xfrm>
          <a:prstGeom prst="rect">
            <a:avLst/>
          </a:prstGeom>
        </p:spPr>
        <p:txBody>
          <a:bodyPr anchor="ctr"/>
          <a:lstStyle/>
          <a:p>
            <a:r>
              <a:rPr sz="950">
                <a:solidFill>
                  <a:srgbClr val="141B33"/>
                </a:solidFill>
                <a:latin typeface="Segoe UI"/>
              </a:rPr>
              <a:t>Orchestration</a:t>
            </a:r>
          </a:p>
          <a:p>
            <a:endParaRPr sz="950">
              <a:solidFill>
                <a:srgbClr val="141B33"/>
              </a:solidFill>
              <a:latin typeface="Segoe UI"/>
            </a:endParaRPr>
          </a:p>
        </p:txBody>
      </p:sp>
      <p:sp>
        <p:nvSpPr>
          <p:cNvPr id="30" name="TextBox"/>
          <p:cNvSpPr txBox="1"/>
          <p:nvPr/>
        </p:nvSpPr>
        <p:spPr>
          <a:xfrm>
            <a:off x="2221992" y="3721608"/>
            <a:ext cx="4696968" cy="426720"/>
          </a:xfrm>
          <a:prstGeom prst="rect">
            <a:avLst/>
          </a:prstGeom>
        </p:spPr>
        <p:txBody>
          <a:bodyPr anchor="ctr"/>
          <a:lstStyle/>
          <a:p>
            <a:r>
              <a:rPr sz="950">
                <a:solidFill>
                  <a:srgbClr val="141B33"/>
                </a:solidFill>
                <a:latin typeface="Segoe UI"/>
              </a:rPr>
              <a:t>Sequential, Concurrent, Handoff, Group Chat and Magentic, with</a:t>
            </a:r>
          </a:p>
          <a:p>
            <a:r>
              <a:rPr sz="950">
                <a:solidFill>
                  <a:srgbClr val="141B33"/>
                </a:solidFill>
                <a:latin typeface="Segoe UI"/>
              </a:rPr>
              <a:t>checkpointing, human-in-the-loop and pause or resume</a:t>
            </a:r>
          </a:p>
        </p:txBody>
      </p:sp>
      <p:sp>
        <p:nvSpPr>
          <p:cNvPr id="31" name="TextBox"/>
          <p:cNvSpPr txBox="1"/>
          <p:nvPr/>
        </p:nvSpPr>
        <p:spPr>
          <a:xfrm>
            <a:off x="6937248" y="3721608"/>
            <a:ext cx="4696968" cy="426720"/>
          </a:xfrm>
          <a:prstGeom prst="rect">
            <a:avLst/>
          </a:prstGeom>
        </p:spPr>
        <p:txBody>
          <a:bodyPr anchor="ctr"/>
          <a:lstStyle/>
          <a:p>
            <a:r>
              <a:rPr sz="950">
                <a:solidFill>
                  <a:srgbClr val="141B33"/>
                </a:solidFill>
                <a:latin typeface="Segoe UI"/>
              </a:rPr>
              <a:t>The agent runtime; A2A; workflow agents as an</a:t>
            </a:r>
          </a:p>
          <a:p>
            <a:r>
              <a:rPr sz="950">
                <a:solidFill>
                  <a:srgbClr val="141B33"/>
                </a:solidFill>
                <a:latin typeface="Segoe UI"/>
              </a:rPr>
              <a:t>asset type</a:t>
            </a:r>
          </a:p>
        </p:txBody>
      </p:sp>
      <p:sp>
        <p:nvSpPr>
          <p:cNvPr id="32" name="Shape"/>
          <p:cNvSpPr/>
          <p:nvPr/>
        </p:nvSpPr>
        <p:spPr>
          <a:xfrm>
            <a:off x="548640" y="4162044"/>
            <a:ext cx="11094720" cy="454152"/>
          </a:xfrm>
          <a:prstGeom prst="rect">
            <a:avLst/>
          </a:prstGeom>
          <a:solidFill>
            <a:srgbClr val="FFFFFF"/>
          </a:solidFill>
          <a:ln w="9525">
            <a:solidFill>
              <a:srgbClr val="E1E7F4"/>
            </a:solidFill>
          </a:ln>
        </p:spPr>
        <p:txBody>
          <a:bodyPr/>
          <a:lstStyle/>
          <a:p>
            <a:endParaRPr/>
          </a:p>
        </p:txBody>
      </p:sp>
      <p:sp>
        <p:nvSpPr>
          <p:cNvPr id="33" name="TextBox"/>
          <p:cNvSpPr txBox="1"/>
          <p:nvPr/>
        </p:nvSpPr>
        <p:spPr>
          <a:xfrm>
            <a:off x="557784" y="4175760"/>
            <a:ext cx="1645920" cy="426720"/>
          </a:xfrm>
          <a:prstGeom prst="rect">
            <a:avLst/>
          </a:prstGeom>
        </p:spPr>
        <p:txBody>
          <a:bodyPr anchor="ctr"/>
          <a:lstStyle/>
          <a:p>
            <a:r>
              <a:rPr sz="950">
                <a:solidFill>
                  <a:srgbClr val="141B33"/>
                </a:solidFill>
                <a:latin typeface="Segoe UI"/>
              </a:rPr>
              <a:t>Identity and</a:t>
            </a:r>
          </a:p>
          <a:p>
            <a:r>
              <a:rPr sz="950">
                <a:solidFill>
                  <a:srgbClr val="141B33"/>
                </a:solidFill>
                <a:latin typeface="Segoe UI"/>
              </a:rPr>
              <a:t>tracing</a:t>
            </a:r>
          </a:p>
        </p:txBody>
      </p:sp>
      <p:sp>
        <p:nvSpPr>
          <p:cNvPr id="34" name="TextBox"/>
          <p:cNvSpPr txBox="1"/>
          <p:nvPr/>
        </p:nvSpPr>
        <p:spPr>
          <a:xfrm>
            <a:off x="2221992" y="4175760"/>
            <a:ext cx="4696968" cy="426720"/>
          </a:xfrm>
          <a:prstGeom prst="rect">
            <a:avLst/>
          </a:prstGeom>
        </p:spPr>
        <p:txBody>
          <a:bodyPr anchor="ctr"/>
          <a:lstStyle/>
          <a:p>
            <a:r>
              <a:rPr sz="950">
                <a:solidFill>
                  <a:srgbClr val="141B33"/>
                </a:solidFill>
                <a:latin typeface="Segoe UI"/>
              </a:rPr>
              <a:t>The application's identity; OpenTelemetry built in, with</a:t>
            </a:r>
          </a:p>
          <a:p>
            <a:r>
              <a:rPr sz="950">
                <a:solidFill>
                  <a:srgbClr val="141B33"/>
                </a:solidFill>
                <a:latin typeface="Segoe UI"/>
              </a:rPr>
              <a:t>the exporter of choice</a:t>
            </a:r>
          </a:p>
        </p:txBody>
      </p:sp>
      <p:sp>
        <p:nvSpPr>
          <p:cNvPr id="35" name="TextBox"/>
          <p:cNvSpPr txBox="1"/>
          <p:nvPr/>
        </p:nvSpPr>
        <p:spPr>
          <a:xfrm>
            <a:off x="6937248" y="4175760"/>
            <a:ext cx="4696968" cy="426720"/>
          </a:xfrm>
          <a:prstGeom prst="rect">
            <a:avLst/>
          </a:prstGeom>
        </p:spPr>
        <p:txBody>
          <a:bodyPr anchor="ctr"/>
          <a:lstStyle/>
          <a:p>
            <a:r>
              <a:rPr sz="950">
                <a:solidFill>
                  <a:srgbClr val="141B33"/>
                </a:solidFill>
                <a:latin typeface="Segoe UI"/>
              </a:rPr>
              <a:t>A per-agent Entra agent identity; server-side traces with the</a:t>
            </a:r>
          </a:p>
          <a:p>
            <a:r>
              <a:rPr sz="950">
                <a:solidFill>
                  <a:srgbClr val="141B33"/>
                </a:solidFill>
                <a:latin typeface="Segoe UI"/>
              </a:rPr>
              <a:t>App Insights connection injected</a:t>
            </a:r>
          </a:p>
        </p:txBody>
      </p:sp>
      <p:sp>
        <p:nvSpPr>
          <p:cNvPr id="36" name="TextBox"/>
          <p:cNvSpPr txBox="1"/>
          <p:nvPr/>
        </p:nvSpPr>
        <p:spPr>
          <a:xfrm>
            <a:off x="457200" y="4594860"/>
            <a:ext cx="5669280" cy="411480"/>
          </a:xfrm>
          <a:prstGeom prst="rect">
            <a:avLst/>
          </a:prstGeom>
        </p:spPr>
        <p:txBody>
          <a:bodyPr anchor="ctr"/>
          <a:lstStyle/>
          <a:p>
            <a:r>
              <a:rPr sz="900" b="1">
                <a:solidFill>
                  <a:srgbClr val="008577"/>
                </a:solidFill>
                <a:latin typeface="Segoe UI"/>
              </a:rPr>
              <a:t>H O W   T H E Y   M E E T</a:t>
            </a:r>
          </a:p>
          <a:p>
            <a:endParaRPr sz="900" b="1">
              <a:solidFill>
                <a:srgbClr val="008577"/>
              </a:solidFill>
              <a:latin typeface="Segoe UI"/>
            </a:endParaRPr>
          </a:p>
        </p:txBody>
      </p:sp>
      <p:sp>
        <p:nvSpPr>
          <p:cNvPr id="37" name="TextBox"/>
          <p:cNvSpPr txBox="1"/>
          <p:nvPr/>
        </p:nvSpPr>
        <p:spPr>
          <a:xfrm>
            <a:off x="1874520" y="4594860"/>
            <a:ext cx="5669280" cy="411480"/>
          </a:xfrm>
          <a:prstGeom prst="rect">
            <a:avLst/>
          </a:prstGeom>
        </p:spPr>
        <p:txBody>
          <a:bodyPr anchor="ctr"/>
          <a:lstStyle/>
          <a:p>
            <a:r>
              <a:rPr sz="900">
                <a:solidFill>
                  <a:srgbClr val="44495B"/>
                </a:solidFill>
                <a:latin typeface="Segoe UI"/>
              </a:rPr>
              <a:t>Foundry Hosted Agent Integration — Preview</a:t>
            </a:r>
          </a:p>
          <a:p>
            <a:endParaRPr sz="900">
              <a:solidFill>
                <a:srgbClr val="44495B"/>
              </a:solidFill>
              <a:latin typeface="Segoe UI"/>
            </a:endParaRPr>
          </a:p>
        </p:txBody>
      </p:sp>
      <p:sp>
        <p:nvSpPr>
          <p:cNvPr id="38" name="Shape"/>
          <p:cNvSpPr/>
          <p:nvPr/>
        </p:nvSpPr>
        <p:spPr>
          <a:xfrm>
            <a:off x="548640" y="4864608"/>
            <a:ext cx="2540508" cy="420624"/>
          </a:xfrm>
          <a:prstGeom prst="rect">
            <a:avLst/>
          </a:prstGeom>
          <a:solidFill>
            <a:srgbClr val="101A3C"/>
          </a:solidFill>
        </p:spPr>
        <p:txBody>
          <a:bodyPr anchor="ctr"/>
          <a:lstStyle/>
          <a:p>
            <a:pPr algn="ctr"/>
            <a:r>
              <a:rPr sz="900">
                <a:solidFill>
                  <a:srgbClr val="FFFFFF"/>
                </a:solidFill>
                <a:latin typeface="Segoe UI"/>
              </a:rPr>
              <a:t>Agent Framework code</a:t>
            </a:r>
          </a:p>
        </p:txBody>
      </p:sp>
      <p:sp>
        <p:nvSpPr>
          <p:cNvPr id="39" name="Shape"/>
          <p:cNvSpPr/>
          <p:nvPr/>
        </p:nvSpPr>
        <p:spPr>
          <a:xfrm>
            <a:off x="3144012" y="4974336"/>
            <a:ext cx="201168" cy="201168"/>
          </a:xfrm>
          <a:prstGeom prst="rightArrow">
            <a:avLst/>
          </a:prstGeom>
          <a:solidFill>
            <a:srgbClr val="00B39F"/>
          </a:solidFill>
        </p:spPr>
        <p:txBody>
          <a:bodyPr/>
          <a:lstStyle/>
          <a:p>
            <a:endParaRPr/>
          </a:p>
        </p:txBody>
      </p:sp>
      <p:sp>
        <p:nvSpPr>
          <p:cNvPr id="40" name="Shape"/>
          <p:cNvSpPr/>
          <p:nvPr/>
        </p:nvSpPr>
        <p:spPr>
          <a:xfrm>
            <a:off x="3400044" y="4864608"/>
            <a:ext cx="2540508" cy="420624"/>
          </a:xfrm>
          <a:prstGeom prst="rect">
            <a:avLst/>
          </a:prstGeom>
          <a:solidFill>
            <a:srgbClr val="101A3C"/>
          </a:solidFill>
        </p:spPr>
        <p:txBody>
          <a:bodyPr anchor="ctr"/>
          <a:lstStyle/>
          <a:p>
            <a:pPr algn="ctr"/>
            <a:r>
              <a:rPr sz="900">
                <a:solidFill>
                  <a:srgbClr val="FFFFFF"/>
                </a:solidFill>
                <a:latin typeface="Segoe UI"/>
              </a:rPr>
              <a:t>Container image</a:t>
            </a:r>
          </a:p>
        </p:txBody>
      </p:sp>
      <p:sp>
        <p:nvSpPr>
          <p:cNvPr id="41" name="Shape"/>
          <p:cNvSpPr/>
          <p:nvPr/>
        </p:nvSpPr>
        <p:spPr>
          <a:xfrm>
            <a:off x="5995416" y="4974336"/>
            <a:ext cx="201168" cy="201168"/>
          </a:xfrm>
          <a:prstGeom prst="rightArrow">
            <a:avLst/>
          </a:prstGeom>
          <a:solidFill>
            <a:srgbClr val="00B39F"/>
          </a:solidFill>
        </p:spPr>
        <p:txBody>
          <a:bodyPr/>
          <a:lstStyle/>
          <a:p>
            <a:endParaRPr/>
          </a:p>
        </p:txBody>
      </p:sp>
      <p:sp>
        <p:nvSpPr>
          <p:cNvPr id="42" name="Shape"/>
          <p:cNvSpPr/>
          <p:nvPr/>
        </p:nvSpPr>
        <p:spPr>
          <a:xfrm>
            <a:off x="6251448" y="4864608"/>
            <a:ext cx="2540508" cy="420624"/>
          </a:xfrm>
          <a:prstGeom prst="rect">
            <a:avLst/>
          </a:prstGeom>
          <a:solidFill>
            <a:srgbClr val="101A3C"/>
          </a:solidFill>
        </p:spPr>
        <p:txBody>
          <a:bodyPr anchor="ctr"/>
          <a:lstStyle/>
          <a:p>
            <a:pPr algn="ctr"/>
            <a:r>
              <a:rPr sz="900">
                <a:solidFill>
                  <a:srgbClr val="FFFFFF"/>
                </a:solidFill>
                <a:latin typeface="Segoe UI"/>
              </a:rPr>
              <a:t>Foundry hosted agent or Azure Durable Functions</a:t>
            </a:r>
          </a:p>
        </p:txBody>
      </p:sp>
      <p:sp>
        <p:nvSpPr>
          <p:cNvPr id="43" name="Shape"/>
          <p:cNvSpPr/>
          <p:nvPr/>
        </p:nvSpPr>
        <p:spPr>
          <a:xfrm>
            <a:off x="8846820" y="4974336"/>
            <a:ext cx="201168" cy="201168"/>
          </a:xfrm>
          <a:prstGeom prst="rightArrow">
            <a:avLst/>
          </a:prstGeom>
          <a:solidFill>
            <a:srgbClr val="00B39F"/>
          </a:solidFill>
        </p:spPr>
        <p:txBody>
          <a:bodyPr/>
          <a:lstStyle/>
          <a:p>
            <a:endParaRPr/>
          </a:p>
        </p:txBody>
      </p:sp>
      <p:sp>
        <p:nvSpPr>
          <p:cNvPr id="44" name="Shape"/>
          <p:cNvSpPr/>
          <p:nvPr/>
        </p:nvSpPr>
        <p:spPr>
          <a:xfrm>
            <a:off x="9102852" y="4864608"/>
            <a:ext cx="2540508" cy="420624"/>
          </a:xfrm>
          <a:prstGeom prst="rect">
            <a:avLst/>
          </a:prstGeom>
          <a:solidFill>
            <a:srgbClr val="00B39F"/>
          </a:solidFill>
        </p:spPr>
        <p:txBody>
          <a:bodyPr anchor="ctr"/>
          <a:lstStyle/>
          <a:p>
            <a:pPr algn="ctr"/>
            <a:r>
              <a:rPr sz="900">
                <a:solidFill>
                  <a:srgbClr val="0B1229"/>
                </a:solidFill>
                <a:latin typeface="Segoe UI"/>
              </a:rPr>
              <a:t>Managed endpoint, identity and scaling</a:t>
            </a:r>
          </a:p>
        </p:txBody>
      </p:sp>
      <p:sp>
        <p:nvSpPr>
          <p:cNvPr id="45" name="Shape"/>
          <p:cNvSpPr/>
          <p:nvPr/>
        </p:nvSpPr>
        <p:spPr>
          <a:xfrm>
            <a:off x="548640" y="5687568"/>
            <a:ext cx="11094720" cy="9525"/>
          </a:xfrm>
          <a:prstGeom prst="rect">
            <a:avLst/>
          </a:prstGeom>
          <a:solidFill>
            <a:srgbClr val="E1E7F4"/>
          </a:solidFill>
        </p:spPr>
        <p:txBody>
          <a:bodyPr/>
          <a:lstStyle/>
          <a:p>
            <a:endParaRPr/>
          </a:p>
        </p:txBody>
      </p:sp>
      <p:sp>
        <p:nvSpPr>
          <p:cNvPr id="4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learn.microsoft.com/en-us/agent-framework/overview/</a:t>
            </a:r>
          </a:p>
          <a:p>
            <a:endParaRPr sz="900">
              <a:solidFill>
                <a:srgbClr val="44495B"/>
              </a:solidFill>
              <a:latin typeface="Segoe UI"/>
            </a:endParaRPr>
          </a:p>
        </p:txBody>
      </p:sp>
      <p:sp>
        <p:nvSpPr>
          <p:cNvPr id="4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19</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Routines: running an agent without a person</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One trigger, one agent. Foundry owns the scheduler, the event listener, the identity and the run history.</a:t>
            </a:r>
          </a:p>
          <a:p>
            <a:endParaRPr sz="1200">
              <a:solidFill>
                <a:srgbClr val="44495B"/>
              </a:solidFill>
              <a:latin typeface="Segoe UI"/>
            </a:endParaRPr>
          </a:p>
        </p:txBody>
      </p:sp>
      <p:sp>
        <p:nvSpPr>
          <p:cNvPr id="4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 — concepts/routines · how-to/use-routines</a:t>
            </a:r>
          </a:p>
          <a:p>
            <a:endParaRPr sz="900">
              <a:solidFill>
                <a:srgbClr val="44495B"/>
              </a:solidFill>
              <a:latin typeface="Segoe UI"/>
            </a:endParaRPr>
          </a:p>
        </p:txBody>
      </p:sp>
      <p:sp>
        <p:nvSpPr>
          <p:cNvPr id="4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20</a:t>
            </a:r>
          </a:p>
        </p:txBody>
      </p:sp>
      <p:sp>
        <p:nvSpPr>
          <p:cNvPr id="48" name="TextBox 47"/>
          <p:cNvSpPr txBox="1"/>
          <p:nvPr/>
        </p:nvSpPr>
        <p:spPr>
          <a:xfrm>
            <a:off x="457200" y="1243584"/>
            <a:ext cx="5943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O N E   T R I G G E R ,   O N E   A C T I O N</a:t>
            </a:r>
          </a:p>
        </p:txBody>
      </p:sp>
      <p:sp>
        <p:nvSpPr>
          <p:cNvPr id="49" name="Rectangle 48"/>
          <p:cNvSpPr/>
          <p:nvPr/>
        </p:nvSpPr>
        <p:spPr>
          <a:xfrm>
            <a:off x="548640" y="1517904"/>
            <a:ext cx="2395728" cy="585216"/>
          </a:xfrm>
          <a:prstGeom prst="rect">
            <a:avLst/>
          </a:prstGeom>
          <a:solidFill>
            <a:srgbClr val="F6F8FD"/>
          </a:solidFill>
          <a:ln w="9525">
            <a:solidFill>
              <a:srgbClr val="E1E7F4"/>
            </a:solidFill>
          </a:ln>
          <a:effectLst/>
        </p:spPr>
        <p:txBody>
          <a:bodyPr wrap="square" rtlCol="0" anchor="ctr"/>
          <a:lstStyle/>
          <a:p>
            <a:pPr algn="ctr"/>
            <a:endParaRPr/>
          </a:p>
        </p:txBody>
      </p:sp>
      <p:sp>
        <p:nvSpPr>
          <p:cNvPr id="50" name="Rectangle 49"/>
          <p:cNvSpPr/>
          <p:nvPr/>
        </p:nvSpPr>
        <p:spPr>
          <a:xfrm>
            <a:off x="548640" y="1517904"/>
            <a:ext cx="41148" cy="585216"/>
          </a:xfrm>
          <a:prstGeom prst="rect">
            <a:avLst/>
          </a:prstGeom>
          <a:solidFill>
            <a:srgbClr val="00B39F"/>
          </a:solidFill>
          <a:ln>
            <a:noFill/>
          </a:ln>
          <a:effectLst/>
        </p:spPr>
        <p:txBody>
          <a:bodyPr wrap="square" rtlCol="0" anchor="ctr"/>
          <a:lstStyle/>
          <a:p>
            <a:pPr algn="ctr"/>
            <a:endParaRPr/>
          </a:p>
        </p:txBody>
      </p:sp>
      <p:sp>
        <p:nvSpPr>
          <p:cNvPr id="51" name="TextBox 50"/>
          <p:cNvSpPr txBox="1"/>
          <p:nvPr/>
        </p:nvSpPr>
        <p:spPr>
          <a:xfrm>
            <a:off x="713232" y="1600200"/>
            <a:ext cx="2103120" cy="164592"/>
          </a:xfrm>
          <a:prstGeom prst="rect">
            <a:avLst/>
          </a:prstGeom>
          <a:noFill/>
        </p:spPr>
        <p:txBody>
          <a:bodyPr wrap="square" lIns="0" tIns="0" rIns="0" bIns="0" anchor="t">
            <a:spAutoFit/>
          </a:bodyPr>
          <a:lstStyle/>
          <a:p>
            <a:pPr algn="l">
              <a:lnSpc>
                <a:spcPct val="112000"/>
              </a:lnSpc>
            </a:pPr>
            <a:r>
              <a:rPr sz="950" b="1" i="0">
                <a:solidFill>
                  <a:srgbClr val="101A3C"/>
                </a:solidFill>
                <a:latin typeface="Segoe UI"/>
                <a:cs typeface="Segoe UI"/>
              </a:rPr>
              <a:t>Timer</a:t>
            </a:r>
          </a:p>
        </p:txBody>
      </p:sp>
      <p:sp>
        <p:nvSpPr>
          <p:cNvPr id="52" name="TextBox 51"/>
          <p:cNvSpPr txBox="1"/>
          <p:nvPr/>
        </p:nvSpPr>
        <p:spPr>
          <a:xfrm>
            <a:off x="713232" y="1783080"/>
            <a:ext cx="2103120" cy="27432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once at a date and time;</a:t>
            </a:r>
          </a:p>
          <a:p>
            <a:pPr algn="l">
              <a:lnSpc>
                <a:spcPct val="114000"/>
              </a:lnSpc>
            </a:pPr>
            <a:r>
              <a:rPr sz="750" b="0" i="0">
                <a:solidFill>
                  <a:srgbClr val="44495B"/>
                </a:solidFill>
                <a:latin typeface="Segoe UI"/>
                <a:cs typeface="Segoe UI"/>
              </a:rPr>
              <a:t>the routine then goes inactive</a:t>
            </a:r>
          </a:p>
        </p:txBody>
      </p:sp>
      <p:sp>
        <p:nvSpPr>
          <p:cNvPr id="53" name="Rectangle 52"/>
          <p:cNvSpPr/>
          <p:nvPr/>
        </p:nvSpPr>
        <p:spPr>
          <a:xfrm>
            <a:off x="548640" y="2176272"/>
            <a:ext cx="2395728" cy="585216"/>
          </a:xfrm>
          <a:prstGeom prst="rect">
            <a:avLst/>
          </a:prstGeom>
          <a:solidFill>
            <a:srgbClr val="F6F8FD"/>
          </a:solidFill>
          <a:ln w="9525">
            <a:solidFill>
              <a:srgbClr val="E1E7F4"/>
            </a:solidFill>
          </a:ln>
          <a:effectLst/>
        </p:spPr>
        <p:txBody>
          <a:bodyPr wrap="square" rtlCol="0" anchor="ctr"/>
          <a:lstStyle/>
          <a:p>
            <a:pPr algn="ctr"/>
            <a:endParaRPr/>
          </a:p>
        </p:txBody>
      </p:sp>
      <p:sp>
        <p:nvSpPr>
          <p:cNvPr id="54" name="Rectangle 53"/>
          <p:cNvSpPr/>
          <p:nvPr/>
        </p:nvSpPr>
        <p:spPr>
          <a:xfrm>
            <a:off x="548640" y="2176272"/>
            <a:ext cx="41148" cy="585216"/>
          </a:xfrm>
          <a:prstGeom prst="rect">
            <a:avLst/>
          </a:prstGeom>
          <a:solidFill>
            <a:srgbClr val="00B39F"/>
          </a:solidFill>
          <a:ln>
            <a:noFill/>
          </a:ln>
          <a:effectLst/>
        </p:spPr>
        <p:txBody>
          <a:bodyPr wrap="square" rtlCol="0" anchor="ctr"/>
          <a:lstStyle/>
          <a:p>
            <a:pPr algn="ctr"/>
            <a:endParaRPr/>
          </a:p>
        </p:txBody>
      </p:sp>
      <p:sp>
        <p:nvSpPr>
          <p:cNvPr id="55" name="TextBox 54"/>
          <p:cNvSpPr txBox="1"/>
          <p:nvPr/>
        </p:nvSpPr>
        <p:spPr>
          <a:xfrm>
            <a:off x="713232" y="2258568"/>
            <a:ext cx="2103120" cy="164592"/>
          </a:xfrm>
          <a:prstGeom prst="rect">
            <a:avLst/>
          </a:prstGeom>
          <a:noFill/>
        </p:spPr>
        <p:txBody>
          <a:bodyPr wrap="square" lIns="0" tIns="0" rIns="0" bIns="0" anchor="t">
            <a:spAutoFit/>
          </a:bodyPr>
          <a:lstStyle/>
          <a:p>
            <a:pPr algn="l">
              <a:lnSpc>
                <a:spcPct val="112000"/>
              </a:lnSpc>
            </a:pPr>
            <a:r>
              <a:rPr sz="950" b="1" i="0">
                <a:solidFill>
                  <a:srgbClr val="101A3C"/>
                </a:solidFill>
                <a:latin typeface="Segoe UI"/>
                <a:cs typeface="Segoe UI"/>
              </a:rPr>
              <a:t>Recurring</a:t>
            </a:r>
          </a:p>
        </p:txBody>
      </p:sp>
      <p:sp>
        <p:nvSpPr>
          <p:cNvPr id="56" name="TextBox 55"/>
          <p:cNvSpPr txBox="1"/>
          <p:nvPr/>
        </p:nvSpPr>
        <p:spPr>
          <a:xfrm>
            <a:off x="713232" y="2441448"/>
            <a:ext cx="2103120" cy="27432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cron schedule;</a:t>
            </a:r>
          </a:p>
          <a:p>
            <a:pPr algn="l">
              <a:lnSpc>
                <a:spcPct val="114000"/>
              </a:lnSpc>
            </a:pPr>
            <a:r>
              <a:rPr sz="750" b="0" i="0">
                <a:solidFill>
                  <a:srgbClr val="44495B"/>
                </a:solidFill>
                <a:latin typeface="Segoe UI"/>
                <a:cs typeface="Segoe UI"/>
              </a:rPr>
              <a:t>minimum interval five minutes</a:t>
            </a:r>
          </a:p>
        </p:txBody>
      </p:sp>
      <p:sp>
        <p:nvSpPr>
          <p:cNvPr id="57" name="Rectangle 56"/>
          <p:cNvSpPr/>
          <p:nvPr/>
        </p:nvSpPr>
        <p:spPr>
          <a:xfrm>
            <a:off x="548640" y="2834639"/>
            <a:ext cx="2395728" cy="585216"/>
          </a:xfrm>
          <a:prstGeom prst="rect">
            <a:avLst/>
          </a:prstGeom>
          <a:solidFill>
            <a:srgbClr val="F6F8FD"/>
          </a:solidFill>
          <a:ln w="9525">
            <a:solidFill>
              <a:srgbClr val="E1E7F4"/>
            </a:solidFill>
          </a:ln>
          <a:effectLst/>
        </p:spPr>
        <p:txBody>
          <a:bodyPr wrap="square" rtlCol="0" anchor="ctr"/>
          <a:lstStyle/>
          <a:p>
            <a:pPr algn="ctr"/>
            <a:endParaRPr/>
          </a:p>
        </p:txBody>
      </p:sp>
      <p:sp>
        <p:nvSpPr>
          <p:cNvPr id="58" name="Rectangle 57"/>
          <p:cNvSpPr/>
          <p:nvPr/>
        </p:nvSpPr>
        <p:spPr>
          <a:xfrm>
            <a:off x="548640" y="2834639"/>
            <a:ext cx="41148" cy="585216"/>
          </a:xfrm>
          <a:prstGeom prst="rect">
            <a:avLst/>
          </a:prstGeom>
          <a:solidFill>
            <a:srgbClr val="00B39F"/>
          </a:solidFill>
          <a:ln>
            <a:noFill/>
          </a:ln>
          <a:effectLst/>
        </p:spPr>
        <p:txBody>
          <a:bodyPr wrap="square" rtlCol="0" anchor="ctr"/>
          <a:lstStyle/>
          <a:p>
            <a:pPr algn="ctr"/>
            <a:endParaRPr/>
          </a:p>
        </p:txBody>
      </p:sp>
      <p:sp>
        <p:nvSpPr>
          <p:cNvPr id="59" name="TextBox 58"/>
          <p:cNvSpPr txBox="1"/>
          <p:nvPr/>
        </p:nvSpPr>
        <p:spPr>
          <a:xfrm>
            <a:off x="713232" y="2916935"/>
            <a:ext cx="2103120" cy="164592"/>
          </a:xfrm>
          <a:prstGeom prst="rect">
            <a:avLst/>
          </a:prstGeom>
          <a:noFill/>
        </p:spPr>
        <p:txBody>
          <a:bodyPr wrap="square" lIns="0" tIns="0" rIns="0" bIns="0" anchor="t">
            <a:spAutoFit/>
          </a:bodyPr>
          <a:lstStyle/>
          <a:p>
            <a:pPr algn="l">
              <a:lnSpc>
                <a:spcPct val="112000"/>
              </a:lnSpc>
            </a:pPr>
            <a:r>
              <a:rPr sz="950" b="1" i="0">
                <a:solidFill>
                  <a:srgbClr val="101A3C"/>
                </a:solidFill>
                <a:latin typeface="Segoe UI"/>
                <a:cs typeface="Segoe UI"/>
              </a:rPr>
              <a:t>Event</a:t>
            </a:r>
          </a:p>
        </p:txBody>
      </p:sp>
      <p:sp>
        <p:nvSpPr>
          <p:cNvPr id="60" name="TextBox 59"/>
          <p:cNvSpPr txBox="1"/>
          <p:nvPr/>
        </p:nvSpPr>
        <p:spPr>
          <a:xfrm>
            <a:off x="713232" y="3099815"/>
            <a:ext cx="2103120" cy="274320"/>
          </a:xfrm>
          <a:prstGeom prst="rect">
            <a:avLst/>
          </a:prstGeom>
          <a:noFill/>
        </p:spPr>
        <p:txBody>
          <a:bodyPr wrap="square" lIns="0" tIns="0" rIns="0" bIns="0" anchor="t">
            <a:spAutoFit/>
          </a:bodyPr>
          <a:lstStyle/>
          <a:p>
            <a:pPr algn="l">
              <a:lnSpc>
                <a:spcPct val="114000"/>
              </a:lnSpc>
            </a:pPr>
            <a:r>
              <a:rPr sz="750" b="0" i="0">
                <a:solidFill>
                  <a:srgbClr val="44495B"/>
                </a:solidFill>
                <a:latin typeface="Segoe UI"/>
                <a:cs typeface="Segoe UI"/>
              </a:rPr>
              <a:t>GitHub issue opened or closed;</a:t>
            </a:r>
          </a:p>
          <a:p>
            <a:pPr algn="l">
              <a:lnSpc>
                <a:spcPct val="114000"/>
              </a:lnSpc>
            </a:pPr>
            <a:r>
              <a:rPr sz="750" b="0" i="0">
                <a:solidFill>
                  <a:srgbClr val="44495B"/>
                </a:solidFill>
                <a:latin typeface="Segoe UI"/>
                <a:cs typeface="Segoe UI"/>
              </a:rPr>
              <a:t>message in a Teams channel</a:t>
            </a:r>
          </a:p>
        </p:txBody>
      </p:sp>
      <p:cxnSp>
        <p:nvCxnSpPr>
          <p:cNvPr id="61" name="Connector 60"/>
          <p:cNvCxnSpPr/>
          <p:nvPr/>
        </p:nvCxnSpPr>
        <p:spPr>
          <a:xfrm>
            <a:off x="2944368" y="2103120"/>
            <a:ext cx="438912"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2" name="Rectangle 61"/>
          <p:cNvSpPr/>
          <p:nvPr/>
        </p:nvSpPr>
        <p:spPr>
          <a:xfrm>
            <a:off x="3383280" y="1773936"/>
            <a:ext cx="2103120" cy="658368"/>
          </a:xfrm>
          <a:prstGeom prst="rect">
            <a:avLst/>
          </a:prstGeom>
          <a:solidFill>
            <a:srgbClr val="101A3C"/>
          </a:solidFill>
          <a:ln>
            <a:noFill/>
          </a:ln>
          <a:effectLst/>
        </p:spPr>
        <p:txBody>
          <a:bodyPr wrap="square" lIns="73152" tIns="18288" rIns="73152" bIns="18288" rtlCol="0" anchor="ctr"/>
          <a:lstStyle/>
          <a:p>
            <a:pPr algn="ctr">
              <a:lnSpc>
                <a:spcPct val="126000"/>
              </a:lnSpc>
            </a:pPr>
            <a:r>
              <a:rPr sz="1050" b="1">
                <a:solidFill>
                  <a:srgbClr val="FFFFFF"/>
                </a:solidFill>
                <a:latin typeface="Segoe UI"/>
                <a:cs typeface="Segoe UI"/>
              </a:rPr>
              <a:t>One agent</a:t>
            </a:r>
          </a:p>
          <a:p>
            <a:pPr algn="ctr">
              <a:lnSpc>
                <a:spcPct val="126000"/>
              </a:lnSpc>
            </a:pPr>
            <a:r>
              <a:rPr sz="800" b="0">
                <a:solidFill>
                  <a:srgbClr val="00B39F"/>
                </a:solidFill>
                <a:latin typeface="Segoe UI"/>
                <a:cs typeface="Segoe UI"/>
              </a:rPr>
              <a:t>prompt or hosted</a:t>
            </a:r>
          </a:p>
        </p:txBody>
      </p:sp>
      <p:sp>
        <p:nvSpPr>
          <p:cNvPr id="63" name="TextBox 62"/>
          <p:cNvSpPr txBox="1"/>
          <p:nvPr/>
        </p:nvSpPr>
        <p:spPr>
          <a:xfrm>
            <a:off x="3383280" y="2487168"/>
            <a:ext cx="2103120" cy="274320"/>
          </a:xfrm>
          <a:prstGeom prst="rect">
            <a:avLst/>
          </a:prstGeom>
          <a:noFill/>
        </p:spPr>
        <p:txBody>
          <a:bodyPr wrap="square" lIns="0" tIns="0" rIns="0" bIns="0" anchor="t">
            <a:spAutoFit/>
          </a:bodyPr>
          <a:lstStyle/>
          <a:p>
            <a:pPr algn="ctr">
              <a:lnSpc>
                <a:spcPct val="116000"/>
              </a:lnSpc>
            </a:pPr>
            <a:r>
              <a:rPr sz="750" b="0" i="0">
                <a:solidFill>
                  <a:srgbClr val="44495B"/>
                </a:solidFill>
                <a:latin typeface="Segoe UI"/>
                <a:cs typeface="Segoe UI"/>
              </a:rPr>
              <a:t>Responses API or Invocations API;</a:t>
            </a:r>
          </a:p>
          <a:p>
            <a:pPr algn="ctr">
              <a:lnSpc>
                <a:spcPct val="116000"/>
              </a:lnSpc>
            </a:pPr>
            <a:r>
              <a:rPr sz="750" b="0" i="0">
                <a:solidFill>
                  <a:srgbClr val="44495B"/>
                </a:solidFill>
                <a:latin typeface="Segoe UI"/>
                <a:cs typeface="Segoe UI"/>
              </a:rPr>
              <a:t>the agent protocol must match.</a:t>
            </a:r>
          </a:p>
        </p:txBody>
      </p:sp>
      <p:cxnSp>
        <p:nvCxnSpPr>
          <p:cNvPr id="64" name="Connector 63"/>
          <p:cNvCxnSpPr/>
          <p:nvPr/>
        </p:nvCxnSpPr>
        <p:spPr>
          <a:xfrm>
            <a:off x="5486400" y="2103120"/>
            <a:ext cx="438912" cy="0"/>
          </a:xfrm>
          <a:prstGeom prst="line">
            <a:avLst/>
          </a:prstGeom>
          <a:ln w="13970">
            <a:solidFill>
              <a:srgbClr val="44495B"/>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65" name="Rectangle 64"/>
          <p:cNvSpPr/>
          <p:nvPr/>
        </p:nvSpPr>
        <p:spPr>
          <a:xfrm>
            <a:off x="5925312" y="1773936"/>
            <a:ext cx="2103120" cy="658368"/>
          </a:xfrm>
          <a:prstGeom prst="rect">
            <a:avLst/>
          </a:prstGeom>
          <a:solidFill>
            <a:srgbClr val="FFFFFF"/>
          </a:solidFill>
          <a:ln w="9525">
            <a:solidFill>
              <a:srgbClr val="E1E7F4"/>
            </a:solidFill>
          </a:ln>
          <a:effectLst/>
        </p:spPr>
        <p:txBody>
          <a:bodyPr wrap="square" lIns="73152" tIns="18288" rIns="73152" bIns="18288" rtlCol="0" anchor="ctr"/>
          <a:lstStyle/>
          <a:p>
            <a:pPr algn="ctr">
              <a:lnSpc>
                <a:spcPct val="124000"/>
              </a:lnSpc>
            </a:pPr>
            <a:r>
              <a:rPr sz="1000" b="1">
                <a:solidFill>
                  <a:srgbClr val="101A3C"/>
                </a:solidFill>
                <a:latin typeface="Segoe UI"/>
                <a:cs typeface="Segoe UI"/>
              </a:rPr>
              <a:t>Run history</a:t>
            </a:r>
          </a:p>
          <a:p>
            <a:pPr algn="ctr">
              <a:lnSpc>
                <a:spcPct val="124000"/>
              </a:lnSpc>
            </a:pPr>
            <a:r>
              <a:rPr sz="750" b="0">
                <a:solidFill>
                  <a:srgbClr val="44495B"/>
                </a:solidFill>
                <a:latin typeface="Segoe UI"/>
                <a:cs typeface="Segoe UI"/>
              </a:rPr>
              <a:t>input · output · status · trace</a:t>
            </a:r>
          </a:p>
        </p:txBody>
      </p:sp>
      <p:sp>
        <p:nvSpPr>
          <p:cNvPr id="66" name="Rectangle 65"/>
          <p:cNvSpPr/>
          <p:nvPr/>
        </p:nvSpPr>
        <p:spPr>
          <a:xfrm>
            <a:off x="548640" y="3529584"/>
            <a:ext cx="7479792" cy="566928"/>
          </a:xfrm>
          <a:prstGeom prst="rect">
            <a:avLst/>
          </a:prstGeom>
          <a:solidFill>
            <a:srgbClr val="EBEFF7"/>
          </a:solidFill>
          <a:ln>
            <a:noFill/>
          </a:ln>
          <a:effectLst/>
        </p:spPr>
        <p:txBody>
          <a:bodyPr wrap="square" rtlCol="0" anchor="ctr"/>
          <a:lstStyle/>
          <a:p>
            <a:pPr algn="ctr"/>
            <a:endParaRPr/>
          </a:p>
        </p:txBody>
      </p:sp>
      <p:sp>
        <p:nvSpPr>
          <p:cNvPr id="67" name="Rectangle 66"/>
          <p:cNvSpPr/>
          <p:nvPr/>
        </p:nvSpPr>
        <p:spPr>
          <a:xfrm>
            <a:off x="548640" y="3529584"/>
            <a:ext cx="41148" cy="566928"/>
          </a:xfrm>
          <a:prstGeom prst="rect">
            <a:avLst/>
          </a:prstGeom>
          <a:solidFill>
            <a:srgbClr val="00B39F"/>
          </a:solidFill>
          <a:ln>
            <a:noFill/>
          </a:ln>
          <a:effectLst/>
        </p:spPr>
        <p:txBody>
          <a:bodyPr wrap="square" rtlCol="0" anchor="ctr"/>
          <a:lstStyle/>
          <a:p>
            <a:pPr algn="ctr"/>
            <a:endParaRPr/>
          </a:p>
        </p:txBody>
      </p:sp>
      <p:sp>
        <p:nvSpPr>
          <p:cNvPr id="68" name="TextBox 67"/>
          <p:cNvSpPr txBox="1"/>
          <p:nvPr/>
        </p:nvSpPr>
        <p:spPr>
          <a:xfrm>
            <a:off x="786384" y="3639312"/>
            <a:ext cx="7040880" cy="402336"/>
          </a:xfrm>
          <a:prstGeom prst="rect">
            <a:avLst/>
          </a:prstGeom>
          <a:noFill/>
        </p:spPr>
        <p:txBody>
          <a:bodyPr wrap="square" lIns="0" tIns="0" rIns="0" bIns="0" anchor="t">
            <a:spAutoFit/>
          </a:bodyPr>
          <a:lstStyle/>
          <a:p>
            <a:pPr algn="l">
              <a:lnSpc>
                <a:spcPct val="120000"/>
              </a:lnSpc>
            </a:pPr>
            <a:r>
              <a:rPr sz="850" b="0" i="0">
                <a:solidFill>
                  <a:srgbClr val="101A3C"/>
                </a:solidFill>
                <a:latin typeface="Segoe UI"/>
                <a:cs typeface="Segoe UI"/>
              </a:rPr>
              <a:t>Routines reuse the agent’s existing invocation path, so they inherit the project’s network configuration and the same tools, model and tracing the agent already uses.</a:t>
            </a:r>
          </a:p>
        </p:txBody>
      </p:sp>
      <p:sp>
        <p:nvSpPr>
          <p:cNvPr id="69" name="TextBox 68"/>
          <p:cNvSpPr txBox="1"/>
          <p:nvPr/>
        </p:nvSpPr>
        <p:spPr>
          <a:xfrm>
            <a:off x="457200" y="4261104"/>
            <a:ext cx="5943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I D E N T I T Y   A N D   L I M I T S</a:t>
            </a:r>
          </a:p>
        </p:txBody>
      </p:sp>
      <p:sp>
        <p:nvSpPr>
          <p:cNvPr id="70" name="Rectangle 69"/>
          <p:cNvSpPr/>
          <p:nvPr/>
        </p:nvSpPr>
        <p:spPr>
          <a:xfrm>
            <a:off x="548640" y="4517136"/>
            <a:ext cx="7479792" cy="347472"/>
          </a:xfrm>
          <a:prstGeom prst="rect">
            <a:avLst/>
          </a:prstGeom>
          <a:solidFill>
            <a:srgbClr val="F6F8FD"/>
          </a:solidFill>
          <a:ln w="9525">
            <a:solidFill>
              <a:srgbClr val="E1E7F4"/>
            </a:solidFill>
          </a:ln>
          <a:effectLst/>
        </p:spPr>
        <p:txBody>
          <a:bodyPr wrap="square" rtlCol="0" anchor="ctr"/>
          <a:lstStyle/>
          <a:p>
            <a:pPr algn="ctr"/>
            <a:endParaRPr/>
          </a:p>
        </p:txBody>
      </p:sp>
      <p:sp>
        <p:nvSpPr>
          <p:cNvPr id="71" name="TextBox 70"/>
          <p:cNvSpPr txBox="1"/>
          <p:nvPr/>
        </p:nvSpPr>
        <p:spPr>
          <a:xfrm>
            <a:off x="713232" y="4544568"/>
            <a:ext cx="1572768" cy="292608"/>
          </a:xfrm>
          <a:prstGeom prst="rect">
            <a:avLst/>
          </a:prstGeom>
          <a:noFill/>
        </p:spPr>
        <p:txBody>
          <a:bodyPr wrap="square" lIns="0" tIns="0" rIns="0" bIns="0" anchor="ctr">
            <a:spAutoFit/>
          </a:bodyPr>
          <a:lstStyle/>
          <a:p>
            <a:pPr algn="l">
              <a:lnSpc>
                <a:spcPct val="106000"/>
              </a:lnSpc>
            </a:pPr>
            <a:r>
              <a:rPr sz="850" b="1" i="0">
                <a:solidFill>
                  <a:srgbClr val="101A3C"/>
                </a:solidFill>
                <a:latin typeface="Segoe UI"/>
                <a:cs typeface="Segoe UI"/>
              </a:rPr>
              <a:t>Dispatch identity</a:t>
            </a:r>
          </a:p>
        </p:txBody>
      </p:sp>
      <p:sp>
        <p:nvSpPr>
          <p:cNvPr id="72" name="TextBox 71"/>
          <p:cNvSpPr txBox="1"/>
          <p:nvPr/>
        </p:nvSpPr>
        <p:spPr>
          <a:xfrm>
            <a:off x="2395728" y="4544568"/>
            <a:ext cx="5486400" cy="292608"/>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Agent identity by default. Creator identity is a create-time opt-in and is fixed — delete and recreate to change it.</a:t>
            </a:r>
          </a:p>
        </p:txBody>
      </p:sp>
      <p:sp>
        <p:nvSpPr>
          <p:cNvPr id="73" name="Rectangle 72"/>
          <p:cNvSpPr/>
          <p:nvPr/>
        </p:nvSpPr>
        <p:spPr>
          <a:xfrm>
            <a:off x="548640" y="4901184"/>
            <a:ext cx="7479792" cy="347472"/>
          </a:xfrm>
          <a:prstGeom prst="rect">
            <a:avLst/>
          </a:prstGeom>
          <a:solidFill>
            <a:srgbClr val="FFFFFF"/>
          </a:solidFill>
          <a:ln w="9525">
            <a:solidFill>
              <a:srgbClr val="E1E7F4"/>
            </a:solidFill>
          </a:ln>
          <a:effectLst/>
        </p:spPr>
        <p:txBody>
          <a:bodyPr wrap="square" rtlCol="0" anchor="ctr"/>
          <a:lstStyle/>
          <a:p>
            <a:pPr algn="ctr"/>
            <a:endParaRPr/>
          </a:p>
        </p:txBody>
      </p:sp>
      <p:sp>
        <p:nvSpPr>
          <p:cNvPr id="74" name="TextBox 73"/>
          <p:cNvSpPr txBox="1"/>
          <p:nvPr/>
        </p:nvSpPr>
        <p:spPr>
          <a:xfrm>
            <a:off x="713232" y="4928616"/>
            <a:ext cx="1572768" cy="292608"/>
          </a:xfrm>
          <a:prstGeom prst="rect">
            <a:avLst/>
          </a:prstGeom>
          <a:noFill/>
        </p:spPr>
        <p:txBody>
          <a:bodyPr wrap="square" lIns="0" tIns="0" rIns="0" bIns="0" anchor="ctr">
            <a:spAutoFit/>
          </a:bodyPr>
          <a:lstStyle/>
          <a:p>
            <a:pPr algn="l">
              <a:lnSpc>
                <a:spcPct val="106000"/>
              </a:lnSpc>
            </a:pPr>
            <a:r>
              <a:rPr sz="850" b="1" i="0">
                <a:solidFill>
                  <a:srgbClr val="101A3C"/>
                </a:solidFill>
                <a:latin typeface="Segoe UI"/>
                <a:cs typeface="Segoe UI"/>
              </a:rPr>
              <a:t>Not supported</a:t>
            </a:r>
          </a:p>
        </p:txBody>
      </p:sp>
      <p:sp>
        <p:nvSpPr>
          <p:cNvPr id="75" name="TextBox 74"/>
          <p:cNvSpPr txBox="1"/>
          <p:nvPr/>
        </p:nvSpPr>
        <p:spPr>
          <a:xfrm>
            <a:off x="2395728" y="4928616"/>
            <a:ext cx="5486400" cy="292608"/>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Workflow agents · customer-managed keys · UK West, Switzerland West, Japan West, UAE North, Norway East.</a:t>
            </a:r>
          </a:p>
        </p:txBody>
      </p:sp>
      <p:sp>
        <p:nvSpPr>
          <p:cNvPr id="76" name="Rectangle 75"/>
          <p:cNvSpPr/>
          <p:nvPr/>
        </p:nvSpPr>
        <p:spPr>
          <a:xfrm>
            <a:off x="548640" y="5285232"/>
            <a:ext cx="7479792" cy="347472"/>
          </a:xfrm>
          <a:prstGeom prst="rect">
            <a:avLst/>
          </a:prstGeom>
          <a:solidFill>
            <a:srgbClr val="F6F8FD"/>
          </a:solidFill>
          <a:ln w="9525">
            <a:solidFill>
              <a:srgbClr val="E1E7F4"/>
            </a:solidFill>
          </a:ln>
          <a:effectLst/>
        </p:spPr>
        <p:txBody>
          <a:bodyPr wrap="square" rtlCol="0" anchor="ctr"/>
          <a:lstStyle/>
          <a:p>
            <a:pPr algn="ctr"/>
            <a:endParaRPr/>
          </a:p>
        </p:txBody>
      </p:sp>
      <p:sp>
        <p:nvSpPr>
          <p:cNvPr id="77" name="TextBox 76"/>
          <p:cNvSpPr txBox="1"/>
          <p:nvPr/>
        </p:nvSpPr>
        <p:spPr>
          <a:xfrm>
            <a:off x="713232" y="5312664"/>
            <a:ext cx="1572768" cy="292608"/>
          </a:xfrm>
          <a:prstGeom prst="rect">
            <a:avLst/>
          </a:prstGeom>
          <a:noFill/>
        </p:spPr>
        <p:txBody>
          <a:bodyPr wrap="square" lIns="0" tIns="0" rIns="0" bIns="0" anchor="ctr">
            <a:spAutoFit/>
          </a:bodyPr>
          <a:lstStyle/>
          <a:p>
            <a:pPr algn="l">
              <a:lnSpc>
                <a:spcPct val="106000"/>
              </a:lnSpc>
            </a:pPr>
            <a:r>
              <a:rPr sz="850" b="1" i="0">
                <a:solidFill>
                  <a:srgbClr val="101A3C"/>
                </a:solidFill>
                <a:latin typeface="Segoe UI"/>
                <a:cs typeface="Segoe UI"/>
              </a:rPr>
              <a:t>Delivery</a:t>
            </a:r>
          </a:p>
        </p:txBody>
      </p:sp>
      <p:sp>
        <p:nvSpPr>
          <p:cNvPr id="78" name="TextBox 77"/>
          <p:cNvSpPr txBox="1"/>
          <p:nvPr/>
        </p:nvSpPr>
        <p:spPr>
          <a:xfrm>
            <a:off x="2395728" y="5312664"/>
            <a:ext cx="5486400" cy="292608"/>
          </a:xfrm>
          <a:prstGeom prst="rect">
            <a:avLst/>
          </a:prstGeom>
          <a:noFill/>
        </p:spPr>
        <p:txBody>
          <a:bodyPr wrap="square" lIns="0" tIns="0" rIns="0" bIns="0" anchor="ctr">
            <a:spAutoFit/>
          </a:bodyPr>
          <a:lstStyle/>
          <a:p>
            <a:pPr algn="l">
              <a:lnSpc>
                <a:spcPct val="112000"/>
              </a:lnSpc>
            </a:pPr>
            <a:r>
              <a:rPr sz="750" b="0" i="0">
                <a:solidFill>
                  <a:srgbClr val="44495B"/>
                </a:solidFill>
                <a:latin typeface="Segoe UI"/>
                <a:cs typeface="Segoe UI"/>
              </a:rPr>
              <a:t>Five-minute minimum schedule interval; 30-second timeout per attempt and three delivery attempts.</a:t>
            </a:r>
          </a:p>
        </p:txBody>
      </p:sp>
      <p:sp>
        <p:nvSpPr>
          <p:cNvPr id="79" name="TextBox 78"/>
          <p:cNvSpPr txBox="1"/>
          <p:nvPr/>
        </p:nvSpPr>
        <p:spPr>
          <a:xfrm>
            <a:off x="8156448" y="1243584"/>
            <a:ext cx="3657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R O U T I N E S   O R   A   W O R K F L O W ?</a:t>
            </a:r>
          </a:p>
        </p:txBody>
      </p:sp>
      <p:sp>
        <p:nvSpPr>
          <p:cNvPr id="80" name="Rectangle 79"/>
          <p:cNvSpPr/>
          <p:nvPr/>
        </p:nvSpPr>
        <p:spPr>
          <a:xfrm>
            <a:off x="8247888" y="1517904"/>
            <a:ext cx="3392424" cy="310896"/>
          </a:xfrm>
          <a:prstGeom prst="rect">
            <a:avLst/>
          </a:prstGeom>
          <a:solidFill>
            <a:srgbClr val="101A3C"/>
          </a:solidFill>
          <a:ln>
            <a:noFill/>
          </a:ln>
          <a:effectLst/>
        </p:spPr>
        <p:txBody>
          <a:bodyPr wrap="square" rtlCol="0" anchor="ctr"/>
          <a:lstStyle/>
          <a:p>
            <a:pPr algn="ctr"/>
            <a:endParaRPr/>
          </a:p>
        </p:txBody>
      </p:sp>
      <p:sp>
        <p:nvSpPr>
          <p:cNvPr id="81" name="TextBox 80"/>
          <p:cNvSpPr txBox="1"/>
          <p:nvPr/>
        </p:nvSpPr>
        <p:spPr>
          <a:xfrm>
            <a:off x="9116567" y="1591056"/>
            <a:ext cx="1207008"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Routine</a:t>
            </a:r>
          </a:p>
        </p:txBody>
      </p:sp>
      <p:sp>
        <p:nvSpPr>
          <p:cNvPr id="82" name="TextBox 81"/>
          <p:cNvSpPr txBox="1"/>
          <p:nvPr/>
        </p:nvSpPr>
        <p:spPr>
          <a:xfrm>
            <a:off x="10396728" y="1591056"/>
            <a:ext cx="1152144" cy="182880"/>
          </a:xfrm>
          <a:prstGeom prst="rect">
            <a:avLst/>
          </a:prstGeom>
          <a:noFill/>
        </p:spPr>
        <p:txBody>
          <a:bodyPr wrap="none" lIns="0" tIns="0" rIns="0" bIns="0" anchor="t">
            <a:spAutoFit/>
          </a:bodyPr>
          <a:lstStyle/>
          <a:p>
            <a:pPr algn="l">
              <a:lnSpc>
                <a:spcPct val="112000"/>
              </a:lnSpc>
            </a:pPr>
            <a:r>
              <a:rPr sz="850" b="1" i="0">
                <a:solidFill>
                  <a:srgbClr val="FFFFFF"/>
                </a:solidFill>
                <a:latin typeface="Segoe UI"/>
                <a:cs typeface="Segoe UI"/>
              </a:rPr>
              <a:t>Workflow</a:t>
            </a:r>
          </a:p>
        </p:txBody>
      </p:sp>
      <p:sp>
        <p:nvSpPr>
          <p:cNvPr id="83" name="Rectangle 82"/>
          <p:cNvSpPr/>
          <p:nvPr/>
        </p:nvSpPr>
        <p:spPr>
          <a:xfrm>
            <a:off x="8247888" y="1828800"/>
            <a:ext cx="3392424" cy="457200"/>
          </a:xfrm>
          <a:prstGeom prst="rect">
            <a:avLst/>
          </a:prstGeom>
          <a:solidFill>
            <a:srgbClr val="F6F8FD"/>
          </a:solidFill>
          <a:ln>
            <a:noFill/>
          </a:ln>
          <a:effectLst/>
        </p:spPr>
        <p:txBody>
          <a:bodyPr wrap="square" rtlCol="0" anchor="ctr"/>
          <a:lstStyle/>
          <a:p>
            <a:pPr algn="ctr"/>
            <a:endParaRPr/>
          </a:p>
        </p:txBody>
      </p:sp>
      <p:sp>
        <p:nvSpPr>
          <p:cNvPr id="84" name="TextBox 83"/>
          <p:cNvSpPr txBox="1"/>
          <p:nvPr/>
        </p:nvSpPr>
        <p:spPr>
          <a:xfrm>
            <a:off x="8357615" y="1856231"/>
            <a:ext cx="685800" cy="402336"/>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Question</a:t>
            </a:r>
          </a:p>
        </p:txBody>
      </p:sp>
      <p:sp>
        <p:nvSpPr>
          <p:cNvPr id="85" name="TextBox 84"/>
          <p:cNvSpPr txBox="1"/>
          <p:nvPr/>
        </p:nvSpPr>
        <p:spPr>
          <a:xfrm>
            <a:off x="9116567" y="1856231"/>
            <a:ext cx="1207008" cy="402336"/>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When should</a:t>
            </a:r>
          </a:p>
          <a:p>
            <a:pPr algn="l">
              <a:lnSpc>
                <a:spcPct val="114000"/>
              </a:lnSpc>
            </a:pPr>
            <a:r>
              <a:rPr sz="750" b="0" i="0">
                <a:solidFill>
                  <a:srgbClr val="101A3C"/>
                </a:solidFill>
                <a:latin typeface="Segoe UI"/>
                <a:cs typeface="Segoe UI"/>
              </a:rPr>
              <a:t>my agent run?</a:t>
            </a:r>
          </a:p>
        </p:txBody>
      </p:sp>
      <p:sp>
        <p:nvSpPr>
          <p:cNvPr id="86" name="TextBox 85"/>
          <p:cNvSpPr txBox="1"/>
          <p:nvPr/>
        </p:nvSpPr>
        <p:spPr>
          <a:xfrm>
            <a:off x="10396728" y="1856231"/>
            <a:ext cx="1152144" cy="402336"/>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How do steps and</a:t>
            </a:r>
          </a:p>
          <a:p>
            <a:pPr algn="l">
              <a:lnSpc>
                <a:spcPct val="114000"/>
              </a:lnSpc>
            </a:pPr>
            <a:r>
              <a:rPr sz="750" b="0" i="0">
                <a:solidFill>
                  <a:srgbClr val="44495B"/>
                </a:solidFill>
                <a:latin typeface="Segoe UI"/>
                <a:cs typeface="Segoe UI"/>
              </a:rPr>
              <a:t>agents connect?</a:t>
            </a:r>
          </a:p>
        </p:txBody>
      </p:sp>
      <p:cxnSp>
        <p:nvCxnSpPr>
          <p:cNvPr id="87" name="Connector 86"/>
          <p:cNvCxnSpPr/>
          <p:nvPr/>
        </p:nvCxnSpPr>
        <p:spPr>
          <a:xfrm>
            <a:off x="8247888" y="2286000"/>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88" name="TextBox 87"/>
          <p:cNvSpPr txBox="1"/>
          <p:nvPr/>
        </p:nvSpPr>
        <p:spPr>
          <a:xfrm>
            <a:off x="8357615" y="2313432"/>
            <a:ext cx="685800" cy="402336"/>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Model</a:t>
            </a:r>
          </a:p>
        </p:txBody>
      </p:sp>
      <p:sp>
        <p:nvSpPr>
          <p:cNvPr id="89" name="TextBox 88"/>
          <p:cNvSpPr txBox="1"/>
          <p:nvPr/>
        </p:nvSpPr>
        <p:spPr>
          <a:xfrm>
            <a:off x="9116567" y="2313432"/>
            <a:ext cx="1207008" cy="402336"/>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Trigger to agent</a:t>
            </a:r>
          </a:p>
        </p:txBody>
      </p:sp>
      <p:sp>
        <p:nvSpPr>
          <p:cNvPr id="90" name="TextBox 89"/>
          <p:cNvSpPr txBox="1"/>
          <p:nvPr/>
        </p:nvSpPr>
        <p:spPr>
          <a:xfrm>
            <a:off x="10396728" y="2313432"/>
            <a:ext cx="1152144" cy="402336"/>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Graph of nodes,</a:t>
            </a:r>
          </a:p>
          <a:p>
            <a:pPr algn="l">
              <a:lnSpc>
                <a:spcPct val="114000"/>
              </a:lnSpc>
            </a:pPr>
            <a:r>
              <a:rPr sz="750" b="0" i="0">
                <a:solidFill>
                  <a:srgbClr val="44495B"/>
                </a:solidFill>
                <a:latin typeface="Segoe UI"/>
                <a:cs typeface="Segoe UI"/>
              </a:rPr>
              <a:t>edges and state</a:t>
            </a:r>
          </a:p>
        </p:txBody>
      </p:sp>
      <p:cxnSp>
        <p:nvCxnSpPr>
          <p:cNvPr id="91" name="Connector 90"/>
          <p:cNvCxnSpPr/>
          <p:nvPr/>
        </p:nvCxnSpPr>
        <p:spPr>
          <a:xfrm>
            <a:off x="8247888" y="2743200"/>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92" name="Rectangle 91"/>
          <p:cNvSpPr/>
          <p:nvPr/>
        </p:nvSpPr>
        <p:spPr>
          <a:xfrm>
            <a:off x="8247888" y="2743200"/>
            <a:ext cx="3392424" cy="310896"/>
          </a:xfrm>
          <a:prstGeom prst="rect">
            <a:avLst/>
          </a:prstGeom>
          <a:solidFill>
            <a:srgbClr val="F6F8FD"/>
          </a:solidFill>
          <a:ln>
            <a:noFill/>
          </a:ln>
          <a:effectLst/>
        </p:spPr>
        <p:txBody>
          <a:bodyPr wrap="square" rtlCol="0" anchor="ctr"/>
          <a:lstStyle/>
          <a:p>
            <a:pPr algn="ctr"/>
            <a:endParaRPr/>
          </a:p>
        </p:txBody>
      </p:sp>
      <p:sp>
        <p:nvSpPr>
          <p:cNvPr id="93" name="TextBox 92"/>
          <p:cNvSpPr txBox="1"/>
          <p:nvPr/>
        </p:nvSpPr>
        <p:spPr>
          <a:xfrm>
            <a:off x="8357615" y="2770632"/>
            <a:ext cx="685800" cy="256032"/>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Agents</a:t>
            </a:r>
          </a:p>
        </p:txBody>
      </p:sp>
      <p:sp>
        <p:nvSpPr>
          <p:cNvPr id="94" name="TextBox 93"/>
          <p:cNvSpPr txBox="1"/>
          <p:nvPr/>
        </p:nvSpPr>
        <p:spPr>
          <a:xfrm>
            <a:off x="9116567" y="2770632"/>
            <a:ext cx="1207008" cy="256032"/>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One</a:t>
            </a:r>
          </a:p>
        </p:txBody>
      </p:sp>
      <p:sp>
        <p:nvSpPr>
          <p:cNvPr id="95" name="TextBox 94"/>
          <p:cNvSpPr txBox="1"/>
          <p:nvPr/>
        </p:nvSpPr>
        <p:spPr>
          <a:xfrm>
            <a:off x="10396728" y="2770632"/>
            <a:ext cx="1152144" cy="256032"/>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Many</a:t>
            </a:r>
          </a:p>
        </p:txBody>
      </p:sp>
      <p:cxnSp>
        <p:nvCxnSpPr>
          <p:cNvPr id="96" name="Connector 95"/>
          <p:cNvCxnSpPr/>
          <p:nvPr/>
        </p:nvCxnSpPr>
        <p:spPr>
          <a:xfrm>
            <a:off x="8247888" y="3054096"/>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97" name="TextBox 96"/>
          <p:cNvSpPr txBox="1"/>
          <p:nvPr/>
        </p:nvSpPr>
        <p:spPr>
          <a:xfrm>
            <a:off x="8357615" y="3081527"/>
            <a:ext cx="685800" cy="402336"/>
          </a:xfrm>
          <a:prstGeom prst="rect">
            <a:avLst/>
          </a:prstGeom>
          <a:noFill/>
        </p:spPr>
        <p:txBody>
          <a:bodyPr wrap="square" lIns="0" tIns="0" rIns="0" bIns="0" anchor="ctr">
            <a:spAutoFit/>
          </a:bodyPr>
          <a:lstStyle/>
          <a:p>
            <a:pPr algn="l">
              <a:lnSpc>
                <a:spcPct val="110000"/>
              </a:lnSpc>
            </a:pPr>
            <a:r>
              <a:rPr sz="750" b="1" i="0">
                <a:solidFill>
                  <a:srgbClr val="008577"/>
                </a:solidFill>
                <a:latin typeface="Segoe UI"/>
                <a:cs typeface="Segoe UI"/>
              </a:rPr>
              <a:t>Best for</a:t>
            </a:r>
          </a:p>
        </p:txBody>
      </p:sp>
      <p:sp>
        <p:nvSpPr>
          <p:cNvPr id="98" name="TextBox 97"/>
          <p:cNvSpPr txBox="1"/>
          <p:nvPr/>
        </p:nvSpPr>
        <p:spPr>
          <a:xfrm>
            <a:off x="9116567" y="3081527"/>
            <a:ext cx="1207008" cy="402336"/>
          </a:xfrm>
          <a:prstGeom prst="rect">
            <a:avLst/>
          </a:prstGeom>
          <a:noFill/>
        </p:spPr>
        <p:txBody>
          <a:bodyPr wrap="square" lIns="0" tIns="0" rIns="0" bIns="0" anchor="ctr">
            <a:spAutoFit/>
          </a:bodyPr>
          <a:lstStyle/>
          <a:p>
            <a:pPr algn="l">
              <a:lnSpc>
                <a:spcPct val="114000"/>
              </a:lnSpc>
            </a:pPr>
            <a:r>
              <a:rPr sz="750" b="0" i="0">
                <a:solidFill>
                  <a:srgbClr val="101A3C"/>
                </a:solidFill>
                <a:latin typeface="Segoe UI"/>
                <a:cs typeface="Segoe UI"/>
              </a:rPr>
              <a:t>Timers, schedules,</a:t>
            </a:r>
          </a:p>
          <a:p>
            <a:pPr algn="l">
              <a:lnSpc>
                <a:spcPct val="114000"/>
              </a:lnSpc>
            </a:pPr>
            <a:r>
              <a:rPr sz="750" b="0" i="0">
                <a:solidFill>
                  <a:srgbClr val="101A3C"/>
                </a:solidFill>
                <a:latin typeface="Segoe UI"/>
                <a:cs typeface="Segoe UI"/>
              </a:rPr>
              <a:t>lightweight automation</a:t>
            </a:r>
          </a:p>
        </p:txBody>
      </p:sp>
      <p:sp>
        <p:nvSpPr>
          <p:cNvPr id="99" name="TextBox 98"/>
          <p:cNvSpPr txBox="1"/>
          <p:nvPr/>
        </p:nvSpPr>
        <p:spPr>
          <a:xfrm>
            <a:off x="10396728" y="3081527"/>
            <a:ext cx="1152144" cy="402336"/>
          </a:xfrm>
          <a:prstGeom prst="rect">
            <a:avLst/>
          </a:prstGeom>
          <a:noFill/>
        </p:spPr>
        <p:txBody>
          <a:bodyPr wrap="square" lIns="0" tIns="0" rIns="0" bIns="0" anchor="ctr">
            <a:spAutoFit/>
          </a:bodyPr>
          <a:lstStyle/>
          <a:p>
            <a:pPr algn="l">
              <a:lnSpc>
                <a:spcPct val="114000"/>
              </a:lnSpc>
            </a:pPr>
            <a:r>
              <a:rPr sz="750" b="0" i="0">
                <a:solidFill>
                  <a:srgbClr val="44495B"/>
                </a:solidFill>
                <a:latin typeface="Segoe UI"/>
                <a:cs typeface="Segoe UI"/>
              </a:rPr>
              <a:t>Branching, approvals,</a:t>
            </a:r>
          </a:p>
          <a:p>
            <a:pPr algn="l">
              <a:lnSpc>
                <a:spcPct val="114000"/>
              </a:lnSpc>
            </a:pPr>
            <a:r>
              <a:rPr sz="750" b="0" i="0">
                <a:solidFill>
                  <a:srgbClr val="44495B"/>
                </a:solidFill>
                <a:latin typeface="Segoe UI"/>
                <a:cs typeface="Segoe UI"/>
              </a:rPr>
              <a:t>multi-step processes</a:t>
            </a:r>
          </a:p>
        </p:txBody>
      </p:sp>
      <p:cxnSp>
        <p:nvCxnSpPr>
          <p:cNvPr id="100" name="Connector 99"/>
          <p:cNvCxnSpPr/>
          <p:nvPr/>
        </p:nvCxnSpPr>
        <p:spPr>
          <a:xfrm>
            <a:off x="8247888" y="3511296"/>
            <a:ext cx="3392424" cy="0"/>
          </a:xfrm>
          <a:prstGeom prst="line">
            <a:avLst/>
          </a:prstGeom>
          <a:ln w="9525">
            <a:solidFill>
              <a:srgbClr val="E1E7F4"/>
            </a:solidFill>
          </a:ln>
          <a:effectLst/>
        </p:spPr>
        <p:style>
          <a:lnRef idx="2">
            <a:schemeClr val="accent1"/>
          </a:lnRef>
          <a:fillRef idx="0">
            <a:schemeClr val="accent1"/>
          </a:fillRef>
          <a:effectRef idx="1">
            <a:schemeClr val="accent1"/>
          </a:effectRef>
          <a:fontRef idx="minor">
            <a:schemeClr val="tx1"/>
          </a:fontRef>
        </p:style>
      </p:cxnSp>
      <p:sp>
        <p:nvSpPr>
          <p:cNvPr id="101" name="Rectangle 100"/>
          <p:cNvSpPr/>
          <p:nvPr/>
        </p:nvSpPr>
        <p:spPr>
          <a:xfrm>
            <a:off x="8247888" y="3657600"/>
            <a:ext cx="3392424" cy="640080"/>
          </a:xfrm>
          <a:prstGeom prst="rect">
            <a:avLst/>
          </a:prstGeom>
          <a:solidFill>
            <a:srgbClr val="EBEFF7"/>
          </a:solidFill>
          <a:ln>
            <a:noFill/>
          </a:ln>
          <a:effectLst/>
        </p:spPr>
        <p:txBody>
          <a:bodyPr wrap="square" rtlCol="0" anchor="ctr"/>
          <a:lstStyle/>
          <a:p>
            <a:pPr algn="ctr"/>
            <a:endParaRPr/>
          </a:p>
        </p:txBody>
      </p:sp>
      <p:sp>
        <p:nvSpPr>
          <p:cNvPr id="102" name="Rectangle 101"/>
          <p:cNvSpPr/>
          <p:nvPr/>
        </p:nvSpPr>
        <p:spPr>
          <a:xfrm>
            <a:off x="8247888" y="3657600"/>
            <a:ext cx="41148" cy="640080"/>
          </a:xfrm>
          <a:prstGeom prst="rect">
            <a:avLst/>
          </a:prstGeom>
          <a:solidFill>
            <a:srgbClr val="00B39F"/>
          </a:solidFill>
          <a:ln>
            <a:noFill/>
          </a:ln>
          <a:effectLst/>
        </p:spPr>
        <p:txBody>
          <a:bodyPr wrap="square" rtlCol="0" anchor="ctr"/>
          <a:lstStyle/>
          <a:p>
            <a:pPr algn="ctr"/>
            <a:endParaRPr/>
          </a:p>
        </p:txBody>
      </p:sp>
      <p:sp>
        <p:nvSpPr>
          <p:cNvPr id="103" name="TextBox 102"/>
          <p:cNvSpPr txBox="1"/>
          <p:nvPr/>
        </p:nvSpPr>
        <p:spPr>
          <a:xfrm>
            <a:off x="8467344" y="3758183"/>
            <a:ext cx="3008376" cy="457200"/>
          </a:xfrm>
          <a:prstGeom prst="rect">
            <a:avLst/>
          </a:prstGeom>
          <a:noFill/>
        </p:spPr>
        <p:txBody>
          <a:bodyPr wrap="square" lIns="0" tIns="0" rIns="0" bIns="0" anchor="t">
            <a:spAutoFit/>
          </a:bodyPr>
          <a:lstStyle/>
          <a:p>
            <a:pPr algn="l">
              <a:lnSpc>
                <a:spcPct val="118000"/>
              </a:lnSpc>
            </a:pPr>
            <a:r>
              <a:rPr sz="800" b="0" i="0">
                <a:solidFill>
                  <a:srgbClr val="101A3C"/>
                </a:solidFill>
                <a:latin typeface="Segoe UI"/>
                <a:cs typeface="Segoe UI"/>
              </a:rPr>
              <a:t>Use a routine when the automation is simply “run this agent when something happens”. Move to a workflow when it needs coordination beyond one agent.</a:t>
            </a:r>
          </a:p>
        </p:txBody>
      </p:sp>
      <p:sp>
        <p:nvSpPr>
          <p:cNvPr id="104" name="TextBox 103"/>
          <p:cNvSpPr txBox="1"/>
          <p:nvPr/>
        </p:nvSpPr>
        <p:spPr>
          <a:xfrm>
            <a:off x="8156448" y="4882896"/>
            <a:ext cx="3657600" cy="219456"/>
          </a:xfrm>
          <a:prstGeom prst="rect">
            <a:avLst/>
          </a:prstGeom>
          <a:noFill/>
        </p:spPr>
        <p:txBody>
          <a:bodyPr wrap="square" lIns="0" tIns="0" rIns="0" bIns="0" anchor="t">
            <a:spAutoFit/>
          </a:bodyPr>
          <a:lstStyle/>
          <a:p>
            <a:pPr algn="l">
              <a:lnSpc>
                <a:spcPct val="112000"/>
              </a:lnSpc>
            </a:pPr>
            <a:r>
              <a:rPr sz="800" b="1" i="0">
                <a:solidFill>
                  <a:srgbClr val="008577"/>
                </a:solidFill>
                <a:latin typeface="Segoe UI"/>
                <a:cs typeface="Segoe UI"/>
              </a:rPr>
              <a:t>A G E N T - S C H E D U L E D   F O L L O W - U P</a:t>
            </a:r>
          </a:p>
        </p:txBody>
      </p:sp>
      <p:sp>
        <p:nvSpPr>
          <p:cNvPr id="105" name="Rectangle 104"/>
          <p:cNvSpPr/>
          <p:nvPr/>
        </p:nvSpPr>
        <p:spPr>
          <a:xfrm>
            <a:off x="8247888" y="5138928"/>
            <a:ext cx="3392424" cy="512064"/>
          </a:xfrm>
          <a:prstGeom prst="rect">
            <a:avLst/>
          </a:prstGeom>
          <a:solidFill>
            <a:srgbClr val="FFFFFF"/>
          </a:solidFill>
          <a:ln w="9525">
            <a:solidFill>
              <a:srgbClr val="E1E7F4"/>
            </a:solidFill>
          </a:ln>
          <a:effectLst/>
        </p:spPr>
        <p:txBody>
          <a:bodyPr wrap="square" rtlCol="0" anchor="ctr"/>
          <a:lstStyle/>
          <a:p>
            <a:pPr algn="ctr"/>
            <a:endParaRPr/>
          </a:p>
        </p:txBody>
      </p:sp>
      <p:sp>
        <p:nvSpPr>
          <p:cNvPr id="106" name="TextBox 105"/>
          <p:cNvSpPr txBox="1"/>
          <p:nvPr/>
        </p:nvSpPr>
        <p:spPr>
          <a:xfrm>
            <a:off x="8412480" y="5230368"/>
            <a:ext cx="3063240" cy="365760"/>
          </a:xfrm>
          <a:prstGeom prst="rect">
            <a:avLst/>
          </a:prstGeom>
          <a:noFill/>
        </p:spPr>
        <p:txBody>
          <a:bodyPr wrap="square" lIns="0" tIns="0" rIns="0" bIns="0" anchor="t">
            <a:spAutoFit/>
          </a:bodyPr>
          <a:lstStyle/>
          <a:p>
            <a:pPr algn="l">
              <a:lnSpc>
                <a:spcPct val="116000"/>
              </a:lnSpc>
            </a:pPr>
            <a:r>
              <a:rPr sz="750" b="0" i="0">
                <a:solidFill>
                  <a:srgbClr val="44495B"/>
                </a:solidFill>
                <a:latin typeface="Segoe UI"/>
                <a:cs typeface="Segoe UI"/>
              </a:rPr>
              <a:t>A hosted agent can also schedule itself with the reminder tool*, re-invoked on the same conversation after a delay.</a:t>
            </a:r>
          </a:p>
        </p:txBody>
      </p:sp>
      <p:sp>
        <p:nvSpPr>
          <p:cNvPr id="107" name="TextBox 106"/>
          <p:cNvSpPr txBox="1"/>
          <p:nvPr/>
        </p:nvSpPr>
        <p:spPr>
          <a:xfrm>
            <a:off x="8247888" y="5705856"/>
            <a:ext cx="3383280" cy="182880"/>
          </a:xfrm>
          <a:prstGeom prst="rect">
            <a:avLst/>
          </a:prstGeom>
          <a:noFill/>
        </p:spPr>
        <p:txBody>
          <a:bodyPr wrap="square" lIns="0" tIns="0" rIns="0" bIns="0" anchor="t">
            <a:spAutoFit/>
          </a:bodyPr>
          <a:lstStyle/>
          <a:p>
            <a:pPr algn="l">
              <a:lnSpc>
                <a:spcPct val="112000"/>
              </a:lnSpc>
            </a:pPr>
            <a:r>
              <a:rPr sz="750" b="0" i="1">
                <a:solidFill>
                  <a:srgbClr val="44495B"/>
                </a:solidFill>
                <a:latin typeface="Segoe UI"/>
                <a:cs typeface="Segoe UI"/>
              </a:rPr>
              <a:t>* preview — no service level agreement.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4   ·   A G E N T S   A N D   S D K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Long-running agents*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Hosted agents that survive the request: work continues in the background, outlives a crash and can wait for a human.</a:t>
            </a:r>
          </a:p>
          <a:p>
            <a:endParaRPr sz="1200">
              <a:solidFill>
                <a:srgbClr val="44495B"/>
              </a:solidFill>
              <a:latin typeface="Segoe UI"/>
            </a:endParaRPr>
          </a:p>
        </p:txBody>
      </p:sp>
      <p:sp>
        <p:nvSpPr>
          <p:cNvPr id="42" name="Shape"/>
          <p:cNvSpPr/>
          <p:nvPr/>
        </p:nvSpPr>
        <p:spPr>
          <a:xfrm>
            <a:off x="548640" y="5687568"/>
            <a:ext cx="11094720" cy="9525"/>
          </a:xfrm>
          <a:prstGeom prst="rect">
            <a:avLst/>
          </a:prstGeom>
          <a:solidFill>
            <a:srgbClr val="E1E7F4"/>
          </a:solidFill>
        </p:spPr>
        <p:txBody>
          <a:bodyPr/>
          <a:lstStyle/>
          <a:p>
            <a:endParaRPr/>
          </a:p>
        </p:txBody>
      </p:sp>
      <p:sp>
        <p:nvSpPr>
          <p:cNvPr id="43"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learn.microsoft.com/azure/foundry/agents/concepts/long-running-agent-resilience</a:t>
            </a:r>
          </a:p>
          <a:p>
            <a:endParaRPr sz="900">
              <a:solidFill>
                <a:srgbClr val="44495B"/>
              </a:solidFill>
              <a:latin typeface="Segoe UI"/>
            </a:endParaRPr>
          </a:p>
        </p:txBody>
      </p:sp>
      <p:sp>
        <p:nvSpPr>
          <p:cNvPr id="44"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21</a:t>
            </a:r>
          </a:p>
        </p:txBody>
      </p:sp>
      <p:sp>
        <p:nvSpPr>
          <p:cNvPr id="45" name="TextBox 44"/>
          <p:cNvSpPr txBox="1"/>
          <p:nvPr/>
        </p:nvSpPr>
        <p:spPr>
          <a:xfrm>
            <a:off x="548640" y="1298448"/>
            <a:ext cx="3977639"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WHY THEY MATTER</a:t>
            </a:r>
          </a:p>
        </p:txBody>
      </p:sp>
      <p:sp>
        <p:nvSpPr>
          <p:cNvPr id="46" name="Rectangle 45"/>
          <p:cNvSpPr/>
          <p:nvPr/>
        </p:nvSpPr>
        <p:spPr>
          <a:xfrm>
            <a:off x="548640" y="1554480"/>
            <a:ext cx="3977639" cy="1417320"/>
          </a:xfrm>
          <a:prstGeom prst="rect">
            <a:avLst/>
          </a:prstGeom>
          <a:solidFill>
            <a:srgbClr val="F6F8FD"/>
          </a:solidFill>
          <a:ln w="9525">
            <a:solidFill>
              <a:srgbClr val="E1E7F4"/>
            </a:solidFill>
          </a:ln>
          <a:effectLst/>
        </p:spPr>
        <p:txBody>
          <a:bodyPr rtlCol="0" anchor="ctr"/>
          <a:lstStyle/>
          <a:p>
            <a:pPr algn="ctr"/>
            <a:endParaRPr/>
          </a:p>
        </p:txBody>
      </p:sp>
      <p:sp>
        <p:nvSpPr>
          <p:cNvPr id="47" name="TextBox 46"/>
          <p:cNvSpPr txBox="1"/>
          <p:nvPr/>
        </p:nvSpPr>
        <p:spPr>
          <a:xfrm>
            <a:off x="548640" y="1572768"/>
            <a:ext cx="3977639" cy="1380744"/>
          </a:xfrm>
          <a:prstGeom prst="rect">
            <a:avLst/>
          </a:prstGeom>
          <a:noFill/>
        </p:spPr>
        <p:txBody>
          <a:bodyPr wrap="square" lIns="73152" tIns="27432" rIns="73152" bIns="27432" anchor="t">
            <a:spAutoFit/>
          </a:bodyPr>
          <a:lstStyle/>
          <a:p>
            <a:pPr algn="l"/>
            <a:r>
              <a:rPr sz="850" b="1">
                <a:solidFill>
                  <a:srgbClr val="141B33"/>
                </a:solidFill>
                <a:latin typeface="Segoe UI"/>
              </a:rPr>
              <a:t>A normal agent turn lives as long as the HTTP request.</a:t>
            </a:r>
          </a:p>
          <a:p>
            <a:pPr algn="l">
              <a:spcBef>
                <a:spcPts val="300"/>
              </a:spcBef>
            </a:pPr>
            <a:r>
              <a:rPr sz="850" b="0">
                <a:solidFill>
                  <a:srgbClr val="141B33"/>
                </a:solidFill>
                <a:latin typeface="Segoe UI"/>
              </a:rPr>
              <a:t>If the client disconnects or the container restarts, the work is gone. That rules out tasks that take hours, wait for an approval, or must not be lost half-way.</a:t>
            </a:r>
          </a:p>
          <a:p>
            <a:pPr algn="l">
              <a:spcBef>
                <a:spcPts val="300"/>
              </a:spcBef>
            </a:pPr>
            <a:r>
              <a:rPr sz="850" b="1">
                <a:solidFill>
                  <a:srgbClr val="141B33"/>
                </a:solidFill>
                <a:latin typeface="Segoe UI"/>
              </a:rPr>
              <a:t>Long-running agents add durability to a hosted agent: </a:t>
            </a:r>
            <a:r>
              <a:rPr sz="850" b="0">
                <a:solidFill>
                  <a:srgbClr val="141B33"/>
                </a:solidFill>
                <a:latin typeface="Segoe UI"/>
              </a:rPr>
              <a:t>the work has its own identity, its input is persisted, and the platform detects a lost process and re-enters the handler.</a:t>
            </a:r>
          </a:p>
        </p:txBody>
      </p:sp>
      <p:sp>
        <p:nvSpPr>
          <p:cNvPr id="48" name="TextBox 47"/>
          <p:cNvSpPr txBox="1"/>
          <p:nvPr/>
        </p:nvSpPr>
        <p:spPr>
          <a:xfrm>
            <a:off x="548640" y="3108960"/>
            <a:ext cx="3977639"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COMPARED WITH THE OTHER AGENT TYPES</a:t>
            </a:r>
          </a:p>
        </p:txBody>
      </p:sp>
      <p:sp>
        <p:nvSpPr>
          <p:cNvPr id="49" name="Rectangle 48"/>
          <p:cNvSpPr/>
          <p:nvPr/>
        </p:nvSpPr>
        <p:spPr>
          <a:xfrm>
            <a:off x="548640" y="3364991"/>
            <a:ext cx="3977639" cy="274320"/>
          </a:xfrm>
          <a:prstGeom prst="rect">
            <a:avLst/>
          </a:prstGeom>
          <a:solidFill>
            <a:srgbClr val="101A3C"/>
          </a:solidFill>
          <a:ln>
            <a:noFill/>
          </a:ln>
          <a:effectLst/>
        </p:spPr>
        <p:txBody>
          <a:bodyPr rtlCol="0" anchor="ctr"/>
          <a:lstStyle/>
          <a:p>
            <a:pPr algn="ctr"/>
            <a:endParaRPr/>
          </a:p>
        </p:txBody>
      </p:sp>
      <p:sp>
        <p:nvSpPr>
          <p:cNvPr id="50" name="TextBox 49"/>
          <p:cNvSpPr txBox="1"/>
          <p:nvPr/>
        </p:nvSpPr>
        <p:spPr>
          <a:xfrm>
            <a:off x="548640" y="3364991"/>
            <a:ext cx="1143000" cy="274320"/>
          </a:xfrm>
          <a:prstGeom prst="rect">
            <a:avLst/>
          </a:prstGeom>
          <a:noFill/>
        </p:spPr>
        <p:txBody>
          <a:bodyPr wrap="square" lIns="73152" tIns="27432" rIns="73152" bIns="27432" anchor="ctr">
            <a:spAutoFit/>
          </a:bodyPr>
          <a:lstStyle/>
          <a:p>
            <a:pPr algn="l"/>
            <a:endParaRPr/>
          </a:p>
        </p:txBody>
      </p:sp>
      <p:sp>
        <p:nvSpPr>
          <p:cNvPr id="51" name="TextBox 50"/>
          <p:cNvSpPr txBox="1"/>
          <p:nvPr/>
        </p:nvSpPr>
        <p:spPr>
          <a:xfrm>
            <a:off x="1691640" y="3364991"/>
            <a:ext cx="914400" cy="274320"/>
          </a:xfrm>
          <a:prstGeom prst="rect">
            <a:avLst/>
          </a:prstGeom>
          <a:noFill/>
        </p:spPr>
        <p:txBody>
          <a:bodyPr wrap="square" lIns="73152" tIns="27432" rIns="73152" bIns="27432" anchor="ctr">
            <a:spAutoFit/>
          </a:bodyPr>
          <a:lstStyle/>
          <a:p>
            <a:pPr algn="ctr"/>
            <a:r>
              <a:rPr sz="750" b="1">
                <a:solidFill>
                  <a:srgbClr val="FFFFFF"/>
                </a:solidFill>
                <a:latin typeface="Segoe UI"/>
              </a:rPr>
              <a:t>Prompt agent</a:t>
            </a:r>
          </a:p>
        </p:txBody>
      </p:sp>
      <p:sp>
        <p:nvSpPr>
          <p:cNvPr id="52" name="TextBox 51"/>
          <p:cNvSpPr txBox="1"/>
          <p:nvPr/>
        </p:nvSpPr>
        <p:spPr>
          <a:xfrm>
            <a:off x="2606040" y="3364991"/>
            <a:ext cx="914400" cy="274320"/>
          </a:xfrm>
          <a:prstGeom prst="rect">
            <a:avLst/>
          </a:prstGeom>
          <a:noFill/>
        </p:spPr>
        <p:txBody>
          <a:bodyPr wrap="square" lIns="73152" tIns="27432" rIns="73152" bIns="27432" anchor="ctr">
            <a:spAutoFit/>
          </a:bodyPr>
          <a:lstStyle/>
          <a:p>
            <a:pPr algn="ctr"/>
            <a:r>
              <a:rPr sz="750" b="1">
                <a:solidFill>
                  <a:srgbClr val="FFFFFF"/>
                </a:solidFill>
                <a:latin typeface="Segoe UI"/>
              </a:rPr>
              <a:t>Hosted agent</a:t>
            </a:r>
          </a:p>
        </p:txBody>
      </p:sp>
      <p:sp>
        <p:nvSpPr>
          <p:cNvPr id="53" name="TextBox 52"/>
          <p:cNvSpPr txBox="1"/>
          <p:nvPr/>
        </p:nvSpPr>
        <p:spPr>
          <a:xfrm>
            <a:off x="3520440" y="3364991"/>
            <a:ext cx="1005840" cy="274320"/>
          </a:xfrm>
          <a:prstGeom prst="rect">
            <a:avLst/>
          </a:prstGeom>
          <a:noFill/>
        </p:spPr>
        <p:txBody>
          <a:bodyPr wrap="square" lIns="73152" tIns="27432" rIns="73152" bIns="27432" anchor="ctr">
            <a:spAutoFit/>
          </a:bodyPr>
          <a:lstStyle/>
          <a:p>
            <a:pPr algn="ctr"/>
            <a:r>
              <a:rPr sz="750" b="1">
                <a:solidFill>
                  <a:srgbClr val="FFFFFF"/>
                </a:solidFill>
                <a:latin typeface="Segoe UI"/>
              </a:rPr>
              <a:t>Long-running*</a:t>
            </a:r>
          </a:p>
        </p:txBody>
      </p:sp>
      <p:sp>
        <p:nvSpPr>
          <p:cNvPr id="54" name="Rectangle 53"/>
          <p:cNvSpPr/>
          <p:nvPr/>
        </p:nvSpPr>
        <p:spPr>
          <a:xfrm>
            <a:off x="548640" y="3639311"/>
            <a:ext cx="3977639" cy="256032"/>
          </a:xfrm>
          <a:prstGeom prst="rect">
            <a:avLst/>
          </a:prstGeom>
          <a:solidFill>
            <a:srgbClr val="FFFFFF"/>
          </a:solidFill>
          <a:ln w="6350">
            <a:solidFill>
              <a:srgbClr val="E1E7F4"/>
            </a:solidFill>
          </a:ln>
          <a:effectLst/>
        </p:spPr>
        <p:txBody>
          <a:bodyPr rtlCol="0" anchor="ctr"/>
          <a:lstStyle/>
          <a:p>
            <a:pPr algn="ctr"/>
            <a:endParaRPr/>
          </a:p>
        </p:txBody>
      </p:sp>
      <p:sp>
        <p:nvSpPr>
          <p:cNvPr id="55" name="TextBox 54"/>
          <p:cNvSpPr txBox="1"/>
          <p:nvPr/>
        </p:nvSpPr>
        <p:spPr>
          <a:xfrm>
            <a:off x="548640" y="3639311"/>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Runs</a:t>
            </a:r>
          </a:p>
        </p:txBody>
      </p:sp>
      <p:sp>
        <p:nvSpPr>
          <p:cNvPr id="56" name="TextBox 55"/>
          <p:cNvSpPr txBox="1"/>
          <p:nvPr/>
        </p:nvSpPr>
        <p:spPr>
          <a:xfrm>
            <a:off x="1691640" y="3639311"/>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managed by Foundry</a:t>
            </a:r>
          </a:p>
        </p:txBody>
      </p:sp>
      <p:sp>
        <p:nvSpPr>
          <p:cNvPr id="57" name="TextBox 56"/>
          <p:cNvSpPr txBox="1"/>
          <p:nvPr/>
        </p:nvSpPr>
        <p:spPr>
          <a:xfrm>
            <a:off x="2606040" y="3639311"/>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your container</a:t>
            </a:r>
          </a:p>
        </p:txBody>
      </p:sp>
      <p:sp>
        <p:nvSpPr>
          <p:cNvPr id="58" name="TextBox 57"/>
          <p:cNvSpPr txBox="1"/>
          <p:nvPr/>
        </p:nvSpPr>
        <p:spPr>
          <a:xfrm>
            <a:off x="3520440" y="3639311"/>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your container</a:t>
            </a:r>
          </a:p>
        </p:txBody>
      </p:sp>
      <p:sp>
        <p:nvSpPr>
          <p:cNvPr id="59" name="Rectangle 58"/>
          <p:cNvSpPr/>
          <p:nvPr/>
        </p:nvSpPr>
        <p:spPr>
          <a:xfrm>
            <a:off x="548640" y="3895344"/>
            <a:ext cx="3977639" cy="256032"/>
          </a:xfrm>
          <a:prstGeom prst="rect">
            <a:avLst/>
          </a:prstGeom>
          <a:solidFill>
            <a:srgbClr val="F6F8FD"/>
          </a:solidFill>
          <a:ln w="6350">
            <a:solidFill>
              <a:srgbClr val="E1E7F4"/>
            </a:solidFill>
          </a:ln>
          <a:effectLst/>
        </p:spPr>
        <p:txBody>
          <a:bodyPr rtlCol="0" anchor="ctr"/>
          <a:lstStyle/>
          <a:p>
            <a:pPr algn="ctr"/>
            <a:endParaRPr/>
          </a:p>
        </p:txBody>
      </p:sp>
      <p:sp>
        <p:nvSpPr>
          <p:cNvPr id="60" name="TextBox 59"/>
          <p:cNvSpPr txBox="1"/>
          <p:nvPr/>
        </p:nvSpPr>
        <p:spPr>
          <a:xfrm>
            <a:off x="548640" y="3895344"/>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Turn lifetime</a:t>
            </a:r>
          </a:p>
        </p:txBody>
      </p:sp>
      <p:sp>
        <p:nvSpPr>
          <p:cNvPr id="61" name="TextBox 60"/>
          <p:cNvSpPr txBox="1"/>
          <p:nvPr/>
        </p:nvSpPr>
        <p:spPr>
          <a:xfrm>
            <a:off x="1691640" y="3895344"/>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the request</a:t>
            </a:r>
          </a:p>
        </p:txBody>
      </p:sp>
      <p:sp>
        <p:nvSpPr>
          <p:cNvPr id="62" name="TextBox 61"/>
          <p:cNvSpPr txBox="1"/>
          <p:nvPr/>
        </p:nvSpPr>
        <p:spPr>
          <a:xfrm>
            <a:off x="2606040" y="3895344"/>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the request</a:t>
            </a:r>
          </a:p>
        </p:txBody>
      </p:sp>
      <p:sp>
        <p:nvSpPr>
          <p:cNvPr id="63" name="TextBox 62"/>
          <p:cNvSpPr txBox="1"/>
          <p:nvPr/>
        </p:nvSpPr>
        <p:spPr>
          <a:xfrm>
            <a:off x="3520440" y="3895344"/>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hours or days</a:t>
            </a:r>
          </a:p>
        </p:txBody>
      </p:sp>
      <p:sp>
        <p:nvSpPr>
          <p:cNvPr id="64" name="Rectangle 63"/>
          <p:cNvSpPr/>
          <p:nvPr/>
        </p:nvSpPr>
        <p:spPr>
          <a:xfrm>
            <a:off x="548640" y="4151376"/>
            <a:ext cx="3977639" cy="256032"/>
          </a:xfrm>
          <a:prstGeom prst="rect">
            <a:avLst/>
          </a:prstGeom>
          <a:solidFill>
            <a:srgbClr val="FFFFFF"/>
          </a:solidFill>
          <a:ln w="6350">
            <a:solidFill>
              <a:srgbClr val="E1E7F4"/>
            </a:solidFill>
          </a:ln>
          <a:effectLst/>
        </p:spPr>
        <p:txBody>
          <a:bodyPr rtlCol="0" anchor="ctr"/>
          <a:lstStyle/>
          <a:p>
            <a:pPr algn="ctr"/>
            <a:endParaRPr/>
          </a:p>
        </p:txBody>
      </p:sp>
      <p:sp>
        <p:nvSpPr>
          <p:cNvPr id="65" name="TextBox 64"/>
          <p:cNvSpPr txBox="1"/>
          <p:nvPr/>
        </p:nvSpPr>
        <p:spPr>
          <a:xfrm>
            <a:off x="548640" y="4151376"/>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Survives a crash</a:t>
            </a:r>
          </a:p>
        </p:txBody>
      </p:sp>
      <p:sp>
        <p:nvSpPr>
          <p:cNvPr id="66" name="TextBox 65"/>
          <p:cNvSpPr txBox="1"/>
          <p:nvPr/>
        </p:nvSpPr>
        <p:spPr>
          <a:xfrm>
            <a:off x="1691640" y="4151376"/>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67" name="TextBox 66"/>
          <p:cNvSpPr txBox="1"/>
          <p:nvPr/>
        </p:nvSpPr>
        <p:spPr>
          <a:xfrm>
            <a:off x="2606040" y="4151376"/>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68" name="TextBox 67"/>
          <p:cNvSpPr txBox="1"/>
          <p:nvPr/>
        </p:nvSpPr>
        <p:spPr>
          <a:xfrm>
            <a:off x="3520440" y="4151376"/>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yes, re-entered</a:t>
            </a:r>
          </a:p>
        </p:txBody>
      </p:sp>
      <p:sp>
        <p:nvSpPr>
          <p:cNvPr id="69" name="Rectangle 68"/>
          <p:cNvSpPr/>
          <p:nvPr/>
        </p:nvSpPr>
        <p:spPr>
          <a:xfrm>
            <a:off x="548640" y="4407408"/>
            <a:ext cx="3977639" cy="256032"/>
          </a:xfrm>
          <a:prstGeom prst="rect">
            <a:avLst/>
          </a:prstGeom>
          <a:solidFill>
            <a:srgbClr val="F6F8FD"/>
          </a:solidFill>
          <a:ln w="6350">
            <a:solidFill>
              <a:srgbClr val="E1E7F4"/>
            </a:solidFill>
          </a:ln>
          <a:effectLst/>
        </p:spPr>
        <p:txBody>
          <a:bodyPr rtlCol="0" anchor="ctr"/>
          <a:lstStyle/>
          <a:p>
            <a:pPr algn="ctr"/>
            <a:endParaRPr/>
          </a:p>
        </p:txBody>
      </p:sp>
      <p:sp>
        <p:nvSpPr>
          <p:cNvPr id="70" name="TextBox 69"/>
          <p:cNvSpPr txBox="1"/>
          <p:nvPr/>
        </p:nvSpPr>
        <p:spPr>
          <a:xfrm>
            <a:off x="548640" y="4407408"/>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Waits for a human</a:t>
            </a:r>
          </a:p>
        </p:txBody>
      </p:sp>
      <p:sp>
        <p:nvSpPr>
          <p:cNvPr id="71" name="TextBox 70"/>
          <p:cNvSpPr txBox="1"/>
          <p:nvPr/>
        </p:nvSpPr>
        <p:spPr>
          <a:xfrm>
            <a:off x="1691640" y="4407408"/>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2" name="TextBox 71"/>
          <p:cNvSpPr txBox="1"/>
          <p:nvPr/>
        </p:nvSpPr>
        <p:spPr>
          <a:xfrm>
            <a:off x="2606040" y="4407408"/>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3" name="TextBox 72"/>
          <p:cNvSpPr txBox="1"/>
          <p:nvPr/>
        </p:nvSpPr>
        <p:spPr>
          <a:xfrm>
            <a:off x="3520440" y="4407408"/>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suspended task</a:t>
            </a:r>
          </a:p>
        </p:txBody>
      </p:sp>
      <p:sp>
        <p:nvSpPr>
          <p:cNvPr id="74" name="Rectangle 73"/>
          <p:cNvSpPr/>
          <p:nvPr/>
        </p:nvSpPr>
        <p:spPr>
          <a:xfrm>
            <a:off x="548640" y="4663440"/>
            <a:ext cx="3977639" cy="256032"/>
          </a:xfrm>
          <a:prstGeom prst="rect">
            <a:avLst/>
          </a:prstGeom>
          <a:solidFill>
            <a:srgbClr val="FFFFFF"/>
          </a:solidFill>
          <a:ln w="6350">
            <a:solidFill>
              <a:srgbClr val="E1E7F4"/>
            </a:solidFill>
          </a:ln>
          <a:effectLst/>
        </p:spPr>
        <p:txBody>
          <a:bodyPr rtlCol="0" anchor="ctr"/>
          <a:lstStyle/>
          <a:p>
            <a:pPr algn="ctr"/>
            <a:endParaRPr/>
          </a:p>
        </p:txBody>
      </p:sp>
      <p:sp>
        <p:nvSpPr>
          <p:cNvPr id="75" name="TextBox 74"/>
          <p:cNvSpPr txBox="1"/>
          <p:nvPr/>
        </p:nvSpPr>
        <p:spPr>
          <a:xfrm>
            <a:off x="548640" y="4663440"/>
            <a:ext cx="1143000" cy="256032"/>
          </a:xfrm>
          <a:prstGeom prst="rect">
            <a:avLst/>
          </a:prstGeom>
          <a:noFill/>
        </p:spPr>
        <p:txBody>
          <a:bodyPr wrap="square" lIns="73152" tIns="27432" rIns="73152" bIns="27432" anchor="ctr">
            <a:spAutoFit/>
          </a:bodyPr>
          <a:lstStyle/>
          <a:p>
            <a:pPr algn="l"/>
            <a:r>
              <a:rPr sz="750" b="1">
                <a:solidFill>
                  <a:srgbClr val="141B33"/>
                </a:solidFill>
                <a:latin typeface="Segoe UI"/>
              </a:rPr>
              <a:t>Steering</a:t>
            </a:r>
          </a:p>
        </p:txBody>
      </p:sp>
      <p:sp>
        <p:nvSpPr>
          <p:cNvPr id="76" name="TextBox 75"/>
          <p:cNvSpPr txBox="1"/>
          <p:nvPr/>
        </p:nvSpPr>
        <p:spPr>
          <a:xfrm>
            <a:off x="1691640" y="4663440"/>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7" name="TextBox 76"/>
          <p:cNvSpPr txBox="1"/>
          <p:nvPr/>
        </p:nvSpPr>
        <p:spPr>
          <a:xfrm>
            <a:off x="2606040" y="4663440"/>
            <a:ext cx="914400" cy="256032"/>
          </a:xfrm>
          <a:prstGeom prst="rect">
            <a:avLst/>
          </a:prstGeom>
          <a:noFill/>
        </p:spPr>
        <p:txBody>
          <a:bodyPr wrap="square" lIns="73152" tIns="27432" rIns="73152" bIns="27432" anchor="ctr">
            <a:spAutoFit/>
          </a:bodyPr>
          <a:lstStyle/>
          <a:p>
            <a:pPr algn="ctr"/>
            <a:r>
              <a:rPr sz="750" b="0">
                <a:solidFill>
                  <a:srgbClr val="44495B"/>
                </a:solidFill>
                <a:latin typeface="Segoe UI"/>
              </a:rPr>
              <a:t>—</a:t>
            </a:r>
          </a:p>
        </p:txBody>
      </p:sp>
      <p:sp>
        <p:nvSpPr>
          <p:cNvPr id="78" name="TextBox 77"/>
          <p:cNvSpPr txBox="1"/>
          <p:nvPr/>
        </p:nvSpPr>
        <p:spPr>
          <a:xfrm>
            <a:off x="3520440" y="4663440"/>
            <a:ext cx="1005840" cy="256032"/>
          </a:xfrm>
          <a:prstGeom prst="rect">
            <a:avLst/>
          </a:prstGeom>
          <a:noFill/>
        </p:spPr>
        <p:txBody>
          <a:bodyPr wrap="square" lIns="73152" tIns="27432" rIns="73152" bIns="27432" anchor="ctr">
            <a:spAutoFit/>
          </a:bodyPr>
          <a:lstStyle/>
          <a:p>
            <a:pPr algn="ctr"/>
            <a:r>
              <a:rPr sz="750" b="1">
                <a:solidFill>
                  <a:srgbClr val="008173"/>
                </a:solidFill>
                <a:latin typeface="Segoe UI"/>
              </a:rPr>
              <a:t>queued turn</a:t>
            </a:r>
          </a:p>
        </p:txBody>
      </p:sp>
      <p:sp>
        <p:nvSpPr>
          <p:cNvPr id="79" name="TextBox 78"/>
          <p:cNvSpPr txBox="1"/>
          <p:nvPr/>
        </p:nvSpPr>
        <p:spPr>
          <a:xfrm>
            <a:off x="4754880" y="1298448"/>
            <a:ext cx="37033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A RESILIENT TASK SURVIVES A CRASH</a:t>
            </a:r>
          </a:p>
        </p:txBody>
      </p:sp>
      <p:sp>
        <p:nvSpPr>
          <p:cNvPr id="80" name="Rectangle 79"/>
          <p:cNvSpPr/>
          <p:nvPr/>
        </p:nvSpPr>
        <p:spPr>
          <a:xfrm>
            <a:off x="4754880" y="1572768"/>
            <a:ext cx="1691640" cy="603504"/>
          </a:xfrm>
          <a:prstGeom prst="rect">
            <a:avLst/>
          </a:prstGeom>
          <a:solidFill>
            <a:srgbClr val="FFFFFF"/>
          </a:solidFill>
          <a:ln w="9525">
            <a:solidFill>
              <a:srgbClr val="E1E7F4"/>
            </a:solidFill>
          </a:ln>
          <a:effectLst/>
        </p:spPr>
        <p:txBody>
          <a:bodyPr rtlCol="0" anchor="ctr"/>
          <a:lstStyle/>
          <a:p>
            <a:pPr algn="ctr"/>
            <a:endParaRPr/>
          </a:p>
        </p:txBody>
      </p:sp>
      <p:sp>
        <p:nvSpPr>
          <p:cNvPr id="81" name="TextBox 80"/>
          <p:cNvSpPr txBox="1"/>
          <p:nvPr/>
        </p:nvSpPr>
        <p:spPr>
          <a:xfrm>
            <a:off x="4956048" y="1572768"/>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Work arrives</a:t>
            </a:r>
          </a:p>
          <a:p>
            <a:pPr algn="l"/>
            <a:r>
              <a:rPr sz="800" b="0">
                <a:solidFill>
                  <a:srgbClr val="141B33"/>
                </a:solidFill>
                <a:latin typeface="Segoe UI"/>
              </a:rPr>
              <a:t>with its own work identity</a:t>
            </a:r>
          </a:p>
        </p:txBody>
      </p:sp>
      <p:sp>
        <p:nvSpPr>
          <p:cNvPr id="82" name="Oval 81"/>
          <p:cNvSpPr/>
          <p:nvPr/>
        </p:nvSpPr>
        <p:spPr>
          <a:xfrm>
            <a:off x="4663440" y="1499616"/>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1</a:t>
            </a:r>
          </a:p>
        </p:txBody>
      </p:sp>
      <p:sp>
        <p:nvSpPr>
          <p:cNvPr id="83" name="Rectangle 82"/>
          <p:cNvSpPr/>
          <p:nvPr/>
        </p:nvSpPr>
        <p:spPr>
          <a:xfrm>
            <a:off x="6766560" y="1572768"/>
            <a:ext cx="1691640" cy="603504"/>
          </a:xfrm>
          <a:prstGeom prst="rect">
            <a:avLst/>
          </a:prstGeom>
          <a:solidFill>
            <a:srgbClr val="FFFFFF"/>
          </a:solidFill>
          <a:ln w="9525">
            <a:solidFill>
              <a:srgbClr val="E1E7F4"/>
            </a:solidFill>
          </a:ln>
          <a:effectLst/>
        </p:spPr>
        <p:txBody>
          <a:bodyPr rtlCol="0" anchor="ctr"/>
          <a:lstStyle/>
          <a:p>
            <a:pPr algn="ctr"/>
            <a:endParaRPr/>
          </a:p>
        </p:txBody>
      </p:sp>
      <p:sp>
        <p:nvSpPr>
          <p:cNvPr id="84" name="TextBox 83"/>
          <p:cNvSpPr txBox="1"/>
          <p:nvPr/>
        </p:nvSpPr>
        <p:spPr>
          <a:xfrm>
            <a:off x="6967728" y="1572768"/>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Input persisted</a:t>
            </a:r>
          </a:p>
          <a:p>
            <a:pPr algn="l"/>
            <a:r>
              <a:rPr sz="800" b="0">
                <a:solidFill>
                  <a:srgbClr val="141B33"/>
                </a:solidFill>
                <a:latin typeface="Segoe UI"/>
              </a:rPr>
              <a:t>the runtime takes a lease on the work</a:t>
            </a:r>
          </a:p>
        </p:txBody>
      </p:sp>
      <p:sp>
        <p:nvSpPr>
          <p:cNvPr id="85" name="Oval 84"/>
          <p:cNvSpPr/>
          <p:nvPr/>
        </p:nvSpPr>
        <p:spPr>
          <a:xfrm>
            <a:off x="6675120" y="1499616"/>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2</a:t>
            </a:r>
          </a:p>
        </p:txBody>
      </p:sp>
      <p:sp>
        <p:nvSpPr>
          <p:cNvPr id="86" name="Rectangle 85"/>
          <p:cNvSpPr/>
          <p:nvPr/>
        </p:nvSpPr>
        <p:spPr>
          <a:xfrm>
            <a:off x="6766560" y="2414015"/>
            <a:ext cx="1691640" cy="603504"/>
          </a:xfrm>
          <a:prstGeom prst="rect">
            <a:avLst/>
          </a:prstGeom>
          <a:solidFill>
            <a:srgbClr val="FFFFFF"/>
          </a:solidFill>
          <a:ln w="9525">
            <a:solidFill>
              <a:srgbClr val="E1E7F4"/>
            </a:solidFill>
          </a:ln>
          <a:effectLst/>
        </p:spPr>
        <p:txBody>
          <a:bodyPr rtlCol="0" anchor="ctr"/>
          <a:lstStyle/>
          <a:p>
            <a:pPr algn="ctr"/>
            <a:endParaRPr/>
          </a:p>
        </p:txBody>
      </p:sp>
      <p:sp>
        <p:nvSpPr>
          <p:cNvPr id="87" name="TextBox 86"/>
          <p:cNvSpPr txBox="1"/>
          <p:nvPr/>
        </p:nvSpPr>
        <p:spPr>
          <a:xfrm>
            <a:off x="6967728" y="2414015"/>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Handler runs</a:t>
            </a:r>
          </a:p>
          <a:p>
            <a:pPr algn="l"/>
            <a:r>
              <a:rPr sz="800" b="0">
                <a:solidFill>
                  <a:srgbClr val="141B33"/>
                </a:solidFill>
                <a:latin typeface="Segoe UI"/>
              </a:rPr>
              <a:t>writes checkpoints to the store</a:t>
            </a:r>
          </a:p>
        </p:txBody>
      </p:sp>
      <p:sp>
        <p:nvSpPr>
          <p:cNvPr id="88" name="Oval 87"/>
          <p:cNvSpPr/>
          <p:nvPr/>
        </p:nvSpPr>
        <p:spPr>
          <a:xfrm>
            <a:off x="6675120" y="2340863"/>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3</a:t>
            </a:r>
          </a:p>
        </p:txBody>
      </p:sp>
      <p:sp>
        <p:nvSpPr>
          <p:cNvPr id="89" name="Rectangle 88"/>
          <p:cNvSpPr/>
          <p:nvPr/>
        </p:nvSpPr>
        <p:spPr>
          <a:xfrm>
            <a:off x="6766560" y="3255263"/>
            <a:ext cx="1691640" cy="603504"/>
          </a:xfrm>
          <a:prstGeom prst="rect">
            <a:avLst/>
          </a:prstGeom>
          <a:solidFill>
            <a:srgbClr val="EBEFF7"/>
          </a:solidFill>
          <a:ln w="9525">
            <a:solidFill>
              <a:srgbClr val="E1E7F4"/>
            </a:solidFill>
          </a:ln>
          <a:effectLst/>
        </p:spPr>
        <p:txBody>
          <a:bodyPr rtlCol="0" anchor="ctr"/>
          <a:lstStyle/>
          <a:p>
            <a:pPr algn="ctr"/>
            <a:endParaRPr/>
          </a:p>
        </p:txBody>
      </p:sp>
      <p:sp>
        <p:nvSpPr>
          <p:cNvPr id="90" name="TextBox 89"/>
          <p:cNvSpPr txBox="1"/>
          <p:nvPr/>
        </p:nvSpPr>
        <p:spPr>
          <a:xfrm>
            <a:off x="6967728" y="3255263"/>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Process is lost</a:t>
            </a:r>
          </a:p>
          <a:p>
            <a:pPr algn="l"/>
            <a:r>
              <a:rPr sz="800" b="0">
                <a:solidFill>
                  <a:srgbClr val="141B33"/>
                </a:solidFill>
                <a:latin typeface="Segoe UI"/>
              </a:rPr>
              <a:t>the lease expires</a:t>
            </a:r>
          </a:p>
        </p:txBody>
      </p:sp>
      <p:sp>
        <p:nvSpPr>
          <p:cNvPr id="91" name="Oval 90"/>
          <p:cNvSpPr/>
          <p:nvPr/>
        </p:nvSpPr>
        <p:spPr>
          <a:xfrm>
            <a:off x="6675120" y="3182111"/>
            <a:ext cx="256032" cy="256032"/>
          </a:xfrm>
          <a:prstGeom prst="ellipse">
            <a:avLst/>
          </a:prstGeom>
          <a:solidFill>
            <a:srgbClr val="101A3C"/>
          </a:solidFill>
          <a:ln>
            <a:noFill/>
          </a:ln>
          <a:effectLst/>
        </p:spPr>
        <p:txBody>
          <a:bodyPr lIns="0" tIns="0" rIns="0" bIns="0" rtlCol="0" anchor="ctr"/>
          <a:lstStyle/>
          <a:p>
            <a:pPr algn="ctr"/>
            <a:r>
              <a:rPr sz="850" b="1">
                <a:solidFill>
                  <a:srgbClr val="FFFFFF"/>
                </a:solidFill>
                <a:latin typeface="Segoe UI"/>
              </a:rPr>
              <a:t>4</a:t>
            </a:r>
          </a:p>
        </p:txBody>
      </p:sp>
      <p:sp>
        <p:nvSpPr>
          <p:cNvPr id="92" name="Rectangle 91"/>
          <p:cNvSpPr/>
          <p:nvPr/>
        </p:nvSpPr>
        <p:spPr>
          <a:xfrm>
            <a:off x="4754880" y="3255263"/>
            <a:ext cx="1691640" cy="603504"/>
          </a:xfrm>
          <a:prstGeom prst="rect">
            <a:avLst/>
          </a:prstGeom>
          <a:solidFill>
            <a:srgbClr val="EBEFF7"/>
          </a:solidFill>
          <a:ln w="9525">
            <a:solidFill>
              <a:srgbClr val="E1E7F4"/>
            </a:solidFill>
          </a:ln>
          <a:effectLst/>
        </p:spPr>
        <p:txBody>
          <a:bodyPr rtlCol="0" anchor="ctr"/>
          <a:lstStyle/>
          <a:p>
            <a:pPr algn="ctr"/>
            <a:endParaRPr/>
          </a:p>
        </p:txBody>
      </p:sp>
      <p:sp>
        <p:nvSpPr>
          <p:cNvPr id="93" name="TextBox 92"/>
          <p:cNvSpPr txBox="1"/>
          <p:nvPr/>
        </p:nvSpPr>
        <p:spPr>
          <a:xfrm>
            <a:off x="4956048" y="3255263"/>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Process reclaims</a:t>
            </a:r>
          </a:p>
          <a:p>
            <a:pPr algn="l"/>
            <a:r>
              <a:rPr sz="800" b="0">
                <a:solidFill>
                  <a:srgbClr val="141B33"/>
                </a:solidFill>
                <a:latin typeface="Segoe UI"/>
              </a:rPr>
              <a:t>the same work record</a:t>
            </a:r>
          </a:p>
        </p:txBody>
      </p:sp>
      <p:sp>
        <p:nvSpPr>
          <p:cNvPr id="94" name="Oval 93"/>
          <p:cNvSpPr/>
          <p:nvPr/>
        </p:nvSpPr>
        <p:spPr>
          <a:xfrm>
            <a:off x="4663440" y="3182111"/>
            <a:ext cx="256032" cy="256032"/>
          </a:xfrm>
          <a:prstGeom prst="ellipse">
            <a:avLst/>
          </a:prstGeom>
          <a:solidFill>
            <a:srgbClr val="101A3C"/>
          </a:solidFill>
          <a:ln>
            <a:noFill/>
          </a:ln>
          <a:effectLst/>
        </p:spPr>
        <p:txBody>
          <a:bodyPr lIns="0" tIns="0" rIns="0" bIns="0" rtlCol="0" anchor="ctr"/>
          <a:lstStyle/>
          <a:p>
            <a:pPr algn="ctr"/>
            <a:r>
              <a:rPr sz="850" b="1">
                <a:solidFill>
                  <a:srgbClr val="FFFFFF"/>
                </a:solidFill>
                <a:latin typeface="Segoe UI"/>
              </a:rPr>
              <a:t>5</a:t>
            </a:r>
          </a:p>
        </p:txBody>
      </p:sp>
      <p:sp>
        <p:nvSpPr>
          <p:cNvPr id="95" name="Rectangle 94"/>
          <p:cNvSpPr/>
          <p:nvPr/>
        </p:nvSpPr>
        <p:spPr>
          <a:xfrm>
            <a:off x="4754880" y="2414015"/>
            <a:ext cx="1691640" cy="603504"/>
          </a:xfrm>
          <a:prstGeom prst="rect">
            <a:avLst/>
          </a:prstGeom>
          <a:solidFill>
            <a:srgbClr val="EBEFF7"/>
          </a:solidFill>
          <a:ln w="9525">
            <a:solidFill>
              <a:srgbClr val="E1E7F4"/>
            </a:solidFill>
          </a:ln>
          <a:effectLst/>
        </p:spPr>
        <p:txBody>
          <a:bodyPr rtlCol="0" anchor="ctr"/>
          <a:lstStyle/>
          <a:p>
            <a:pPr algn="ctr"/>
            <a:endParaRPr/>
          </a:p>
        </p:txBody>
      </p:sp>
      <p:sp>
        <p:nvSpPr>
          <p:cNvPr id="96" name="TextBox 95"/>
          <p:cNvSpPr txBox="1"/>
          <p:nvPr/>
        </p:nvSpPr>
        <p:spPr>
          <a:xfrm>
            <a:off x="4956048" y="2414015"/>
            <a:ext cx="1472184" cy="603504"/>
          </a:xfrm>
          <a:prstGeom prst="rect">
            <a:avLst/>
          </a:prstGeom>
          <a:noFill/>
        </p:spPr>
        <p:txBody>
          <a:bodyPr wrap="square" lIns="73152" tIns="27432" rIns="73152" bIns="27432" anchor="ctr">
            <a:spAutoFit/>
          </a:bodyPr>
          <a:lstStyle/>
          <a:p>
            <a:pPr algn="l"/>
            <a:r>
              <a:rPr sz="800" b="1">
                <a:solidFill>
                  <a:srgbClr val="141B33"/>
                </a:solidFill>
                <a:latin typeface="Segoe UI"/>
              </a:rPr>
              <a:t>Handler re-entered</a:t>
            </a:r>
          </a:p>
          <a:p>
            <a:pPr algn="l"/>
            <a:r>
              <a:rPr sz="800" b="0">
                <a:solidFill>
                  <a:srgbClr val="141B33"/>
                </a:solidFill>
                <a:latin typeface="Segoe UI"/>
              </a:rPr>
              <a:t>skips work already checkpointed</a:t>
            </a:r>
          </a:p>
        </p:txBody>
      </p:sp>
      <p:sp>
        <p:nvSpPr>
          <p:cNvPr id="97" name="Oval 96"/>
          <p:cNvSpPr/>
          <p:nvPr/>
        </p:nvSpPr>
        <p:spPr>
          <a:xfrm>
            <a:off x="4663440" y="2340863"/>
            <a:ext cx="256032" cy="256032"/>
          </a:xfrm>
          <a:prstGeom prst="ellipse">
            <a:avLst/>
          </a:prstGeom>
          <a:solidFill>
            <a:srgbClr val="101A3C"/>
          </a:solidFill>
          <a:ln>
            <a:noFill/>
          </a:ln>
          <a:effectLst/>
        </p:spPr>
        <p:txBody>
          <a:bodyPr lIns="0" tIns="0" rIns="0" bIns="0" rtlCol="0" anchor="ctr"/>
          <a:lstStyle/>
          <a:p>
            <a:pPr algn="ctr"/>
            <a:r>
              <a:rPr sz="850" b="1">
                <a:solidFill>
                  <a:srgbClr val="FFFFFF"/>
                </a:solidFill>
                <a:latin typeface="Segoe UI"/>
              </a:rPr>
              <a:t>6</a:t>
            </a:r>
          </a:p>
        </p:txBody>
      </p:sp>
      <p:cxnSp>
        <p:nvCxnSpPr>
          <p:cNvPr id="98" name="Connector 97"/>
          <p:cNvCxnSpPr/>
          <p:nvPr/>
        </p:nvCxnSpPr>
        <p:spPr>
          <a:xfrm>
            <a:off x="6446520" y="1856231"/>
            <a:ext cx="32004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99" name="Connector 98"/>
          <p:cNvCxnSpPr/>
          <p:nvPr/>
        </p:nvCxnSpPr>
        <p:spPr>
          <a:xfrm>
            <a:off x="7612380" y="2139696"/>
            <a:ext cx="0" cy="274319"/>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0" name="Connector 99"/>
          <p:cNvCxnSpPr/>
          <p:nvPr/>
        </p:nvCxnSpPr>
        <p:spPr>
          <a:xfrm>
            <a:off x="7612380" y="2980944"/>
            <a:ext cx="0" cy="27432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1" name="Connector 100"/>
          <p:cNvCxnSpPr/>
          <p:nvPr/>
        </p:nvCxnSpPr>
        <p:spPr>
          <a:xfrm flipH="1">
            <a:off x="6446520" y="3538727"/>
            <a:ext cx="320040"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2" name="Connector 101"/>
          <p:cNvCxnSpPr/>
          <p:nvPr/>
        </p:nvCxnSpPr>
        <p:spPr>
          <a:xfrm flipV="1">
            <a:off x="5600700" y="2980944"/>
            <a:ext cx="0" cy="274319"/>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03" name="Connector 102"/>
          <p:cNvCxnSpPr/>
          <p:nvPr/>
        </p:nvCxnSpPr>
        <p:spPr>
          <a:xfrm flipV="1">
            <a:off x="5600700" y="2139696"/>
            <a:ext cx="0" cy="274319"/>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
        <p:nvSpPr>
          <p:cNvPr id="104" name="TextBox 103"/>
          <p:cNvSpPr txBox="1"/>
          <p:nvPr/>
        </p:nvSpPr>
        <p:spPr>
          <a:xfrm>
            <a:off x="4754880" y="3877055"/>
            <a:ext cx="3703320" cy="457200"/>
          </a:xfrm>
          <a:prstGeom prst="rect">
            <a:avLst/>
          </a:prstGeom>
          <a:noFill/>
        </p:spPr>
        <p:txBody>
          <a:bodyPr wrap="square" lIns="73152" tIns="27432" rIns="73152" bIns="27432" anchor="t">
            <a:spAutoFit/>
          </a:bodyPr>
          <a:lstStyle/>
          <a:p>
            <a:pPr algn="l"/>
            <a:r>
              <a:rPr sz="800" b="1">
                <a:solidFill>
                  <a:srgbClr val="141B33"/>
                </a:solidFill>
                <a:latin typeface="Segoe UI"/>
              </a:rPr>
              <a:t>Recovery is not a retry and not a replay: </a:t>
            </a:r>
            <a:r>
              <a:rPr sz="800" b="0">
                <a:solidFill>
                  <a:srgbClr val="141B33"/>
                </a:solidFill>
                <a:latin typeface="Segoe UI"/>
              </a:rPr>
              <a:t>the handler restarts from the top and skips finished steps using its checkpoints — so every step must be safe to run again.</a:t>
            </a:r>
          </a:p>
        </p:txBody>
      </p:sp>
      <p:sp>
        <p:nvSpPr>
          <p:cNvPr id="105" name="TextBox 104"/>
          <p:cNvSpPr txBox="1"/>
          <p:nvPr/>
        </p:nvSpPr>
        <p:spPr>
          <a:xfrm>
            <a:off x="8732520" y="1298448"/>
            <a:ext cx="290779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WHAT YOU GET</a:t>
            </a:r>
          </a:p>
        </p:txBody>
      </p:sp>
      <p:sp>
        <p:nvSpPr>
          <p:cNvPr id="106" name="Rectangle 105"/>
          <p:cNvSpPr/>
          <p:nvPr/>
        </p:nvSpPr>
        <p:spPr>
          <a:xfrm>
            <a:off x="8732520" y="1554480"/>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07" name="Rectangle 106"/>
          <p:cNvSpPr/>
          <p:nvPr/>
        </p:nvSpPr>
        <p:spPr>
          <a:xfrm>
            <a:off x="8732520" y="1554480"/>
            <a:ext cx="45720" cy="457200"/>
          </a:xfrm>
          <a:prstGeom prst="rect">
            <a:avLst/>
          </a:prstGeom>
          <a:solidFill>
            <a:srgbClr val="00B39F"/>
          </a:solidFill>
          <a:ln>
            <a:noFill/>
          </a:ln>
          <a:effectLst/>
        </p:spPr>
        <p:txBody>
          <a:bodyPr rtlCol="0" anchor="ctr"/>
          <a:lstStyle/>
          <a:p>
            <a:pPr algn="ctr"/>
            <a:endParaRPr/>
          </a:p>
        </p:txBody>
      </p:sp>
      <p:sp>
        <p:nvSpPr>
          <p:cNvPr id="108" name="TextBox 107"/>
          <p:cNvSpPr txBox="1"/>
          <p:nvPr/>
        </p:nvSpPr>
        <p:spPr>
          <a:xfrm>
            <a:off x="8787384" y="1554480"/>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Background execution</a:t>
            </a:r>
          </a:p>
          <a:p>
            <a:pPr algn="l"/>
            <a:r>
              <a:rPr sz="750" b="0">
                <a:solidFill>
                  <a:srgbClr val="141B33"/>
                </a:solidFill>
                <a:latin typeface="Segoe UI"/>
              </a:rPr>
              <a:t>start work, disconnect, poll or reconnect later</a:t>
            </a:r>
          </a:p>
        </p:txBody>
      </p:sp>
      <p:sp>
        <p:nvSpPr>
          <p:cNvPr id="109" name="Rectangle 108"/>
          <p:cNvSpPr/>
          <p:nvPr/>
        </p:nvSpPr>
        <p:spPr>
          <a:xfrm>
            <a:off x="8732520" y="2066543"/>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0" name="Rectangle 109"/>
          <p:cNvSpPr/>
          <p:nvPr/>
        </p:nvSpPr>
        <p:spPr>
          <a:xfrm>
            <a:off x="8732520" y="2066543"/>
            <a:ext cx="45720" cy="457200"/>
          </a:xfrm>
          <a:prstGeom prst="rect">
            <a:avLst/>
          </a:prstGeom>
          <a:solidFill>
            <a:srgbClr val="00B39F"/>
          </a:solidFill>
          <a:ln>
            <a:noFill/>
          </a:ln>
          <a:effectLst/>
        </p:spPr>
        <p:txBody>
          <a:bodyPr rtlCol="0" anchor="ctr"/>
          <a:lstStyle/>
          <a:p>
            <a:pPr algn="ctr"/>
            <a:endParaRPr/>
          </a:p>
        </p:txBody>
      </p:sp>
      <p:sp>
        <p:nvSpPr>
          <p:cNvPr id="111" name="TextBox 110"/>
          <p:cNvSpPr txBox="1"/>
          <p:nvPr/>
        </p:nvSpPr>
        <p:spPr>
          <a:xfrm>
            <a:off x="8787384" y="2066543"/>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Crash recovery</a:t>
            </a:r>
          </a:p>
          <a:p>
            <a:pPr algn="l"/>
            <a:r>
              <a:rPr sz="750" b="0">
                <a:solidFill>
                  <a:srgbClr val="141B33"/>
                </a:solidFill>
                <a:latin typeface="Segoe UI"/>
              </a:rPr>
              <a:t>durable work identity, lease and re-entry</a:t>
            </a:r>
          </a:p>
        </p:txBody>
      </p:sp>
      <p:sp>
        <p:nvSpPr>
          <p:cNvPr id="112" name="Rectangle 111"/>
          <p:cNvSpPr/>
          <p:nvPr/>
        </p:nvSpPr>
        <p:spPr>
          <a:xfrm>
            <a:off x="8732520" y="2578608"/>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3" name="Rectangle 112"/>
          <p:cNvSpPr/>
          <p:nvPr/>
        </p:nvSpPr>
        <p:spPr>
          <a:xfrm>
            <a:off x="8732520" y="2578608"/>
            <a:ext cx="45720" cy="457200"/>
          </a:xfrm>
          <a:prstGeom prst="rect">
            <a:avLst/>
          </a:prstGeom>
          <a:solidFill>
            <a:srgbClr val="00B39F"/>
          </a:solidFill>
          <a:ln>
            <a:noFill/>
          </a:ln>
          <a:effectLst/>
        </p:spPr>
        <p:txBody>
          <a:bodyPr rtlCol="0" anchor="ctr"/>
          <a:lstStyle/>
          <a:p>
            <a:pPr algn="ctr"/>
            <a:endParaRPr/>
          </a:p>
        </p:txBody>
      </p:sp>
      <p:sp>
        <p:nvSpPr>
          <p:cNvPr id="114" name="TextBox 113"/>
          <p:cNvSpPr txBox="1"/>
          <p:nvPr/>
        </p:nvSpPr>
        <p:spPr>
          <a:xfrm>
            <a:off x="8787384" y="2578608"/>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Human in the loop</a:t>
            </a:r>
          </a:p>
          <a:p>
            <a:pPr algn="l"/>
            <a:r>
              <a:rPr sz="750" b="0">
                <a:solidFill>
                  <a:srgbClr val="141B33"/>
                </a:solidFill>
                <a:latin typeface="Segoe UI"/>
              </a:rPr>
              <a:t>a task suspends under one identity for hours or days and resumes on the next input</a:t>
            </a:r>
          </a:p>
        </p:txBody>
      </p:sp>
      <p:sp>
        <p:nvSpPr>
          <p:cNvPr id="115" name="Rectangle 114"/>
          <p:cNvSpPr/>
          <p:nvPr/>
        </p:nvSpPr>
        <p:spPr>
          <a:xfrm>
            <a:off x="8732520" y="3090672"/>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6" name="Rectangle 115"/>
          <p:cNvSpPr/>
          <p:nvPr/>
        </p:nvSpPr>
        <p:spPr>
          <a:xfrm>
            <a:off x="8732520" y="3090672"/>
            <a:ext cx="45720" cy="457200"/>
          </a:xfrm>
          <a:prstGeom prst="rect">
            <a:avLst/>
          </a:prstGeom>
          <a:solidFill>
            <a:srgbClr val="00B39F"/>
          </a:solidFill>
          <a:ln>
            <a:noFill/>
          </a:ln>
          <a:effectLst/>
        </p:spPr>
        <p:txBody>
          <a:bodyPr rtlCol="0" anchor="ctr"/>
          <a:lstStyle/>
          <a:p>
            <a:pPr algn="ctr"/>
            <a:endParaRPr/>
          </a:p>
        </p:txBody>
      </p:sp>
      <p:sp>
        <p:nvSpPr>
          <p:cNvPr id="117" name="TextBox 116"/>
          <p:cNvSpPr txBox="1"/>
          <p:nvPr/>
        </p:nvSpPr>
        <p:spPr>
          <a:xfrm>
            <a:off x="8787384" y="3090672"/>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Steering</a:t>
            </a:r>
          </a:p>
          <a:p>
            <a:pPr algn="l"/>
            <a:r>
              <a:rPr sz="750" b="0">
                <a:solidFill>
                  <a:srgbClr val="141B33"/>
                </a:solidFill>
                <a:latin typeface="Segoe UI"/>
              </a:rPr>
              <a:t>a new instruction while the task runs is queued and the current turn is cancelled gracefully</a:t>
            </a:r>
          </a:p>
        </p:txBody>
      </p:sp>
      <p:sp>
        <p:nvSpPr>
          <p:cNvPr id="118" name="Rectangle 117"/>
          <p:cNvSpPr/>
          <p:nvPr/>
        </p:nvSpPr>
        <p:spPr>
          <a:xfrm>
            <a:off x="8732520" y="3602736"/>
            <a:ext cx="2907792" cy="457200"/>
          </a:xfrm>
          <a:prstGeom prst="rect">
            <a:avLst/>
          </a:prstGeom>
          <a:solidFill>
            <a:srgbClr val="FFFFFF"/>
          </a:solidFill>
          <a:ln w="9525">
            <a:solidFill>
              <a:srgbClr val="E1E7F4"/>
            </a:solidFill>
          </a:ln>
          <a:effectLst/>
        </p:spPr>
        <p:txBody>
          <a:bodyPr rtlCol="0" anchor="ctr"/>
          <a:lstStyle/>
          <a:p>
            <a:pPr algn="ctr"/>
            <a:endParaRPr/>
          </a:p>
        </p:txBody>
      </p:sp>
      <p:sp>
        <p:nvSpPr>
          <p:cNvPr id="119" name="Rectangle 118"/>
          <p:cNvSpPr/>
          <p:nvPr/>
        </p:nvSpPr>
        <p:spPr>
          <a:xfrm>
            <a:off x="8732520" y="3602736"/>
            <a:ext cx="45720" cy="457200"/>
          </a:xfrm>
          <a:prstGeom prst="rect">
            <a:avLst/>
          </a:prstGeom>
          <a:solidFill>
            <a:srgbClr val="00B39F"/>
          </a:solidFill>
          <a:ln>
            <a:noFill/>
          </a:ln>
          <a:effectLst/>
        </p:spPr>
        <p:txBody>
          <a:bodyPr rtlCol="0" anchor="ctr"/>
          <a:lstStyle/>
          <a:p>
            <a:pPr algn="ctr"/>
            <a:endParaRPr/>
          </a:p>
        </p:txBody>
      </p:sp>
      <p:sp>
        <p:nvSpPr>
          <p:cNvPr id="120" name="TextBox 119"/>
          <p:cNvSpPr txBox="1"/>
          <p:nvPr/>
        </p:nvSpPr>
        <p:spPr>
          <a:xfrm>
            <a:off x="8787384" y="3602736"/>
            <a:ext cx="2834640" cy="457200"/>
          </a:xfrm>
          <a:prstGeom prst="rect">
            <a:avLst/>
          </a:prstGeom>
          <a:noFill/>
        </p:spPr>
        <p:txBody>
          <a:bodyPr wrap="square" lIns="73152" tIns="27432" rIns="73152" bIns="27432" anchor="ctr">
            <a:spAutoFit/>
          </a:bodyPr>
          <a:lstStyle/>
          <a:p>
            <a:pPr algn="l"/>
            <a:r>
              <a:rPr sz="750" b="1">
                <a:solidFill>
                  <a:srgbClr val="141B33"/>
                </a:solidFill>
                <a:latin typeface="Segoe UI"/>
              </a:rPr>
              <a:t>Durable state</a:t>
            </a:r>
          </a:p>
          <a:p>
            <a:pPr algn="l"/>
            <a:r>
              <a:rPr sz="750" b="0">
                <a:solidFill>
                  <a:srgbClr val="141B33"/>
                </a:solidFill>
                <a:latin typeface="Segoe UI"/>
              </a:rPr>
              <a:t>a server-backed state store; LangGraph and Agent Framework checkpointers can use it</a:t>
            </a:r>
          </a:p>
        </p:txBody>
      </p:sp>
      <p:sp>
        <p:nvSpPr>
          <p:cNvPr id="121" name="Rectangle 120"/>
          <p:cNvSpPr/>
          <p:nvPr/>
        </p:nvSpPr>
        <p:spPr>
          <a:xfrm>
            <a:off x="8732520" y="4169663"/>
            <a:ext cx="2907792" cy="896112"/>
          </a:xfrm>
          <a:prstGeom prst="rect">
            <a:avLst/>
          </a:prstGeom>
          <a:solidFill>
            <a:srgbClr val="0B1229"/>
          </a:solidFill>
          <a:ln>
            <a:noFill/>
          </a:ln>
          <a:effectLst/>
        </p:spPr>
        <p:txBody>
          <a:bodyPr rtlCol="0" anchor="ctr"/>
          <a:lstStyle/>
          <a:p>
            <a:pPr algn="ctr"/>
            <a:endParaRPr/>
          </a:p>
        </p:txBody>
      </p:sp>
      <p:sp>
        <p:nvSpPr>
          <p:cNvPr id="122" name="TextBox 121"/>
          <p:cNvSpPr txBox="1"/>
          <p:nvPr/>
        </p:nvSpPr>
        <p:spPr>
          <a:xfrm>
            <a:off x="8732520" y="4169663"/>
            <a:ext cx="2907792" cy="896112"/>
          </a:xfrm>
          <a:prstGeom prst="rect">
            <a:avLst/>
          </a:prstGeom>
          <a:noFill/>
        </p:spPr>
        <p:txBody>
          <a:bodyPr wrap="square" lIns="73152" tIns="27432" rIns="73152" bIns="27432" anchor="ctr">
            <a:spAutoFit/>
          </a:bodyPr>
          <a:lstStyle/>
          <a:p>
            <a:pPr algn="l"/>
            <a:r>
              <a:rPr sz="750" b="1">
                <a:solidFill>
                  <a:srgbClr val="FFFFFF"/>
                </a:solidFill>
                <a:latin typeface="Segoe UI"/>
              </a:rPr>
              <a:t>Use them when</a:t>
            </a:r>
          </a:p>
          <a:p>
            <a:pPr algn="l">
              <a:spcBef>
                <a:spcPts val="100"/>
              </a:spcBef>
            </a:pPr>
            <a:r>
              <a:rPr sz="750" b="0">
                <a:solidFill>
                  <a:srgbClr val="FFFFFF"/>
                </a:solidFill>
                <a:latin typeface="Segoe UI"/>
              </a:rPr>
              <a:t>• approvals or reviews sit inside the flow</a:t>
            </a:r>
          </a:p>
          <a:p>
            <a:pPr algn="l">
              <a:spcBef>
                <a:spcPts val="100"/>
              </a:spcBef>
            </a:pPr>
            <a:r>
              <a:rPr sz="750" b="0">
                <a:solidFill>
                  <a:srgbClr val="FFFFFF"/>
                </a:solidFill>
                <a:latin typeface="Segoe UI"/>
              </a:rPr>
              <a:t>• a job takes longer than a request may live</a:t>
            </a:r>
          </a:p>
          <a:p>
            <a:pPr algn="l">
              <a:spcBef>
                <a:spcPts val="100"/>
              </a:spcBef>
            </a:pPr>
            <a:r>
              <a:rPr sz="750" b="0">
                <a:solidFill>
                  <a:srgbClr val="FFFFFF"/>
                </a:solidFill>
                <a:latin typeface="Segoe UI"/>
              </a:rPr>
              <a:t>• losing the work half-way is not acceptable</a:t>
            </a:r>
          </a:p>
          <a:p>
            <a:pPr algn="l">
              <a:spcBef>
                <a:spcPts val="100"/>
              </a:spcBef>
            </a:pPr>
            <a:r>
              <a:rPr sz="750" b="0">
                <a:solidFill>
                  <a:srgbClr val="FFFFFF"/>
                </a:solidFill>
                <a:latin typeface="Segoe UI"/>
              </a:rPr>
              <a:t>Not for fan-out, timers or child workflows — use a workflow engine.</a:t>
            </a:r>
          </a:p>
        </p:txBody>
      </p:sp>
      <p:sp>
        <p:nvSpPr>
          <p:cNvPr id="123" name="TextBox 122"/>
          <p:cNvSpPr txBox="1"/>
          <p:nvPr/>
        </p:nvSpPr>
        <p:spPr>
          <a:xfrm>
            <a:off x="548640" y="5504688"/>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Available for hosted agents through the agent server libraries (Python generally available, .NET preview).</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Foundry Control Plane: the four pillars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Visibility, governance and control for every agent, model and tool in a Foundry estate — observe, evaluate, protect, govern.</a:t>
            </a:r>
          </a:p>
          <a:p>
            <a:endParaRPr sz="1200">
              <a:solidFill>
                <a:srgbClr val="44495B"/>
              </a:solidFill>
              <a:latin typeface="Segoe UI"/>
            </a:endParaRPr>
          </a:p>
        </p:txBody>
      </p:sp>
      <p:sp>
        <p:nvSpPr>
          <p:cNvPr id="39" name="Shape"/>
          <p:cNvSpPr/>
          <p:nvPr/>
        </p:nvSpPr>
        <p:spPr>
          <a:xfrm>
            <a:off x="548640" y="5687568"/>
            <a:ext cx="11094720" cy="9525"/>
          </a:xfrm>
          <a:prstGeom prst="rect">
            <a:avLst/>
          </a:prstGeom>
          <a:solidFill>
            <a:srgbClr val="E1E7F4"/>
          </a:solidFill>
        </p:spPr>
        <p:txBody>
          <a:bodyPr/>
          <a:lstStyle/>
          <a:p>
            <a:endParaRPr/>
          </a:p>
        </p:txBody>
      </p:sp>
      <p:sp>
        <p:nvSpPr>
          <p:cNvPr id="40"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learn.microsoft.com/azure/foundry/control-plane/overview · concepts/capability-reference</a:t>
            </a:r>
          </a:p>
          <a:p>
            <a:endParaRPr sz="900">
              <a:solidFill>
                <a:srgbClr val="44495B"/>
              </a:solidFill>
              <a:latin typeface="Segoe UI"/>
            </a:endParaRPr>
          </a:p>
        </p:txBody>
      </p:sp>
      <p:sp>
        <p:nvSpPr>
          <p:cNvPr id="41"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22</a:t>
            </a:r>
          </a:p>
        </p:txBody>
      </p:sp>
      <p:sp>
        <p:nvSpPr>
          <p:cNvPr id="42" name="Rectangle 41"/>
          <p:cNvSpPr/>
          <p:nvPr/>
        </p:nvSpPr>
        <p:spPr>
          <a:xfrm>
            <a:off x="548640" y="1298448"/>
            <a:ext cx="11091672" cy="457200"/>
          </a:xfrm>
          <a:prstGeom prst="rect">
            <a:avLst/>
          </a:prstGeom>
          <a:solidFill>
            <a:srgbClr val="0B1229"/>
          </a:solidFill>
          <a:ln>
            <a:noFill/>
          </a:ln>
          <a:effectLst/>
        </p:spPr>
        <p:txBody>
          <a:bodyPr rtlCol="0" anchor="ctr"/>
          <a:lstStyle/>
          <a:p>
            <a:pPr algn="ctr"/>
            <a:endParaRPr/>
          </a:p>
        </p:txBody>
      </p:sp>
      <p:sp>
        <p:nvSpPr>
          <p:cNvPr id="43" name="TextBox 42"/>
          <p:cNvSpPr txBox="1"/>
          <p:nvPr/>
        </p:nvSpPr>
        <p:spPr>
          <a:xfrm>
            <a:off x="548640" y="1298448"/>
            <a:ext cx="11091672" cy="457200"/>
          </a:xfrm>
          <a:prstGeom prst="rect">
            <a:avLst/>
          </a:prstGeom>
          <a:noFill/>
        </p:spPr>
        <p:txBody>
          <a:bodyPr wrap="square" lIns="73152" tIns="27432" rIns="73152" bIns="27432" anchor="ctr">
            <a:spAutoFit/>
          </a:bodyPr>
          <a:lstStyle/>
          <a:p>
            <a:pPr algn="ctr"/>
            <a:r>
              <a:rPr sz="850" b="1">
                <a:solidFill>
                  <a:srgbClr val="FFFFFF"/>
                </a:solidFill>
                <a:latin typeface="Segoe UI"/>
              </a:rPr>
              <a:t>Foundry Control Plane  </a:t>
            </a:r>
            <a:r>
              <a:rPr sz="850" b="0">
                <a:solidFill>
                  <a:srgbClr val="FFFFFF"/>
                </a:solidFill>
                <a:latin typeface="Segoe UI"/>
              </a:rPr>
              <a:t>one management layer across agents (prompt, workflow, hosted, Azure SRE Agent, Logic Apps agent loops, registered custom agents), model deployments and tools — reached from the Operate view in the Foundry portal</a:t>
            </a:r>
          </a:p>
        </p:txBody>
      </p:sp>
      <p:sp>
        <p:nvSpPr>
          <p:cNvPr id="44" name="Rectangle 43"/>
          <p:cNvSpPr/>
          <p:nvPr/>
        </p:nvSpPr>
        <p:spPr>
          <a:xfrm>
            <a:off x="548640"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45" name="Rectangle 44"/>
          <p:cNvSpPr/>
          <p:nvPr/>
        </p:nvSpPr>
        <p:spPr>
          <a:xfrm>
            <a:off x="548640" y="1865376"/>
            <a:ext cx="2670048" cy="475488"/>
          </a:xfrm>
          <a:prstGeom prst="rect">
            <a:avLst/>
          </a:prstGeom>
          <a:solidFill>
            <a:srgbClr val="101A3C"/>
          </a:solidFill>
          <a:ln>
            <a:noFill/>
          </a:ln>
          <a:effectLst/>
        </p:spPr>
        <p:txBody>
          <a:bodyPr rtlCol="0" anchor="ctr"/>
          <a:lstStyle/>
          <a:p>
            <a:pPr algn="ctr"/>
            <a:endParaRPr/>
          </a:p>
        </p:txBody>
      </p:sp>
      <p:sp>
        <p:nvSpPr>
          <p:cNvPr id="46" name="TextBox 45"/>
          <p:cNvSpPr txBox="1"/>
          <p:nvPr/>
        </p:nvSpPr>
        <p:spPr>
          <a:xfrm>
            <a:off x="548640"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Observe</a:t>
            </a:r>
          </a:p>
          <a:p>
            <a:pPr algn="ctr"/>
            <a:r>
              <a:rPr sz="950" b="0">
                <a:solidFill>
                  <a:srgbClr val="FFFFFF"/>
                </a:solidFill>
                <a:latin typeface="Segoe UI"/>
              </a:rPr>
              <a:t>see what agents and models do</a:t>
            </a:r>
          </a:p>
        </p:txBody>
      </p:sp>
      <p:sp>
        <p:nvSpPr>
          <p:cNvPr id="47" name="Rectangle 46"/>
          <p:cNvSpPr/>
          <p:nvPr/>
        </p:nvSpPr>
        <p:spPr>
          <a:xfrm>
            <a:off x="621792"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48" name="TextBox 47"/>
          <p:cNvSpPr txBox="1"/>
          <p:nvPr/>
        </p:nvSpPr>
        <p:spPr>
          <a:xfrm>
            <a:off x="621792"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Tracing</a:t>
            </a:r>
          </a:p>
          <a:p>
            <a:pPr algn="l"/>
            <a:r>
              <a:rPr sz="750" b="0">
                <a:solidFill>
                  <a:srgbClr val="141B33"/>
                </a:solidFill>
                <a:latin typeface="Segoe UI"/>
              </a:rPr>
              <a:t>OpenTelemetry spans from prompt agents, hosted agents and custom code, stored in Application Insights</a:t>
            </a:r>
          </a:p>
        </p:txBody>
      </p:sp>
      <p:sp>
        <p:nvSpPr>
          <p:cNvPr id="49" name="Rectangle 48"/>
          <p:cNvSpPr/>
          <p:nvPr/>
        </p:nvSpPr>
        <p:spPr>
          <a:xfrm>
            <a:off x="621792"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50" name="TextBox 49"/>
          <p:cNvSpPr txBox="1"/>
          <p:nvPr/>
        </p:nvSpPr>
        <p:spPr>
          <a:xfrm>
            <a:off x="621792"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Monitoring</a:t>
            </a:r>
          </a:p>
          <a:p>
            <a:pPr algn="l"/>
            <a:r>
              <a:rPr sz="750" b="0">
                <a:solidFill>
                  <a:srgbClr val="141B33"/>
                </a:solidFill>
                <a:latin typeface="Segoe UI"/>
              </a:rPr>
              <a:t>agent monitoring dashboard*: tokens, latency, run success · model deployment metrics · diagnostic logs · Insights* on recurring trace issues</a:t>
            </a:r>
          </a:p>
        </p:txBody>
      </p:sp>
      <p:sp>
        <p:nvSpPr>
          <p:cNvPr id="51" name="Rectangle 50"/>
          <p:cNvSpPr/>
          <p:nvPr/>
        </p:nvSpPr>
        <p:spPr>
          <a:xfrm>
            <a:off x="621792"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52" name="TextBox 51"/>
          <p:cNvSpPr txBox="1"/>
          <p:nvPr/>
        </p:nvSpPr>
        <p:spPr>
          <a:xfrm>
            <a:off x="621792"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Fleet inventory</a:t>
            </a:r>
          </a:p>
          <a:p>
            <a:pPr algn="l"/>
            <a:r>
              <a:rPr sz="750" b="0">
                <a:solidFill>
                  <a:srgbClr val="141B33"/>
                </a:solidFill>
                <a:latin typeface="Segoe UI"/>
              </a:rPr>
              <a:t>every agent with status, version, runs, error rate, tokens, estimated cost and its Entra Agent ID</a:t>
            </a:r>
          </a:p>
        </p:txBody>
      </p:sp>
      <p:sp>
        <p:nvSpPr>
          <p:cNvPr id="53" name="TextBox 52"/>
          <p:cNvSpPr txBox="1"/>
          <p:nvPr/>
        </p:nvSpPr>
        <p:spPr>
          <a:xfrm>
            <a:off x="548640" y="4306824"/>
            <a:ext cx="2670048" cy="237744"/>
          </a:xfrm>
          <a:prstGeom prst="rect">
            <a:avLst/>
          </a:prstGeom>
          <a:noFill/>
        </p:spPr>
        <p:txBody>
          <a:bodyPr wrap="square" lIns="73152" tIns="27432" rIns="73152" bIns="27432" anchor="ctr">
            <a:spAutoFit/>
          </a:bodyPr>
          <a:lstStyle/>
          <a:p>
            <a:pPr algn="r"/>
            <a:r>
              <a:rPr sz="750" b="0">
                <a:solidFill>
                  <a:srgbClr val="44495B"/>
                </a:solidFill>
                <a:latin typeface="Segoe UI"/>
              </a:rPr>
              <a:t>→ slide 25</a:t>
            </a:r>
          </a:p>
        </p:txBody>
      </p:sp>
      <p:sp>
        <p:nvSpPr>
          <p:cNvPr id="54" name="Rectangle 53"/>
          <p:cNvSpPr/>
          <p:nvPr/>
        </p:nvSpPr>
        <p:spPr>
          <a:xfrm>
            <a:off x="3355848"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55" name="Rectangle 54"/>
          <p:cNvSpPr/>
          <p:nvPr/>
        </p:nvSpPr>
        <p:spPr>
          <a:xfrm>
            <a:off x="3355848" y="1865376"/>
            <a:ext cx="2670048" cy="475488"/>
          </a:xfrm>
          <a:prstGeom prst="rect">
            <a:avLst/>
          </a:prstGeom>
          <a:solidFill>
            <a:srgbClr val="008173"/>
          </a:solidFill>
          <a:ln>
            <a:noFill/>
          </a:ln>
          <a:effectLst/>
        </p:spPr>
        <p:txBody>
          <a:bodyPr rtlCol="0" anchor="ctr"/>
          <a:lstStyle/>
          <a:p>
            <a:pPr algn="ctr"/>
            <a:endParaRPr/>
          </a:p>
        </p:txBody>
      </p:sp>
      <p:sp>
        <p:nvSpPr>
          <p:cNvPr id="56" name="TextBox 55"/>
          <p:cNvSpPr txBox="1"/>
          <p:nvPr/>
        </p:nvSpPr>
        <p:spPr>
          <a:xfrm>
            <a:off x="3355848"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Evaluate</a:t>
            </a:r>
          </a:p>
          <a:p>
            <a:pPr algn="ctr"/>
            <a:r>
              <a:rPr sz="950" b="0">
                <a:solidFill>
                  <a:srgbClr val="FFFFFF"/>
                </a:solidFill>
                <a:latin typeface="Segoe UI"/>
              </a:rPr>
              <a:t>measure quality and safety</a:t>
            </a:r>
          </a:p>
        </p:txBody>
      </p:sp>
      <p:sp>
        <p:nvSpPr>
          <p:cNvPr id="57" name="Rectangle 56"/>
          <p:cNvSpPr/>
          <p:nvPr/>
        </p:nvSpPr>
        <p:spPr>
          <a:xfrm>
            <a:off x="3429000"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58" name="TextBox 57"/>
          <p:cNvSpPr txBox="1"/>
          <p:nvPr/>
        </p:nvSpPr>
        <p:spPr>
          <a:xfrm>
            <a:off x="3429000"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Evaluations</a:t>
            </a:r>
          </a:p>
          <a:p>
            <a:pPr algn="l"/>
            <a:r>
              <a:rPr sz="750" b="0">
                <a:solidFill>
                  <a:srgbClr val="141B33"/>
                </a:solidFill>
                <a:latin typeface="Segoe UI"/>
              </a:rPr>
              <a:t>built-in, agent and rubric evaluators; custom evaluators; run from portal, SDK or CI/CD</a:t>
            </a:r>
          </a:p>
        </p:txBody>
      </p:sp>
      <p:sp>
        <p:nvSpPr>
          <p:cNvPr id="59" name="Rectangle 58"/>
          <p:cNvSpPr/>
          <p:nvPr/>
        </p:nvSpPr>
        <p:spPr>
          <a:xfrm>
            <a:off x="3429000"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60" name="TextBox 59"/>
          <p:cNvSpPr txBox="1"/>
          <p:nvPr/>
        </p:nvSpPr>
        <p:spPr>
          <a:xfrm>
            <a:off x="3429000"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Continuous evaluation</a:t>
            </a:r>
          </a:p>
          <a:p>
            <a:pPr algn="l"/>
            <a:r>
              <a:rPr sz="750" b="0">
                <a:solidFill>
                  <a:srgbClr val="141B33"/>
                </a:solidFill>
                <a:latin typeface="Segoe UI"/>
              </a:rPr>
              <a:t>sampled production traffic scored for task adherence, tool-call success, groundedness, data leakage and prompt-injection exposure</a:t>
            </a:r>
          </a:p>
        </p:txBody>
      </p:sp>
      <p:sp>
        <p:nvSpPr>
          <p:cNvPr id="61" name="Rectangle 60"/>
          <p:cNvSpPr/>
          <p:nvPr/>
        </p:nvSpPr>
        <p:spPr>
          <a:xfrm>
            <a:off x="3429000"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62" name="TextBox 61"/>
          <p:cNvSpPr txBox="1"/>
          <p:nvPr/>
        </p:nvSpPr>
        <p:spPr>
          <a:xfrm>
            <a:off x="3429000"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AI red teaming</a:t>
            </a:r>
          </a:p>
          <a:p>
            <a:pPr algn="l"/>
            <a:r>
              <a:rPr sz="750" b="0">
                <a:solidFill>
                  <a:srgbClr val="141B33"/>
                </a:solidFill>
                <a:latin typeface="Segoe UI"/>
              </a:rPr>
              <a:t>scheduled adversarial scans with the AI Red Teaming Agent · cluster analysis of failures · drift monitoring</a:t>
            </a:r>
          </a:p>
        </p:txBody>
      </p:sp>
      <p:sp>
        <p:nvSpPr>
          <p:cNvPr id="63" name="TextBox 62"/>
          <p:cNvSpPr txBox="1"/>
          <p:nvPr/>
        </p:nvSpPr>
        <p:spPr>
          <a:xfrm>
            <a:off x="3355848" y="4306824"/>
            <a:ext cx="2670048" cy="237744"/>
          </a:xfrm>
          <a:prstGeom prst="rect">
            <a:avLst/>
          </a:prstGeom>
          <a:noFill/>
        </p:spPr>
        <p:txBody>
          <a:bodyPr wrap="square" lIns="73152" tIns="27432" rIns="73152" bIns="27432" anchor="ctr">
            <a:spAutoFit/>
          </a:bodyPr>
          <a:lstStyle/>
          <a:p>
            <a:pPr algn="r"/>
            <a:r>
              <a:rPr sz="750" b="0">
                <a:solidFill>
                  <a:srgbClr val="44495B"/>
                </a:solidFill>
                <a:latin typeface="Segoe UI"/>
              </a:rPr>
              <a:t>→ slide 24</a:t>
            </a:r>
          </a:p>
        </p:txBody>
      </p:sp>
      <p:sp>
        <p:nvSpPr>
          <p:cNvPr id="64" name="Rectangle 63"/>
          <p:cNvSpPr/>
          <p:nvPr/>
        </p:nvSpPr>
        <p:spPr>
          <a:xfrm>
            <a:off x="6163056"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65" name="Rectangle 64"/>
          <p:cNvSpPr/>
          <p:nvPr/>
        </p:nvSpPr>
        <p:spPr>
          <a:xfrm>
            <a:off x="6163056" y="1865376"/>
            <a:ext cx="2670048" cy="475488"/>
          </a:xfrm>
          <a:prstGeom prst="rect">
            <a:avLst/>
          </a:prstGeom>
          <a:solidFill>
            <a:srgbClr val="101A3C"/>
          </a:solidFill>
          <a:ln>
            <a:noFill/>
          </a:ln>
          <a:effectLst/>
        </p:spPr>
        <p:txBody>
          <a:bodyPr rtlCol="0" anchor="ctr"/>
          <a:lstStyle/>
          <a:p>
            <a:pPr algn="ctr"/>
            <a:endParaRPr/>
          </a:p>
        </p:txBody>
      </p:sp>
      <p:sp>
        <p:nvSpPr>
          <p:cNvPr id="66" name="TextBox 65"/>
          <p:cNvSpPr txBox="1"/>
          <p:nvPr/>
        </p:nvSpPr>
        <p:spPr>
          <a:xfrm>
            <a:off x="6163056"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Protect</a:t>
            </a:r>
          </a:p>
          <a:p>
            <a:pPr algn="ctr"/>
            <a:r>
              <a:rPr sz="950" b="0">
                <a:solidFill>
                  <a:srgbClr val="FFFFFF"/>
                </a:solidFill>
                <a:latin typeface="Segoe UI"/>
              </a:rPr>
              <a:t>guardrails, identity and network</a:t>
            </a:r>
          </a:p>
        </p:txBody>
      </p:sp>
      <p:sp>
        <p:nvSpPr>
          <p:cNvPr id="67" name="Rectangle 66"/>
          <p:cNvSpPr/>
          <p:nvPr/>
        </p:nvSpPr>
        <p:spPr>
          <a:xfrm>
            <a:off x="6236208"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68" name="TextBox 67"/>
          <p:cNvSpPr txBox="1"/>
          <p:nvPr/>
        </p:nvSpPr>
        <p:spPr>
          <a:xfrm>
            <a:off x="6236208"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Guardrails and controls</a:t>
            </a:r>
          </a:p>
          <a:p>
            <a:pPr algn="l"/>
            <a:r>
              <a:rPr sz="750" b="0">
                <a:solidFill>
                  <a:srgbClr val="141B33"/>
                </a:solidFill>
                <a:latin typeface="Segoe UI"/>
              </a:rPr>
              <a:t>content filters, Prompt Shields, groundedness, PII, protected material, task adherence at four intervention points</a:t>
            </a:r>
          </a:p>
        </p:txBody>
      </p:sp>
      <p:sp>
        <p:nvSpPr>
          <p:cNvPr id="69" name="Rectangle 68"/>
          <p:cNvSpPr/>
          <p:nvPr/>
        </p:nvSpPr>
        <p:spPr>
          <a:xfrm>
            <a:off x="6236208"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70" name="TextBox 69"/>
          <p:cNvSpPr txBox="1"/>
          <p:nvPr/>
        </p:nvSpPr>
        <p:spPr>
          <a:xfrm>
            <a:off x="6236208"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Identity</a:t>
            </a:r>
          </a:p>
          <a:p>
            <a:pPr algn="l"/>
            <a:r>
              <a:rPr sz="750" b="0">
                <a:solidFill>
                  <a:srgbClr val="141B33"/>
                </a:solidFill>
                <a:latin typeface="Segoe UI"/>
              </a:rPr>
              <a:t>Microsoft Entra Agent ID for every agent · RBAC · keyless access with managed identities</a:t>
            </a:r>
          </a:p>
        </p:txBody>
      </p:sp>
      <p:sp>
        <p:nvSpPr>
          <p:cNvPr id="71" name="Rectangle 70"/>
          <p:cNvSpPr/>
          <p:nvPr/>
        </p:nvSpPr>
        <p:spPr>
          <a:xfrm>
            <a:off x="6236208"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6236208"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Isolation</a:t>
            </a:r>
          </a:p>
          <a:p>
            <a:pPr algn="l"/>
            <a:r>
              <a:rPr sz="750" b="0">
                <a:solidFill>
                  <a:srgbClr val="141B33"/>
                </a:solidFill>
                <a:latin typeface="Segoe UI"/>
              </a:rPr>
              <a:t>private endpoints, managed or customer-provided VNet, customer-managed keys · Defender and Purview alerts surfaced here</a:t>
            </a:r>
          </a:p>
        </p:txBody>
      </p:sp>
      <p:sp>
        <p:nvSpPr>
          <p:cNvPr id="73" name="TextBox 72"/>
          <p:cNvSpPr txBox="1"/>
          <p:nvPr/>
        </p:nvSpPr>
        <p:spPr>
          <a:xfrm>
            <a:off x="6163056" y="4306824"/>
            <a:ext cx="2670048" cy="237744"/>
          </a:xfrm>
          <a:prstGeom prst="rect">
            <a:avLst/>
          </a:prstGeom>
          <a:noFill/>
        </p:spPr>
        <p:txBody>
          <a:bodyPr wrap="square" lIns="73152" tIns="27432" rIns="73152" bIns="27432" anchor="ctr">
            <a:spAutoFit/>
          </a:bodyPr>
          <a:lstStyle/>
          <a:p>
            <a:pPr algn="r"/>
            <a:r>
              <a:rPr sz="750" b="0">
                <a:solidFill>
                  <a:srgbClr val="44495B"/>
                </a:solidFill>
                <a:latin typeface="Segoe UI"/>
              </a:rPr>
              <a:t>→ slide 23</a:t>
            </a:r>
          </a:p>
        </p:txBody>
      </p:sp>
      <p:sp>
        <p:nvSpPr>
          <p:cNvPr id="74" name="Rectangle 73"/>
          <p:cNvSpPr/>
          <p:nvPr/>
        </p:nvSpPr>
        <p:spPr>
          <a:xfrm>
            <a:off x="8970264" y="1865376"/>
            <a:ext cx="2670048" cy="2697480"/>
          </a:xfrm>
          <a:prstGeom prst="rect">
            <a:avLst/>
          </a:prstGeom>
          <a:solidFill>
            <a:srgbClr val="F6F8FD"/>
          </a:solidFill>
          <a:ln w="9525">
            <a:solidFill>
              <a:srgbClr val="E1E7F4"/>
            </a:solidFill>
          </a:ln>
          <a:effectLst/>
        </p:spPr>
        <p:txBody>
          <a:bodyPr rtlCol="0" anchor="ctr"/>
          <a:lstStyle/>
          <a:p>
            <a:pPr algn="ctr"/>
            <a:endParaRPr/>
          </a:p>
        </p:txBody>
      </p:sp>
      <p:sp>
        <p:nvSpPr>
          <p:cNvPr id="75" name="Rectangle 74"/>
          <p:cNvSpPr/>
          <p:nvPr/>
        </p:nvSpPr>
        <p:spPr>
          <a:xfrm>
            <a:off x="8970264" y="1865376"/>
            <a:ext cx="2670048" cy="475488"/>
          </a:xfrm>
          <a:prstGeom prst="rect">
            <a:avLst/>
          </a:prstGeom>
          <a:solidFill>
            <a:srgbClr val="008173"/>
          </a:solidFill>
          <a:ln>
            <a:noFill/>
          </a:ln>
          <a:effectLst/>
        </p:spPr>
        <p:txBody>
          <a:bodyPr rtlCol="0" anchor="ctr"/>
          <a:lstStyle/>
          <a:p>
            <a:pPr algn="ctr"/>
            <a:endParaRPr/>
          </a:p>
        </p:txBody>
      </p:sp>
      <p:sp>
        <p:nvSpPr>
          <p:cNvPr id="76" name="TextBox 75"/>
          <p:cNvSpPr txBox="1"/>
          <p:nvPr/>
        </p:nvSpPr>
        <p:spPr>
          <a:xfrm>
            <a:off x="8970264" y="1865376"/>
            <a:ext cx="2670048" cy="475488"/>
          </a:xfrm>
          <a:prstGeom prst="rect">
            <a:avLst/>
          </a:prstGeom>
          <a:noFill/>
        </p:spPr>
        <p:txBody>
          <a:bodyPr wrap="square" lIns="73152" tIns="27432" rIns="73152" bIns="27432" anchor="ctr">
            <a:spAutoFit/>
          </a:bodyPr>
          <a:lstStyle/>
          <a:p>
            <a:pPr algn="ctr"/>
            <a:r>
              <a:rPr sz="950" b="1">
                <a:solidFill>
                  <a:srgbClr val="FFFFFF"/>
                </a:solidFill>
                <a:latin typeface="Segoe UI"/>
              </a:rPr>
              <a:t>Govern</a:t>
            </a:r>
          </a:p>
          <a:p>
            <a:pPr algn="ctr"/>
            <a:r>
              <a:rPr sz="950" b="0">
                <a:solidFill>
                  <a:srgbClr val="FFFFFF"/>
                </a:solidFill>
                <a:latin typeface="Segoe UI"/>
              </a:rPr>
              <a:t>policy, cost and lifecycle</a:t>
            </a:r>
          </a:p>
        </p:txBody>
      </p:sp>
      <p:sp>
        <p:nvSpPr>
          <p:cNvPr id="77" name="Rectangle 76"/>
          <p:cNvSpPr/>
          <p:nvPr/>
        </p:nvSpPr>
        <p:spPr>
          <a:xfrm>
            <a:off x="9043416" y="2395728"/>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78" name="TextBox 77"/>
          <p:cNvSpPr txBox="1"/>
          <p:nvPr/>
        </p:nvSpPr>
        <p:spPr>
          <a:xfrm>
            <a:off x="9043416" y="2395728"/>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Policies</a:t>
            </a:r>
          </a:p>
          <a:p>
            <a:pPr algn="l"/>
            <a:r>
              <a:rPr sz="750" b="0">
                <a:solidFill>
                  <a:srgbClr val="141B33"/>
                </a:solidFill>
                <a:latin typeface="Segoe UI"/>
              </a:rPr>
              <a:t>enterprise-wide guardrail policies, versioned and assignable · Azure Policy · bulk remediation of non-compliant agents</a:t>
            </a:r>
          </a:p>
        </p:txBody>
      </p:sp>
      <p:sp>
        <p:nvSpPr>
          <p:cNvPr id="79" name="Rectangle 78"/>
          <p:cNvSpPr/>
          <p:nvPr/>
        </p:nvSpPr>
        <p:spPr>
          <a:xfrm>
            <a:off x="9043416" y="3108960"/>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80" name="TextBox 79"/>
          <p:cNvSpPr txBox="1"/>
          <p:nvPr/>
        </p:nvSpPr>
        <p:spPr>
          <a:xfrm>
            <a:off x="9043416" y="3108960"/>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Quota and cost</a:t>
            </a:r>
          </a:p>
          <a:p>
            <a:pPr algn="l"/>
            <a:r>
              <a:rPr sz="750" b="0">
                <a:solidFill>
                  <a:srgbClr val="141B33"/>
                </a:solidFill>
                <a:latin typeface="Segoe UI"/>
              </a:rPr>
              <a:t>token quotas and rate limits through the AI gateway · token usage and estimated cost per agent</a:t>
            </a:r>
          </a:p>
        </p:txBody>
      </p:sp>
      <p:sp>
        <p:nvSpPr>
          <p:cNvPr id="81" name="Rectangle 80"/>
          <p:cNvSpPr/>
          <p:nvPr/>
        </p:nvSpPr>
        <p:spPr>
          <a:xfrm>
            <a:off x="9043416" y="3822191"/>
            <a:ext cx="2523744" cy="676656"/>
          </a:xfrm>
          <a:prstGeom prst="rect">
            <a:avLst/>
          </a:prstGeom>
          <a:solidFill>
            <a:srgbClr val="FFFFFF"/>
          </a:solidFill>
          <a:ln w="9525">
            <a:solidFill>
              <a:srgbClr val="E1E7F4"/>
            </a:solidFill>
          </a:ln>
          <a:effectLst/>
        </p:spPr>
        <p:txBody>
          <a:bodyPr rtlCol="0" anchor="ctr"/>
          <a:lstStyle/>
          <a:p>
            <a:pPr algn="ctr"/>
            <a:endParaRPr/>
          </a:p>
        </p:txBody>
      </p:sp>
      <p:sp>
        <p:nvSpPr>
          <p:cNvPr id="82" name="TextBox 81"/>
          <p:cNvSpPr txBox="1"/>
          <p:nvPr/>
        </p:nvSpPr>
        <p:spPr>
          <a:xfrm>
            <a:off x="9043416" y="3822191"/>
            <a:ext cx="2523744" cy="676656"/>
          </a:xfrm>
          <a:prstGeom prst="rect">
            <a:avLst/>
          </a:prstGeom>
          <a:noFill/>
        </p:spPr>
        <p:txBody>
          <a:bodyPr wrap="square" lIns="73152" tIns="27432" rIns="73152" bIns="27432" anchor="ctr">
            <a:spAutoFit/>
          </a:bodyPr>
          <a:lstStyle/>
          <a:p>
            <a:pPr algn="l"/>
            <a:r>
              <a:rPr sz="750" b="1">
                <a:solidFill>
                  <a:srgbClr val="141B33"/>
                </a:solidFill>
                <a:latin typeface="Segoe UI"/>
              </a:rPr>
              <a:t>Lifecycle</a:t>
            </a:r>
          </a:p>
          <a:p>
            <a:pPr algn="l"/>
            <a:r>
              <a:rPr sz="750" b="0">
                <a:solidFill>
                  <a:srgbClr val="141B33"/>
                </a:solidFill>
                <a:latin typeface="Segoe UI"/>
              </a:rPr>
              <a:t>start, stop or block agents · Agent 365 registry sync · Reader, Contributor and Owner roles</a:t>
            </a:r>
          </a:p>
        </p:txBody>
      </p:sp>
      <p:sp>
        <p:nvSpPr>
          <p:cNvPr id="83" name="TextBox 82"/>
          <p:cNvSpPr txBox="1"/>
          <p:nvPr/>
        </p:nvSpPr>
        <p:spPr>
          <a:xfrm>
            <a:off x="548640" y="4690872"/>
            <a:ext cx="54864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BUILT ON</a:t>
            </a:r>
          </a:p>
        </p:txBody>
      </p:sp>
      <p:sp>
        <p:nvSpPr>
          <p:cNvPr id="84" name="Rectangle 83"/>
          <p:cNvSpPr/>
          <p:nvPr/>
        </p:nvSpPr>
        <p:spPr>
          <a:xfrm>
            <a:off x="548640" y="4937760"/>
            <a:ext cx="1506147" cy="457200"/>
          </a:xfrm>
          <a:prstGeom prst="rect">
            <a:avLst/>
          </a:prstGeom>
          <a:solidFill>
            <a:srgbClr val="EBEFF7"/>
          </a:solidFill>
          <a:ln>
            <a:noFill/>
          </a:ln>
          <a:effectLst/>
        </p:spPr>
        <p:txBody>
          <a:bodyPr rtlCol="0" anchor="ctr"/>
          <a:lstStyle/>
          <a:p>
            <a:pPr algn="ctr"/>
            <a:endParaRPr/>
          </a:p>
        </p:txBody>
      </p:sp>
      <p:sp>
        <p:nvSpPr>
          <p:cNvPr id="85" name="TextBox 84"/>
          <p:cNvSpPr txBox="1"/>
          <p:nvPr/>
        </p:nvSpPr>
        <p:spPr>
          <a:xfrm>
            <a:off x="548640"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Application Insights</a:t>
            </a:r>
          </a:p>
          <a:p>
            <a:pPr algn="ctr"/>
            <a:r>
              <a:rPr sz="750" b="0">
                <a:solidFill>
                  <a:srgbClr val="141B33"/>
                </a:solidFill>
                <a:latin typeface="Segoe UI"/>
              </a:rPr>
              <a:t>traces, metrics, logs</a:t>
            </a:r>
          </a:p>
        </p:txBody>
      </p:sp>
      <p:sp>
        <p:nvSpPr>
          <p:cNvPr id="86" name="Rectangle 85"/>
          <p:cNvSpPr/>
          <p:nvPr/>
        </p:nvSpPr>
        <p:spPr>
          <a:xfrm>
            <a:off x="2146227" y="4937760"/>
            <a:ext cx="1506147" cy="457200"/>
          </a:xfrm>
          <a:prstGeom prst="rect">
            <a:avLst/>
          </a:prstGeom>
          <a:solidFill>
            <a:srgbClr val="EBEFF7"/>
          </a:solidFill>
          <a:ln>
            <a:noFill/>
          </a:ln>
          <a:effectLst/>
        </p:spPr>
        <p:txBody>
          <a:bodyPr rtlCol="0" anchor="ctr"/>
          <a:lstStyle/>
          <a:p>
            <a:pPr algn="ctr"/>
            <a:endParaRPr/>
          </a:p>
        </p:txBody>
      </p:sp>
      <p:sp>
        <p:nvSpPr>
          <p:cNvPr id="87" name="TextBox 86"/>
          <p:cNvSpPr txBox="1"/>
          <p:nvPr/>
        </p:nvSpPr>
        <p:spPr>
          <a:xfrm>
            <a:off x="2146227"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Entra</a:t>
            </a:r>
          </a:p>
          <a:p>
            <a:pPr algn="ctr"/>
            <a:r>
              <a:rPr sz="750" b="0">
                <a:solidFill>
                  <a:srgbClr val="141B33"/>
                </a:solidFill>
                <a:latin typeface="Segoe UI"/>
              </a:rPr>
              <a:t>Agent ID, RBAC</a:t>
            </a:r>
          </a:p>
        </p:txBody>
      </p:sp>
      <p:sp>
        <p:nvSpPr>
          <p:cNvPr id="88" name="Rectangle 87"/>
          <p:cNvSpPr/>
          <p:nvPr/>
        </p:nvSpPr>
        <p:spPr>
          <a:xfrm>
            <a:off x="3743814" y="4937760"/>
            <a:ext cx="1506147" cy="457200"/>
          </a:xfrm>
          <a:prstGeom prst="rect">
            <a:avLst/>
          </a:prstGeom>
          <a:solidFill>
            <a:srgbClr val="EBEFF7"/>
          </a:solidFill>
          <a:ln>
            <a:noFill/>
          </a:ln>
          <a:effectLst/>
        </p:spPr>
        <p:txBody>
          <a:bodyPr rtlCol="0" anchor="ctr"/>
          <a:lstStyle/>
          <a:p>
            <a:pPr algn="ctr"/>
            <a:endParaRPr/>
          </a:p>
        </p:txBody>
      </p:sp>
      <p:sp>
        <p:nvSpPr>
          <p:cNvPr id="89" name="TextBox 88"/>
          <p:cNvSpPr txBox="1"/>
          <p:nvPr/>
        </p:nvSpPr>
        <p:spPr>
          <a:xfrm>
            <a:off x="3743814"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Azure API Management</a:t>
            </a:r>
          </a:p>
          <a:p>
            <a:pPr algn="ctr"/>
            <a:r>
              <a:rPr sz="750" b="0">
                <a:solidFill>
                  <a:srgbClr val="141B33"/>
                </a:solidFill>
                <a:latin typeface="Segoe UI"/>
              </a:rPr>
              <a:t>AI gateway: quotas, limits</a:t>
            </a:r>
          </a:p>
        </p:txBody>
      </p:sp>
      <p:sp>
        <p:nvSpPr>
          <p:cNvPr id="90" name="Rectangle 89"/>
          <p:cNvSpPr/>
          <p:nvPr/>
        </p:nvSpPr>
        <p:spPr>
          <a:xfrm>
            <a:off x="5341402" y="4937760"/>
            <a:ext cx="1506147" cy="457200"/>
          </a:xfrm>
          <a:prstGeom prst="rect">
            <a:avLst/>
          </a:prstGeom>
          <a:solidFill>
            <a:srgbClr val="EBEFF7"/>
          </a:solidFill>
          <a:ln>
            <a:noFill/>
          </a:ln>
          <a:effectLst/>
        </p:spPr>
        <p:txBody>
          <a:bodyPr rtlCol="0" anchor="ctr"/>
          <a:lstStyle/>
          <a:p>
            <a:pPr algn="ctr"/>
            <a:endParaRPr/>
          </a:p>
        </p:txBody>
      </p:sp>
      <p:sp>
        <p:nvSpPr>
          <p:cNvPr id="91" name="TextBox 90"/>
          <p:cNvSpPr txBox="1"/>
          <p:nvPr/>
        </p:nvSpPr>
        <p:spPr>
          <a:xfrm>
            <a:off x="5341402"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Defender</a:t>
            </a:r>
          </a:p>
          <a:p>
            <a:pPr algn="ctr"/>
            <a:r>
              <a:rPr sz="750" b="0">
                <a:solidFill>
                  <a:srgbClr val="141B33"/>
                </a:solidFill>
                <a:latin typeface="Segoe UI"/>
              </a:rPr>
              <a:t>threat alerts</a:t>
            </a:r>
          </a:p>
        </p:txBody>
      </p:sp>
      <p:sp>
        <p:nvSpPr>
          <p:cNvPr id="92" name="Rectangle 91"/>
          <p:cNvSpPr/>
          <p:nvPr/>
        </p:nvSpPr>
        <p:spPr>
          <a:xfrm>
            <a:off x="6938989" y="4937760"/>
            <a:ext cx="1506147" cy="457200"/>
          </a:xfrm>
          <a:prstGeom prst="rect">
            <a:avLst/>
          </a:prstGeom>
          <a:solidFill>
            <a:srgbClr val="EBEFF7"/>
          </a:solidFill>
          <a:ln>
            <a:noFill/>
          </a:ln>
          <a:effectLst/>
        </p:spPr>
        <p:txBody>
          <a:bodyPr rtlCol="0" anchor="ctr"/>
          <a:lstStyle/>
          <a:p>
            <a:pPr algn="ctr"/>
            <a:endParaRPr/>
          </a:p>
        </p:txBody>
      </p:sp>
      <p:sp>
        <p:nvSpPr>
          <p:cNvPr id="93" name="TextBox 92"/>
          <p:cNvSpPr txBox="1"/>
          <p:nvPr/>
        </p:nvSpPr>
        <p:spPr>
          <a:xfrm>
            <a:off x="6938989"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Purview</a:t>
            </a:r>
          </a:p>
          <a:p>
            <a:pPr algn="ctr"/>
            <a:r>
              <a:rPr sz="750" b="0">
                <a:solidFill>
                  <a:srgbClr val="141B33"/>
                </a:solidFill>
                <a:latin typeface="Segoe UI"/>
              </a:rPr>
              <a:t>data protection alerts</a:t>
            </a:r>
          </a:p>
        </p:txBody>
      </p:sp>
      <p:sp>
        <p:nvSpPr>
          <p:cNvPr id="94" name="Rectangle 93"/>
          <p:cNvSpPr/>
          <p:nvPr/>
        </p:nvSpPr>
        <p:spPr>
          <a:xfrm>
            <a:off x="8536577" y="4937760"/>
            <a:ext cx="1506147" cy="457200"/>
          </a:xfrm>
          <a:prstGeom prst="rect">
            <a:avLst/>
          </a:prstGeom>
          <a:solidFill>
            <a:srgbClr val="EBEFF7"/>
          </a:solidFill>
          <a:ln>
            <a:noFill/>
          </a:ln>
          <a:effectLst/>
        </p:spPr>
        <p:txBody>
          <a:bodyPr rtlCol="0" anchor="ctr"/>
          <a:lstStyle/>
          <a:p>
            <a:pPr algn="ctr"/>
            <a:endParaRPr/>
          </a:p>
        </p:txBody>
      </p:sp>
      <p:sp>
        <p:nvSpPr>
          <p:cNvPr id="95" name="TextBox 94"/>
          <p:cNvSpPr txBox="1"/>
          <p:nvPr/>
        </p:nvSpPr>
        <p:spPr>
          <a:xfrm>
            <a:off x="8536577"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Azure Policy</a:t>
            </a:r>
          </a:p>
          <a:p>
            <a:pPr algn="ctr"/>
            <a:r>
              <a:rPr sz="750" b="0">
                <a:solidFill>
                  <a:srgbClr val="141B33"/>
                </a:solidFill>
                <a:latin typeface="Segoe UI"/>
              </a:rPr>
              <a:t>compliance rules</a:t>
            </a:r>
          </a:p>
        </p:txBody>
      </p:sp>
      <p:sp>
        <p:nvSpPr>
          <p:cNvPr id="96" name="Rectangle 95"/>
          <p:cNvSpPr/>
          <p:nvPr/>
        </p:nvSpPr>
        <p:spPr>
          <a:xfrm>
            <a:off x="10134164" y="4937760"/>
            <a:ext cx="1506147" cy="457200"/>
          </a:xfrm>
          <a:prstGeom prst="rect">
            <a:avLst/>
          </a:prstGeom>
          <a:solidFill>
            <a:srgbClr val="EBEFF7"/>
          </a:solidFill>
          <a:ln>
            <a:noFill/>
          </a:ln>
          <a:effectLst/>
        </p:spPr>
        <p:txBody>
          <a:bodyPr rtlCol="0" anchor="ctr"/>
          <a:lstStyle/>
          <a:p>
            <a:pPr algn="ctr"/>
            <a:endParaRPr/>
          </a:p>
        </p:txBody>
      </p:sp>
      <p:sp>
        <p:nvSpPr>
          <p:cNvPr id="97" name="TextBox 96"/>
          <p:cNvSpPr txBox="1"/>
          <p:nvPr/>
        </p:nvSpPr>
        <p:spPr>
          <a:xfrm>
            <a:off x="10134164" y="4937760"/>
            <a:ext cx="1506147" cy="457200"/>
          </a:xfrm>
          <a:prstGeom prst="rect">
            <a:avLst/>
          </a:prstGeom>
          <a:noFill/>
        </p:spPr>
        <p:txBody>
          <a:bodyPr wrap="square" lIns="73152" tIns="27432" rIns="73152" bIns="27432" anchor="ctr">
            <a:spAutoFit/>
          </a:bodyPr>
          <a:lstStyle/>
          <a:p>
            <a:pPr algn="ctr"/>
            <a:r>
              <a:rPr sz="750" b="1">
                <a:solidFill>
                  <a:srgbClr val="141B33"/>
                </a:solidFill>
                <a:latin typeface="Segoe UI"/>
              </a:rPr>
              <a:t>Microsoft Agent 365</a:t>
            </a:r>
          </a:p>
          <a:p>
            <a:pPr algn="ctr"/>
            <a:r>
              <a:rPr sz="750" b="0">
                <a:solidFill>
                  <a:srgbClr val="141B33"/>
                </a:solidFill>
                <a:latin typeface="Segoe UI"/>
              </a:rPr>
              <a:t>registry, M365 control plane</a:t>
            </a:r>
          </a:p>
        </p:txBody>
      </p:sp>
      <p:sp>
        <p:nvSpPr>
          <p:cNvPr id="98" name="TextBox 97"/>
          <p:cNvSpPr txBox="1"/>
          <p:nvPr/>
        </p:nvSpPr>
        <p:spPr>
          <a:xfrm>
            <a:off x="548640" y="5413248"/>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Classic agents and Azure OpenAI assistants are not covered by the Control Plane.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Guardrails and Azure AI Content Safety</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A guardrail is a named set of controls; each control says which risk to detect, at which intervention point, and what action to take.</a:t>
            </a:r>
          </a:p>
          <a:p>
            <a:endParaRPr sz="1200">
              <a:solidFill>
                <a:srgbClr val="44495B"/>
              </a:solidFill>
              <a:latin typeface="Segoe UI"/>
            </a:endParaRPr>
          </a:p>
        </p:txBody>
      </p:sp>
      <p:sp>
        <p:nvSpPr>
          <p:cNvPr id="34" name="Shape"/>
          <p:cNvSpPr/>
          <p:nvPr/>
        </p:nvSpPr>
        <p:spPr>
          <a:xfrm>
            <a:off x="548640" y="5687568"/>
            <a:ext cx="11094720" cy="9525"/>
          </a:xfrm>
          <a:prstGeom prst="rect">
            <a:avLst/>
          </a:prstGeom>
          <a:solidFill>
            <a:srgbClr val="E1E7F4"/>
          </a:solidFill>
        </p:spPr>
        <p:txBody>
          <a:bodyPr/>
          <a:lstStyle/>
          <a:p>
            <a:endParaRPr/>
          </a:p>
        </p:txBody>
      </p:sp>
      <p:sp>
        <p:nvSpPr>
          <p:cNvPr id="35"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learn.microsoft.com/azure/foundry/guardrails/guardrails-overview · ai-services/content-safety/overview</a:t>
            </a:r>
          </a:p>
          <a:p>
            <a:endParaRPr sz="900">
              <a:solidFill>
                <a:srgbClr val="44495B"/>
              </a:solidFill>
              <a:latin typeface="Segoe UI"/>
            </a:endParaRPr>
          </a:p>
        </p:txBody>
      </p:sp>
      <p:sp>
        <p:nvSpPr>
          <p:cNvPr id="36"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23</a:t>
            </a:r>
          </a:p>
        </p:txBody>
      </p:sp>
      <p:sp>
        <p:nvSpPr>
          <p:cNvPr id="37" name="TextBox 36"/>
          <p:cNvSpPr txBox="1"/>
          <p:nvPr/>
        </p:nvSpPr>
        <p:spPr>
          <a:xfrm>
            <a:off x="548640" y="1298448"/>
            <a:ext cx="82296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WHERE A GUARDRAIL SCANS — THE FOUR INTERVENTION POINTS ON ONE AGENT TURN</a:t>
            </a:r>
          </a:p>
        </p:txBody>
      </p:sp>
      <p:sp>
        <p:nvSpPr>
          <p:cNvPr id="38" name="Rectangle 37"/>
          <p:cNvSpPr/>
          <p:nvPr/>
        </p:nvSpPr>
        <p:spPr>
          <a:xfrm>
            <a:off x="548640" y="1682495"/>
            <a:ext cx="1417320" cy="548640"/>
          </a:xfrm>
          <a:prstGeom prst="rect">
            <a:avLst/>
          </a:prstGeom>
          <a:solidFill>
            <a:srgbClr val="EBEFF7"/>
          </a:solidFill>
          <a:ln>
            <a:noFill/>
          </a:ln>
          <a:effectLst/>
        </p:spPr>
        <p:txBody>
          <a:bodyPr rtlCol="0" anchor="ctr"/>
          <a:lstStyle/>
          <a:p>
            <a:pPr algn="ctr"/>
            <a:endParaRPr/>
          </a:p>
        </p:txBody>
      </p:sp>
      <p:sp>
        <p:nvSpPr>
          <p:cNvPr id="39" name="TextBox 38"/>
          <p:cNvSpPr txBox="1"/>
          <p:nvPr/>
        </p:nvSpPr>
        <p:spPr>
          <a:xfrm>
            <a:off x="548640" y="1682495"/>
            <a:ext cx="1417320" cy="548640"/>
          </a:xfrm>
          <a:prstGeom prst="rect">
            <a:avLst/>
          </a:prstGeom>
          <a:noFill/>
        </p:spPr>
        <p:txBody>
          <a:bodyPr wrap="square" lIns="73152" tIns="27432" rIns="73152" bIns="27432" anchor="ctr">
            <a:spAutoFit/>
          </a:bodyPr>
          <a:lstStyle/>
          <a:p>
            <a:pPr algn="ctr"/>
            <a:r>
              <a:rPr sz="850" b="1">
                <a:solidFill>
                  <a:srgbClr val="141B33"/>
                </a:solidFill>
                <a:latin typeface="Segoe UI"/>
              </a:rPr>
              <a:t>User</a:t>
            </a:r>
          </a:p>
          <a:p>
            <a:pPr algn="ctr"/>
            <a:r>
              <a:rPr sz="850" b="0">
                <a:solidFill>
                  <a:srgbClr val="141B33"/>
                </a:solidFill>
                <a:latin typeface="Segoe UI"/>
              </a:rPr>
              <a:t>prompt in · answer out</a:t>
            </a:r>
          </a:p>
        </p:txBody>
      </p:sp>
      <p:sp>
        <p:nvSpPr>
          <p:cNvPr id="40" name="Rectangle 39"/>
          <p:cNvSpPr/>
          <p:nvPr/>
        </p:nvSpPr>
        <p:spPr>
          <a:xfrm>
            <a:off x="2880360" y="1682495"/>
            <a:ext cx="1417320" cy="548640"/>
          </a:xfrm>
          <a:prstGeom prst="rect">
            <a:avLst/>
          </a:prstGeom>
          <a:solidFill>
            <a:srgbClr val="101A3C"/>
          </a:solidFill>
          <a:ln>
            <a:noFill/>
          </a:ln>
          <a:effectLst/>
        </p:spPr>
        <p:txBody>
          <a:bodyPr rtlCol="0" anchor="ctr"/>
          <a:lstStyle/>
          <a:p>
            <a:pPr algn="ctr"/>
            <a:endParaRPr/>
          </a:p>
        </p:txBody>
      </p:sp>
      <p:sp>
        <p:nvSpPr>
          <p:cNvPr id="41" name="TextBox 40"/>
          <p:cNvSpPr txBox="1"/>
          <p:nvPr/>
        </p:nvSpPr>
        <p:spPr>
          <a:xfrm>
            <a:off x="2880360" y="1682495"/>
            <a:ext cx="1417320" cy="548640"/>
          </a:xfrm>
          <a:prstGeom prst="rect">
            <a:avLst/>
          </a:prstGeom>
          <a:noFill/>
        </p:spPr>
        <p:txBody>
          <a:bodyPr wrap="square" lIns="73152" tIns="27432" rIns="73152" bIns="27432" anchor="ctr">
            <a:spAutoFit/>
          </a:bodyPr>
          <a:lstStyle/>
          <a:p>
            <a:pPr algn="ctr"/>
            <a:r>
              <a:rPr sz="850" b="1">
                <a:solidFill>
                  <a:srgbClr val="FFFFFF"/>
                </a:solidFill>
                <a:latin typeface="Segoe UI"/>
              </a:rPr>
              <a:t>Agent + model</a:t>
            </a:r>
          </a:p>
          <a:p>
            <a:pPr algn="ctr"/>
            <a:r>
              <a:rPr sz="850" b="0">
                <a:solidFill>
                  <a:srgbClr val="FFFFFF"/>
                </a:solidFill>
                <a:latin typeface="Segoe UI"/>
              </a:rPr>
              <a:t>Foundry Agent Service</a:t>
            </a:r>
          </a:p>
        </p:txBody>
      </p:sp>
      <p:sp>
        <p:nvSpPr>
          <p:cNvPr id="42" name="Rectangle 41"/>
          <p:cNvSpPr/>
          <p:nvPr/>
        </p:nvSpPr>
        <p:spPr>
          <a:xfrm>
            <a:off x="5212080" y="1682495"/>
            <a:ext cx="1417320" cy="548640"/>
          </a:xfrm>
          <a:prstGeom prst="rect">
            <a:avLst/>
          </a:prstGeom>
          <a:solidFill>
            <a:srgbClr val="FFFFFF"/>
          </a:solidFill>
          <a:ln w="9525">
            <a:solidFill>
              <a:srgbClr val="E1E7F4"/>
            </a:solidFill>
          </a:ln>
          <a:effectLst/>
        </p:spPr>
        <p:txBody>
          <a:bodyPr rtlCol="0" anchor="ctr"/>
          <a:lstStyle/>
          <a:p>
            <a:pPr algn="ctr"/>
            <a:endParaRPr/>
          </a:p>
        </p:txBody>
      </p:sp>
      <p:sp>
        <p:nvSpPr>
          <p:cNvPr id="43" name="TextBox 42"/>
          <p:cNvSpPr txBox="1"/>
          <p:nvPr/>
        </p:nvSpPr>
        <p:spPr>
          <a:xfrm>
            <a:off x="5212080" y="1682495"/>
            <a:ext cx="1417320" cy="548640"/>
          </a:xfrm>
          <a:prstGeom prst="rect">
            <a:avLst/>
          </a:prstGeom>
          <a:noFill/>
        </p:spPr>
        <p:txBody>
          <a:bodyPr wrap="square" lIns="73152" tIns="27432" rIns="73152" bIns="27432" anchor="ctr">
            <a:spAutoFit/>
          </a:bodyPr>
          <a:lstStyle/>
          <a:p>
            <a:pPr algn="ctr"/>
            <a:r>
              <a:rPr sz="850" b="1">
                <a:solidFill>
                  <a:srgbClr val="141B33"/>
                </a:solidFill>
                <a:latin typeface="Segoe UI"/>
              </a:rPr>
              <a:t>Tool</a:t>
            </a:r>
          </a:p>
          <a:p>
            <a:pPr algn="ctr"/>
            <a:r>
              <a:rPr sz="850" b="0">
                <a:solidFill>
                  <a:srgbClr val="141B33"/>
                </a:solidFill>
                <a:latin typeface="Segoe UI"/>
              </a:rPr>
              <a:t>MCP · OpenAPI · function</a:t>
            </a:r>
          </a:p>
        </p:txBody>
      </p:sp>
      <p:cxnSp>
        <p:nvCxnSpPr>
          <p:cNvPr id="44" name="Connector 43"/>
          <p:cNvCxnSpPr/>
          <p:nvPr/>
        </p:nvCxnSpPr>
        <p:spPr>
          <a:xfrm>
            <a:off x="1965960" y="1847088"/>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5" name="Connector 44"/>
          <p:cNvCxnSpPr/>
          <p:nvPr/>
        </p:nvCxnSpPr>
        <p:spPr>
          <a:xfrm flipH="1">
            <a:off x="1965960" y="2084831"/>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4297680" y="1847088"/>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47" name="Connector 46"/>
          <p:cNvCxnSpPr/>
          <p:nvPr/>
        </p:nvCxnSpPr>
        <p:spPr>
          <a:xfrm flipH="1">
            <a:off x="4297680" y="2084831"/>
            <a:ext cx="914400" cy="0"/>
          </a:xfrm>
          <a:prstGeom prst="line">
            <a:avLst/>
          </a:prstGeom>
          <a:ln w="15875">
            <a:solidFill>
              <a:srgbClr val="101A3C"/>
            </a:solidFill>
            <a:tailEnd type="triangle" w="sm" len="sm"/>
          </a:ln>
        </p:spPr>
        <p:style>
          <a:lnRef idx="2">
            <a:schemeClr val="accent1"/>
          </a:lnRef>
          <a:fillRef idx="0">
            <a:schemeClr val="accent1"/>
          </a:fillRef>
          <a:effectRef idx="1">
            <a:schemeClr val="accent1"/>
          </a:effectRef>
          <a:fontRef idx="minor">
            <a:schemeClr val="tx1"/>
          </a:fontRef>
        </p:style>
      </p:cxnSp>
      <p:sp>
        <p:nvSpPr>
          <p:cNvPr id="48" name="Oval 47"/>
          <p:cNvSpPr/>
          <p:nvPr/>
        </p:nvSpPr>
        <p:spPr>
          <a:xfrm>
            <a:off x="2286000" y="1709928"/>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1</a:t>
            </a:r>
          </a:p>
        </p:txBody>
      </p:sp>
      <p:sp>
        <p:nvSpPr>
          <p:cNvPr id="49" name="Oval 48"/>
          <p:cNvSpPr/>
          <p:nvPr/>
        </p:nvSpPr>
        <p:spPr>
          <a:xfrm>
            <a:off x="2286000" y="1947672"/>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4</a:t>
            </a:r>
          </a:p>
        </p:txBody>
      </p:sp>
      <p:sp>
        <p:nvSpPr>
          <p:cNvPr id="50" name="Oval 49"/>
          <p:cNvSpPr/>
          <p:nvPr/>
        </p:nvSpPr>
        <p:spPr>
          <a:xfrm>
            <a:off x="4617720" y="1709928"/>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2</a:t>
            </a:r>
          </a:p>
        </p:txBody>
      </p:sp>
      <p:sp>
        <p:nvSpPr>
          <p:cNvPr id="51" name="Oval 50"/>
          <p:cNvSpPr/>
          <p:nvPr/>
        </p:nvSpPr>
        <p:spPr>
          <a:xfrm>
            <a:off x="4617720" y="1947672"/>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3</a:t>
            </a:r>
          </a:p>
        </p:txBody>
      </p:sp>
      <p:sp>
        <p:nvSpPr>
          <p:cNvPr id="52" name="Rectangle 51"/>
          <p:cNvSpPr/>
          <p:nvPr/>
        </p:nvSpPr>
        <p:spPr>
          <a:xfrm>
            <a:off x="548640"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53" name="Oval 52"/>
          <p:cNvSpPr/>
          <p:nvPr/>
        </p:nvSpPr>
        <p:spPr>
          <a:xfrm>
            <a:off x="621792"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1</a:t>
            </a:r>
          </a:p>
        </p:txBody>
      </p:sp>
      <p:sp>
        <p:nvSpPr>
          <p:cNvPr id="54" name="TextBox 53"/>
          <p:cNvSpPr txBox="1"/>
          <p:nvPr/>
        </p:nvSpPr>
        <p:spPr>
          <a:xfrm>
            <a:off x="896112"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User input</a:t>
            </a:r>
          </a:p>
          <a:p>
            <a:pPr algn="l"/>
            <a:r>
              <a:rPr sz="750" b="0">
                <a:solidFill>
                  <a:srgbClr val="141B33"/>
                </a:solidFill>
                <a:latin typeface="Segoe UI"/>
              </a:rPr>
              <a:t>what the user sends to the agent</a:t>
            </a:r>
          </a:p>
          <a:p>
            <a:pPr algn="l"/>
            <a:r>
              <a:rPr sz="750" b="0">
                <a:solidFill>
                  <a:srgbClr val="141B33"/>
                </a:solidFill>
                <a:latin typeface="Segoe UI"/>
              </a:rPr>
              <a:t>models and agents</a:t>
            </a:r>
          </a:p>
        </p:txBody>
      </p:sp>
      <p:sp>
        <p:nvSpPr>
          <p:cNvPr id="55" name="Rectangle 54"/>
          <p:cNvSpPr/>
          <p:nvPr/>
        </p:nvSpPr>
        <p:spPr>
          <a:xfrm>
            <a:off x="2302002"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56" name="Oval 55"/>
          <p:cNvSpPr/>
          <p:nvPr/>
        </p:nvSpPr>
        <p:spPr>
          <a:xfrm>
            <a:off x="2375154"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2</a:t>
            </a:r>
          </a:p>
        </p:txBody>
      </p:sp>
      <p:sp>
        <p:nvSpPr>
          <p:cNvPr id="57" name="TextBox 56"/>
          <p:cNvSpPr txBox="1"/>
          <p:nvPr/>
        </p:nvSpPr>
        <p:spPr>
          <a:xfrm>
            <a:off x="2649474"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Tool call*</a:t>
            </a:r>
          </a:p>
          <a:p>
            <a:pPr algn="l"/>
            <a:r>
              <a:rPr sz="750" b="0">
                <a:solidFill>
                  <a:srgbClr val="141B33"/>
                </a:solidFill>
                <a:latin typeface="Segoe UI"/>
              </a:rPr>
              <a:t>what the agent is about to send to a tool</a:t>
            </a:r>
          </a:p>
          <a:p>
            <a:pPr algn="l"/>
            <a:r>
              <a:rPr sz="750" b="0">
                <a:solidFill>
                  <a:srgbClr val="141B33"/>
                </a:solidFill>
                <a:latin typeface="Segoe UI"/>
              </a:rPr>
              <a:t>agents only</a:t>
            </a:r>
          </a:p>
        </p:txBody>
      </p:sp>
      <p:sp>
        <p:nvSpPr>
          <p:cNvPr id="58" name="Rectangle 57"/>
          <p:cNvSpPr/>
          <p:nvPr/>
        </p:nvSpPr>
        <p:spPr>
          <a:xfrm>
            <a:off x="4055363"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59" name="Oval 58"/>
          <p:cNvSpPr/>
          <p:nvPr/>
        </p:nvSpPr>
        <p:spPr>
          <a:xfrm>
            <a:off x="4128515"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3</a:t>
            </a:r>
          </a:p>
        </p:txBody>
      </p:sp>
      <p:sp>
        <p:nvSpPr>
          <p:cNvPr id="60" name="TextBox 59"/>
          <p:cNvSpPr txBox="1"/>
          <p:nvPr/>
        </p:nvSpPr>
        <p:spPr>
          <a:xfrm>
            <a:off x="4402836"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Tool response*</a:t>
            </a:r>
          </a:p>
          <a:p>
            <a:pPr algn="l"/>
            <a:r>
              <a:rPr sz="750" b="0">
                <a:solidFill>
                  <a:srgbClr val="141B33"/>
                </a:solidFill>
                <a:latin typeface="Segoe UI"/>
              </a:rPr>
              <a:t>what comes back from the tool</a:t>
            </a:r>
          </a:p>
          <a:p>
            <a:pPr algn="l"/>
            <a:r>
              <a:rPr sz="750" b="0">
                <a:solidFill>
                  <a:srgbClr val="141B33"/>
                </a:solidFill>
                <a:latin typeface="Segoe UI"/>
              </a:rPr>
              <a:t>agents only</a:t>
            </a:r>
          </a:p>
        </p:txBody>
      </p:sp>
      <p:sp>
        <p:nvSpPr>
          <p:cNvPr id="61" name="Rectangle 60"/>
          <p:cNvSpPr/>
          <p:nvPr/>
        </p:nvSpPr>
        <p:spPr>
          <a:xfrm>
            <a:off x="5808725" y="2432304"/>
            <a:ext cx="1643634" cy="713232"/>
          </a:xfrm>
          <a:prstGeom prst="rect">
            <a:avLst/>
          </a:prstGeom>
          <a:solidFill>
            <a:srgbClr val="F6F8FD"/>
          </a:solidFill>
          <a:ln w="9525">
            <a:solidFill>
              <a:srgbClr val="E1E7F4"/>
            </a:solidFill>
          </a:ln>
          <a:effectLst/>
        </p:spPr>
        <p:txBody>
          <a:bodyPr rtlCol="0" anchor="ctr"/>
          <a:lstStyle/>
          <a:p>
            <a:pPr algn="ctr"/>
            <a:endParaRPr/>
          </a:p>
        </p:txBody>
      </p:sp>
      <p:sp>
        <p:nvSpPr>
          <p:cNvPr id="62" name="Oval 61"/>
          <p:cNvSpPr/>
          <p:nvPr/>
        </p:nvSpPr>
        <p:spPr>
          <a:xfrm>
            <a:off x="5881877" y="2505456"/>
            <a:ext cx="274320" cy="274320"/>
          </a:xfrm>
          <a:prstGeom prst="ellipse">
            <a:avLst/>
          </a:prstGeom>
          <a:solidFill>
            <a:srgbClr val="00B39F"/>
          </a:solidFill>
          <a:ln>
            <a:noFill/>
          </a:ln>
          <a:effectLst/>
        </p:spPr>
        <p:txBody>
          <a:bodyPr lIns="0" tIns="0" rIns="0" bIns="0" rtlCol="0" anchor="ctr"/>
          <a:lstStyle/>
          <a:p>
            <a:pPr algn="ctr"/>
            <a:r>
              <a:rPr sz="900" b="1">
                <a:solidFill>
                  <a:srgbClr val="FFFFFF"/>
                </a:solidFill>
                <a:latin typeface="Segoe UI"/>
              </a:rPr>
              <a:t>4</a:t>
            </a:r>
          </a:p>
        </p:txBody>
      </p:sp>
      <p:sp>
        <p:nvSpPr>
          <p:cNvPr id="63" name="TextBox 62"/>
          <p:cNvSpPr txBox="1"/>
          <p:nvPr/>
        </p:nvSpPr>
        <p:spPr>
          <a:xfrm>
            <a:off x="6156197" y="2432304"/>
            <a:ext cx="1277874" cy="713232"/>
          </a:xfrm>
          <a:prstGeom prst="rect">
            <a:avLst/>
          </a:prstGeom>
          <a:noFill/>
        </p:spPr>
        <p:txBody>
          <a:bodyPr wrap="square" lIns="73152" tIns="27432" rIns="73152" bIns="27432" anchor="ctr">
            <a:spAutoFit/>
          </a:bodyPr>
          <a:lstStyle/>
          <a:p>
            <a:pPr algn="l"/>
            <a:r>
              <a:rPr sz="750" b="1">
                <a:solidFill>
                  <a:srgbClr val="141B33"/>
                </a:solidFill>
                <a:latin typeface="Segoe UI"/>
              </a:rPr>
              <a:t>Output</a:t>
            </a:r>
          </a:p>
          <a:p>
            <a:pPr algn="l"/>
            <a:r>
              <a:rPr sz="750" b="0">
                <a:solidFill>
                  <a:srgbClr val="141B33"/>
                </a:solidFill>
                <a:latin typeface="Segoe UI"/>
              </a:rPr>
              <a:t>what the agent returns to the user</a:t>
            </a:r>
          </a:p>
          <a:p>
            <a:pPr algn="l"/>
            <a:r>
              <a:rPr sz="750" b="0">
                <a:solidFill>
                  <a:srgbClr val="141B33"/>
                </a:solidFill>
                <a:latin typeface="Segoe UI"/>
              </a:rPr>
              <a:t>models and agents</a:t>
            </a:r>
          </a:p>
        </p:txBody>
      </p:sp>
      <p:sp>
        <p:nvSpPr>
          <p:cNvPr id="64" name="TextBox 63"/>
          <p:cNvSpPr txBox="1"/>
          <p:nvPr/>
        </p:nvSpPr>
        <p:spPr>
          <a:xfrm>
            <a:off x="548640" y="3328416"/>
            <a:ext cx="6903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A CONTROL = RISK × INTERVENTION POINT × ACTION</a:t>
            </a:r>
          </a:p>
        </p:txBody>
      </p:sp>
      <p:sp>
        <p:nvSpPr>
          <p:cNvPr id="65" name="Rectangle 64"/>
          <p:cNvSpPr/>
          <p:nvPr/>
        </p:nvSpPr>
        <p:spPr>
          <a:xfrm>
            <a:off x="548640" y="3584448"/>
            <a:ext cx="2228088" cy="1719072"/>
          </a:xfrm>
          <a:prstGeom prst="rect">
            <a:avLst/>
          </a:prstGeom>
          <a:solidFill>
            <a:srgbClr val="FFFFFF"/>
          </a:solidFill>
          <a:ln w="9525">
            <a:solidFill>
              <a:srgbClr val="E1E7F4"/>
            </a:solidFill>
          </a:ln>
          <a:effectLst/>
        </p:spPr>
        <p:txBody>
          <a:bodyPr rtlCol="0" anchor="ctr"/>
          <a:lstStyle/>
          <a:p>
            <a:pPr algn="ctr"/>
            <a:endParaRPr/>
          </a:p>
        </p:txBody>
      </p:sp>
      <p:sp>
        <p:nvSpPr>
          <p:cNvPr id="66" name="Rectangle 65"/>
          <p:cNvSpPr/>
          <p:nvPr/>
        </p:nvSpPr>
        <p:spPr>
          <a:xfrm>
            <a:off x="548640" y="3584448"/>
            <a:ext cx="2228088" cy="36576"/>
          </a:xfrm>
          <a:prstGeom prst="rect">
            <a:avLst/>
          </a:prstGeom>
          <a:solidFill>
            <a:srgbClr val="101A3C"/>
          </a:solidFill>
          <a:ln>
            <a:noFill/>
          </a:ln>
          <a:effectLst/>
        </p:spPr>
        <p:txBody>
          <a:bodyPr rtlCol="0" anchor="ctr"/>
          <a:lstStyle/>
          <a:p>
            <a:pPr algn="ctr"/>
            <a:endParaRPr/>
          </a:p>
        </p:txBody>
      </p:sp>
      <p:sp>
        <p:nvSpPr>
          <p:cNvPr id="67" name="TextBox 66"/>
          <p:cNvSpPr txBox="1"/>
          <p:nvPr/>
        </p:nvSpPr>
        <p:spPr>
          <a:xfrm>
            <a:off x="548640" y="3621024"/>
            <a:ext cx="2228088" cy="1664208"/>
          </a:xfrm>
          <a:prstGeom prst="rect">
            <a:avLst/>
          </a:prstGeom>
          <a:noFill/>
        </p:spPr>
        <p:txBody>
          <a:bodyPr wrap="square" lIns="73152" tIns="27432" rIns="73152" bIns="27432" anchor="t">
            <a:spAutoFit/>
          </a:bodyPr>
          <a:lstStyle/>
          <a:p>
            <a:pPr algn="l"/>
            <a:r>
              <a:rPr sz="750" b="1">
                <a:solidFill>
                  <a:srgbClr val="141B33"/>
                </a:solidFill>
                <a:latin typeface="Segoe UI"/>
              </a:rPr>
              <a:t>Risk to detect</a:t>
            </a:r>
          </a:p>
          <a:p>
            <a:pPr algn="l">
              <a:spcBef>
                <a:spcPts val="200"/>
              </a:spcBef>
            </a:pPr>
            <a:r>
              <a:rPr sz="750" b="1">
                <a:solidFill>
                  <a:srgbClr val="141B33"/>
                </a:solidFill>
                <a:latin typeface="Segoe UI"/>
              </a:rPr>
              <a:t>Content harms  </a:t>
            </a:r>
            <a:r>
              <a:rPr sz="750" b="0">
                <a:solidFill>
                  <a:srgbClr val="141B33"/>
                </a:solidFill>
                <a:latin typeface="Segoe UI"/>
              </a:rPr>
              <a:t>hate · sexual · self-harm · violence — severity Low / Medium / High</a:t>
            </a:r>
          </a:p>
          <a:p>
            <a:pPr algn="l">
              <a:spcBef>
                <a:spcPts val="200"/>
              </a:spcBef>
            </a:pPr>
            <a:r>
              <a:rPr sz="750" b="1">
                <a:solidFill>
                  <a:srgbClr val="141B33"/>
                </a:solidFill>
                <a:latin typeface="Segoe UI"/>
              </a:rPr>
              <a:t>Attacks  </a:t>
            </a:r>
            <a:r>
              <a:rPr sz="750" b="0">
                <a:solidFill>
                  <a:srgbClr val="141B33"/>
                </a:solidFill>
                <a:latin typeface="Segoe UI"/>
              </a:rPr>
              <a:t>user prompt attacks · indirect attacks (XPIA) · spotlighting*</a:t>
            </a:r>
          </a:p>
          <a:p>
            <a:pPr algn="l">
              <a:spcBef>
                <a:spcPts val="200"/>
              </a:spcBef>
            </a:pPr>
            <a:r>
              <a:rPr sz="750" b="1">
                <a:solidFill>
                  <a:srgbClr val="141B33"/>
                </a:solidFill>
                <a:latin typeface="Segoe UI"/>
              </a:rPr>
              <a:t>Data and behaviour  </a:t>
            </a:r>
            <a:r>
              <a:rPr sz="750" b="0">
                <a:solidFill>
                  <a:srgbClr val="141B33"/>
                </a:solidFill>
                <a:latin typeface="Segoe UI"/>
              </a:rPr>
              <a:t>protected material (text, code) · PII* · groundedness* · task adherence*</a:t>
            </a:r>
          </a:p>
          <a:p>
            <a:pPr algn="l">
              <a:spcBef>
                <a:spcPts val="200"/>
              </a:spcBef>
            </a:pPr>
            <a:r>
              <a:rPr sz="750" b="1">
                <a:solidFill>
                  <a:srgbClr val="141B33"/>
                </a:solidFill>
                <a:latin typeface="Segoe UI"/>
              </a:rPr>
              <a:t>Hosted agents  </a:t>
            </a:r>
            <a:r>
              <a:rPr sz="750" b="0">
                <a:solidFill>
                  <a:srgbClr val="141B33"/>
                </a:solidFill>
                <a:latin typeface="Segoe UI"/>
              </a:rPr>
              <a:t>network egress controls*</a:t>
            </a:r>
          </a:p>
        </p:txBody>
      </p:sp>
      <p:sp>
        <p:nvSpPr>
          <p:cNvPr id="68" name="Rectangle 67"/>
          <p:cNvSpPr/>
          <p:nvPr/>
        </p:nvSpPr>
        <p:spPr>
          <a:xfrm>
            <a:off x="2886456" y="3584448"/>
            <a:ext cx="2228088" cy="1719072"/>
          </a:xfrm>
          <a:prstGeom prst="rect">
            <a:avLst/>
          </a:prstGeom>
          <a:solidFill>
            <a:srgbClr val="FFFFFF"/>
          </a:solidFill>
          <a:ln w="9525">
            <a:solidFill>
              <a:srgbClr val="E1E7F4"/>
            </a:solidFill>
          </a:ln>
          <a:effectLst/>
        </p:spPr>
        <p:txBody>
          <a:bodyPr rtlCol="0" anchor="ctr"/>
          <a:lstStyle/>
          <a:p>
            <a:pPr algn="ctr"/>
            <a:endParaRPr/>
          </a:p>
        </p:txBody>
      </p:sp>
      <p:sp>
        <p:nvSpPr>
          <p:cNvPr id="69" name="Rectangle 68"/>
          <p:cNvSpPr/>
          <p:nvPr/>
        </p:nvSpPr>
        <p:spPr>
          <a:xfrm>
            <a:off x="2886456" y="3584448"/>
            <a:ext cx="2228088" cy="36576"/>
          </a:xfrm>
          <a:prstGeom prst="rect">
            <a:avLst/>
          </a:prstGeom>
          <a:solidFill>
            <a:srgbClr val="00B39F"/>
          </a:solidFill>
          <a:ln>
            <a:noFill/>
          </a:ln>
          <a:effectLst/>
        </p:spPr>
        <p:txBody>
          <a:bodyPr rtlCol="0" anchor="ctr"/>
          <a:lstStyle/>
          <a:p>
            <a:pPr algn="ctr"/>
            <a:endParaRPr/>
          </a:p>
        </p:txBody>
      </p:sp>
      <p:sp>
        <p:nvSpPr>
          <p:cNvPr id="70" name="TextBox 69"/>
          <p:cNvSpPr txBox="1"/>
          <p:nvPr/>
        </p:nvSpPr>
        <p:spPr>
          <a:xfrm>
            <a:off x="2886456" y="3621024"/>
            <a:ext cx="2228088" cy="1664208"/>
          </a:xfrm>
          <a:prstGeom prst="rect">
            <a:avLst/>
          </a:prstGeom>
          <a:noFill/>
        </p:spPr>
        <p:txBody>
          <a:bodyPr wrap="square" lIns="73152" tIns="27432" rIns="73152" bIns="27432" anchor="t">
            <a:spAutoFit/>
          </a:bodyPr>
          <a:lstStyle/>
          <a:p>
            <a:pPr algn="l"/>
            <a:r>
              <a:rPr sz="750" b="1">
                <a:solidFill>
                  <a:srgbClr val="141B33"/>
                </a:solidFill>
                <a:latin typeface="Segoe UI"/>
              </a:rPr>
              <a:t>Where to scan</a:t>
            </a:r>
          </a:p>
          <a:p>
            <a:pPr algn="l">
              <a:spcBef>
                <a:spcPts val="200"/>
              </a:spcBef>
            </a:pPr>
            <a:r>
              <a:rPr sz="750" b="1">
                <a:solidFill>
                  <a:srgbClr val="141B33"/>
                </a:solidFill>
                <a:latin typeface="Segoe UI"/>
              </a:rPr>
              <a:t>Points 1 and 4  </a:t>
            </a:r>
            <a:r>
              <a:rPr sz="750" b="0">
                <a:solidFill>
                  <a:srgbClr val="141B33"/>
                </a:solidFill>
                <a:latin typeface="Segoe UI"/>
              </a:rPr>
              <a:t>available for model deployments and agents</a:t>
            </a:r>
          </a:p>
          <a:p>
            <a:pPr algn="l">
              <a:spcBef>
                <a:spcPts val="200"/>
              </a:spcBef>
            </a:pPr>
            <a:r>
              <a:rPr sz="750" b="1">
                <a:solidFill>
                  <a:srgbClr val="141B33"/>
                </a:solidFill>
                <a:latin typeface="Segoe UI"/>
              </a:rPr>
              <a:t>Points 2 and 3  </a:t>
            </a:r>
            <a:r>
              <a:rPr sz="750" b="0">
                <a:solidFill>
                  <a:srgbClr val="141B33"/>
                </a:solidFill>
                <a:latin typeface="Segoe UI"/>
              </a:rPr>
              <a:t>agents only, in preview</a:t>
            </a:r>
          </a:p>
          <a:p>
            <a:pPr algn="l">
              <a:spcBef>
                <a:spcPts val="200"/>
              </a:spcBef>
            </a:pPr>
            <a:r>
              <a:rPr sz="750" b="1">
                <a:solidFill>
                  <a:srgbClr val="141B33"/>
                </a:solidFill>
                <a:latin typeface="Segoe UI"/>
              </a:rPr>
              <a:t>Default  </a:t>
            </a:r>
            <a:r>
              <a:rPr sz="750" b="0">
                <a:solidFill>
                  <a:srgbClr val="141B33"/>
                </a:solidFill>
                <a:latin typeface="Segoe UI"/>
              </a:rPr>
              <a:t>every model deployment carries the Microsoft.DefaultV2 guardrail</a:t>
            </a:r>
          </a:p>
          <a:p>
            <a:pPr algn="l">
              <a:spcBef>
                <a:spcPts val="200"/>
              </a:spcBef>
            </a:pPr>
            <a:r>
              <a:rPr sz="750" b="1">
                <a:solidFill>
                  <a:srgbClr val="141B33"/>
                </a:solidFill>
                <a:latin typeface="Segoe UI"/>
              </a:rPr>
              <a:t>Override  </a:t>
            </a:r>
            <a:r>
              <a:rPr sz="750" b="0">
                <a:solidFill>
                  <a:srgbClr val="141B33"/>
                </a:solidFill>
                <a:latin typeface="Segoe UI"/>
              </a:rPr>
              <a:t>a guardrail assigned to an agent fully replaces the model’s guardrail</a:t>
            </a:r>
          </a:p>
        </p:txBody>
      </p:sp>
      <p:sp>
        <p:nvSpPr>
          <p:cNvPr id="71" name="Rectangle 70"/>
          <p:cNvSpPr/>
          <p:nvPr/>
        </p:nvSpPr>
        <p:spPr>
          <a:xfrm>
            <a:off x="5224272" y="3584448"/>
            <a:ext cx="2228088" cy="1719072"/>
          </a:xfrm>
          <a:prstGeom prst="rect">
            <a:avLst/>
          </a:prstGeom>
          <a:solidFill>
            <a:srgbClr val="FFFFFF"/>
          </a:solidFill>
          <a:ln w="9525">
            <a:solidFill>
              <a:srgbClr val="E1E7F4"/>
            </a:solidFill>
          </a:ln>
          <a:effectLst/>
        </p:spPr>
        <p:txBody>
          <a:bodyPr rtlCol="0" anchor="ctr"/>
          <a:lstStyle/>
          <a:p>
            <a:pPr algn="ctr"/>
            <a:endParaRPr/>
          </a:p>
        </p:txBody>
      </p:sp>
      <p:sp>
        <p:nvSpPr>
          <p:cNvPr id="72" name="Rectangle 71"/>
          <p:cNvSpPr/>
          <p:nvPr/>
        </p:nvSpPr>
        <p:spPr>
          <a:xfrm>
            <a:off x="5224272" y="3584448"/>
            <a:ext cx="2228088" cy="36576"/>
          </a:xfrm>
          <a:prstGeom prst="rect">
            <a:avLst/>
          </a:prstGeom>
          <a:solidFill>
            <a:srgbClr val="101A3C"/>
          </a:solidFill>
          <a:ln>
            <a:noFill/>
          </a:ln>
          <a:effectLst/>
        </p:spPr>
        <p:txBody>
          <a:bodyPr rtlCol="0" anchor="ctr"/>
          <a:lstStyle/>
          <a:p>
            <a:pPr algn="ctr"/>
            <a:endParaRPr/>
          </a:p>
        </p:txBody>
      </p:sp>
      <p:sp>
        <p:nvSpPr>
          <p:cNvPr id="73" name="TextBox 72"/>
          <p:cNvSpPr txBox="1"/>
          <p:nvPr/>
        </p:nvSpPr>
        <p:spPr>
          <a:xfrm>
            <a:off x="5224272" y="3621024"/>
            <a:ext cx="2228088" cy="1664208"/>
          </a:xfrm>
          <a:prstGeom prst="rect">
            <a:avLst/>
          </a:prstGeom>
          <a:noFill/>
        </p:spPr>
        <p:txBody>
          <a:bodyPr wrap="square" lIns="73152" tIns="27432" rIns="73152" bIns="27432" anchor="t">
            <a:spAutoFit/>
          </a:bodyPr>
          <a:lstStyle/>
          <a:p>
            <a:pPr algn="l"/>
            <a:r>
              <a:rPr sz="750" b="1">
                <a:solidFill>
                  <a:srgbClr val="141B33"/>
                </a:solidFill>
                <a:latin typeface="Segoe UI"/>
              </a:rPr>
              <a:t>Action to take</a:t>
            </a:r>
          </a:p>
          <a:p>
            <a:pPr algn="l">
              <a:spcBef>
                <a:spcPts val="200"/>
              </a:spcBef>
            </a:pPr>
            <a:r>
              <a:rPr sz="750" b="1">
                <a:solidFill>
                  <a:srgbClr val="141B33"/>
                </a:solidFill>
                <a:latin typeface="Segoe UI"/>
              </a:rPr>
              <a:t>Annotate  </a:t>
            </a:r>
            <a:r>
              <a:rPr sz="750" b="0">
                <a:solidFill>
                  <a:srgbClr val="141B33"/>
                </a:solidFill>
                <a:latin typeface="Segoe UI"/>
              </a:rPr>
              <a:t>flag the finding, let the content through (models only)</a:t>
            </a:r>
          </a:p>
          <a:p>
            <a:pPr algn="l">
              <a:spcBef>
                <a:spcPts val="200"/>
              </a:spcBef>
            </a:pPr>
            <a:r>
              <a:rPr sz="750" b="1">
                <a:solidFill>
                  <a:srgbClr val="141B33"/>
                </a:solidFill>
                <a:latin typeface="Segoe UI"/>
              </a:rPr>
              <a:t>Annotate and block  </a:t>
            </a:r>
            <a:r>
              <a:rPr sz="750" b="0">
                <a:solidFill>
                  <a:srgbClr val="141B33"/>
                </a:solidFill>
                <a:latin typeface="Segoe UI"/>
              </a:rPr>
              <a:t>flag and stop the content at that point</a:t>
            </a:r>
          </a:p>
          <a:p>
            <a:pPr algn="l">
              <a:spcBef>
                <a:spcPts val="200"/>
              </a:spcBef>
            </a:pPr>
            <a:r>
              <a:rPr sz="750" b="1">
                <a:solidFill>
                  <a:srgbClr val="141B33"/>
                </a:solidFill>
                <a:latin typeface="Segoe UI"/>
              </a:rPr>
              <a:t>Scope  </a:t>
            </a:r>
            <a:r>
              <a:rPr sz="750" b="0">
                <a:solidFill>
                  <a:srgbClr val="141B33"/>
                </a:solidFill>
                <a:latin typeface="Segoe UI"/>
              </a:rPr>
              <a:t>Foundry Models sold by Azure and agents in Foundry Agent Service</a:t>
            </a:r>
          </a:p>
          <a:p>
            <a:pPr algn="l">
              <a:spcBef>
                <a:spcPts val="200"/>
              </a:spcBef>
            </a:pPr>
            <a:r>
              <a:rPr sz="750" b="1">
                <a:solidFill>
                  <a:srgbClr val="141B33"/>
                </a:solidFill>
                <a:latin typeface="Segoe UI"/>
              </a:rPr>
              <a:t>Setup  </a:t>
            </a:r>
            <a:r>
              <a:rPr sz="750" b="0">
                <a:solidFill>
                  <a:srgbClr val="141B33"/>
                </a:solidFill>
                <a:latin typeface="Segoe UI"/>
              </a:rPr>
              <a:t>Guided Guardrail Setup* recommends controls</a:t>
            </a:r>
          </a:p>
        </p:txBody>
      </p:sp>
      <p:sp>
        <p:nvSpPr>
          <p:cNvPr id="74" name="TextBox 73"/>
          <p:cNvSpPr txBox="1"/>
          <p:nvPr/>
        </p:nvSpPr>
        <p:spPr>
          <a:xfrm>
            <a:off x="7680960" y="1298448"/>
            <a:ext cx="395935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HOW CONTENT SAFETY FITS</a:t>
            </a:r>
          </a:p>
        </p:txBody>
      </p:sp>
      <p:sp>
        <p:nvSpPr>
          <p:cNvPr id="75" name="Rectangle 74"/>
          <p:cNvSpPr/>
          <p:nvPr/>
        </p:nvSpPr>
        <p:spPr>
          <a:xfrm>
            <a:off x="7680960" y="1554480"/>
            <a:ext cx="3959352" cy="1005840"/>
          </a:xfrm>
          <a:prstGeom prst="rect">
            <a:avLst/>
          </a:prstGeom>
          <a:solidFill>
            <a:srgbClr val="0B1229"/>
          </a:solidFill>
          <a:ln>
            <a:noFill/>
          </a:ln>
          <a:effectLst/>
        </p:spPr>
        <p:txBody>
          <a:bodyPr rtlCol="0" anchor="ctr"/>
          <a:lstStyle/>
          <a:p>
            <a:pPr algn="ctr"/>
            <a:endParaRPr/>
          </a:p>
        </p:txBody>
      </p:sp>
      <p:sp>
        <p:nvSpPr>
          <p:cNvPr id="76" name="TextBox 75"/>
          <p:cNvSpPr txBox="1"/>
          <p:nvPr/>
        </p:nvSpPr>
        <p:spPr>
          <a:xfrm>
            <a:off x="7680960" y="1554480"/>
            <a:ext cx="3959352" cy="1005840"/>
          </a:xfrm>
          <a:prstGeom prst="rect">
            <a:avLst/>
          </a:prstGeom>
          <a:noFill/>
        </p:spPr>
        <p:txBody>
          <a:bodyPr wrap="square" lIns="73152" tIns="27432" rIns="73152" bIns="27432" anchor="ctr">
            <a:spAutoFit/>
          </a:bodyPr>
          <a:lstStyle/>
          <a:p>
            <a:pPr algn="l"/>
            <a:r>
              <a:rPr sz="850" b="1">
                <a:solidFill>
                  <a:srgbClr val="FFFFFF"/>
                </a:solidFill>
                <a:latin typeface="Segoe UI"/>
              </a:rPr>
              <a:t>Azure AI Content Safety is the classification engine.</a:t>
            </a:r>
          </a:p>
          <a:p>
            <a:pPr algn="l">
              <a:spcBef>
                <a:spcPts val="300"/>
              </a:spcBef>
            </a:pPr>
            <a:r>
              <a:rPr sz="850" b="0">
                <a:solidFill>
                  <a:srgbClr val="FFFFFF"/>
                </a:solidFill>
                <a:latin typeface="Segoe UI"/>
              </a:rPr>
              <a:t>Guardrails use its models to detect the risks above. You do not call it yourself when you use guardrails — Foundry does, at each intervention point.</a:t>
            </a:r>
          </a:p>
        </p:txBody>
      </p:sp>
      <p:sp>
        <p:nvSpPr>
          <p:cNvPr id="77" name="Rectangle 76"/>
          <p:cNvSpPr/>
          <p:nvPr/>
        </p:nvSpPr>
        <p:spPr>
          <a:xfrm>
            <a:off x="7680960" y="2670048"/>
            <a:ext cx="3959352" cy="1481328"/>
          </a:xfrm>
          <a:prstGeom prst="rect">
            <a:avLst/>
          </a:prstGeom>
          <a:solidFill>
            <a:srgbClr val="F6F8FD"/>
          </a:solidFill>
          <a:ln w="9525">
            <a:solidFill>
              <a:srgbClr val="E1E7F4"/>
            </a:solidFill>
          </a:ln>
          <a:effectLst/>
        </p:spPr>
        <p:txBody>
          <a:bodyPr rtlCol="0" anchor="ctr"/>
          <a:lstStyle/>
          <a:p>
            <a:pPr algn="ctr"/>
            <a:endParaRPr/>
          </a:p>
        </p:txBody>
      </p:sp>
      <p:sp>
        <p:nvSpPr>
          <p:cNvPr id="78" name="Rectangle 77"/>
          <p:cNvSpPr/>
          <p:nvPr/>
        </p:nvSpPr>
        <p:spPr>
          <a:xfrm>
            <a:off x="7680960" y="2670048"/>
            <a:ext cx="45720" cy="1481328"/>
          </a:xfrm>
          <a:prstGeom prst="rect">
            <a:avLst/>
          </a:prstGeom>
          <a:solidFill>
            <a:srgbClr val="00B39F"/>
          </a:solidFill>
          <a:ln>
            <a:noFill/>
          </a:ln>
          <a:effectLst/>
        </p:spPr>
        <p:txBody>
          <a:bodyPr rtlCol="0" anchor="ctr"/>
          <a:lstStyle/>
          <a:p>
            <a:pPr algn="ctr"/>
            <a:endParaRPr/>
          </a:p>
        </p:txBody>
      </p:sp>
      <p:sp>
        <p:nvSpPr>
          <p:cNvPr id="79" name="TextBox 78"/>
          <p:cNvSpPr txBox="1"/>
          <p:nvPr/>
        </p:nvSpPr>
        <p:spPr>
          <a:xfrm>
            <a:off x="7735824" y="2670048"/>
            <a:ext cx="3886200" cy="1481328"/>
          </a:xfrm>
          <a:prstGeom prst="rect">
            <a:avLst/>
          </a:prstGeom>
          <a:noFill/>
        </p:spPr>
        <p:txBody>
          <a:bodyPr wrap="square" lIns="73152" tIns="27432" rIns="73152" bIns="27432" anchor="t">
            <a:spAutoFit/>
          </a:bodyPr>
          <a:lstStyle/>
          <a:p>
            <a:pPr algn="l"/>
            <a:r>
              <a:rPr sz="750" b="1">
                <a:solidFill>
                  <a:srgbClr val="141B33"/>
                </a:solidFill>
                <a:latin typeface="Segoe UI"/>
              </a:rPr>
              <a:t>Call it directly when you need it outside Foundry</a:t>
            </a:r>
          </a:p>
          <a:p>
            <a:pPr algn="l">
              <a:spcBef>
                <a:spcPts val="150"/>
              </a:spcBef>
            </a:pPr>
            <a:r>
              <a:rPr sz="750" b="0">
                <a:solidFill>
                  <a:srgbClr val="141B33"/>
                </a:solidFill>
                <a:latin typeface="Segoe UI"/>
              </a:rPr>
              <a:t>• your own app or pipeline, not a Foundry model or agent</a:t>
            </a:r>
          </a:p>
          <a:p>
            <a:pPr algn="l">
              <a:spcBef>
                <a:spcPts val="150"/>
              </a:spcBef>
            </a:pPr>
            <a:r>
              <a:rPr sz="750" b="0">
                <a:solidFill>
                  <a:srgbClr val="141B33"/>
                </a:solidFill>
                <a:latin typeface="Segoe UI"/>
              </a:rPr>
              <a:t>• text and image analysis with multi-severity scores</a:t>
            </a:r>
          </a:p>
          <a:p>
            <a:pPr algn="l">
              <a:spcBef>
                <a:spcPts val="150"/>
              </a:spcBef>
            </a:pPr>
            <a:r>
              <a:rPr sz="750" b="0">
                <a:solidFill>
                  <a:srgbClr val="141B33"/>
                </a:solidFill>
                <a:latin typeface="Segoe UI"/>
              </a:rPr>
              <a:t>• Prompt Shields for prompt-injection checks on your inputs</a:t>
            </a:r>
          </a:p>
          <a:p>
            <a:pPr algn="l">
              <a:spcBef>
                <a:spcPts val="150"/>
              </a:spcBef>
            </a:pPr>
            <a:r>
              <a:rPr sz="750" b="0">
                <a:solidFill>
                  <a:srgbClr val="141B33"/>
                </a:solidFill>
                <a:latin typeface="Segoe UI"/>
              </a:rPr>
              <a:t>• groundedness detection* against your own sources</a:t>
            </a:r>
          </a:p>
          <a:p>
            <a:pPr algn="l">
              <a:spcBef>
                <a:spcPts val="150"/>
              </a:spcBef>
            </a:pPr>
            <a:r>
              <a:rPr sz="750" b="0">
                <a:solidFill>
                  <a:srgbClr val="141B33"/>
                </a:solidFill>
                <a:latin typeface="Segoe UI"/>
              </a:rPr>
              <a:t>• protected material and task adherence APIs</a:t>
            </a:r>
          </a:p>
          <a:p>
            <a:pPr algn="l">
              <a:spcBef>
                <a:spcPts val="150"/>
              </a:spcBef>
            </a:pPr>
            <a:r>
              <a:rPr sz="750" b="0">
                <a:solidFill>
                  <a:srgbClr val="141B33"/>
                </a:solidFill>
                <a:latin typeface="Segoe UI"/>
              </a:rPr>
              <a:t>• custom categories* and blocklists</a:t>
            </a:r>
          </a:p>
        </p:txBody>
      </p:sp>
      <p:sp>
        <p:nvSpPr>
          <p:cNvPr id="80" name="Rectangle 79"/>
          <p:cNvSpPr/>
          <p:nvPr/>
        </p:nvSpPr>
        <p:spPr>
          <a:xfrm>
            <a:off x="7680960" y="4261104"/>
            <a:ext cx="3959352" cy="896112"/>
          </a:xfrm>
          <a:prstGeom prst="rect">
            <a:avLst/>
          </a:prstGeom>
          <a:solidFill>
            <a:srgbClr val="FFFFFF"/>
          </a:solidFill>
          <a:ln w="9525">
            <a:solidFill>
              <a:srgbClr val="E1E7F4"/>
            </a:solidFill>
          </a:ln>
          <a:effectLst/>
        </p:spPr>
        <p:txBody>
          <a:bodyPr rtlCol="0" anchor="ctr"/>
          <a:lstStyle/>
          <a:p>
            <a:pPr algn="ctr"/>
            <a:endParaRPr/>
          </a:p>
        </p:txBody>
      </p:sp>
      <p:sp>
        <p:nvSpPr>
          <p:cNvPr id="81" name="Rectangle 80"/>
          <p:cNvSpPr/>
          <p:nvPr/>
        </p:nvSpPr>
        <p:spPr>
          <a:xfrm>
            <a:off x="7680960" y="4261104"/>
            <a:ext cx="45720" cy="896112"/>
          </a:xfrm>
          <a:prstGeom prst="rect">
            <a:avLst/>
          </a:prstGeom>
          <a:solidFill>
            <a:srgbClr val="101A3C"/>
          </a:solidFill>
          <a:ln>
            <a:noFill/>
          </a:ln>
          <a:effectLst/>
        </p:spPr>
        <p:txBody>
          <a:bodyPr rtlCol="0" anchor="ctr"/>
          <a:lstStyle/>
          <a:p>
            <a:pPr algn="ctr"/>
            <a:endParaRPr/>
          </a:p>
        </p:txBody>
      </p:sp>
      <p:sp>
        <p:nvSpPr>
          <p:cNvPr id="82" name="TextBox 81"/>
          <p:cNvSpPr txBox="1"/>
          <p:nvPr/>
        </p:nvSpPr>
        <p:spPr>
          <a:xfrm>
            <a:off x="7735824" y="4261104"/>
            <a:ext cx="3886200" cy="896112"/>
          </a:xfrm>
          <a:prstGeom prst="rect">
            <a:avLst/>
          </a:prstGeom>
          <a:noFill/>
        </p:spPr>
        <p:txBody>
          <a:bodyPr wrap="square" lIns="73152" tIns="27432" rIns="73152" bIns="27432" anchor="t">
            <a:spAutoFit/>
          </a:bodyPr>
          <a:lstStyle/>
          <a:p>
            <a:pPr algn="l"/>
            <a:r>
              <a:rPr sz="750" b="1">
                <a:solidFill>
                  <a:srgbClr val="141B33"/>
                </a:solidFill>
                <a:latin typeface="Segoe UI"/>
              </a:rPr>
              <a:t>Rule of thumb</a:t>
            </a:r>
          </a:p>
          <a:p>
            <a:pPr algn="l">
              <a:spcBef>
                <a:spcPts val="150"/>
              </a:spcBef>
            </a:pPr>
            <a:r>
              <a:rPr sz="750" b="0">
                <a:solidFill>
                  <a:srgbClr val="141B33"/>
                </a:solidFill>
                <a:latin typeface="Segoe UI"/>
              </a:rPr>
              <a:t>Model or agent runs in Foundry → configure a guardrail.</a:t>
            </a:r>
          </a:p>
          <a:p>
            <a:pPr algn="l">
              <a:spcBef>
                <a:spcPts val="150"/>
              </a:spcBef>
            </a:pPr>
            <a:r>
              <a:rPr sz="750" b="0">
                <a:solidFill>
                  <a:srgbClr val="141B33"/>
                </a:solidFill>
                <a:latin typeface="Segoe UI"/>
              </a:rPr>
              <a:t>Content lives elsewhere → call Content Safety from code.</a:t>
            </a:r>
          </a:p>
          <a:p>
            <a:pPr algn="l">
              <a:spcBef>
                <a:spcPts val="150"/>
              </a:spcBef>
            </a:pPr>
            <a:r>
              <a:rPr sz="750" b="0">
                <a:solidFill>
                  <a:srgbClr val="141B33"/>
                </a:solidFill>
                <a:latin typeface="Segoe UI"/>
              </a:rPr>
              <a:t>Both use the same classifiers, so results are consistent.</a:t>
            </a:r>
          </a:p>
        </p:txBody>
      </p:sp>
      <p:sp>
        <p:nvSpPr>
          <p:cNvPr id="83" name="TextBox 82"/>
          <p:cNvSpPr txBox="1"/>
          <p:nvPr/>
        </p:nvSpPr>
        <p:spPr>
          <a:xfrm>
            <a:off x="548640" y="5358384"/>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Evaluations: how Foundry scores an agent</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Pick what to evaluate, shape it into the evaluation dataset, choose evaluators, and route the scores to where you act on them.</a:t>
            </a:r>
          </a:p>
          <a:p>
            <a:endParaRPr sz="1200">
              <a:solidFill>
                <a:srgbClr val="44495B"/>
              </a:solidFill>
              <a:latin typeface="Segoe UI"/>
            </a:endParaRPr>
          </a:p>
        </p:txBody>
      </p:sp>
      <p:sp>
        <p:nvSpPr>
          <p:cNvPr id="27" name="TextBox"/>
          <p:cNvSpPr txBox="1"/>
          <p:nvPr/>
        </p:nvSpPr>
        <p:spPr>
          <a:xfrm>
            <a:off x="457200" y="5797296"/>
            <a:ext cx="7863840" cy="411480"/>
          </a:xfrm>
          <a:prstGeom prst="rect">
            <a:avLst/>
          </a:prstGeom>
        </p:spPr>
        <p:txBody>
          <a:bodyPr anchor="ctr"/>
          <a:lstStyle/>
          <a:p>
            <a:r>
              <a:rPr sz="900">
                <a:solidFill>
                  <a:srgbClr val="44495B"/>
                </a:solidFill>
                <a:latin typeface="Segoe UI"/>
              </a:rPr>
              <a:t>Source: learn.microsoft.com/azure/foundry/concepts/built-in-evaluators · observability/how-to/cloud-evaluation-targets</a:t>
            </a:r>
          </a:p>
          <a:p>
            <a:endParaRPr sz="900">
              <a:solidFill>
                <a:srgbClr val="44495B"/>
              </a:solidFill>
              <a:latin typeface="Segoe UI"/>
            </a:endParaRPr>
          </a:p>
        </p:txBody>
      </p:sp>
      <p:sp>
        <p:nvSpPr>
          <p:cNvPr id="29" name="Rectangle 28"/>
          <p:cNvSpPr/>
          <p:nvPr/>
        </p:nvSpPr>
        <p:spPr>
          <a:xfrm>
            <a:off x="548640" y="1298448"/>
            <a:ext cx="2514600" cy="457200"/>
          </a:xfrm>
          <a:prstGeom prst="rect">
            <a:avLst/>
          </a:prstGeom>
          <a:solidFill>
            <a:srgbClr val="101A3C"/>
          </a:solidFill>
          <a:ln>
            <a:noFill/>
          </a:ln>
          <a:effectLst/>
        </p:spPr>
        <p:txBody>
          <a:bodyPr rtlCol="0" anchor="ctr"/>
          <a:lstStyle/>
          <a:p>
            <a:pPr algn="ctr"/>
            <a:endParaRPr/>
          </a:p>
        </p:txBody>
      </p:sp>
      <p:sp>
        <p:nvSpPr>
          <p:cNvPr id="30" name="Oval 29"/>
          <p:cNvSpPr/>
          <p:nvPr/>
        </p:nvSpPr>
        <p:spPr>
          <a:xfrm>
            <a:off x="640080"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1</a:t>
            </a:r>
          </a:p>
        </p:txBody>
      </p:sp>
      <p:sp>
        <p:nvSpPr>
          <p:cNvPr id="31" name="TextBox 30"/>
          <p:cNvSpPr txBox="1"/>
          <p:nvPr/>
        </p:nvSpPr>
        <p:spPr>
          <a:xfrm>
            <a:off x="914400" y="1298448"/>
            <a:ext cx="2130552" cy="457200"/>
          </a:xfrm>
          <a:prstGeom prst="rect">
            <a:avLst/>
          </a:prstGeom>
          <a:noFill/>
        </p:spPr>
        <p:txBody>
          <a:bodyPr wrap="square" lIns="73152" tIns="27432" rIns="73152" bIns="27432" anchor="ctr">
            <a:spAutoFit/>
          </a:bodyPr>
          <a:lstStyle/>
          <a:p>
            <a:pPr algn="l"/>
            <a:r>
              <a:rPr sz="900" b="1">
                <a:solidFill>
                  <a:srgbClr val="FFFFFF"/>
                </a:solidFill>
                <a:latin typeface="Segoe UI"/>
              </a:rPr>
              <a:t>What to evaluate</a:t>
            </a:r>
          </a:p>
          <a:p>
            <a:pPr algn="l"/>
            <a:r>
              <a:rPr sz="900" b="0">
                <a:solidFill>
                  <a:srgbClr val="FFFFFF"/>
                </a:solidFill>
                <a:latin typeface="Segoe UI"/>
              </a:rPr>
              <a:t>the source</a:t>
            </a:r>
          </a:p>
        </p:txBody>
      </p:sp>
      <p:sp>
        <p:nvSpPr>
          <p:cNvPr id="32" name="Rectangle 31"/>
          <p:cNvSpPr/>
          <p:nvPr/>
        </p:nvSpPr>
        <p:spPr>
          <a:xfrm>
            <a:off x="3282696" y="1298448"/>
            <a:ext cx="2331720" cy="457200"/>
          </a:xfrm>
          <a:prstGeom prst="rect">
            <a:avLst/>
          </a:prstGeom>
          <a:solidFill>
            <a:srgbClr val="101A3C"/>
          </a:solidFill>
          <a:ln>
            <a:noFill/>
          </a:ln>
          <a:effectLst/>
        </p:spPr>
        <p:txBody>
          <a:bodyPr rtlCol="0" anchor="ctr"/>
          <a:lstStyle/>
          <a:p>
            <a:pPr algn="ctr"/>
            <a:endParaRPr/>
          </a:p>
        </p:txBody>
      </p:sp>
      <p:sp>
        <p:nvSpPr>
          <p:cNvPr id="33" name="Oval 32"/>
          <p:cNvSpPr/>
          <p:nvPr/>
        </p:nvSpPr>
        <p:spPr>
          <a:xfrm>
            <a:off x="3374136"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2</a:t>
            </a:r>
          </a:p>
        </p:txBody>
      </p:sp>
      <p:sp>
        <p:nvSpPr>
          <p:cNvPr id="34" name="TextBox 33"/>
          <p:cNvSpPr txBox="1"/>
          <p:nvPr/>
        </p:nvSpPr>
        <p:spPr>
          <a:xfrm>
            <a:off x="3648456" y="1298448"/>
            <a:ext cx="1947672" cy="457200"/>
          </a:xfrm>
          <a:prstGeom prst="rect">
            <a:avLst/>
          </a:prstGeom>
          <a:noFill/>
        </p:spPr>
        <p:txBody>
          <a:bodyPr wrap="square" lIns="73152" tIns="27432" rIns="73152" bIns="27432" anchor="ctr">
            <a:spAutoFit/>
          </a:bodyPr>
          <a:lstStyle/>
          <a:p>
            <a:pPr algn="l"/>
            <a:r>
              <a:rPr sz="900" b="1">
                <a:solidFill>
                  <a:srgbClr val="FFFFFF"/>
                </a:solidFill>
                <a:latin typeface="Segoe UI"/>
              </a:rPr>
              <a:t>Evaluation dataset</a:t>
            </a:r>
          </a:p>
          <a:p>
            <a:pPr algn="l"/>
            <a:r>
              <a:rPr sz="900" b="0">
                <a:solidFill>
                  <a:srgbClr val="FFFFFF"/>
                </a:solidFill>
                <a:latin typeface="Segoe UI"/>
              </a:rPr>
              <a:t>the data</a:t>
            </a:r>
          </a:p>
        </p:txBody>
      </p:sp>
      <p:sp>
        <p:nvSpPr>
          <p:cNvPr id="35" name="Rectangle 34"/>
          <p:cNvSpPr/>
          <p:nvPr/>
        </p:nvSpPr>
        <p:spPr>
          <a:xfrm>
            <a:off x="5833872" y="1298448"/>
            <a:ext cx="3246120" cy="457200"/>
          </a:xfrm>
          <a:prstGeom prst="rect">
            <a:avLst/>
          </a:prstGeom>
          <a:solidFill>
            <a:srgbClr val="101A3C"/>
          </a:solidFill>
          <a:ln>
            <a:noFill/>
          </a:ln>
          <a:effectLst/>
        </p:spPr>
        <p:txBody>
          <a:bodyPr rtlCol="0" anchor="ctr"/>
          <a:lstStyle/>
          <a:p>
            <a:pPr algn="ctr"/>
            <a:endParaRPr/>
          </a:p>
        </p:txBody>
      </p:sp>
      <p:sp>
        <p:nvSpPr>
          <p:cNvPr id="36" name="Oval 35"/>
          <p:cNvSpPr/>
          <p:nvPr/>
        </p:nvSpPr>
        <p:spPr>
          <a:xfrm>
            <a:off x="5925312"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3</a:t>
            </a:r>
          </a:p>
        </p:txBody>
      </p:sp>
      <p:sp>
        <p:nvSpPr>
          <p:cNvPr id="37" name="TextBox 36"/>
          <p:cNvSpPr txBox="1"/>
          <p:nvPr/>
        </p:nvSpPr>
        <p:spPr>
          <a:xfrm>
            <a:off x="6199632" y="1298448"/>
            <a:ext cx="2862072" cy="457200"/>
          </a:xfrm>
          <a:prstGeom prst="rect">
            <a:avLst/>
          </a:prstGeom>
          <a:noFill/>
        </p:spPr>
        <p:txBody>
          <a:bodyPr wrap="square" lIns="73152" tIns="27432" rIns="73152" bIns="27432" anchor="ctr">
            <a:spAutoFit/>
          </a:bodyPr>
          <a:lstStyle/>
          <a:p>
            <a:pPr algn="l"/>
            <a:r>
              <a:rPr sz="900" b="1">
                <a:solidFill>
                  <a:srgbClr val="FFFFFF"/>
                </a:solidFill>
                <a:latin typeface="Segoe UI"/>
              </a:rPr>
              <a:t>Evaluators</a:t>
            </a:r>
          </a:p>
          <a:p>
            <a:pPr algn="l"/>
            <a:r>
              <a:rPr sz="900" b="0">
                <a:solidFill>
                  <a:srgbClr val="FFFFFF"/>
                </a:solidFill>
                <a:latin typeface="Segoe UI"/>
              </a:rPr>
              <a:t>the judges</a:t>
            </a:r>
          </a:p>
        </p:txBody>
      </p:sp>
      <p:sp>
        <p:nvSpPr>
          <p:cNvPr id="38" name="Rectangle 37"/>
          <p:cNvSpPr/>
          <p:nvPr/>
        </p:nvSpPr>
        <p:spPr>
          <a:xfrm>
            <a:off x="9299448" y="1298448"/>
            <a:ext cx="2331720" cy="457200"/>
          </a:xfrm>
          <a:prstGeom prst="rect">
            <a:avLst/>
          </a:prstGeom>
          <a:solidFill>
            <a:srgbClr val="101A3C"/>
          </a:solidFill>
          <a:ln>
            <a:noFill/>
          </a:ln>
          <a:effectLst/>
        </p:spPr>
        <p:txBody>
          <a:bodyPr rtlCol="0" anchor="ctr"/>
          <a:lstStyle/>
          <a:p>
            <a:pPr algn="ctr"/>
            <a:endParaRPr/>
          </a:p>
        </p:txBody>
      </p:sp>
      <p:sp>
        <p:nvSpPr>
          <p:cNvPr id="39" name="Oval 38"/>
          <p:cNvSpPr/>
          <p:nvPr/>
        </p:nvSpPr>
        <p:spPr>
          <a:xfrm>
            <a:off x="9390888" y="1399032"/>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4</a:t>
            </a:r>
          </a:p>
        </p:txBody>
      </p:sp>
      <p:sp>
        <p:nvSpPr>
          <p:cNvPr id="40" name="TextBox 39"/>
          <p:cNvSpPr txBox="1"/>
          <p:nvPr/>
        </p:nvSpPr>
        <p:spPr>
          <a:xfrm>
            <a:off x="9665208" y="1298448"/>
            <a:ext cx="1947672" cy="457200"/>
          </a:xfrm>
          <a:prstGeom prst="rect">
            <a:avLst/>
          </a:prstGeom>
          <a:noFill/>
        </p:spPr>
        <p:txBody>
          <a:bodyPr wrap="square" lIns="73152" tIns="27432" rIns="73152" bIns="27432" anchor="ctr">
            <a:spAutoFit/>
          </a:bodyPr>
          <a:lstStyle/>
          <a:p>
            <a:pPr algn="l"/>
            <a:r>
              <a:rPr sz="900" b="1">
                <a:solidFill>
                  <a:srgbClr val="FFFFFF"/>
                </a:solidFill>
                <a:latin typeface="Segoe UI"/>
              </a:rPr>
              <a:t>Results</a:t>
            </a:r>
          </a:p>
          <a:p>
            <a:pPr algn="l"/>
            <a:r>
              <a:rPr sz="900" b="0">
                <a:solidFill>
                  <a:srgbClr val="FFFFFF"/>
                </a:solidFill>
                <a:latin typeface="Segoe UI"/>
              </a:rPr>
              <a:t>where you act</a:t>
            </a:r>
          </a:p>
        </p:txBody>
      </p:sp>
      <p:sp>
        <p:nvSpPr>
          <p:cNvPr id="41" name="Right Arrow 40"/>
          <p:cNvSpPr/>
          <p:nvPr/>
        </p:nvSpPr>
        <p:spPr>
          <a:xfrm>
            <a:off x="3081528" y="1426464"/>
            <a:ext cx="182880" cy="201168"/>
          </a:xfrm>
          <a:prstGeom prst="rightArrow">
            <a:avLst/>
          </a:prstGeom>
          <a:solidFill>
            <a:srgbClr val="00B39F"/>
          </a:solidFill>
          <a:ln>
            <a:noFill/>
          </a:ln>
          <a:effectLst/>
        </p:spPr>
        <p:txBody>
          <a:bodyPr rtlCol="0" anchor="ctr"/>
          <a:lstStyle/>
          <a:p>
            <a:pPr algn="ctr"/>
            <a:endParaRPr/>
          </a:p>
        </p:txBody>
      </p:sp>
      <p:sp>
        <p:nvSpPr>
          <p:cNvPr id="42" name="Right Arrow 41"/>
          <p:cNvSpPr/>
          <p:nvPr/>
        </p:nvSpPr>
        <p:spPr>
          <a:xfrm>
            <a:off x="5632703" y="1426464"/>
            <a:ext cx="182880" cy="201168"/>
          </a:xfrm>
          <a:prstGeom prst="rightArrow">
            <a:avLst/>
          </a:prstGeom>
          <a:solidFill>
            <a:srgbClr val="00B39F"/>
          </a:solidFill>
          <a:ln>
            <a:noFill/>
          </a:ln>
          <a:effectLst/>
        </p:spPr>
        <p:txBody>
          <a:bodyPr rtlCol="0" anchor="ctr"/>
          <a:lstStyle/>
          <a:p>
            <a:pPr algn="ctr"/>
            <a:endParaRPr/>
          </a:p>
        </p:txBody>
      </p:sp>
      <p:sp>
        <p:nvSpPr>
          <p:cNvPr id="43" name="Right Arrow 42"/>
          <p:cNvSpPr/>
          <p:nvPr/>
        </p:nvSpPr>
        <p:spPr>
          <a:xfrm>
            <a:off x="9098280" y="1426464"/>
            <a:ext cx="182880" cy="201168"/>
          </a:xfrm>
          <a:prstGeom prst="rightArrow">
            <a:avLst/>
          </a:prstGeom>
          <a:solidFill>
            <a:srgbClr val="00B39F"/>
          </a:solidFill>
          <a:ln>
            <a:noFill/>
          </a:ln>
          <a:effectLst/>
        </p:spPr>
        <p:txBody>
          <a:bodyPr rtlCol="0" anchor="ctr"/>
          <a:lstStyle/>
          <a:p>
            <a:pPr algn="ctr"/>
            <a:endParaRPr/>
          </a:p>
        </p:txBody>
      </p:sp>
      <p:sp>
        <p:nvSpPr>
          <p:cNvPr id="44" name="Rectangle 43"/>
          <p:cNvSpPr/>
          <p:nvPr/>
        </p:nvSpPr>
        <p:spPr>
          <a:xfrm>
            <a:off x="548640" y="1847088"/>
            <a:ext cx="2514600" cy="2880360"/>
          </a:xfrm>
          <a:prstGeom prst="rect">
            <a:avLst/>
          </a:prstGeom>
          <a:solidFill>
            <a:srgbClr val="F6F8FD"/>
          </a:solidFill>
          <a:ln w="9525">
            <a:solidFill>
              <a:srgbClr val="E1E7F4"/>
            </a:solidFill>
          </a:ln>
          <a:effectLst/>
        </p:spPr>
        <p:txBody>
          <a:bodyPr rtlCol="0" anchor="ctr"/>
          <a:lstStyle/>
          <a:p>
            <a:pPr algn="ctr"/>
            <a:endParaRPr/>
          </a:p>
        </p:txBody>
      </p:sp>
      <p:sp>
        <p:nvSpPr>
          <p:cNvPr id="45" name="Rectangle 44"/>
          <p:cNvSpPr/>
          <p:nvPr/>
        </p:nvSpPr>
        <p:spPr>
          <a:xfrm>
            <a:off x="3282696" y="1847088"/>
            <a:ext cx="2331720" cy="2880360"/>
          </a:xfrm>
          <a:prstGeom prst="rect">
            <a:avLst/>
          </a:prstGeom>
          <a:solidFill>
            <a:srgbClr val="F6F8FD"/>
          </a:solidFill>
          <a:ln w="9525">
            <a:solidFill>
              <a:srgbClr val="E1E7F4"/>
            </a:solidFill>
          </a:ln>
          <a:effectLst/>
        </p:spPr>
        <p:txBody>
          <a:bodyPr rtlCol="0" anchor="ctr"/>
          <a:lstStyle/>
          <a:p>
            <a:pPr algn="ctr"/>
            <a:endParaRPr/>
          </a:p>
        </p:txBody>
      </p:sp>
      <p:sp>
        <p:nvSpPr>
          <p:cNvPr id="46" name="Rectangle 45"/>
          <p:cNvSpPr/>
          <p:nvPr/>
        </p:nvSpPr>
        <p:spPr>
          <a:xfrm>
            <a:off x="5833872" y="1847088"/>
            <a:ext cx="3246120" cy="2880360"/>
          </a:xfrm>
          <a:prstGeom prst="rect">
            <a:avLst/>
          </a:prstGeom>
          <a:solidFill>
            <a:srgbClr val="F6F8FD"/>
          </a:solidFill>
          <a:ln w="9525">
            <a:solidFill>
              <a:srgbClr val="E1E7F4"/>
            </a:solidFill>
          </a:ln>
          <a:effectLst/>
        </p:spPr>
        <p:txBody>
          <a:bodyPr rtlCol="0" anchor="ctr"/>
          <a:lstStyle/>
          <a:p>
            <a:pPr algn="ctr"/>
            <a:endParaRPr/>
          </a:p>
        </p:txBody>
      </p:sp>
      <p:sp>
        <p:nvSpPr>
          <p:cNvPr id="47" name="Rectangle 46"/>
          <p:cNvSpPr/>
          <p:nvPr/>
        </p:nvSpPr>
        <p:spPr>
          <a:xfrm>
            <a:off x="9299448" y="1847088"/>
            <a:ext cx="2331720" cy="2880360"/>
          </a:xfrm>
          <a:prstGeom prst="rect">
            <a:avLst/>
          </a:prstGeom>
          <a:solidFill>
            <a:srgbClr val="F6F8FD"/>
          </a:solidFill>
          <a:ln w="9525">
            <a:solidFill>
              <a:srgbClr val="E1E7F4"/>
            </a:solidFill>
          </a:ln>
          <a:effectLst/>
        </p:spPr>
        <p:txBody>
          <a:bodyPr rtlCol="0" anchor="ctr"/>
          <a:lstStyle/>
          <a:p>
            <a:pPr algn="ctr"/>
            <a:endParaRPr/>
          </a:p>
        </p:txBody>
      </p:sp>
      <p:sp>
        <p:nvSpPr>
          <p:cNvPr id="48" name="TextBox 47"/>
          <p:cNvSpPr txBox="1"/>
          <p:nvPr/>
        </p:nvSpPr>
        <p:spPr>
          <a:xfrm>
            <a:off x="585216" y="1920240"/>
            <a:ext cx="2441448" cy="201168"/>
          </a:xfrm>
          <a:prstGeom prst="rect">
            <a:avLst/>
          </a:prstGeom>
          <a:noFill/>
        </p:spPr>
        <p:txBody>
          <a:bodyPr wrap="square" lIns="73152" tIns="27432" rIns="73152" bIns="27432" anchor="ctr">
            <a:spAutoFit/>
          </a:bodyPr>
          <a:lstStyle/>
          <a:p>
            <a:pPr algn="l"/>
            <a:r>
              <a:rPr sz="750" b="1">
                <a:solidFill>
                  <a:srgbClr val="008173"/>
                </a:solidFill>
                <a:latin typeface="Segoe UI"/>
              </a:rPr>
              <a:t>Before release</a:t>
            </a:r>
          </a:p>
        </p:txBody>
      </p:sp>
      <p:sp>
        <p:nvSpPr>
          <p:cNvPr id="49" name="Rectangle 48"/>
          <p:cNvSpPr/>
          <p:nvPr/>
        </p:nvSpPr>
        <p:spPr>
          <a:xfrm>
            <a:off x="621792" y="210897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0" name="TextBox 49"/>
          <p:cNvSpPr txBox="1"/>
          <p:nvPr/>
        </p:nvSpPr>
        <p:spPr>
          <a:xfrm>
            <a:off x="621792" y="210897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A live target</a:t>
            </a:r>
            <a:r>
              <a:rPr sz="700" b="0">
                <a:solidFill>
                  <a:srgbClr val="141B33"/>
                </a:solidFill>
                <a:latin typeface="Segoe UI"/>
              </a:rPr>
              <a:t>  a model deployment or an agent — Foundry generates the responses</a:t>
            </a:r>
          </a:p>
        </p:txBody>
      </p:sp>
      <p:sp>
        <p:nvSpPr>
          <p:cNvPr id="51" name="Rectangle 50"/>
          <p:cNvSpPr/>
          <p:nvPr/>
        </p:nvSpPr>
        <p:spPr>
          <a:xfrm>
            <a:off x="621792" y="2415661"/>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2" name="TextBox 51"/>
          <p:cNvSpPr txBox="1"/>
          <p:nvPr/>
        </p:nvSpPr>
        <p:spPr>
          <a:xfrm>
            <a:off x="621792" y="2415661"/>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Your test data</a:t>
            </a:r>
            <a:r>
              <a:rPr sz="700" b="0">
                <a:solidFill>
                  <a:srgbClr val="141B33"/>
                </a:solidFill>
                <a:latin typeface="Segoe UI"/>
              </a:rPr>
              <a:t>  stored prompts and answers, or recorded conversations</a:t>
            </a:r>
          </a:p>
        </p:txBody>
      </p:sp>
      <p:sp>
        <p:nvSpPr>
          <p:cNvPr id="53" name="Rectangle 52"/>
          <p:cNvSpPr/>
          <p:nvPr/>
        </p:nvSpPr>
        <p:spPr>
          <a:xfrm>
            <a:off x="621792" y="2722351"/>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4" name="TextBox 53"/>
          <p:cNvSpPr txBox="1"/>
          <p:nvPr/>
        </p:nvSpPr>
        <p:spPr>
          <a:xfrm>
            <a:off x="621792" y="2722351"/>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Synthetic conversations</a:t>
            </a:r>
            <a:r>
              <a:rPr sz="700" b="0">
                <a:solidFill>
                  <a:srgbClr val="141B33"/>
                </a:solidFill>
                <a:latin typeface="Segoe UI"/>
              </a:rPr>
              <a:t>  generated from a scenario description</a:t>
            </a:r>
          </a:p>
        </p:txBody>
      </p:sp>
      <p:sp>
        <p:nvSpPr>
          <p:cNvPr id="55" name="Rectangle 54"/>
          <p:cNvSpPr/>
          <p:nvPr/>
        </p:nvSpPr>
        <p:spPr>
          <a:xfrm>
            <a:off x="621792" y="3029041"/>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6" name="TextBox 55"/>
          <p:cNvSpPr txBox="1"/>
          <p:nvPr/>
        </p:nvSpPr>
        <p:spPr>
          <a:xfrm>
            <a:off x="621792" y="3029041"/>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Red-team probes</a:t>
            </a:r>
            <a:r>
              <a:rPr sz="700" b="0">
                <a:solidFill>
                  <a:srgbClr val="141B33"/>
                </a:solidFill>
                <a:latin typeface="Segoe UI"/>
              </a:rPr>
              <a:t>  adversarial attacks from the AI Red Teaming Agent</a:t>
            </a:r>
          </a:p>
        </p:txBody>
      </p:sp>
      <p:sp>
        <p:nvSpPr>
          <p:cNvPr id="57" name="TextBox 56"/>
          <p:cNvSpPr txBox="1"/>
          <p:nvPr/>
        </p:nvSpPr>
        <p:spPr>
          <a:xfrm>
            <a:off x="585216" y="3375050"/>
            <a:ext cx="2441448" cy="201168"/>
          </a:xfrm>
          <a:prstGeom prst="rect">
            <a:avLst/>
          </a:prstGeom>
          <a:noFill/>
        </p:spPr>
        <p:txBody>
          <a:bodyPr wrap="square" lIns="73152" tIns="27432" rIns="73152" bIns="27432" anchor="ctr">
            <a:spAutoFit/>
          </a:bodyPr>
          <a:lstStyle/>
          <a:p>
            <a:pPr algn="l"/>
            <a:r>
              <a:rPr sz="750" b="1">
                <a:solidFill>
                  <a:srgbClr val="008173"/>
                </a:solidFill>
                <a:latin typeface="Segoe UI"/>
              </a:rPr>
              <a:t>In production</a:t>
            </a:r>
          </a:p>
        </p:txBody>
      </p:sp>
      <p:sp>
        <p:nvSpPr>
          <p:cNvPr id="58" name="Rectangle 57"/>
          <p:cNvSpPr/>
          <p:nvPr/>
        </p:nvSpPr>
        <p:spPr>
          <a:xfrm>
            <a:off x="621792" y="356378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59" name="TextBox 58"/>
          <p:cNvSpPr txBox="1"/>
          <p:nvPr/>
        </p:nvSpPr>
        <p:spPr>
          <a:xfrm>
            <a:off x="621792" y="356378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Traces and response IDs</a:t>
            </a:r>
            <a:r>
              <a:rPr sz="700" b="0">
                <a:solidFill>
                  <a:srgbClr val="141B33"/>
                </a:solidFill>
                <a:latin typeface="Segoe UI"/>
              </a:rPr>
              <a:t>  no dataset needed</a:t>
            </a:r>
          </a:p>
        </p:txBody>
      </p:sp>
      <p:sp>
        <p:nvSpPr>
          <p:cNvPr id="60" name="Rectangle 59"/>
          <p:cNvSpPr/>
          <p:nvPr/>
        </p:nvSpPr>
        <p:spPr>
          <a:xfrm>
            <a:off x="621792" y="387047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61" name="TextBox 60"/>
          <p:cNvSpPr txBox="1"/>
          <p:nvPr/>
        </p:nvSpPr>
        <p:spPr>
          <a:xfrm>
            <a:off x="621792" y="387047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Continuous sampling</a:t>
            </a:r>
            <a:r>
              <a:rPr sz="700" b="0">
                <a:solidFill>
                  <a:srgbClr val="141B33"/>
                </a:solidFill>
                <a:latin typeface="Segoe UI"/>
              </a:rPr>
              <a:t>  a share of live traffic, scored as it happens</a:t>
            </a:r>
          </a:p>
        </p:txBody>
      </p:sp>
      <p:sp>
        <p:nvSpPr>
          <p:cNvPr id="62" name="Rectangle 61"/>
          <p:cNvSpPr/>
          <p:nvPr/>
        </p:nvSpPr>
        <p:spPr>
          <a:xfrm>
            <a:off x="621792" y="4177162"/>
            <a:ext cx="2368296" cy="292608"/>
          </a:xfrm>
          <a:prstGeom prst="rect">
            <a:avLst/>
          </a:prstGeom>
          <a:solidFill>
            <a:srgbClr val="FFFFFF"/>
          </a:solidFill>
          <a:ln w="9525">
            <a:solidFill>
              <a:srgbClr val="E1E7F4"/>
            </a:solidFill>
          </a:ln>
          <a:effectLst/>
        </p:spPr>
        <p:txBody>
          <a:bodyPr rtlCol="0" anchor="ctr"/>
          <a:lstStyle/>
          <a:p>
            <a:pPr algn="ctr"/>
            <a:endParaRPr/>
          </a:p>
        </p:txBody>
      </p:sp>
      <p:sp>
        <p:nvSpPr>
          <p:cNvPr id="63" name="TextBox 62"/>
          <p:cNvSpPr txBox="1"/>
          <p:nvPr/>
        </p:nvSpPr>
        <p:spPr>
          <a:xfrm>
            <a:off x="621792" y="4177162"/>
            <a:ext cx="2368296" cy="292608"/>
          </a:xfrm>
          <a:prstGeom prst="rect">
            <a:avLst/>
          </a:prstGeom>
          <a:noFill/>
        </p:spPr>
        <p:txBody>
          <a:bodyPr wrap="square" lIns="73152" tIns="27432" rIns="73152" bIns="27432" anchor="ctr">
            <a:spAutoFit/>
          </a:bodyPr>
          <a:lstStyle/>
          <a:p>
            <a:pPr algn="l"/>
            <a:r>
              <a:rPr sz="700" b="1">
                <a:solidFill>
                  <a:srgbClr val="141B33"/>
                </a:solidFill>
                <a:latin typeface="Segoe UI"/>
              </a:rPr>
              <a:t>Scheduled runs</a:t>
            </a:r>
            <a:r>
              <a:rPr sz="700" b="0">
                <a:solidFill>
                  <a:srgbClr val="141B33"/>
                </a:solidFill>
                <a:latin typeface="Segoe UI"/>
              </a:rPr>
              <a:t>  a fixed dataset on a timer, to catch drift</a:t>
            </a:r>
          </a:p>
        </p:txBody>
      </p:sp>
      <p:sp>
        <p:nvSpPr>
          <p:cNvPr id="64" name="TextBox 63"/>
          <p:cNvSpPr txBox="1"/>
          <p:nvPr/>
        </p:nvSpPr>
        <p:spPr>
          <a:xfrm>
            <a:off x="3319272" y="1920240"/>
            <a:ext cx="2258568" cy="201168"/>
          </a:xfrm>
          <a:prstGeom prst="rect">
            <a:avLst/>
          </a:prstGeom>
          <a:noFill/>
        </p:spPr>
        <p:txBody>
          <a:bodyPr wrap="square" lIns="73152" tIns="27432" rIns="73152" bIns="27432" anchor="ctr">
            <a:spAutoFit/>
          </a:bodyPr>
          <a:lstStyle/>
          <a:p>
            <a:pPr algn="l"/>
            <a:r>
              <a:rPr sz="750" b="1">
                <a:solidFill>
                  <a:srgbClr val="008173"/>
                </a:solidFill>
                <a:latin typeface="Segoe UI"/>
              </a:rPr>
              <a:t>One JSONL record per case</a:t>
            </a:r>
          </a:p>
        </p:txBody>
      </p:sp>
      <p:sp>
        <p:nvSpPr>
          <p:cNvPr id="65" name="Rectangle 64"/>
          <p:cNvSpPr/>
          <p:nvPr/>
        </p:nvSpPr>
        <p:spPr>
          <a:xfrm>
            <a:off x="3355848" y="2157984"/>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66" name="TextBox 65"/>
          <p:cNvSpPr txBox="1"/>
          <p:nvPr/>
        </p:nvSpPr>
        <p:spPr>
          <a:xfrm>
            <a:off x="3355848" y="2157984"/>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messages</a:t>
            </a:r>
          </a:p>
          <a:p>
            <a:pPr algn="l"/>
            <a:r>
              <a:rPr sz="700" b="0">
                <a:solidFill>
                  <a:srgbClr val="141B33"/>
                </a:solidFill>
                <a:latin typeface="Segoe UI"/>
              </a:rPr>
              <a:t>the conversation, incl. tool calls</a:t>
            </a:r>
          </a:p>
        </p:txBody>
      </p:sp>
      <p:sp>
        <p:nvSpPr>
          <p:cNvPr id="67" name="Rectangle 66"/>
          <p:cNvSpPr/>
          <p:nvPr/>
        </p:nvSpPr>
        <p:spPr>
          <a:xfrm>
            <a:off x="3355848" y="2514600"/>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68" name="TextBox 67"/>
          <p:cNvSpPr txBox="1"/>
          <p:nvPr/>
        </p:nvSpPr>
        <p:spPr>
          <a:xfrm>
            <a:off x="3355848" y="2514600"/>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query · response</a:t>
            </a:r>
          </a:p>
          <a:p>
            <a:pPr algn="l"/>
            <a:r>
              <a:rPr sz="700" b="0">
                <a:solidFill>
                  <a:srgbClr val="141B33"/>
                </a:solidFill>
                <a:latin typeface="Segoe UI"/>
              </a:rPr>
              <a:t>a single turn</a:t>
            </a:r>
          </a:p>
        </p:txBody>
      </p:sp>
      <p:sp>
        <p:nvSpPr>
          <p:cNvPr id="69" name="Rectangle 68"/>
          <p:cNvSpPr/>
          <p:nvPr/>
        </p:nvSpPr>
        <p:spPr>
          <a:xfrm>
            <a:off x="3355848" y="2871216"/>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70" name="TextBox 69"/>
          <p:cNvSpPr txBox="1"/>
          <p:nvPr/>
        </p:nvSpPr>
        <p:spPr>
          <a:xfrm>
            <a:off x="3355848" y="2871216"/>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ground_truth</a:t>
            </a:r>
          </a:p>
          <a:p>
            <a:pPr algn="l"/>
            <a:r>
              <a:rPr sz="700" b="0">
                <a:solidFill>
                  <a:srgbClr val="141B33"/>
                </a:solidFill>
                <a:latin typeface="Segoe UI"/>
              </a:rPr>
              <a:t>the expected answer</a:t>
            </a:r>
          </a:p>
        </p:txBody>
      </p:sp>
      <p:sp>
        <p:nvSpPr>
          <p:cNvPr id="71" name="Rectangle 70"/>
          <p:cNvSpPr/>
          <p:nvPr/>
        </p:nvSpPr>
        <p:spPr>
          <a:xfrm>
            <a:off x="3355848" y="3227832"/>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72" name="TextBox 71"/>
          <p:cNvSpPr txBox="1"/>
          <p:nvPr/>
        </p:nvSpPr>
        <p:spPr>
          <a:xfrm>
            <a:off x="3355848" y="3227832"/>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context</a:t>
            </a:r>
          </a:p>
          <a:p>
            <a:pPr algn="l"/>
            <a:r>
              <a:rPr sz="700" b="0">
                <a:solidFill>
                  <a:srgbClr val="141B33"/>
                </a:solidFill>
                <a:latin typeface="Segoe UI"/>
              </a:rPr>
              <a:t>grounding text</a:t>
            </a:r>
          </a:p>
        </p:txBody>
      </p:sp>
      <p:sp>
        <p:nvSpPr>
          <p:cNvPr id="73" name="Rectangle 72"/>
          <p:cNvSpPr/>
          <p:nvPr/>
        </p:nvSpPr>
        <p:spPr>
          <a:xfrm>
            <a:off x="3355848" y="3584448"/>
            <a:ext cx="2185415" cy="329184"/>
          </a:xfrm>
          <a:prstGeom prst="rect">
            <a:avLst/>
          </a:prstGeom>
          <a:solidFill>
            <a:srgbClr val="FFFFFF"/>
          </a:solidFill>
          <a:ln w="9525">
            <a:solidFill>
              <a:srgbClr val="E1E7F4"/>
            </a:solidFill>
          </a:ln>
          <a:effectLst/>
        </p:spPr>
        <p:txBody>
          <a:bodyPr rtlCol="0" anchor="ctr"/>
          <a:lstStyle/>
          <a:p>
            <a:pPr algn="ctr"/>
            <a:endParaRPr/>
          </a:p>
        </p:txBody>
      </p:sp>
      <p:sp>
        <p:nvSpPr>
          <p:cNvPr id="74" name="TextBox 73"/>
          <p:cNvSpPr txBox="1"/>
          <p:nvPr/>
        </p:nvSpPr>
        <p:spPr>
          <a:xfrm>
            <a:off x="3355848" y="3584448"/>
            <a:ext cx="2185415" cy="329184"/>
          </a:xfrm>
          <a:prstGeom prst="rect">
            <a:avLst/>
          </a:prstGeom>
          <a:noFill/>
        </p:spPr>
        <p:txBody>
          <a:bodyPr wrap="square" lIns="73152" tIns="27432" rIns="73152" bIns="27432" anchor="ctr">
            <a:spAutoFit/>
          </a:bodyPr>
          <a:lstStyle/>
          <a:p>
            <a:pPr algn="l"/>
            <a:r>
              <a:rPr sz="700" b="1">
                <a:solidFill>
                  <a:srgbClr val="141B33"/>
                </a:solidFill>
                <a:latin typeface="Segoe UI"/>
              </a:rPr>
              <a:t>tool_definitions</a:t>
            </a:r>
          </a:p>
          <a:p>
            <a:pPr algn="l"/>
            <a:r>
              <a:rPr sz="700" b="0">
                <a:solidFill>
                  <a:srgbClr val="141B33"/>
                </a:solidFill>
                <a:latin typeface="Segoe UI"/>
              </a:rPr>
              <a:t>what the agent could call</a:t>
            </a:r>
          </a:p>
        </p:txBody>
      </p:sp>
      <p:sp>
        <p:nvSpPr>
          <p:cNvPr id="75" name="TextBox 74"/>
          <p:cNvSpPr txBox="1"/>
          <p:nvPr/>
        </p:nvSpPr>
        <p:spPr>
          <a:xfrm>
            <a:off x="3319272" y="3995928"/>
            <a:ext cx="2258568" cy="201168"/>
          </a:xfrm>
          <a:prstGeom prst="rect">
            <a:avLst/>
          </a:prstGeom>
          <a:noFill/>
        </p:spPr>
        <p:txBody>
          <a:bodyPr wrap="square" lIns="73152" tIns="27432" rIns="73152" bIns="27432" anchor="ctr">
            <a:spAutoFit/>
          </a:bodyPr>
          <a:lstStyle/>
          <a:p>
            <a:pPr algn="l"/>
            <a:r>
              <a:rPr sz="750" b="1">
                <a:solidFill>
                  <a:srgbClr val="008173"/>
                </a:solidFill>
                <a:latin typeface="Segoe UI"/>
              </a:rPr>
              <a:t>Two evaluation levels</a:t>
            </a:r>
          </a:p>
        </p:txBody>
      </p:sp>
      <p:sp>
        <p:nvSpPr>
          <p:cNvPr id="76" name="Rectangle 75"/>
          <p:cNvSpPr/>
          <p:nvPr/>
        </p:nvSpPr>
        <p:spPr>
          <a:xfrm>
            <a:off x="3355848" y="4215384"/>
            <a:ext cx="1056131" cy="274320"/>
          </a:xfrm>
          <a:prstGeom prst="rect">
            <a:avLst/>
          </a:prstGeom>
          <a:solidFill>
            <a:srgbClr val="EBEFF7"/>
          </a:solidFill>
          <a:ln>
            <a:noFill/>
          </a:ln>
          <a:effectLst/>
        </p:spPr>
        <p:txBody>
          <a:bodyPr rtlCol="0" anchor="ctr"/>
          <a:lstStyle/>
          <a:p>
            <a:pPr algn="ctr"/>
            <a:endParaRPr/>
          </a:p>
        </p:txBody>
      </p:sp>
      <p:sp>
        <p:nvSpPr>
          <p:cNvPr id="77" name="TextBox 76"/>
          <p:cNvSpPr txBox="1"/>
          <p:nvPr/>
        </p:nvSpPr>
        <p:spPr>
          <a:xfrm>
            <a:off x="3355848" y="4215384"/>
            <a:ext cx="1056131" cy="274320"/>
          </a:xfrm>
          <a:prstGeom prst="rect">
            <a:avLst/>
          </a:prstGeom>
          <a:noFill/>
        </p:spPr>
        <p:txBody>
          <a:bodyPr wrap="square" lIns="73152" tIns="27432" rIns="73152" bIns="27432" anchor="ctr">
            <a:spAutoFit/>
          </a:bodyPr>
          <a:lstStyle/>
          <a:p>
            <a:pPr algn="ctr"/>
            <a:r>
              <a:rPr sz="750" b="0">
                <a:solidFill>
                  <a:srgbClr val="141B33"/>
                </a:solidFill>
                <a:latin typeface="Segoe UI"/>
              </a:rPr>
              <a:t>turn</a:t>
            </a:r>
          </a:p>
        </p:txBody>
      </p:sp>
      <p:sp>
        <p:nvSpPr>
          <p:cNvPr id="78" name="Rectangle 77"/>
          <p:cNvSpPr/>
          <p:nvPr/>
        </p:nvSpPr>
        <p:spPr>
          <a:xfrm>
            <a:off x="4485131" y="4215384"/>
            <a:ext cx="1056131" cy="274320"/>
          </a:xfrm>
          <a:prstGeom prst="rect">
            <a:avLst/>
          </a:prstGeom>
          <a:solidFill>
            <a:srgbClr val="EBEFF7"/>
          </a:solidFill>
          <a:ln>
            <a:noFill/>
          </a:ln>
          <a:effectLst/>
        </p:spPr>
        <p:txBody>
          <a:bodyPr rtlCol="0" anchor="ctr"/>
          <a:lstStyle/>
          <a:p>
            <a:pPr algn="ctr"/>
            <a:endParaRPr/>
          </a:p>
        </p:txBody>
      </p:sp>
      <p:sp>
        <p:nvSpPr>
          <p:cNvPr id="79" name="TextBox 78"/>
          <p:cNvSpPr txBox="1"/>
          <p:nvPr/>
        </p:nvSpPr>
        <p:spPr>
          <a:xfrm>
            <a:off x="4485131" y="4215384"/>
            <a:ext cx="1056131" cy="274320"/>
          </a:xfrm>
          <a:prstGeom prst="rect">
            <a:avLst/>
          </a:prstGeom>
          <a:noFill/>
        </p:spPr>
        <p:txBody>
          <a:bodyPr wrap="square" lIns="73152" tIns="27432" rIns="73152" bIns="27432" anchor="ctr">
            <a:spAutoFit/>
          </a:bodyPr>
          <a:lstStyle/>
          <a:p>
            <a:pPr algn="ctr"/>
            <a:r>
              <a:rPr sz="750" b="0">
                <a:solidFill>
                  <a:srgbClr val="141B33"/>
                </a:solidFill>
                <a:latin typeface="Segoe UI"/>
              </a:rPr>
              <a:t>conversation</a:t>
            </a:r>
          </a:p>
        </p:txBody>
      </p:sp>
      <p:sp>
        <p:nvSpPr>
          <p:cNvPr id="80" name="TextBox 79"/>
          <p:cNvSpPr txBox="1"/>
          <p:nvPr/>
        </p:nvSpPr>
        <p:spPr>
          <a:xfrm>
            <a:off x="3319272" y="4526280"/>
            <a:ext cx="2258568" cy="365760"/>
          </a:xfrm>
          <a:prstGeom prst="rect">
            <a:avLst/>
          </a:prstGeom>
          <a:noFill/>
        </p:spPr>
        <p:txBody>
          <a:bodyPr wrap="square" lIns="73152" tIns="27432" rIns="73152" bIns="27432" anchor="t">
            <a:spAutoFit/>
          </a:bodyPr>
          <a:lstStyle/>
          <a:p>
            <a:pPr algn="l"/>
            <a:r>
              <a:rPr sz="700" b="0">
                <a:solidFill>
                  <a:srgbClr val="44495B"/>
                </a:solidFill>
                <a:latin typeface="Segoe UI"/>
              </a:rPr>
              <a:t>Evaluators in one run must share a level.</a:t>
            </a:r>
          </a:p>
        </p:txBody>
      </p:sp>
      <p:sp>
        <p:nvSpPr>
          <p:cNvPr id="126" name="Rectangle 125"/>
          <p:cNvSpPr/>
          <p:nvPr/>
        </p:nvSpPr>
        <p:spPr>
          <a:xfrm>
            <a:off x="9372600" y="1920240"/>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27" name="TextBox 126"/>
          <p:cNvSpPr txBox="1"/>
          <p:nvPr/>
        </p:nvSpPr>
        <p:spPr>
          <a:xfrm>
            <a:off x="9372600" y="1920240"/>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Evaluation results</a:t>
            </a:r>
          </a:p>
          <a:p>
            <a:pPr algn="l"/>
            <a:r>
              <a:rPr sz="700" b="0">
                <a:solidFill>
                  <a:srgbClr val="141B33"/>
                </a:solidFill>
                <a:latin typeface="Segoe UI"/>
              </a:rPr>
              <a:t>per-case scores and reasoning in the Foundry portal</a:t>
            </a:r>
          </a:p>
        </p:txBody>
      </p:sp>
      <p:sp>
        <p:nvSpPr>
          <p:cNvPr id="128" name="Rectangle 127"/>
          <p:cNvSpPr/>
          <p:nvPr/>
        </p:nvSpPr>
        <p:spPr>
          <a:xfrm>
            <a:off x="9372600" y="2350008"/>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29" name="TextBox 128"/>
          <p:cNvSpPr txBox="1"/>
          <p:nvPr/>
        </p:nvSpPr>
        <p:spPr>
          <a:xfrm>
            <a:off x="9372600" y="2350008"/>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Agent monitoring dashboard*</a:t>
            </a:r>
          </a:p>
          <a:p>
            <a:pPr algn="l"/>
            <a:r>
              <a:rPr sz="700" b="0">
                <a:solidFill>
                  <a:srgbClr val="141B33"/>
                </a:solidFill>
                <a:latin typeface="Segoe UI"/>
              </a:rPr>
              <a:t>quality trend next to tokens, latency and run success</a:t>
            </a:r>
          </a:p>
        </p:txBody>
      </p:sp>
      <p:sp>
        <p:nvSpPr>
          <p:cNvPr id="130" name="Rectangle 129"/>
          <p:cNvSpPr/>
          <p:nvPr/>
        </p:nvSpPr>
        <p:spPr>
          <a:xfrm>
            <a:off x="9372600" y="2779776"/>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1" name="TextBox 130"/>
          <p:cNvSpPr txBox="1"/>
          <p:nvPr/>
        </p:nvSpPr>
        <p:spPr>
          <a:xfrm>
            <a:off x="9372600" y="2779776"/>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Control Plane</a:t>
            </a:r>
          </a:p>
          <a:p>
            <a:pPr algn="l"/>
            <a:r>
              <a:rPr sz="700" b="0">
                <a:solidFill>
                  <a:srgbClr val="141B33"/>
                </a:solidFill>
                <a:latin typeface="Segoe UI"/>
              </a:rPr>
              <a:t>fleet KPIs and compliance posture across agents</a:t>
            </a:r>
          </a:p>
        </p:txBody>
      </p:sp>
      <p:sp>
        <p:nvSpPr>
          <p:cNvPr id="132" name="Rectangle 131"/>
          <p:cNvSpPr/>
          <p:nvPr/>
        </p:nvSpPr>
        <p:spPr>
          <a:xfrm>
            <a:off x="9372600" y="3209544"/>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3" name="TextBox 132"/>
          <p:cNvSpPr txBox="1"/>
          <p:nvPr/>
        </p:nvSpPr>
        <p:spPr>
          <a:xfrm>
            <a:off x="9372600" y="3209544"/>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Azure Monitor alerts</a:t>
            </a:r>
          </a:p>
          <a:p>
            <a:pPr algn="l"/>
            <a:r>
              <a:rPr sz="700" b="0">
                <a:solidFill>
                  <a:srgbClr val="141B33"/>
                </a:solidFill>
                <a:latin typeface="Segoe UI"/>
              </a:rPr>
              <a:t>act when a score drops below a threshold</a:t>
            </a:r>
          </a:p>
        </p:txBody>
      </p:sp>
      <p:sp>
        <p:nvSpPr>
          <p:cNvPr id="134" name="Rectangle 133"/>
          <p:cNvSpPr/>
          <p:nvPr/>
        </p:nvSpPr>
        <p:spPr>
          <a:xfrm>
            <a:off x="9372600" y="3639311"/>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5" name="TextBox 134"/>
          <p:cNvSpPr txBox="1"/>
          <p:nvPr/>
        </p:nvSpPr>
        <p:spPr>
          <a:xfrm>
            <a:off x="9372600" y="3639311"/>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Cluster analysis</a:t>
            </a:r>
          </a:p>
          <a:p>
            <a:pPr algn="l"/>
            <a:r>
              <a:rPr sz="700" b="0">
                <a:solidFill>
                  <a:srgbClr val="141B33"/>
                </a:solidFill>
                <a:latin typeface="Segoe UI"/>
              </a:rPr>
              <a:t>group failures to find the root cause</a:t>
            </a:r>
          </a:p>
        </p:txBody>
      </p:sp>
      <p:sp>
        <p:nvSpPr>
          <p:cNvPr id="136" name="Rectangle 135"/>
          <p:cNvSpPr/>
          <p:nvPr/>
        </p:nvSpPr>
        <p:spPr>
          <a:xfrm>
            <a:off x="9372600" y="4069079"/>
            <a:ext cx="2185415" cy="402336"/>
          </a:xfrm>
          <a:prstGeom prst="rect">
            <a:avLst/>
          </a:prstGeom>
          <a:solidFill>
            <a:srgbClr val="FFFFFF"/>
          </a:solidFill>
          <a:ln w="9525">
            <a:solidFill>
              <a:srgbClr val="E1E7F4"/>
            </a:solidFill>
          </a:ln>
          <a:effectLst/>
        </p:spPr>
        <p:txBody>
          <a:bodyPr rtlCol="0" anchor="ctr"/>
          <a:lstStyle/>
          <a:p>
            <a:pPr algn="ctr"/>
            <a:endParaRPr/>
          </a:p>
        </p:txBody>
      </p:sp>
      <p:sp>
        <p:nvSpPr>
          <p:cNvPr id="137" name="TextBox 136"/>
          <p:cNvSpPr txBox="1"/>
          <p:nvPr/>
        </p:nvSpPr>
        <p:spPr>
          <a:xfrm>
            <a:off x="9372600" y="4069079"/>
            <a:ext cx="2185415" cy="402336"/>
          </a:xfrm>
          <a:prstGeom prst="rect">
            <a:avLst/>
          </a:prstGeom>
          <a:noFill/>
        </p:spPr>
        <p:txBody>
          <a:bodyPr wrap="square" lIns="73152" tIns="27432" rIns="73152" bIns="27432" anchor="ctr">
            <a:spAutoFit/>
          </a:bodyPr>
          <a:lstStyle/>
          <a:p>
            <a:pPr algn="l"/>
            <a:r>
              <a:rPr sz="700" b="1">
                <a:solidFill>
                  <a:srgbClr val="141B33"/>
                </a:solidFill>
                <a:latin typeface="Segoe UI"/>
              </a:rPr>
              <a:t>Agent Optimizer*</a:t>
            </a:r>
          </a:p>
          <a:p>
            <a:pPr algn="l"/>
            <a:r>
              <a:rPr sz="700" b="0">
                <a:solidFill>
                  <a:srgbClr val="141B33"/>
                </a:solidFill>
                <a:latin typeface="Segoe UI"/>
              </a:rPr>
              <a:t>turns results into better instructions</a:t>
            </a:r>
          </a:p>
        </p:txBody>
      </p:sp>
      <p:sp>
        <p:nvSpPr>
          <p:cNvPr id="183" name="Rectangle 182"/>
          <p:cNvSpPr/>
          <p:nvPr/>
        </p:nvSpPr>
        <p:spPr>
          <a:xfrm>
            <a:off x="548640" y="4818888"/>
            <a:ext cx="11091672" cy="420624"/>
          </a:xfrm>
          <a:prstGeom prst="rect">
            <a:avLst/>
          </a:prstGeom>
          <a:solidFill>
            <a:srgbClr val="0B1229"/>
          </a:solidFill>
          <a:ln>
            <a:noFill/>
          </a:ln>
          <a:effectLst/>
        </p:spPr>
        <p:txBody>
          <a:bodyPr rtlCol="0" anchor="ctr"/>
          <a:lstStyle/>
          <a:p>
            <a:pPr algn="ctr"/>
            <a:endParaRPr/>
          </a:p>
        </p:txBody>
      </p:sp>
      <p:sp>
        <p:nvSpPr>
          <p:cNvPr id="184" name="TextBox 183"/>
          <p:cNvSpPr txBox="1"/>
          <p:nvPr/>
        </p:nvSpPr>
        <p:spPr>
          <a:xfrm>
            <a:off x="548640" y="4818888"/>
            <a:ext cx="11091672" cy="420624"/>
          </a:xfrm>
          <a:prstGeom prst="rect">
            <a:avLst/>
          </a:prstGeom>
          <a:noFill/>
        </p:spPr>
        <p:txBody>
          <a:bodyPr wrap="square" lIns="73152" tIns="27432" rIns="73152" bIns="27432" anchor="ctr">
            <a:spAutoFit/>
          </a:bodyPr>
          <a:lstStyle/>
          <a:p>
            <a:pPr algn="ctr"/>
            <a:r>
              <a:rPr sz="800" b="1">
                <a:solidFill>
                  <a:srgbClr val="FFFFFF"/>
                </a:solidFill>
                <a:latin typeface="Segoe UI"/>
              </a:rPr>
              <a:t>Same building blocks, three moments  </a:t>
            </a:r>
            <a:r>
              <a:rPr sz="800" b="0">
                <a:solidFill>
                  <a:srgbClr val="FFFFFF"/>
                </a:solidFill>
                <a:latin typeface="Segoe UI"/>
              </a:rPr>
              <a:t>choose a model with benchmarks and your own dataset → test before release with datasets, simulations and red teaming → monitor in production with continuous and scheduled evaluation and alerts</a:t>
            </a:r>
          </a:p>
        </p:txBody>
      </p:sp>
      <p:sp>
        <p:nvSpPr>
          <p:cNvPr id="185" name="TextBox 184"/>
          <p:cNvSpPr txBox="1"/>
          <p:nvPr/>
        </p:nvSpPr>
        <p:spPr>
          <a:xfrm>
            <a:off x="548640" y="5257800"/>
            <a:ext cx="91440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a:t>
            </a:r>
          </a:p>
        </p:txBody>
      </p:sp>
      <p:sp>
        <p:nvSpPr>
          <p:cNvPr id="186" name="TextBox 185"/>
          <p:cNvSpPr txBox="1"/>
          <p:nvPr/>
        </p:nvSpPr>
        <p:spPr>
          <a:xfrm>
            <a:off x="5870448" y="1911095"/>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Quality</a:t>
            </a:r>
          </a:p>
        </p:txBody>
      </p:sp>
      <p:sp>
        <p:nvSpPr>
          <p:cNvPr id="187" name="Rectangle 186"/>
          <p:cNvSpPr/>
          <p:nvPr/>
        </p:nvSpPr>
        <p:spPr>
          <a:xfrm>
            <a:off x="5907024" y="2084831"/>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88" name="TextBox 187"/>
          <p:cNvSpPr txBox="1"/>
          <p:nvPr/>
        </p:nvSpPr>
        <p:spPr>
          <a:xfrm>
            <a:off x="5907024" y="2084831"/>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Groundedness</a:t>
            </a:r>
          </a:p>
        </p:txBody>
      </p:sp>
      <p:sp>
        <p:nvSpPr>
          <p:cNvPr id="189" name="Rectangle 188"/>
          <p:cNvSpPr/>
          <p:nvPr/>
        </p:nvSpPr>
        <p:spPr>
          <a:xfrm>
            <a:off x="6955536" y="2084831"/>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0" name="TextBox 189"/>
          <p:cNvSpPr txBox="1"/>
          <p:nvPr/>
        </p:nvSpPr>
        <p:spPr>
          <a:xfrm>
            <a:off x="6955536" y="2084831"/>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Relevance</a:t>
            </a:r>
          </a:p>
        </p:txBody>
      </p:sp>
      <p:sp>
        <p:nvSpPr>
          <p:cNvPr id="191" name="Rectangle 190"/>
          <p:cNvSpPr/>
          <p:nvPr/>
        </p:nvSpPr>
        <p:spPr>
          <a:xfrm>
            <a:off x="8004048" y="2084831"/>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2" name="TextBox 191"/>
          <p:cNvSpPr txBox="1"/>
          <p:nvPr/>
        </p:nvSpPr>
        <p:spPr>
          <a:xfrm>
            <a:off x="8004048" y="2084831"/>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Coherence</a:t>
            </a:r>
          </a:p>
        </p:txBody>
      </p:sp>
      <p:sp>
        <p:nvSpPr>
          <p:cNvPr id="193" name="Rectangle 192"/>
          <p:cNvSpPr/>
          <p:nvPr/>
        </p:nvSpPr>
        <p:spPr>
          <a:xfrm>
            <a:off x="5907024" y="2318003"/>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4" name="TextBox 193"/>
          <p:cNvSpPr txBox="1"/>
          <p:nvPr/>
        </p:nvSpPr>
        <p:spPr>
          <a:xfrm>
            <a:off x="5907024" y="2318003"/>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Fluency</a:t>
            </a:r>
          </a:p>
        </p:txBody>
      </p:sp>
      <p:sp>
        <p:nvSpPr>
          <p:cNvPr id="195" name="Rectangle 194"/>
          <p:cNvSpPr/>
          <p:nvPr/>
        </p:nvSpPr>
        <p:spPr>
          <a:xfrm>
            <a:off x="6955536" y="2318003"/>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6" name="TextBox 195"/>
          <p:cNvSpPr txBox="1"/>
          <p:nvPr/>
        </p:nvSpPr>
        <p:spPr>
          <a:xfrm>
            <a:off x="6955536" y="2318003"/>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Retrieval</a:t>
            </a:r>
          </a:p>
        </p:txBody>
      </p:sp>
      <p:sp>
        <p:nvSpPr>
          <p:cNvPr id="197" name="Rectangle 196"/>
          <p:cNvSpPr/>
          <p:nvPr/>
        </p:nvSpPr>
        <p:spPr>
          <a:xfrm>
            <a:off x="8004048" y="2318003"/>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198" name="TextBox 197"/>
          <p:cNvSpPr txBox="1"/>
          <p:nvPr/>
        </p:nvSpPr>
        <p:spPr>
          <a:xfrm>
            <a:off x="8004048" y="2318003"/>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Similarity</a:t>
            </a:r>
          </a:p>
        </p:txBody>
      </p:sp>
      <p:sp>
        <p:nvSpPr>
          <p:cNvPr id="199" name="TextBox 198"/>
          <p:cNvSpPr txBox="1"/>
          <p:nvPr/>
        </p:nvSpPr>
        <p:spPr>
          <a:xfrm>
            <a:off x="5870448" y="2587752"/>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Risk and safety</a:t>
            </a:r>
          </a:p>
        </p:txBody>
      </p:sp>
      <p:sp>
        <p:nvSpPr>
          <p:cNvPr id="200" name="Rectangle 199"/>
          <p:cNvSpPr/>
          <p:nvPr/>
        </p:nvSpPr>
        <p:spPr>
          <a:xfrm>
            <a:off x="5907024" y="2761488"/>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1" name="TextBox 200"/>
          <p:cNvSpPr txBox="1"/>
          <p:nvPr/>
        </p:nvSpPr>
        <p:spPr>
          <a:xfrm>
            <a:off x="5907024" y="2761488"/>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Hate / unfairness</a:t>
            </a:r>
          </a:p>
        </p:txBody>
      </p:sp>
      <p:sp>
        <p:nvSpPr>
          <p:cNvPr id="202" name="Rectangle 201"/>
          <p:cNvSpPr/>
          <p:nvPr/>
        </p:nvSpPr>
        <p:spPr>
          <a:xfrm>
            <a:off x="6955536" y="2761488"/>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3" name="TextBox 202"/>
          <p:cNvSpPr txBox="1"/>
          <p:nvPr/>
        </p:nvSpPr>
        <p:spPr>
          <a:xfrm>
            <a:off x="6955536" y="2761488"/>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Sexual · violence</a:t>
            </a:r>
          </a:p>
        </p:txBody>
      </p:sp>
      <p:sp>
        <p:nvSpPr>
          <p:cNvPr id="204" name="Rectangle 203"/>
          <p:cNvSpPr/>
          <p:nvPr/>
        </p:nvSpPr>
        <p:spPr>
          <a:xfrm>
            <a:off x="8004048" y="2761488"/>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5" name="TextBox 204"/>
          <p:cNvSpPr txBox="1"/>
          <p:nvPr/>
        </p:nvSpPr>
        <p:spPr>
          <a:xfrm>
            <a:off x="8004048" y="2761488"/>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Self-harm</a:t>
            </a:r>
          </a:p>
        </p:txBody>
      </p:sp>
      <p:sp>
        <p:nvSpPr>
          <p:cNvPr id="206" name="Rectangle 205"/>
          <p:cNvSpPr/>
          <p:nvPr/>
        </p:nvSpPr>
        <p:spPr>
          <a:xfrm>
            <a:off x="5907024" y="299466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7" name="TextBox 206"/>
          <p:cNvSpPr txBox="1"/>
          <p:nvPr/>
        </p:nvSpPr>
        <p:spPr>
          <a:xfrm>
            <a:off x="5907024" y="299466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Protected material</a:t>
            </a:r>
          </a:p>
        </p:txBody>
      </p:sp>
      <p:sp>
        <p:nvSpPr>
          <p:cNvPr id="208" name="Rectangle 207"/>
          <p:cNvSpPr/>
          <p:nvPr/>
        </p:nvSpPr>
        <p:spPr>
          <a:xfrm>
            <a:off x="6955536" y="299466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09" name="TextBox 208"/>
          <p:cNvSpPr txBox="1"/>
          <p:nvPr/>
        </p:nvSpPr>
        <p:spPr>
          <a:xfrm>
            <a:off x="6955536" y="299466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Indirect attack (XPIA)</a:t>
            </a:r>
          </a:p>
        </p:txBody>
      </p:sp>
      <p:sp>
        <p:nvSpPr>
          <p:cNvPr id="210" name="Rectangle 209"/>
          <p:cNvSpPr/>
          <p:nvPr/>
        </p:nvSpPr>
        <p:spPr>
          <a:xfrm>
            <a:off x="8004048" y="299466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1" name="TextBox 210"/>
          <p:cNvSpPr txBox="1"/>
          <p:nvPr/>
        </p:nvSpPr>
        <p:spPr>
          <a:xfrm>
            <a:off x="8004048" y="299466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Data leakage · code vuln.</a:t>
            </a:r>
          </a:p>
        </p:txBody>
      </p:sp>
      <p:sp>
        <p:nvSpPr>
          <p:cNvPr id="212" name="TextBox 211"/>
          <p:cNvSpPr txBox="1"/>
          <p:nvPr/>
        </p:nvSpPr>
        <p:spPr>
          <a:xfrm>
            <a:off x="5870448" y="3264408"/>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Agent</a:t>
            </a:r>
          </a:p>
        </p:txBody>
      </p:sp>
      <p:sp>
        <p:nvSpPr>
          <p:cNvPr id="213" name="Rectangle 212"/>
          <p:cNvSpPr/>
          <p:nvPr/>
        </p:nvSpPr>
        <p:spPr>
          <a:xfrm>
            <a:off x="5907024" y="3438144"/>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4" name="TextBox 213"/>
          <p:cNvSpPr txBox="1"/>
          <p:nvPr/>
        </p:nvSpPr>
        <p:spPr>
          <a:xfrm>
            <a:off x="5907024" y="3438144"/>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Task adherence*</a:t>
            </a:r>
          </a:p>
        </p:txBody>
      </p:sp>
      <p:sp>
        <p:nvSpPr>
          <p:cNvPr id="215" name="Rectangle 214"/>
          <p:cNvSpPr/>
          <p:nvPr/>
        </p:nvSpPr>
        <p:spPr>
          <a:xfrm>
            <a:off x="6955536" y="3438144"/>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6" name="TextBox 215"/>
          <p:cNvSpPr txBox="1"/>
          <p:nvPr/>
        </p:nvSpPr>
        <p:spPr>
          <a:xfrm>
            <a:off x="6955536" y="3438144"/>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Intent resolution*</a:t>
            </a:r>
          </a:p>
        </p:txBody>
      </p:sp>
      <p:sp>
        <p:nvSpPr>
          <p:cNvPr id="217" name="Rectangle 216"/>
          <p:cNvSpPr/>
          <p:nvPr/>
        </p:nvSpPr>
        <p:spPr>
          <a:xfrm>
            <a:off x="8004048" y="3438144"/>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18" name="TextBox 217"/>
          <p:cNvSpPr txBox="1"/>
          <p:nvPr/>
        </p:nvSpPr>
        <p:spPr>
          <a:xfrm>
            <a:off x="8004048" y="3438144"/>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Tool call accuracy</a:t>
            </a:r>
          </a:p>
        </p:txBody>
      </p:sp>
      <p:sp>
        <p:nvSpPr>
          <p:cNvPr id="219" name="Rectangle 218"/>
          <p:cNvSpPr/>
          <p:nvPr/>
        </p:nvSpPr>
        <p:spPr>
          <a:xfrm>
            <a:off x="5907024" y="3671316"/>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0" name="TextBox 219"/>
          <p:cNvSpPr txBox="1"/>
          <p:nvPr/>
        </p:nvSpPr>
        <p:spPr>
          <a:xfrm>
            <a:off x="5907024" y="3671316"/>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Tool selection · I/O</a:t>
            </a:r>
          </a:p>
        </p:txBody>
      </p:sp>
      <p:sp>
        <p:nvSpPr>
          <p:cNvPr id="221" name="Rectangle 220"/>
          <p:cNvSpPr/>
          <p:nvPr/>
        </p:nvSpPr>
        <p:spPr>
          <a:xfrm>
            <a:off x="6955536" y="3671316"/>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2" name="TextBox 221"/>
          <p:cNvSpPr txBox="1"/>
          <p:nvPr/>
        </p:nvSpPr>
        <p:spPr>
          <a:xfrm>
            <a:off x="6955536" y="3671316"/>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Task completion*</a:t>
            </a:r>
          </a:p>
        </p:txBody>
      </p:sp>
      <p:sp>
        <p:nvSpPr>
          <p:cNvPr id="223" name="Rectangle 222"/>
          <p:cNvSpPr/>
          <p:nvPr/>
        </p:nvSpPr>
        <p:spPr>
          <a:xfrm>
            <a:off x="8004048" y="3671316"/>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4" name="TextBox 223"/>
          <p:cNvSpPr txBox="1"/>
          <p:nvPr/>
        </p:nvSpPr>
        <p:spPr>
          <a:xfrm>
            <a:off x="8004048" y="3671316"/>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Customer satisfaction*</a:t>
            </a:r>
          </a:p>
        </p:txBody>
      </p:sp>
      <p:sp>
        <p:nvSpPr>
          <p:cNvPr id="225" name="TextBox 224"/>
          <p:cNvSpPr txBox="1"/>
          <p:nvPr/>
        </p:nvSpPr>
        <p:spPr>
          <a:xfrm>
            <a:off x="5870448" y="3941064"/>
            <a:ext cx="3172968" cy="164592"/>
          </a:xfrm>
          <a:prstGeom prst="rect">
            <a:avLst/>
          </a:prstGeom>
          <a:noFill/>
        </p:spPr>
        <p:txBody>
          <a:bodyPr wrap="square" lIns="45720" tIns="18288" rIns="45720" bIns="18288" anchor="ctr">
            <a:spAutoFit/>
          </a:bodyPr>
          <a:lstStyle/>
          <a:p>
            <a:pPr algn="l"/>
            <a:r>
              <a:rPr sz="750" b="1">
                <a:solidFill>
                  <a:srgbClr val="008173"/>
                </a:solidFill>
                <a:latin typeface="Segoe UI"/>
              </a:rPr>
              <a:t>Custom</a:t>
            </a:r>
          </a:p>
        </p:txBody>
      </p:sp>
      <p:sp>
        <p:nvSpPr>
          <p:cNvPr id="226" name="Rectangle 225"/>
          <p:cNvSpPr/>
          <p:nvPr/>
        </p:nvSpPr>
        <p:spPr>
          <a:xfrm>
            <a:off x="5907024" y="411480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7" name="TextBox 226"/>
          <p:cNvSpPr txBox="1"/>
          <p:nvPr/>
        </p:nvSpPr>
        <p:spPr>
          <a:xfrm>
            <a:off x="5907024" y="411480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Rubric* (weighted)</a:t>
            </a:r>
          </a:p>
        </p:txBody>
      </p:sp>
      <p:sp>
        <p:nvSpPr>
          <p:cNvPr id="228" name="Rectangle 227"/>
          <p:cNvSpPr/>
          <p:nvPr/>
        </p:nvSpPr>
        <p:spPr>
          <a:xfrm>
            <a:off x="6955536" y="411480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29" name="TextBox 228"/>
          <p:cNvSpPr txBox="1"/>
          <p:nvPr/>
        </p:nvSpPr>
        <p:spPr>
          <a:xfrm>
            <a:off x="6955536" y="411480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Your own prompt</a:t>
            </a:r>
          </a:p>
        </p:txBody>
      </p:sp>
      <p:sp>
        <p:nvSpPr>
          <p:cNvPr id="230" name="Rectangle 229"/>
          <p:cNvSpPr/>
          <p:nvPr/>
        </p:nvSpPr>
        <p:spPr>
          <a:xfrm>
            <a:off x="8004048" y="4114800"/>
            <a:ext cx="1002791" cy="210312"/>
          </a:xfrm>
          <a:prstGeom prst="rect">
            <a:avLst/>
          </a:prstGeom>
          <a:solidFill>
            <a:srgbClr val="FFFFFF"/>
          </a:solidFill>
          <a:ln w="9525">
            <a:solidFill>
              <a:srgbClr val="E1E7F4"/>
            </a:solidFill>
          </a:ln>
          <a:effectLst/>
        </p:spPr>
        <p:txBody>
          <a:bodyPr rtlCol="0" anchor="ctr"/>
          <a:lstStyle/>
          <a:p>
            <a:pPr algn="ctr"/>
            <a:endParaRPr/>
          </a:p>
        </p:txBody>
      </p:sp>
      <p:sp>
        <p:nvSpPr>
          <p:cNvPr id="231" name="TextBox 230"/>
          <p:cNvSpPr txBox="1"/>
          <p:nvPr/>
        </p:nvSpPr>
        <p:spPr>
          <a:xfrm>
            <a:off x="8004048" y="4114800"/>
            <a:ext cx="1002791" cy="210312"/>
          </a:xfrm>
          <a:prstGeom prst="rect">
            <a:avLst/>
          </a:prstGeom>
          <a:noFill/>
        </p:spPr>
        <p:txBody>
          <a:bodyPr wrap="square" lIns="45720" tIns="18288" rIns="45720" bIns="18288" anchor="ctr">
            <a:spAutoFit/>
          </a:bodyPr>
          <a:lstStyle/>
          <a:p>
            <a:pPr algn="ctr"/>
            <a:r>
              <a:rPr sz="650" b="0">
                <a:solidFill>
                  <a:srgbClr val="141B33"/>
                </a:solidFill>
                <a:latin typeface="Segoe UI"/>
              </a:rPr>
              <a:t>Your own code</a:t>
            </a:r>
          </a:p>
        </p:txBody>
      </p:sp>
      <p:sp>
        <p:nvSpPr>
          <p:cNvPr id="232" name="TextBox 231"/>
          <p:cNvSpPr txBox="1"/>
          <p:nvPr/>
        </p:nvSpPr>
        <p:spPr>
          <a:xfrm>
            <a:off x="5870448" y="4384548"/>
            <a:ext cx="3172968" cy="329184"/>
          </a:xfrm>
          <a:prstGeom prst="rect">
            <a:avLst/>
          </a:prstGeom>
          <a:noFill/>
        </p:spPr>
        <p:txBody>
          <a:bodyPr wrap="square" lIns="45720" tIns="18288" rIns="45720" bIns="18288" anchor="t">
            <a:spAutoFit/>
          </a:bodyPr>
          <a:lstStyle/>
          <a:p>
            <a:pPr algn="l"/>
            <a:r>
              <a:rPr sz="650" b="1">
                <a:solidFill>
                  <a:srgbClr val="44495B"/>
                </a:solidFill>
                <a:latin typeface="Segoe UI"/>
              </a:rPr>
              <a:t>Judge  </a:t>
            </a:r>
            <a:r>
              <a:rPr sz="650" b="0">
                <a:solidFill>
                  <a:srgbClr val="44495B"/>
                </a:solidFill>
                <a:latin typeface="Segoe UI"/>
              </a:rPr>
              <a:t>a Foundry model deployment you choose; Groundedness Pro* uses Content Safety instead.</a:t>
            </a:r>
          </a:p>
        </p:txBody>
      </p:sp>
      <p:sp>
        <p:nvSpPr>
          <p:cNvPr id="5" name="Shape"/>
          <p:cNvSpPr/>
          <p:nvPr/>
        </p:nvSpPr>
        <p:spPr>
          <a:xfrm>
            <a:off x="548640" y="5687568"/>
            <a:ext cx="11094720" cy="9525"/>
          </a:xfrm>
          <a:prstGeom prst="rect">
            <a:avLst/>
          </a:prstGeom>
          <a:solidFill>
            <a:srgbClr val="E1E7F4"/>
          </a:solidFill>
        </p:spPr>
        <p:txBody>
          <a:bodyPr/>
          <a:lstStyle/>
          <a:p>
            <a:endParaRPr/>
          </a:p>
        </p:txBody>
      </p:sp>
      <p:sp>
        <p:nvSpPr>
          <p:cNvPr id="6"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24</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0 5   ·   C O N T R O L   P L A N E</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Tracing: how OpenTelemetry data reaches Foundry</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Every span follows the OpenTelemetry standard, lands in Application Insights, and is read back in Foundry — or in any OTLP-compatible tool.</a:t>
            </a:r>
          </a:p>
          <a:p>
            <a:endParaRPr sz="1200">
              <a:solidFill>
                <a:srgbClr val="44495B"/>
              </a:solidFill>
              <a:latin typeface="Segoe UI"/>
            </a:endParaRPr>
          </a:p>
        </p:txBody>
      </p:sp>
      <p:sp>
        <p:nvSpPr>
          <p:cNvPr id="45" name="Shape"/>
          <p:cNvSpPr/>
          <p:nvPr/>
        </p:nvSpPr>
        <p:spPr>
          <a:xfrm>
            <a:off x="548640" y="5687568"/>
            <a:ext cx="11094720" cy="9525"/>
          </a:xfrm>
          <a:prstGeom prst="rect">
            <a:avLst/>
          </a:prstGeom>
          <a:solidFill>
            <a:srgbClr val="E1E7F4"/>
          </a:solidFill>
        </p:spPr>
        <p:txBody>
          <a:bodyPr/>
          <a:lstStyle/>
          <a:p>
            <a:endParaRPr/>
          </a:p>
        </p:txBody>
      </p:sp>
      <p:sp>
        <p:nvSpPr>
          <p:cNvPr id="46"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learn.microsoft.com/azure/foundry/observability/how-to/trace-agent-client-side · concepts/observability</a:t>
            </a:r>
          </a:p>
          <a:p>
            <a:endParaRPr sz="900">
              <a:solidFill>
                <a:srgbClr val="44495B"/>
              </a:solidFill>
              <a:latin typeface="Segoe UI"/>
            </a:endParaRPr>
          </a:p>
        </p:txBody>
      </p:sp>
      <p:sp>
        <p:nvSpPr>
          <p:cNvPr id="47"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25</a:t>
            </a:r>
          </a:p>
        </p:txBody>
      </p:sp>
      <p:sp>
        <p:nvSpPr>
          <p:cNvPr id="48" name="TextBox 47"/>
          <p:cNvSpPr txBox="1"/>
          <p:nvPr/>
        </p:nvSpPr>
        <p:spPr>
          <a:xfrm>
            <a:off x="548640" y="1298448"/>
            <a:ext cx="27889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1 · WHERE SPANS COME FROM</a:t>
            </a:r>
          </a:p>
        </p:txBody>
      </p:sp>
      <p:sp>
        <p:nvSpPr>
          <p:cNvPr id="49" name="Rectangle 48"/>
          <p:cNvSpPr/>
          <p:nvPr/>
        </p:nvSpPr>
        <p:spPr>
          <a:xfrm>
            <a:off x="548640" y="157276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0" name="Rectangle 49"/>
          <p:cNvSpPr/>
          <p:nvPr/>
        </p:nvSpPr>
        <p:spPr>
          <a:xfrm>
            <a:off x="548640" y="1572768"/>
            <a:ext cx="45720" cy="566928"/>
          </a:xfrm>
          <a:prstGeom prst="rect">
            <a:avLst/>
          </a:prstGeom>
          <a:solidFill>
            <a:srgbClr val="00B39F"/>
          </a:solidFill>
          <a:ln>
            <a:noFill/>
          </a:ln>
          <a:effectLst/>
        </p:spPr>
        <p:txBody>
          <a:bodyPr rtlCol="0" anchor="ctr"/>
          <a:lstStyle/>
          <a:p>
            <a:pPr algn="ctr"/>
            <a:endParaRPr/>
          </a:p>
        </p:txBody>
      </p:sp>
      <p:sp>
        <p:nvSpPr>
          <p:cNvPr id="51" name="TextBox 50"/>
          <p:cNvSpPr txBox="1"/>
          <p:nvPr/>
        </p:nvSpPr>
        <p:spPr>
          <a:xfrm>
            <a:off x="603503" y="157276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Prompt agents</a:t>
            </a:r>
          </a:p>
          <a:p>
            <a:pPr algn="l"/>
            <a:r>
              <a:rPr sz="750" b="0">
                <a:solidFill>
                  <a:srgbClr val="141B33"/>
                </a:solidFill>
                <a:latin typeface="Segoe UI"/>
              </a:rPr>
              <a:t>server-side traces captured by Foundry — nothing to configure</a:t>
            </a:r>
          </a:p>
        </p:txBody>
      </p:sp>
      <p:sp>
        <p:nvSpPr>
          <p:cNvPr id="52" name="Rectangle 51"/>
          <p:cNvSpPr/>
          <p:nvPr/>
        </p:nvSpPr>
        <p:spPr>
          <a:xfrm>
            <a:off x="548640" y="221284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3" name="Rectangle 52"/>
          <p:cNvSpPr/>
          <p:nvPr/>
        </p:nvSpPr>
        <p:spPr>
          <a:xfrm>
            <a:off x="548640" y="2212848"/>
            <a:ext cx="45720" cy="566928"/>
          </a:xfrm>
          <a:prstGeom prst="rect">
            <a:avLst/>
          </a:prstGeom>
          <a:solidFill>
            <a:srgbClr val="00B39F"/>
          </a:solidFill>
          <a:ln>
            <a:noFill/>
          </a:ln>
          <a:effectLst/>
        </p:spPr>
        <p:txBody>
          <a:bodyPr rtlCol="0" anchor="ctr"/>
          <a:lstStyle/>
          <a:p>
            <a:pPr algn="ctr"/>
            <a:endParaRPr/>
          </a:p>
        </p:txBody>
      </p:sp>
      <p:sp>
        <p:nvSpPr>
          <p:cNvPr id="54" name="TextBox 53"/>
          <p:cNvSpPr txBox="1"/>
          <p:nvPr/>
        </p:nvSpPr>
        <p:spPr>
          <a:xfrm>
            <a:off x="603503" y="221284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Hosted agents</a:t>
            </a:r>
          </a:p>
          <a:p>
            <a:pPr algn="l"/>
            <a:r>
              <a:rPr sz="750" b="0">
                <a:solidFill>
                  <a:srgbClr val="141B33"/>
                </a:solidFill>
                <a:latin typeface="Segoe UI"/>
              </a:rPr>
              <a:t>Application Insights connection injected into the container; protocol libraries emit spans by default</a:t>
            </a:r>
          </a:p>
        </p:txBody>
      </p:sp>
      <p:sp>
        <p:nvSpPr>
          <p:cNvPr id="55" name="Rectangle 54"/>
          <p:cNvSpPr/>
          <p:nvPr/>
        </p:nvSpPr>
        <p:spPr>
          <a:xfrm>
            <a:off x="548640" y="285292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6" name="Rectangle 55"/>
          <p:cNvSpPr/>
          <p:nvPr/>
        </p:nvSpPr>
        <p:spPr>
          <a:xfrm>
            <a:off x="548640" y="2852928"/>
            <a:ext cx="45720" cy="566928"/>
          </a:xfrm>
          <a:prstGeom prst="rect">
            <a:avLst/>
          </a:prstGeom>
          <a:solidFill>
            <a:srgbClr val="00B39F"/>
          </a:solidFill>
          <a:ln>
            <a:noFill/>
          </a:ln>
          <a:effectLst/>
        </p:spPr>
        <p:txBody>
          <a:bodyPr rtlCol="0" anchor="ctr"/>
          <a:lstStyle/>
          <a:p>
            <a:pPr algn="ctr"/>
            <a:endParaRPr/>
          </a:p>
        </p:txBody>
      </p:sp>
      <p:sp>
        <p:nvSpPr>
          <p:cNvPr id="57" name="TextBox 56"/>
          <p:cNvSpPr txBox="1"/>
          <p:nvPr/>
        </p:nvSpPr>
        <p:spPr>
          <a:xfrm>
            <a:off x="603503" y="285292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Agent frameworks</a:t>
            </a:r>
          </a:p>
          <a:p>
            <a:pPr algn="l"/>
            <a:r>
              <a:rPr sz="750" b="0">
                <a:solidFill>
                  <a:srgbClr val="141B33"/>
                </a:solidFill>
                <a:latin typeface="Segoe UI"/>
              </a:rPr>
              <a:t>Agent Framework, LangChain, LangGraph, OpenAI Agents SDK — OpenTelemetry built in</a:t>
            </a:r>
          </a:p>
        </p:txBody>
      </p:sp>
      <p:sp>
        <p:nvSpPr>
          <p:cNvPr id="58" name="Rectangle 57"/>
          <p:cNvSpPr/>
          <p:nvPr/>
        </p:nvSpPr>
        <p:spPr>
          <a:xfrm>
            <a:off x="548640" y="3493008"/>
            <a:ext cx="2788920" cy="566928"/>
          </a:xfrm>
          <a:prstGeom prst="rect">
            <a:avLst/>
          </a:prstGeom>
          <a:solidFill>
            <a:srgbClr val="FFFFFF"/>
          </a:solidFill>
          <a:ln w="9525">
            <a:solidFill>
              <a:srgbClr val="E1E7F4"/>
            </a:solidFill>
          </a:ln>
          <a:effectLst/>
        </p:spPr>
        <p:txBody>
          <a:bodyPr rtlCol="0" anchor="ctr"/>
          <a:lstStyle/>
          <a:p>
            <a:pPr algn="ctr"/>
            <a:endParaRPr/>
          </a:p>
        </p:txBody>
      </p:sp>
      <p:sp>
        <p:nvSpPr>
          <p:cNvPr id="59" name="Rectangle 58"/>
          <p:cNvSpPr/>
          <p:nvPr/>
        </p:nvSpPr>
        <p:spPr>
          <a:xfrm>
            <a:off x="548640" y="3493008"/>
            <a:ext cx="45720" cy="566928"/>
          </a:xfrm>
          <a:prstGeom prst="rect">
            <a:avLst/>
          </a:prstGeom>
          <a:solidFill>
            <a:srgbClr val="101A3C"/>
          </a:solidFill>
          <a:ln>
            <a:noFill/>
          </a:ln>
          <a:effectLst/>
        </p:spPr>
        <p:txBody>
          <a:bodyPr rtlCol="0" anchor="ctr"/>
          <a:lstStyle/>
          <a:p>
            <a:pPr algn="ctr"/>
            <a:endParaRPr/>
          </a:p>
        </p:txBody>
      </p:sp>
      <p:sp>
        <p:nvSpPr>
          <p:cNvPr id="60" name="TextBox 59"/>
          <p:cNvSpPr txBox="1"/>
          <p:nvPr/>
        </p:nvSpPr>
        <p:spPr>
          <a:xfrm>
            <a:off x="603503" y="3493008"/>
            <a:ext cx="2715768" cy="566928"/>
          </a:xfrm>
          <a:prstGeom prst="rect">
            <a:avLst/>
          </a:prstGeom>
          <a:noFill/>
        </p:spPr>
        <p:txBody>
          <a:bodyPr wrap="square" lIns="73152" tIns="27432" rIns="73152" bIns="27432" anchor="ctr">
            <a:spAutoFit/>
          </a:bodyPr>
          <a:lstStyle/>
          <a:p>
            <a:pPr algn="l"/>
            <a:r>
              <a:rPr sz="750" b="1">
                <a:solidFill>
                  <a:srgbClr val="141B33"/>
                </a:solidFill>
                <a:latin typeface="Segoe UI"/>
              </a:rPr>
              <a:t>Your own code*</a:t>
            </a:r>
          </a:p>
          <a:p>
            <a:pPr algn="l"/>
            <a:r>
              <a:rPr sz="750" b="0">
                <a:solidFill>
                  <a:srgbClr val="141B33"/>
                </a:solidFill>
                <a:latin typeface="Segoe UI"/>
              </a:rPr>
              <a:t>Foundry SDK instrumentation for model and agent calls, plus custom spans you add</a:t>
            </a:r>
          </a:p>
        </p:txBody>
      </p:sp>
      <p:sp>
        <p:nvSpPr>
          <p:cNvPr id="61" name="TextBox 60"/>
          <p:cNvSpPr txBox="1"/>
          <p:nvPr/>
        </p:nvSpPr>
        <p:spPr>
          <a:xfrm>
            <a:off x="548640" y="4133088"/>
            <a:ext cx="2788920" cy="201168"/>
          </a:xfrm>
          <a:prstGeom prst="rect">
            <a:avLst/>
          </a:prstGeom>
          <a:noFill/>
        </p:spPr>
        <p:txBody>
          <a:bodyPr wrap="square" lIns="73152" tIns="27432" rIns="73152" bIns="27432" anchor="ctr">
            <a:spAutoFit/>
          </a:bodyPr>
          <a:lstStyle/>
          <a:p>
            <a:pPr algn="l"/>
            <a:r>
              <a:rPr sz="700" b="0">
                <a:solidFill>
                  <a:srgbClr val="44495B"/>
                </a:solidFill>
                <a:latin typeface="Segoe UI"/>
              </a:rPr>
              <a:t>teal = automatic · navy = you instrument</a:t>
            </a:r>
          </a:p>
        </p:txBody>
      </p:sp>
      <p:sp>
        <p:nvSpPr>
          <p:cNvPr id="62" name="TextBox 61"/>
          <p:cNvSpPr txBox="1"/>
          <p:nvPr/>
        </p:nvSpPr>
        <p:spPr>
          <a:xfrm>
            <a:off x="3611880" y="1298448"/>
            <a:ext cx="2331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2 · ONE STANDARD</a:t>
            </a:r>
          </a:p>
        </p:txBody>
      </p:sp>
      <p:sp>
        <p:nvSpPr>
          <p:cNvPr id="63" name="Rectangle 62"/>
          <p:cNvSpPr/>
          <p:nvPr/>
        </p:nvSpPr>
        <p:spPr>
          <a:xfrm>
            <a:off x="3611880" y="1572768"/>
            <a:ext cx="2331720" cy="1188720"/>
          </a:xfrm>
          <a:prstGeom prst="rect">
            <a:avLst/>
          </a:prstGeom>
          <a:solidFill>
            <a:srgbClr val="101A3C"/>
          </a:solidFill>
          <a:ln>
            <a:noFill/>
          </a:ln>
          <a:effectLst/>
        </p:spPr>
        <p:txBody>
          <a:bodyPr rtlCol="0" anchor="ctr"/>
          <a:lstStyle/>
          <a:p>
            <a:pPr algn="ctr"/>
            <a:endParaRPr/>
          </a:p>
        </p:txBody>
      </p:sp>
      <p:sp>
        <p:nvSpPr>
          <p:cNvPr id="64" name="TextBox 63"/>
          <p:cNvSpPr txBox="1"/>
          <p:nvPr/>
        </p:nvSpPr>
        <p:spPr>
          <a:xfrm>
            <a:off x="3611880" y="1572768"/>
            <a:ext cx="2331720" cy="1188720"/>
          </a:xfrm>
          <a:prstGeom prst="rect">
            <a:avLst/>
          </a:prstGeom>
          <a:noFill/>
        </p:spPr>
        <p:txBody>
          <a:bodyPr wrap="square" lIns="73152" tIns="27432" rIns="73152" bIns="27432" anchor="ctr">
            <a:spAutoFit/>
          </a:bodyPr>
          <a:lstStyle/>
          <a:p>
            <a:pPr algn="l"/>
            <a:r>
              <a:rPr sz="750" b="1">
                <a:solidFill>
                  <a:srgbClr val="FFFFFF"/>
                </a:solidFill>
                <a:latin typeface="Segoe UI"/>
              </a:rPr>
              <a:t>OpenTelemetry</a:t>
            </a:r>
          </a:p>
          <a:p>
            <a:pPr algn="l">
              <a:spcBef>
                <a:spcPts val="300"/>
              </a:spcBef>
            </a:pPr>
            <a:r>
              <a:rPr sz="750" b="0">
                <a:solidFill>
                  <a:srgbClr val="FFFFFF"/>
                </a:solidFill>
                <a:latin typeface="Segoe UI"/>
              </a:rPr>
              <a:t>GenAI semantic conventions: every model call, tool call and agent step is a span with standard attributes</a:t>
            </a:r>
          </a:p>
          <a:p>
            <a:pPr algn="l">
              <a:spcBef>
                <a:spcPts val="300"/>
              </a:spcBef>
            </a:pPr>
            <a:r>
              <a:rPr sz="750" b="0">
                <a:solidFill>
                  <a:srgbClr val="FFFFFF"/>
                </a:solidFill>
                <a:latin typeface="Segoe UI"/>
              </a:rPr>
              <a:t>W3C Trace Context links client and server spans into one trace</a:t>
            </a:r>
          </a:p>
        </p:txBody>
      </p:sp>
      <p:sp>
        <p:nvSpPr>
          <p:cNvPr id="65" name="Rectangle 64"/>
          <p:cNvSpPr/>
          <p:nvPr/>
        </p:nvSpPr>
        <p:spPr>
          <a:xfrm>
            <a:off x="3611880" y="2852928"/>
            <a:ext cx="2331720" cy="566928"/>
          </a:xfrm>
          <a:prstGeom prst="rect">
            <a:avLst/>
          </a:prstGeom>
          <a:solidFill>
            <a:srgbClr val="FFFFFF"/>
          </a:solidFill>
          <a:ln w="9525">
            <a:solidFill>
              <a:srgbClr val="E1E7F4"/>
            </a:solidFill>
          </a:ln>
          <a:effectLst/>
        </p:spPr>
        <p:txBody>
          <a:bodyPr rtlCol="0" anchor="ctr"/>
          <a:lstStyle/>
          <a:p>
            <a:pPr algn="ctr"/>
            <a:endParaRPr/>
          </a:p>
        </p:txBody>
      </p:sp>
      <p:sp>
        <p:nvSpPr>
          <p:cNvPr id="66" name="TextBox 65"/>
          <p:cNvSpPr txBox="1"/>
          <p:nvPr/>
        </p:nvSpPr>
        <p:spPr>
          <a:xfrm>
            <a:off x="3611880" y="2852928"/>
            <a:ext cx="2331720" cy="566928"/>
          </a:xfrm>
          <a:prstGeom prst="rect">
            <a:avLst/>
          </a:prstGeom>
          <a:noFill/>
        </p:spPr>
        <p:txBody>
          <a:bodyPr wrap="square" lIns="73152" tIns="27432" rIns="73152" bIns="27432" anchor="ctr">
            <a:spAutoFit/>
          </a:bodyPr>
          <a:lstStyle/>
          <a:p>
            <a:pPr algn="l"/>
            <a:r>
              <a:rPr sz="750" b="1">
                <a:solidFill>
                  <a:srgbClr val="141B33"/>
                </a:solidFill>
                <a:latin typeface="Segoe UI"/>
              </a:rPr>
              <a:t>Exporter</a:t>
            </a:r>
          </a:p>
          <a:p>
            <a:pPr algn="l"/>
            <a:r>
              <a:rPr sz="750" b="0">
                <a:solidFill>
                  <a:srgbClr val="141B33"/>
                </a:solidFill>
                <a:latin typeface="Segoe UI"/>
              </a:rPr>
              <a:t>Azure Monitor exporter — or any OTLP exporter</a:t>
            </a:r>
          </a:p>
        </p:txBody>
      </p:sp>
      <p:sp>
        <p:nvSpPr>
          <p:cNvPr id="67" name="Rectangle 66"/>
          <p:cNvSpPr/>
          <p:nvPr/>
        </p:nvSpPr>
        <p:spPr>
          <a:xfrm>
            <a:off x="3611880" y="3511296"/>
            <a:ext cx="2331720" cy="566928"/>
          </a:xfrm>
          <a:prstGeom prst="rect">
            <a:avLst/>
          </a:prstGeom>
          <a:solidFill>
            <a:srgbClr val="EBEFF7"/>
          </a:solidFill>
          <a:ln>
            <a:noFill/>
          </a:ln>
          <a:effectLst/>
        </p:spPr>
        <p:txBody>
          <a:bodyPr rtlCol="0" anchor="ctr"/>
          <a:lstStyle/>
          <a:p>
            <a:pPr algn="ctr"/>
            <a:endParaRPr/>
          </a:p>
        </p:txBody>
      </p:sp>
      <p:sp>
        <p:nvSpPr>
          <p:cNvPr id="68" name="TextBox 67"/>
          <p:cNvSpPr txBox="1"/>
          <p:nvPr/>
        </p:nvSpPr>
        <p:spPr>
          <a:xfrm>
            <a:off x="3611880" y="3511296"/>
            <a:ext cx="2331720" cy="566928"/>
          </a:xfrm>
          <a:prstGeom prst="rect">
            <a:avLst/>
          </a:prstGeom>
          <a:noFill/>
        </p:spPr>
        <p:txBody>
          <a:bodyPr wrap="square" lIns="73152" tIns="27432" rIns="73152" bIns="27432" anchor="ctr">
            <a:spAutoFit/>
          </a:bodyPr>
          <a:lstStyle/>
          <a:p>
            <a:pPr algn="l"/>
            <a:r>
              <a:rPr sz="700" b="1">
                <a:solidFill>
                  <a:srgbClr val="141B33"/>
                </a:solidFill>
                <a:latin typeface="Segoe UI"/>
              </a:rPr>
              <a:t>Content recording — off by default</a:t>
            </a:r>
          </a:p>
          <a:p>
            <a:pPr algn="l"/>
            <a:r>
              <a:rPr sz="700" b="0">
                <a:solidFill>
                  <a:srgbClr val="141B33"/>
                </a:solidFill>
                <a:latin typeface="Segoe UI"/>
              </a:rPr>
              <a:t>prompts, tool arguments and outputs are only captured when you switch it on; development only</a:t>
            </a:r>
          </a:p>
        </p:txBody>
      </p:sp>
      <p:sp>
        <p:nvSpPr>
          <p:cNvPr id="70" name="TextBox 69"/>
          <p:cNvSpPr txBox="1"/>
          <p:nvPr/>
        </p:nvSpPr>
        <p:spPr>
          <a:xfrm>
            <a:off x="6263640" y="1298448"/>
            <a:ext cx="233172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3 · WHERE THEY LAND</a:t>
            </a:r>
          </a:p>
        </p:txBody>
      </p:sp>
      <p:sp>
        <p:nvSpPr>
          <p:cNvPr id="71" name="Rectangle 70"/>
          <p:cNvSpPr/>
          <p:nvPr/>
        </p:nvSpPr>
        <p:spPr>
          <a:xfrm>
            <a:off x="6263640" y="1572768"/>
            <a:ext cx="2331720" cy="1188720"/>
          </a:xfrm>
          <a:prstGeom prst="rect">
            <a:avLst/>
          </a:prstGeom>
          <a:solidFill>
            <a:srgbClr val="FFFFFF"/>
          </a:solidFill>
          <a:ln w="12700">
            <a:solidFill>
              <a:srgbClr val="101A3C"/>
            </a:solidFill>
          </a:ln>
          <a:effectLst/>
        </p:spPr>
        <p:txBody>
          <a:bodyPr rtlCol="0" anchor="ctr"/>
          <a:lstStyle/>
          <a:p>
            <a:pPr algn="ctr"/>
            <a:endParaRPr/>
          </a:p>
        </p:txBody>
      </p:sp>
      <p:sp>
        <p:nvSpPr>
          <p:cNvPr id="72" name="TextBox 71"/>
          <p:cNvSpPr txBox="1"/>
          <p:nvPr/>
        </p:nvSpPr>
        <p:spPr>
          <a:xfrm>
            <a:off x="6263640" y="1572768"/>
            <a:ext cx="2331720" cy="1188720"/>
          </a:xfrm>
          <a:prstGeom prst="rect">
            <a:avLst/>
          </a:prstGeom>
          <a:noFill/>
        </p:spPr>
        <p:txBody>
          <a:bodyPr wrap="square" lIns="73152" tIns="27432" rIns="73152" bIns="27432" anchor="ctr">
            <a:spAutoFit/>
          </a:bodyPr>
          <a:lstStyle/>
          <a:p>
            <a:pPr algn="l"/>
            <a:r>
              <a:rPr sz="750" b="1">
                <a:solidFill>
                  <a:srgbClr val="141B33"/>
                </a:solidFill>
                <a:latin typeface="Segoe UI"/>
              </a:rPr>
              <a:t>Azure Monitor</a:t>
            </a:r>
          </a:p>
          <a:p>
            <a:pPr algn="l">
              <a:spcBef>
                <a:spcPts val="200"/>
              </a:spcBef>
            </a:pPr>
            <a:r>
              <a:rPr sz="750" b="1">
                <a:solidFill>
                  <a:srgbClr val="141B33"/>
                </a:solidFill>
                <a:latin typeface="Segoe UI"/>
              </a:rPr>
              <a:t>Application Insights</a:t>
            </a:r>
          </a:p>
          <a:p>
            <a:pPr algn="l">
              <a:spcBef>
                <a:spcPts val="200"/>
              </a:spcBef>
            </a:pPr>
            <a:r>
              <a:rPr sz="750" b="0">
                <a:solidFill>
                  <a:srgbClr val="141B33"/>
                </a:solidFill>
                <a:latin typeface="Segoe UI"/>
              </a:rPr>
              <a:t>connected to the Foundry project — the store behind every Foundry view. Traces appear within 2–5 minutes.</a:t>
            </a:r>
          </a:p>
        </p:txBody>
      </p:sp>
      <p:sp>
        <p:nvSpPr>
          <p:cNvPr id="73" name="Rectangle 72"/>
          <p:cNvSpPr/>
          <p:nvPr/>
        </p:nvSpPr>
        <p:spPr>
          <a:xfrm>
            <a:off x="6263640" y="2852928"/>
            <a:ext cx="2331720" cy="1225296"/>
          </a:xfrm>
          <a:prstGeom prst="rect">
            <a:avLst/>
          </a:prstGeom>
          <a:solidFill>
            <a:srgbClr val="FFFFFF"/>
          </a:solidFill>
          <a:ln w="9525">
            <a:solidFill>
              <a:srgbClr val="E1E7F4"/>
            </a:solidFill>
            <a:prstDash val="dash"/>
          </a:ln>
          <a:effectLst/>
        </p:spPr>
        <p:txBody>
          <a:bodyPr rtlCol="0" anchor="ctr"/>
          <a:lstStyle/>
          <a:p>
            <a:pPr algn="ctr"/>
            <a:endParaRPr/>
          </a:p>
        </p:txBody>
      </p:sp>
      <p:sp>
        <p:nvSpPr>
          <p:cNvPr id="74" name="TextBox 73"/>
          <p:cNvSpPr txBox="1"/>
          <p:nvPr/>
        </p:nvSpPr>
        <p:spPr>
          <a:xfrm>
            <a:off x="6263640" y="2852928"/>
            <a:ext cx="2331720" cy="1225296"/>
          </a:xfrm>
          <a:prstGeom prst="rect">
            <a:avLst/>
          </a:prstGeom>
          <a:noFill/>
        </p:spPr>
        <p:txBody>
          <a:bodyPr wrap="square" lIns="73152" tIns="27432" rIns="73152" bIns="27432" anchor="ctr">
            <a:spAutoFit/>
          </a:bodyPr>
          <a:lstStyle/>
          <a:p>
            <a:pPr algn="l"/>
            <a:r>
              <a:rPr sz="750" b="1">
                <a:solidFill>
                  <a:srgbClr val="141B33"/>
                </a:solidFill>
                <a:latin typeface="Segoe UI"/>
              </a:rPr>
              <a:t>Any OTLP endpoint</a:t>
            </a:r>
          </a:p>
          <a:p>
            <a:pPr algn="l">
              <a:spcBef>
                <a:spcPts val="200"/>
              </a:spcBef>
            </a:pPr>
            <a:r>
              <a:rPr sz="750" b="0">
                <a:solidFill>
                  <a:srgbClr val="141B33"/>
                </a:solidFill>
                <a:latin typeface="Segoe UI"/>
              </a:rPr>
              <a:t>Aspire Dashboard for local development</a:t>
            </a:r>
          </a:p>
          <a:p>
            <a:pPr algn="l">
              <a:spcBef>
                <a:spcPts val="200"/>
              </a:spcBef>
            </a:pPr>
            <a:r>
              <a:rPr sz="750" b="0">
                <a:solidFill>
                  <a:srgbClr val="141B33"/>
                </a:solidFill>
                <a:latin typeface="Segoe UI"/>
              </a:rPr>
              <a:t>Grafana Tempo · Jaeger · Datadog · Honeycomb</a:t>
            </a:r>
          </a:p>
          <a:p>
            <a:pPr algn="l">
              <a:spcBef>
                <a:spcPts val="200"/>
              </a:spcBef>
            </a:pPr>
            <a:r>
              <a:rPr sz="750" b="0">
                <a:solidFill>
                  <a:srgbClr val="141B33"/>
                </a:solidFill>
                <a:latin typeface="Segoe UI"/>
              </a:rPr>
              <a:t>same spans, your tooling</a:t>
            </a:r>
          </a:p>
        </p:txBody>
      </p:sp>
      <p:sp>
        <p:nvSpPr>
          <p:cNvPr id="77" name="TextBox 76"/>
          <p:cNvSpPr txBox="1"/>
          <p:nvPr/>
        </p:nvSpPr>
        <p:spPr>
          <a:xfrm>
            <a:off x="8915400" y="1298448"/>
            <a:ext cx="2724912"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4 · WHERE YOU READ THEM</a:t>
            </a:r>
          </a:p>
        </p:txBody>
      </p:sp>
      <p:sp>
        <p:nvSpPr>
          <p:cNvPr id="78" name="Rectangle 77"/>
          <p:cNvSpPr/>
          <p:nvPr/>
        </p:nvSpPr>
        <p:spPr>
          <a:xfrm>
            <a:off x="8915400" y="157276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79" name="TextBox 78"/>
          <p:cNvSpPr txBox="1"/>
          <p:nvPr/>
        </p:nvSpPr>
        <p:spPr>
          <a:xfrm>
            <a:off x="8915400" y="157276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Foundry portal — Traces</a:t>
            </a:r>
          </a:p>
          <a:p>
            <a:pPr algn="l"/>
            <a:r>
              <a:rPr sz="750" b="0">
                <a:solidFill>
                  <a:srgbClr val="141B33"/>
                </a:solidFill>
                <a:latin typeface="Segoe UI"/>
              </a:rPr>
              <a:t>every step of a run: model calls, tool calls, inputs and outputs</a:t>
            </a:r>
          </a:p>
        </p:txBody>
      </p:sp>
      <p:sp>
        <p:nvSpPr>
          <p:cNvPr id="80" name="Rectangle 79"/>
          <p:cNvSpPr/>
          <p:nvPr/>
        </p:nvSpPr>
        <p:spPr>
          <a:xfrm>
            <a:off x="8915400" y="221284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81" name="TextBox 80"/>
          <p:cNvSpPr txBox="1"/>
          <p:nvPr/>
        </p:nvSpPr>
        <p:spPr>
          <a:xfrm>
            <a:off x="8915400" y="221284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Control Plane — Assets</a:t>
            </a:r>
          </a:p>
          <a:p>
            <a:pPr algn="l"/>
            <a:r>
              <a:rPr sz="750" b="0">
                <a:solidFill>
                  <a:srgbClr val="141B33"/>
                </a:solidFill>
                <a:latin typeface="Segoe UI"/>
              </a:rPr>
              <a:t>traces per agent across the fleet, with Trace ID and Conversation ID</a:t>
            </a:r>
          </a:p>
        </p:txBody>
      </p:sp>
      <p:sp>
        <p:nvSpPr>
          <p:cNvPr id="82" name="Rectangle 81"/>
          <p:cNvSpPr/>
          <p:nvPr/>
        </p:nvSpPr>
        <p:spPr>
          <a:xfrm>
            <a:off x="8915400" y="285292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83" name="TextBox 82"/>
          <p:cNvSpPr txBox="1"/>
          <p:nvPr/>
        </p:nvSpPr>
        <p:spPr>
          <a:xfrm>
            <a:off x="8915400" y="285292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Agent monitoring dashboard*</a:t>
            </a:r>
          </a:p>
          <a:p>
            <a:pPr algn="l"/>
            <a:r>
              <a:rPr sz="750" b="0">
                <a:solidFill>
                  <a:srgbClr val="141B33"/>
                </a:solidFill>
                <a:latin typeface="Segoe UI"/>
              </a:rPr>
              <a:t>tokens, latency, run success and evaluation scores over time</a:t>
            </a:r>
          </a:p>
        </p:txBody>
      </p:sp>
      <p:sp>
        <p:nvSpPr>
          <p:cNvPr id="84" name="Rectangle 83"/>
          <p:cNvSpPr/>
          <p:nvPr/>
        </p:nvSpPr>
        <p:spPr>
          <a:xfrm>
            <a:off x="8915400" y="3493008"/>
            <a:ext cx="2724912" cy="566928"/>
          </a:xfrm>
          <a:prstGeom prst="rect">
            <a:avLst/>
          </a:prstGeom>
          <a:solidFill>
            <a:srgbClr val="F6F8FD"/>
          </a:solidFill>
          <a:ln w="9525">
            <a:solidFill>
              <a:srgbClr val="E1E7F4"/>
            </a:solidFill>
          </a:ln>
          <a:effectLst/>
        </p:spPr>
        <p:txBody>
          <a:bodyPr rtlCol="0" anchor="ctr"/>
          <a:lstStyle/>
          <a:p>
            <a:pPr algn="ctr"/>
            <a:endParaRPr/>
          </a:p>
        </p:txBody>
      </p:sp>
      <p:sp>
        <p:nvSpPr>
          <p:cNvPr id="85" name="TextBox 84"/>
          <p:cNvSpPr txBox="1"/>
          <p:nvPr/>
        </p:nvSpPr>
        <p:spPr>
          <a:xfrm>
            <a:off x="8915400" y="3493008"/>
            <a:ext cx="2724912" cy="566928"/>
          </a:xfrm>
          <a:prstGeom prst="rect">
            <a:avLst/>
          </a:prstGeom>
          <a:noFill/>
        </p:spPr>
        <p:txBody>
          <a:bodyPr wrap="square" lIns="73152" tIns="27432" rIns="73152" bIns="27432" anchor="ctr">
            <a:spAutoFit/>
          </a:bodyPr>
          <a:lstStyle/>
          <a:p>
            <a:pPr algn="l"/>
            <a:r>
              <a:rPr sz="750" b="1">
                <a:solidFill>
                  <a:srgbClr val="141B33"/>
                </a:solidFill>
                <a:latin typeface="Segoe UI"/>
              </a:rPr>
              <a:t>Azure Monitor</a:t>
            </a:r>
          </a:p>
          <a:p>
            <a:pPr algn="l"/>
            <a:r>
              <a:rPr sz="750" b="0">
                <a:solidFill>
                  <a:srgbClr val="141B33"/>
                </a:solidFill>
                <a:latin typeface="Segoe UI"/>
              </a:rPr>
              <a:t>Kusto queries, workbooks and alerts on the same data</a:t>
            </a:r>
          </a:p>
        </p:txBody>
      </p:sp>
      <p:sp>
        <p:nvSpPr>
          <p:cNvPr id="87" name="TextBox 86"/>
          <p:cNvSpPr txBox="1"/>
          <p:nvPr/>
        </p:nvSpPr>
        <p:spPr>
          <a:xfrm>
            <a:off x="548640" y="4352544"/>
            <a:ext cx="10972800" cy="219456"/>
          </a:xfrm>
          <a:prstGeom prst="rect">
            <a:avLst/>
          </a:prstGeom>
          <a:noFill/>
        </p:spPr>
        <p:txBody>
          <a:bodyPr wrap="square" lIns="73152" tIns="27432" rIns="73152" bIns="27432" anchor="ctr">
            <a:spAutoFit/>
          </a:bodyPr>
          <a:lstStyle/>
          <a:p>
            <a:pPr algn="l"/>
            <a:r>
              <a:rPr sz="800" b="1" spc="200">
                <a:solidFill>
                  <a:srgbClr val="008173"/>
                </a:solidFill>
                <a:latin typeface="Segoe UI"/>
              </a:rPr>
              <a:t>ENABLING CLIENT-SIDE TRACING* — FOUR STEPS</a:t>
            </a:r>
          </a:p>
        </p:txBody>
      </p:sp>
      <p:sp>
        <p:nvSpPr>
          <p:cNvPr id="88" name="Rectangle 87"/>
          <p:cNvSpPr/>
          <p:nvPr/>
        </p:nvSpPr>
        <p:spPr>
          <a:xfrm>
            <a:off x="548640" y="4608576"/>
            <a:ext cx="2567178" cy="566928"/>
          </a:xfrm>
          <a:prstGeom prst="rect">
            <a:avLst/>
          </a:prstGeom>
          <a:solidFill>
            <a:srgbClr val="EBEFF7"/>
          </a:solidFill>
          <a:ln>
            <a:noFill/>
          </a:ln>
          <a:effectLst/>
        </p:spPr>
        <p:txBody>
          <a:bodyPr rtlCol="0" anchor="ctr"/>
          <a:lstStyle/>
          <a:p>
            <a:pPr algn="ctr"/>
            <a:endParaRPr/>
          </a:p>
        </p:txBody>
      </p:sp>
      <p:sp>
        <p:nvSpPr>
          <p:cNvPr id="89" name="Oval 88"/>
          <p:cNvSpPr/>
          <p:nvPr/>
        </p:nvSpPr>
        <p:spPr>
          <a:xfrm>
            <a:off x="621792"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1</a:t>
            </a:r>
          </a:p>
        </p:txBody>
      </p:sp>
      <p:sp>
        <p:nvSpPr>
          <p:cNvPr id="90" name="TextBox 89"/>
          <p:cNvSpPr txBox="1"/>
          <p:nvPr/>
        </p:nvSpPr>
        <p:spPr>
          <a:xfrm>
            <a:off x="896112"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Install</a:t>
            </a:r>
          </a:p>
          <a:p>
            <a:pPr algn="l"/>
            <a:r>
              <a:rPr sz="750" b="0">
                <a:solidFill>
                  <a:srgbClr val="141B33"/>
                </a:solidFill>
                <a:latin typeface="Segoe UI"/>
              </a:rPr>
              <a:t>the Foundry SDK, the OpenTelemetry SDK and the Azure Monitor exporter</a:t>
            </a:r>
          </a:p>
        </p:txBody>
      </p:sp>
      <p:sp>
        <p:nvSpPr>
          <p:cNvPr id="91" name="Right Arrow 90"/>
          <p:cNvSpPr/>
          <p:nvPr/>
        </p:nvSpPr>
        <p:spPr>
          <a:xfrm>
            <a:off x="3161538" y="4791456"/>
            <a:ext cx="182880" cy="201168"/>
          </a:xfrm>
          <a:prstGeom prst="rightArrow">
            <a:avLst/>
          </a:prstGeom>
          <a:solidFill>
            <a:srgbClr val="00B39F"/>
          </a:solidFill>
          <a:ln>
            <a:noFill/>
          </a:ln>
          <a:effectLst/>
        </p:spPr>
        <p:txBody>
          <a:bodyPr rtlCol="0" anchor="ctr"/>
          <a:lstStyle/>
          <a:p>
            <a:pPr algn="ctr"/>
            <a:endParaRPr/>
          </a:p>
        </p:txBody>
      </p:sp>
      <p:sp>
        <p:nvSpPr>
          <p:cNvPr id="92" name="Rectangle 91"/>
          <p:cNvSpPr/>
          <p:nvPr/>
        </p:nvSpPr>
        <p:spPr>
          <a:xfrm>
            <a:off x="3390138" y="4608576"/>
            <a:ext cx="2567178" cy="566928"/>
          </a:xfrm>
          <a:prstGeom prst="rect">
            <a:avLst/>
          </a:prstGeom>
          <a:solidFill>
            <a:srgbClr val="EBEFF7"/>
          </a:solidFill>
          <a:ln>
            <a:noFill/>
          </a:ln>
          <a:effectLst/>
        </p:spPr>
        <p:txBody>
          <a:bodyPr rtlCol="0" anchor="ctr"/>
          <a:lstStyle/>
          <a:p>
            <a:pPr algn="ctr"/>
            <a:endParaRPr/>
          </a:p>
        </p:txBody>
      </p:sp>
      <p:sp>
        <p:nvSpPr>
          <p:cNvPr id="93" name="Oval 92"/>
          <p:cNvSpPr/>
          <p:nvPr/>
        </p:nvSpPr>
        <p:spPr>
          <a:xfrm>
            <a:off x="3463290"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2</a:t>
            </a:r>
          </a:p>
        </p:txBody>
      </p:sp>
      <p:sp>
        <p:nvSpPr>
          <p:cNvPr id="94" name="TextBox 93"/>
          <p:cNvSpPr txBox="1"/>
          <p:nvPr/>
        </p:nvSpPr>
        <p:spPr>
          <a:xfrm>
            <a:off x="3737610"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Opt in</a:t>
            </a:r>
          </a:p>
          <a:p>
            <a:pPr algn="l"/>
            <a:r>
              <a:rPr sz="750" b="0">
                <a:solidFill>
                  <a:srgbClr val="141B33"/>
                </a:solidFill>
                <a:latin typeface="Segoe UI"/>
              </a:rPr>
              <a:t>enable GenAI tracing explicitly, then instrument the Foundry client</a:t>
            </a:r>
          </a:p>
        </p:txBody>
      </p:sp>
      <p:sp>
        <p:nvSpPr>
          <p:cNvPr id="95" name="Right Arrow 94"/>
          <p:cNvSpPr/>
          <p:nvPr/>
        </p:nvSpPr>
        <p:spPr>
          <a:xfrm>
            <a:off x="6003036" y="4791456"/>
            <a:ext cx="182880" cy="201168"/>
          </a:xfrm>
          <a:prstGeom prst="rightArrow">
            <a:avLst/>
          </a:prstGeom>
          <a:solidFill>
            <a:srgbClr val="00B39F"/>
          </a:solidFill>
          <a:ln>
            <a:noFill/>
          </a:ln>
          <a:effectLst/>
        </p:spPr>
        <p:txBody>
          <a:bodyPr rtlCol="0" anchor="ctr"/>
          <a:lstStyle/>
          <a:p>
            <a:pPr algn="ctr"/>
            <a:endParaRPr/>
          </a:p>
        </p:txBody>
      </p:sp>
      <p:sp>
        <p:nvSpPr>
          <p:cNvPr id="96" name="Rectangle 95"/>
          <p:cNvSpPr/>
          <p:nvPr/>
        </p:nvSpPr>
        <p:spPr>
          <a:xfrm>
            <a:off x="6231636" y="4608576"/>
            <a:ext cx="2567178" cy="566928"/>
          </a:xfrm>
          <a:prstGeom prst="rect">
            <a:avLst/>
          </a:prstGeom>
          <a:solidFill>
            <a:srgbClr val="EBEFF7"/>
          </a:solidFill>
          <a:ln>
            <a:noFill/>
          </a:ln>
          <a:effectLst/>
        </p:spPr>
        <p:txBody>
          <a:bodyPr rtlCol="0" anchor="ctr"/>
          <a:lstStyle/>
          <a:p>
            <a:pPr algn="ctr"/>
            <a:endParaRPr/>
          </a:p>
        </p:txBody>
      </p:sp>
      <p:sp>
        <p:nvSpPr>
          <p:cNvPr id="97" name="Oval 96"/>
          <p:cNvSpPr/>
          <p:nvPr/>
        </p:nvSpPr>
        <p:spPr>
          <a:xfrm>
            <a:off x="6304788"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3</a:t>
            </a:r>
          </a:p>
        </p:txBody>
      </p:sp>
      <p:sp>
        <p:nvSpPr>
          <p:cNvPr id="98" name="TextBox 97"/>
          <p:cNvSpPr txBox="1"/>
          <p:nvPr/>
        </p:nvSpPr>
        <p:spPr>
          <a:xfrm>
            <a:off x="6579107"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Export</a:t>
            </a:r>
          </a:p>
          <a:p>
            <a:pPr algn="l"/>
            <a:r>
              <a:rPr sz="750" b="0">
                <a:solidFill>
                  <a:srgbClr val="141B33"/>
                </a:solidFill>
                <a:latin typeface="Segoe UI"/>
              </a:rPr>
              <a:t>read the project’s Application Insights connection and configure the exporter</a:t>
            </a:r>
          </a:p>
        </p:txBody>
      </p:sp>
      <p:sp>
        <p:nvSpPr>
          <p:cNvPr id="99" name="Right Arrow 98"/>
          <p:cNvSpPr/>
          <p:nvPr/>
        </p:nvSpPr>
        <p:spPr>
          <a:xfrm>
            <a:off x="8844534" y="4791456"/>
            <a:ext cx="182880" cy="201168"/>
          </a:xfrm>
          <a:prstGeom prst="rightArrow">
            <a:avLst/>
          </a:prstGeom>
          <a:solidFill>
            <a:srgbClr val="00B39F"/>
          </a:solidFill>
          <a:ln>
            <a:noFill/>
          </a:ln>
          <a:effectLst/>
        </p:spPr>
        <p:txBody>
          <a:bodyPr rtlCol="0" anchor="ctr"/>
          <a:lstStyle/>
          <a:p>
            <a:pPr algn="ctr"/>
            <a:endParaRPr/>
          </a:p>
        </p:txBody>
      </p:sp>
      <p:sp>
        <p:nvSpPr>
          <p:cNvPr id="100" name="Rectangle 99"/>
          <p:cNvSpPr/>
          <p:nvPr/>
        </p:nvSpPr>
        <p:spPr>
          <a:xfrm>
            <a:off x="9073134" y="4608576"/>
            <a:ext cx="2567178" cy="566928"/>
          </a:xfrm>
          <a:prstGeom prst="rect">
            <a:avLst/>
          </a:prstGeom>
          <a:solidFill>
            <a:srgbClr val="EBEFF7"/>
          </a:solidFill>
          <a:ln>
            <a:noFill/>
          </a:ln>
          <a:effectLst/>
        </p:spPr>
        <p:txBody>
          <a:bodyPr rtlCol="0" anchor="ctr"/>
          <a:lstStyle/>
          <a:p>
            <a:pPr algn="ctr"/>
            <a:endParaRPr/>
          </a:p>
        </p:txBody>
      </p:sp>
      <p:sp>
        <p:nvSpPr>
          <p:cNvPr id="101" name="Oval 100"/>
          <p:cNvSpPr/>
          <p:nvPr/>
        </p:nvSpPr>
        <p:spPr>
          <a:xfrm>
            <a:off x="9146286" y="4764024"/>
            <a:ext cx="256032" cy="256032"/>
          </a:xfrm>
          <a:prstGeom prst="ellipse">
            <a:avLst/>
          </a:prstGeom>
          <a:solidFill>
            <a:srgbClr val="00B39F"/>
          </a:solidFill>
          <a:ln>
            <a:noFill/>
          </a:ln>
          <a:effectLst/>
        </p:spPr>
        <p:txBody>
          <a:bodyPr lIns="0" tIns="0" rIns="0" bIns="0" rtlCol="0" anchor="ctr"/>
          <a:lstStyle/>
          <a:p>
            <a:pPr algn="ctr"/>
            <a:r>
              <a:rPr sz="850" b="1">
                <a:solidFill>
                  <a:srgbClr val="FFFFFF"/>
                </a:solidFill>
                <a:latin typeface="Segoe UI"/>
              </a:rPr>
              <a:t>4</a:t>
            </a:r>
          </a:p>
        </p:txBody>
      </p:sp>
      <p:sp>
        <p:nvSpPr>
          <p:cNvPr id="102" name="TextBox 101"/>
          <p:cNvSpPr txBox="1"/>
          <p:nvPr/>
        </p:nvSpPr>
        <p:spPr>
          <a:xfrm>
            <a:off x="9420606" y="4608576"/>
            <a:ext cx="2201418" cy="566928"/>
          </a:xfrm>
          <a:prstGeom prst="rect">
            <a:avLst/>
          </a:prstGeom>
          <a:noFill/>
        </p:spPr>
        <p:txBody>
          <a:bodyPr wrap="square" lIns="73152" tIns="27432" rIns="73152" bIns="27432" anchor="ctr">
            <a:spAutoFit/>
          </a:bodyPr>
          <a:lstStyle/>
          <a:p>
            <a:pPr algn="l"/>
            <a:r>
              <a:rPr sz="750" b="1">
                <a:solidFill>
                  <a:srgbClr val="141B33"/>
                </a:solidFill>
                <a:latin typeface="Segoe UI"/>
              </a:rPr>
              <a:t>Correlate</a:t>
            </a:r>
          </a:p>
          <a:p>
            <a:pPr algn="l"/>
            <a:r>
              <a:rPr sz="750" b="0">
                <a:solidFill>
                  <a:srgbClr val="141B33"/>
                </a:solidFill>
                <a:latin typeface="Segoe UI"/>
              </a:rPr>
              <a:t>pass the agent reference on each call so Foundry links your spans to the agent</a:t>
            </a:r>
          </a:p>
        </p:txBody>
      </p:sp>
      <p:sp>
        <p:nvSpPr>
          <p:cNvPr id="103" name="TextBox 102"/>
          <p:cNvSpPr txBox="1"/>
          <p:nvPr/>
        </p:nvSpPr>
        <p:spPr>
          <a:xfrm>
            <a:off x="548640" y="5193792"/>
            <a:ext cx="10972800" cy="182880"/>
          </a:xfrm>
          <a:prstGeom prst="rect">
            <a:avLst/>
          </a:prstGeom>
          <a:noFill/>
        </p:spPr>
        <p:txBody>
          <a:bodyPr wrap="square" lIns="73152" tIns="27432" rIns="73152" bIns="27432" anchor="ctr">
            <a:spAutoFit/>
          </a:bodyPr>
          <a:lstStyle/>
          <a:p>
            <a:pPr algn="l"/>
            <a:r>
              <a:rPr sz="750" b="0">
                <a:solidFill>
                  <a:srgbClr val="44495B"/>
                </a:solidFill>
                <a:latin typeface="Segoe UI"/>
              </a:rPr>
              <a:t>* preview — no service level agreement. Viewing traces needs Log Analytics Reader on the Application Insights resource.</a:t>
            </a:r>
          </a:p>
        </p:txBody>
      </p:sp>
      <p:cxnSp>
        <p:nvCxnSpPr>
          <p:cNvPr id="104" name="Connector 103"/>
          <p:cNvCxnSpPr/>
          <p:nvPr/>
        </p:nvCxnSpPr>
        <p:spPr>
          <a:xfrm>
            <a:off x="3337560" y="1856231"/>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5" name="Connector 104"/>
          <p:cNvCxnSpPr/>
          <p:nvPr/>
        </p:nvCxnSpPr>
        <p:spPr>
          <a:xfrm>
            <a:off x="3337560" y="2496312"/>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6" name="Connector 105"/>
          <p:cNvCxnSpPr/>
          <p:nvPr/>
        </p:nvCxnSpPr>
        <p:spPr>
          <a:xfrm>
            <a:off x="3337560" y="3136392"/>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7" name="Connector 106"/>
          <p:cNvCxnSpPr/>
          <p:nvPr/>
        </p:nvCxnSpPr>
        <p:spPr>
          <a:xfrm>
            <a:off x="3337560" y="3776471"/>
            <a:ext cx="109728" cy="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8" name="Connector 107"/>
          <p:cNvCxnSpPr/>
          <p:nvPr/>
        </p:nvCxnSpPr>
        <p:spPr>
          <a:xfrm>
            <a:off x="3447288" y="1856231"/>
            <a:ext cx="0" cy="1920240"/>
          </a:xfrm>
          <a:prstGeom prst="line">
            <a:avLst/>
          </a:prstGeom>
          <a:ln w="12700">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09" name="Connector 108"/>
          <p:cNvCxnSpPr/>
          <p:nvPr/>
        </p:nvCxnSpPr>
        <p:spPr>
          <a:xfrm>
            <a:off x="3447288" y="2167128"/>
            <a:ext cx="164592"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0" name="Connector 109"/>
          <p:cNvCxnSpPr/>
          <p:nvPr/>
        </p:nvCxnSpPr>
        <p:spPr>
          <a:xfrm>
            <a:off x="5943600" y="3136391"/>
            <a:ext cx="155448" cy="0"/>
          </a:xfrm>
          <a:prstGeom prst="line">
            <a:avLst/>
          </a:prstGeom>
          <a:ln w="15875">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11" name="Connector 110"/>
          <p:cNvCxnSpPr/>
          <p:nvPr/>
        </p:nvCxnSpPr>
        <p:spPr>
          <a:xfrm flipV="1">
            <a:off x="6099048" y="2167128"/>
            <a:ext cx="0" cy="969263"/>
          </a:xfrm>
          <a:prstGeom prst="line">
            <a:avLst/>
          </a:prstGeom>
          <a:ln w="15875">
            <a:solidFill>
              <a:srgbClr val="00B39F"/>
            </a:solidFill>
          </a:ln>
        </p:spPr>
        <p:style>
          <a:lnRef idx="2">
            <a:schemeClr val="accent1"/>
          </a:lnRef>
          <a:fillRef idx="0">
            <a:schemeClr val="accent1"/>
          </a:fillRef>
          <a:effectRef idx="1">
            <a:schemeClr val="accent1"/>
          </a:effectRef>
          <a:fontRef idx="minor">
            <a:schemeClr val="tx1"/>
          </a:fontRef>
        </p:style>
      </p:cxnSp>
      <p:cxnSp>
        <p:nvCxnSpPr>
          <p:cNvPr id="112" name="Connector 111"/>
          <p:cNvCxnSpPr/>
          <p:nvPr/>
        </p:nvCxnSpPr>
        <p:spPr>
          <a:xfrm>
            <a:off x="6099048" y="2167128"/>
            <a:ext cx="164592"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cxnSp>
        <p:nvCxnSpPr>
          <p:cNvPr id="113" name="Connector 112"/>
          <p:cNvCxnSpPr/>
          <p:nvPr/>
        </p:nvCxnSpPr>
        <p:spPr>
          <a:xfrm>
            <a:off x="6099048" y="3136391"/>
            <a:ext cx="0" cy="329185"/>
          </a:xfrm>
          <a:prstGeom prst="line">
            <a:avLst/>
          </a:prstGeom>
          <a:ln w="12700">
            <a:solidFill>
              <a:srgbClr val="44495B"/>
            </a:solidFill>
            <a:prstDash val="dash"/>
          </a:ln>
        </p:spPr>
        <p:style>
          <a:lnRef idx="2">
            <a:schemeClr val="accent1"/>
          </a:lnRef>
          <a:fillRef idx="0">
            <a:schemeClr val="accent1"/>
          </a:fillRef>
          <a:effectRef idx="1">
            <a:schemeClr val="accent1"/>
          </a:effectRef>
          <a:fontRef idx="minor">
            <a:schemeClr val="tx1"/>
          </a:fontRef>
        </p:style>
      </p:cxnSp>
      <p:cxnSp>
        <p:nvCxnSpPr>
          <p:cNvPr id="114" name="Connector 113"/>
          <p:cNvCxnSpPr/>
          <p:nvPr/>
        </p:nvCxnSpPr>
        <p:spPr>
          <a:xfrm>
            <a:off x="6099048" y="3465576"/>
            <a:ext cx="164592" cy="0"/>
          </a:xfrm>
          <a:prstGeom prst="line">
            <a:avLst/>
          </a:prstGeom>
          <a:ln w="12700">
            <a:solidFill>
              <a:srgbClr val="44495B"/>
            </a:solidFill>
            <a:prstDash val="dash"/>
            <a:tailEnd type="triangle" w="sm" len="sm"/>
          </a:ln>
        </p:spPr>
        <p:style>
          <a:lnRef idx="2">
            <a:schemeClr val="accent1"/>
          </a:lnRef>
          <a:fillRef idx="0">
            <a:schemeClr val="accent1"/>
          </a:fillRef>
          <a:effectRef idx="1">
            <a:schemeClr val="accent1"/>
          </a:effectRef>
          <a:fontRef idx="minor">
            <a:schemeClr val="tx1"/>
          </a:fontRef>
        </p:style>
      </p:cxnSp>
      <p:cxnSp>
        <p:nvCxnSpPr>
          <p:cNvPr id="115" name="Connector 114"/>
          <p:cNvCxnSpPr/>
          <p:nvPr/>
        </p:nvCxnSpPr>
        <p:spPr>
          <a:xfrm>
            <a:off x="8595359" y="2167128"/>
            <a:ext cx="320041" cy="0"/>
          </a:xfrm>
          <a:prstGeom prst="line">
            <a:avLst/>
          </a:prstGeom>
          <a:ln w="15875">
            <a:solidFill>
              <a:srgbClr val="00B39F"/>
            </a:solidFill>
            <a:tailEnd type="triangle" w="sm" len="sm"/>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W R A P - U P</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Changes since Build 2026</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Dates as published on Microsoft Learn and the Foundry blog.</a:t>
            </a:r>
          </a:p>
          <a:p>
            <a:endParaRPr sz="1200">
              <a:solidFill>
                <a:srgbClr val="44495B"/>
              </a:solidFill>
              <a:latin typeface="Segoe UI"/>
            </a:endParaRPr>
          </a:p>
        </p:txBody>
      </p:sp>
      <p:sp>
        <p:nvSpPr>
          <p:cNvPr id="5" name="Shape"/>
          <p:cNvSpPr/>
          <p:nvPr/>
        </p:nvSpPr>
        <p:spPr>
          <a:xfrm>
            <a:off x="548640" y="1892808"/>
            <a:ext cx="11094720" cy="32004"/>
          </a:xfrm>
          <a:prstGeom prst="rect">
            <a:avLst/>
          </a:prstGeom>
          <a:solidFill>
            <a:srgbClr val="101A3C"/>
          </a:solidFill>
        </p:spPr>
        <p:txBody>
          <a:bodyPr/>
          <a:lstStyle/>
          <a:p>
            <a:endParaRPr/>
          </a:p>
        </p:txBody>
      </p:sp>
      <p:sp>
        <p:nvSpPr>
          <p:cNvPr id="6" name="Shape"/>
          <p:cNvSpPr/>
          <p:nvPr/>
        </p:nvSpPr>
        <p:spPr>
          <a:xfrm>
            <a:off x="603504" y="1787652"/>
            <a:ext cx="237744" cy="237744"/>
          </a:xfrm>
          <a:prstGeom prst="ellipse">
            <a:avLst/>
          </a:prstGeom>
          <a:solidFill>
            <a:srgbClr val="00B39F"/>
          </a:solidFill>
        </p:spPr>
        <p:txBody>
          <a:bodyPr anchor="ctr"/>
          <a:lstStyle/>
          <a:p>
            <a:pPr algn="ctr"/>
            <a:r>
              <a:rPr sz="1100" b="1">
                <a:solidFill>
                  <a:srgbClr val="0B1229"/>
                </a:solidFill>
                <a:latin typeface="Segoe UI"/>
              </a:rPr>
              <a:t>1</a:t>
            </a:r>
          </a:p>
        </p:txBody>
      </p:sp>
      <p:sp>
        <p:nvSpPr>
          <p:cNvPr id="7" name="TextBox"/>
          <p:cNvSpPr txBox="1"/>
          <p:nvPr/>
        </p:nvSpPr>
        <p:spPr>
          <a:xfrm>
            <a:off x="457200" y="1440180"/>
            <a:ext cx="2785110" cy="472440"/>
          </a:xfrm>
          <a:prstGeom prst="rect">
            <a:avLst/>
          </a:prstGeom>
        </p:spPr>
        <p:txBody>
          <a:bodyPr anchor="ctr"/>
          <a:lstStyle/>
          <a:p>
            <a:r>
              <a:rPr sz="1100" b="1">
                <a:solidFill>
                  <a:srgbClr val="101A3C"/>
                </a:solidFill>
                <a:latin typeface="Segoe UI"/>
              </a:rPr>
              <a:t>2 Jun</a:t>
            </a:r>
          </a:p>
          <a:p>
            <a:endParaRPr sz="1100" b="1">
              <a:solidFill>
                <a:srgbClr val="101A3C"/>
              </a:solidFill>
              <a:latin typeface="Segoe UI"/>
            </a:endParaRPr>
          </a:p>
        </p:txBody>
      </p:sp>
      <p:sp>
        <p:nvSpPr>
          <p:cNvPr id="8" name="TextBox"/>
          <p:cNvSpPr txBox="1"/>
          <p:nvPr/>
        </p:nvSpPr>
        <p:spPr>
          <a:xfrm>
            <a:off x="457200" y="2043684"/>
            <a:ext cx="2785110" cy="822960"/>
          </a:xfrm>
          <a:prstGeom prst="rect">
            <a:avLst/>
          </a:prstGeom>
        </p:spPr>
        <p:txBody>
          <a:bodyPr anchor="ctr"/>
          <a:lstStyle/>
          <a:p>
            <a:r>
              <a:rPr sz="900">
                <a:solidFill>
                  <a:srgbClr val="141B33"/>
                </a:solidFill>
                <a:latin typeface="Segoe UI"/>
              </a:rPr>
              <a:t>Build 2026: VS Code Toolkit GA,</a:t>
            </a:r>
          </a:p>
          <a:p>
            <a:r>
              <a:rPr sz="900">
                <a:solidFill>
                  <a:srgbClr val="141B33"/>
                </a:solidFill>
                <a:latin typeface="Segoe UI"/>
              </a:rPr>
              <a:t>Foundry IQ knowledge bases GA,</a:t>
            </a:r>
          </a:p>
          <a:p>
            <a:r>
              <a:rPr sz="900">
                <a:solidFill>
                  <a:srgbClr val="141B33"/>
                </a:solidFill>
                <a:latin typeface="Segoe UI"/>
              </a:rPr>
              <a:t>Fireworks AI GA, MAI models Preview,</a:t>
            </a:r>
          </a:p>
          <a:p>
            <a:r>
              <a:rPr sz="900">
                <a:solidFill>
                  <a:srgbClr val="141B33"/>
                </a:solidFill>
                <a:latin typeface="Segoe UI"/>
              </a:rPr>
              <a:t>Toolboxes Preview, procedural memory</a:t>
            </a:r>
          </a:p>
          <a:p>
            <a:r>
              <a:rPr sz="900">
                <a:solidFill>
                  <a:srgbClr val="141B33"/>
                </a:solidFill>
                <a:latin typeface="Segoe UI"/>
              </a:rPr>
              <a:t>Preview, Guided Guardrail Setup</a:t>
            </a:r>
          </a:p>
        </p:txBody>
      </p:sp>
      <p:sp>
        <p:nvSpPr>
          <p:cNvPr id="9" name="Shape"/>
          <p:cNvSpPr/>
          <p:nvPr/>
        </p:nvSpPr>
        <p:spPr>
          <a:xfrm>
            <a:off x="3434334" y="1787652"/>
            <a:ext cx="237744" cy="237744"/>
          </a:xfrm>
          <a:prstGeom prst="ellipse">
            <a:avLst/>
          </a:prstGeom>
          <a:solidFill>
            <a:srgbClr val="00B39F"/>
          </a:solidFill>
        </p:spPr>
        <p:txBody>
          <a:bodyPr anchor="ctr"/>
          <a:lstStyle/>
          <a:p>
            <a:pPr algn="ctr"/>
            <a:r>
              <a:rPr sz="1100" b="1">
                <a:solidFill>
                  <a:srgbClr val="0B1229"/>
                </a:solidFill>
                <a:latin typeface="Segoe UI"/>
              </a:rPr>
              <a:t>2</a:t>
            </a:r>
          </a:p>
        </p:txBody>
      </p:sp>
      <p:sp>
        <p:nvSpPr>
          <p:cNvPr id="10" name="TextBox"/>
          <p:cNvSpPr txBox="1"/>
          <p:nvPr/>
        </p:nvSpPr>
        <p:spPr>
          <a:xfrm>
            <a:off x="3288030" y="1440180"/>
            <a:ext cx="2785110" cy="472440"/>
          </a:xfrm>
          <a:prstGeom prst="rect">
            <a:avLst/>
          </a:prstGeom>
        </p:spPr>
        <p:txBody>
          <a:bodyPr anchor="ctr"/>
          <a:lstStyle/>
          <a:p>
            <a:r>
              <a:rPr sz="1100" b="1">
                <a:solidFill>
                  <a:srgbClr val="101A3C"/>
                </a:solidFill>
                <a:latin typeface="Segoe UI"/>
              </a:rPr>
              <a:t>18–25 Jun</a:t>
            </a:r>
          </a:p>
          <a:p>
            <a:endParaRPr sz="1100" b="1">
              <a:solidFill>
                <a:srgbClr val="101A3C"/>
              </a:solidFill>
              <a:latin typeface="Segoe UI"/>
            </a:endParaRPr>
          </a:p>
        </p:txBody>
      </p:sp>
      <p:sp>
        <p:nvSpPr>
          <p:cNvPr id="11" name="TextBox"/>
          <p:cNvSpPr txBox="1"/>
          <p:nvPr/>
        </p:nvSpPr>
        <p:spPr>
          <a:xfrm>
            <a:off x="3288030" y="2043684"/>
            <a:ext cx="2785110" cy="822960"/>
          </a:xfrm>
          <a:prstGeom prst="rect">
            <a:avLst/>
          </a:prstGeom>
        </p:spPr>
        <p:txBody>
          <a:bodyPr anchor="ctr"/>
          <a:lstStyle/>
          <a:p>
            <a:r>
              <a:rPr sz="900">
                <a:solidFill>
                  <a:srgbClr val="141B33"/>
                </a:solidFill>
                <a:latin typeface="Segoe UI"/>
              </a:rPr>
              <a:t>Claude GA in Foundry (18 Jun);</a:t>
            </a:r>
          </a:p>
          <a:p>
            <a:r>
              <a:rPr sz="900">
                <a:solidFill>
                  <a:srgbClr val="141B33"/>
                </a:solidFill>
                <a:latin typeface="Segoe UI"/>
              </a:rPr>
              <a:t>private container registry for new</a:t>
            </a:r>
          </a:p>
          <a:p>
            <a:r>
              <a:rPr sz="900">
                <a:solidFill>
                  <a:srgbClr val="141B33"/>
                </a:solidFill>
                <a:latin typeface="Segoe UI"/>
              </a:rPr>
              <a:t>projects (25 Jun)</a:t>
            </a:r>
          </a:p>
        </p:txBody>
      </p:sp>
      <p:sp>
        <p:nvSpPr>
          <p:cNvPr id="12" name="Shape"/>
          <p:cNvSpPr/>
          <p:nvPr/>
        </p:nvSpPr>
        <p:spPr>
          <a:xfrm>
            <a:off x="6265164" y="1787652"/>
            <a:ext cx="237744" cy="237744"/>
          </a:xfrm>
          <a:prstGeom prst="ellipse">
            <a:avLst/>
          </a:prstGeom>
          <a:solidFill>
            <a:srgbClr val="00B39F"/>
          </a:solidFill>
        </p:spPr>
        <p:txBody>
          <a:bodyPr anchor="ctr"/>
          <a:lstStyle/>
          <a:p>
            <a:pPr algn="ctr"/>
            <a:r>
              <a:rPr sz="1100" b="1">
                <a:solidFill>
                  <a:srgbClr val="0B1229"/>
                </a:solidFill>
                <a:latin typeface="Segoe UI"/>
              </a:rPr>
              <a:t>3</a:t>
            </a:r>
          </a:p>
        </p:txBody>
      </p:sp>
      <p:sp>
        <p:nvSpPr>
          <p:cNvPr id="13" name="TextBox"/>
          <p:cNvSpPr txBox="1"/>
          <p:nvPr/>
        </p:nvSpPr>
        <p:spPr>
          <a:xfrm>
            <a:off x="6118860" y="1440180"/>
            <a:ext cx="2785110" cy="472440"/>
          </a:xfrm>
          <a:prstGeom prst="rect">
            <a:avLst/>
          </a:prstGeom>
        </p:spPr>
        <p:txBody>
          <a:bodyPr anchor="ctr"/>
          <a:lstStyle/>
          <a:p>
            <a:r>
              <a:rPr sz="1100" b="1">
                <a:solidFill>
                  <a:srgbClr val="101A3C"/>
                </a:solidFill>
                <a:latin typeface="Segoe UI"/>
              </a:rPr>
              <a:t>9 Jul</a:t>
            </a:r>
          </a:p>
          <a:p>
            <a:endParaRPr sz="1100" b="1">
              <a:solidFill>
                <a:srgbClr val="101A3C"/>
              </a:solidFill>
              <a:latin typeface="Segoe UI"/>
            </a:endParaRPr>
          </a:p>
        </p:txBody>
      </p:sp>
      <p:sp>
        <p:nvSpPr>
          <p:cNvPr id="14" name="TextBox"/>
          <p:cNvSpPr txBox="1"/>
          <p:nvPr/>
        </p:nvSpPr>
        <p:spPr>
          <a:xfrm>
            <a:off x="6118860" y="2043684"/>
            <a:ext cx="2785110" cy="822960"/>
          </a:xfrm>
          <a:prstGeom prst="rect">
            <a:avLst/>
          </a:prstGeom>
        </p:spPr>
        <p:txBody>
          <a:bodyPr anchor="ctr"/>
          <a:lstStyle/>
          <a:p>
            <a:r>
              <a:rPr sz="900">
                <a:solidFill>
                  <a:srgbClr val="141B33"/>
                </a:solidFill>
                <a:latin typeface="Segoe UI"/>
              </a:rPr>
              <a:t>Hosted agents GA, Toolboxes GA,</a:t>
            </a:r>
          </a:p>
          <a:p>
            <a:r>
              <a:rPr sz="900">
                <a:solidFill>
                  <a:srgbClr val="141B33"/>
                </a:solidFill>
                <a:latin typeface="Segoe UI"/>
              </a:rPr>
              <a:t>Voice Live GA, and gpt-5.6 sol /</a:t>
            </a:r>
          </a:p>
          <a:p>
            <a:r>
              <a:rPr sz="900">
                <a:solidFill>
                  <a:srgbClr val="141B33"/>
                </a:solidFill>
                <a:latin typeface="Segoe UI"/>
              </a:rPr>
              <a:t>terra / luna GA</a:t>
            </a:r>
          </a:p>
        </p:txBody>
      </p:sp>
      <p:sp>
        <p:nvSpPr>
          <p:cNvPr id="15" name="Shape"/>
          <p:cNvSpPr/>
          <p:nvPr/>
        </p:nvSpPr>
        <p:spPr>
          <a:xfrm>
            <a:off x="9095994" y="1787652"/>
            <a:ext cx="237744" cy="237744"/>
          </a:xfrm>
          <a:prstGeom prst="ellipse">
            <a:avLst/>
          </a:prstGeom>
          <a:solidFill>
            <a:srgbClr val="00B39F"/>
          </a:solidFill>
        </p:spPr>
        <p:txBody>
          <a:bodyPr anchor="ctr"/>
          <a:lstStyle/>
          <a:p>
            <a:pPr algn="ctr"/>
            <a:r>
              <a:rPr sz="1100" b="1">
                <a:solidFill>
                  <a:srgbClr val="0B1229"/>
                </a:solidFill>
                <a:latin typeface="Segoe UI"/>
              </a:rPr>
              <a:t>4</a:t>
            </a:r>
          </a:p>
        </p:txBody>
      </p:sp>
      <p:sp>
        <p:nvSpPr>
          <p:cNvPr id="16" name="TextBox"/>
          <p:cNvSpPr txBox="1"/>
          <p:nvPr/>
        </p:nvSpPr>
        <p:spPr>
          <a:xfrm>
            <a:off x="8949690" y="1440180"/>
            <a:ext cx="2785110" cy="472440"/>
          </a:xfrm>
          <a:prstGeom prst="rect">
            <a:avLst/>
          </a:prstGeom>
        </p:spPr>
        <p:txBody>
          <a:bodyPr anchor="ctr"/>
          <a:lstStyle/>
          <a:p>
            <a:r>
              <a:rPr sz="1100" b="1">
                <a:solidFill>
                  <a:srgbClr val="101A3C"/>
                </a:solidFill>
                <a:latin typeface="Segoe UI"/>
              </a:rPr>
              <a:t>24–29 Jul</a:t>
            </a:r>
          </a:p>
          <a:p>
            <a:endParaRPr sz="1100" b="1">
              <a:solidFill>
                <a:srgbClr val="101A3C"/>
              </a:solidFill>
              <a:latin typeface="Segoe UI"/>
            </a:endParaRPr>
          </a:p>
        </p:txBody>
      </p:sp>
      <p:sp>
        <p:nvSpPr>
          <p:cNvPr id="17" name="TextBox"/>
          <p:cNvSpPr txBox="1"/>
          <p:nvPr/>
        </p:nvSpPr>
        <p:spPr>
          <a:xfrm>
            <a:off x="8949690" y="2043684"/>
            <a:ext cx="2785110" cy="822960"/>
          </a:xfrm>
          <a:prstGeom prst="rect">
            <a:avLst/>
          </a:prstGeom>
        </p:spPr>
        <p:txBody>
          <a:bodyPr anchor="ctr"/>
          <a:lstStyle/>
          <a:p>
            <a:r>
              <a:rPr sz="900">
                <a:solidFill>
                  <a:srgbClr val="141B33"/>
                </a:solidFill>
                <a:latin typeface="Segoe UI"/>
              </a:rPr>
              <a:t>Claude Opus 5 GA, FW-Kimi-K3 GA,</a:t>
            </a:r>
          </a:p>
          <a:p>
            <a:r>
              <a:rPr sz="900">
                <a:solidFill>
                  <a:srgbClr val="141B33"/>
                </a:solidFill>
                <a:latin typeface="Segoe UI"/>
              </a:rPr>
              <a:t>gpt-live-transcribe GA</a:t>
            </a:r>
          </a:p>
        </p:txBody>
      </p:sp>
      <p:sp>
        <p:nvSpPr>
          <p:cNvPr id="18" name="Shape"/>
          <p:cNvSpPr/>
          <p:nvPr/>
        </p:nvSpPr>
        <p:spPr>
          <a:xfrm>
            <a:off x="548640" y="3538728"/>
            <a:ext cx="11094720" cy="32004"/>
          </a:xfrm>
          <a:prstGeom prst="rect">
            <a:avLst/>
          </a:prstGeom>
          <a:solidFill>
            <a:srgbClr val="101A3C"/>
          </a:solidFill>
        </p:spPr>
        <p:txBody>
          <a:bodyPr/>
          <a:lstStyle/>
          <a:p>
            <a:endParaRPr/>
          </a:p>
        </p:txBody>
      </p:sp>
      <p:sp>
        <p:nvSpPr>
          <p:cNvPr id="19" name="Shape"/>
          <p:cNvSpPr/>
          <p:nvPr/>
        </p:nvSpPr>
        <p:spPr>
          <a:xfrm>
            <a:off x="603504" y="3433572"/>
            <a:ext cx="237744" cy="237744"/>
          </a:xfrm>
          <a:prstGeom prst="ellipse">
            <a:avLst/>
          </a:prstGeom>
          <a:solidFill>
            <a:srgbClr val="00B39F"/>
          </a:solidFill>
        </p:spPr>
        <p:txBody>
          <a:bodyPr anchor="ctr"/>
          <a:lstStyle/>
          <a:p>
            <a:pPr algn="ctr"/>
            <a:r>
              <a:rPr sz="1100" b="1">
                <a:solidFill>
                  <a:srgbClr val="0B1229"/>
                </a:solidFill>
                <a:latin typeface="Segoe UI"/>
              </a:rPr>
              <a:t>5</a:t>
            </a:r>
          </a:p>
        </p:txBody>
      </p:sp>
      <p:sp>
        <p:nvSpPr>
          <p:cNvPr id="20" name="TextBox"/>
          <p:cNvSpPr txBox="1"/>
          <p:nvPr/>
        </p:nvSpPr>
        <p:spPr>
          <a:xfrm>
            <a:off x="457200" y="3086100"/>
            <a:ext cx="2785110" cy="472440"/>
          </a:xfrm>
          <a:prstGeom prst="rect">
            <a:avLst/>
          </a:prstGeom>
        </p:spPr>
        <p:txBody>
          <a:bodyPr anchor="ctr"/>
          <a:lstStyle/>
          <a:p>
            <a:r>
              <a:rPr sz="1100" b="1">
                <a:solidFill>
                  <a:srgbClr val="101A3C"/>
                </a:solidFill>
                <a:latin typeface="Segoe UI"/>
              </a:rPr>
              <a:t>Aug</a:t>
            </a:r>
          </a:p>
          <a:p>
            <a:endParaRPr sz="1100" b="1">
              <a:solidFill>
                <a:srgbClr val="101A3C"/>
              </a:solidFill>
              <a:latin typeface="Segoe UI"/>
            </a:endParaRPr>
          </a:p>
        </p:txBody>
      </p:sp>
      <p:sp>
        <p:nvSpPr>
          <p:cNvPr id="21" name="TextBox"/>
          <p:cNvSpPr txBox="1"/>
          <p:nvPr/>
        </p:nvSpPr>
        <p:spPr>
          <a:xfrm>
            <a:off x="457200" y="3689604"/>
            <a:ext cx="2785110" cy="822960"/>
          </a:xfrm>
          <a:prstGeom prst="rect">
            <a:avLst/>
          </a:prstGeom>
        </p:spPr>
        <p:txBody>
          <a:bodyPr anchor="ctr"/>
          <a:lstStyle/>
          <a:p>
            <a:r>
              <a:rPr sz="900">
                <a:solidFill>
                  <a:srgbClr val="141B33"/>
                </a:solidFill>
                <a:latin typeface="Segoe UI"/>
              </a:rPr>
              <a:t>Long-running agents docs (Preview),</a:t>
            </a:r>
          </a:p>
          <a:p>
            <a:r>
              <a:rPr sz="900">
                <a:solidFill>
                  <a:srgbClr val="141B33"/>
                </a:solidFill>
                <a:latin typeface="Segoe UI"/>
              </a:rPr>
              <a:t>Model Router region expansion,</a:t>
            </a:r>
          </a:p>
          <a:p>
            <a:r>
              <a:rPr sz="900">
                <a:solidFill>
                  <a:srgbClr val="141B33"/>
                </a:solidFill>
                <a:latin typeface="Segoe UI"/>
              </a:rPr>
              <a:t>grok-4.6 Preview, evaluation jobs</a:t>
            </a:r>
          </a:p>
          <a:p>
            <a:r>
              <a:rPr sz="900">
                <a:solidFill>
                  <a:srgbClr val="141B33"/>
                </a:solidFill>
                <a:latin typeface="Segoe UI"/>
              </a:rPr>
              <a:t>become long-running operations</a:t>
            </a:r>
          </a:p>
        </p:txBody>
      </p:sp>
      <p:sp>
        <p:nvSpPr>
          <p:cNvPr id="22" name="Shape"/>
          <p:cNvSpPr/>
          <p:nvPr/>
        </p:nvSpPr>
        <p:spPr>
          <a:xfrm>
            <a:off x="3434334" y="3433572"/>
            <a:ext cx="237744" cy="237744"/>
          </a:xfrm>
          <a:prstGeom prst="ellipse">
            <a:avLst/>
          </a:prstGeom>
          <a:solidFill>
            <a:srgbClr val="00B39F"/>
          </a:solidFill>
        </p:spPr>
        <p:txBody>
          <a:bodyPr anchor="ctr"/>
          <a:lstStyle/>
          <a:p>
            <a:pPr algn="ctr"/>
            <a:r>
              <a:rPr sz="1100" b="1">
                <a:solidFill>
                  <a:srgbClr val="0B1229"/>
                </a:solidFill>
                <a:latin typeface="Segoe UI"/>
              </a:rPr>
              <a:t>6</a:t>
            </a:r>
          </a:p>
        </p:txBody>
      </p:sp>
      <p:sp>
        <p:nvSpPr>
          <p:cNvPr id="23" name="TextBox"/>
          <p:cNvSpPr txBox="1"/>
          <p:nvPr/>
        </p:nvSpPr>
        <p:spPr>
          <a:xfrm>
            <a:off x="3288030" y="3086100"/>
            <a:ext cx="2785110" cy="472440"/>
          </a:xfrm>
          <a:prstGeom prst="rect">
            <a:avLst/>
          </a:prstGeom>
        </p:spPr>
        <p:txBody>
          <a:bodyPr anchor="ctr"/>
          <a:lstStyle/>
          <a:p>
            <a:r>
              <a:rPr sz="1100" b="1">
                <a:solidFill>
                  <a:srgbClr val="101A3C"/>
                </a:solidFill>
                <a:latin typeface="Segoe UI"/>
              </a:rPr>
              <a:t>3–16 Sep</a:t>
            </a:r>
          </a:p>
          <a:p>
            <a:endParaRPr sz="1100" b="1">
              <a:solidFill>
                <a:srgbClr val="101A3C"/>
              </a:solidFill>
              <a:latin typeface="Segoe UI"/>
            </a:endParaRPr>
          </a:p>
        </p:txBody>
      </p:sp>
      <p:sp>
        <p:nvSpPr>
          <p:cNvPr id="24" name="TextBox"/>
          <p:cNvSpPr txBox="1"/>
          <p:nvPr/>
        </p:nvSpPr>
        <p:spPr>
          <a:xfrm>
            <a:off x="3288030" y="3689604"/>
            <a:ext cx="2785110" cy="822960"/>
          </a:xfrm>
          <a:prstGeom prst="rect">
            <a:avLst/>
          </a:prstGeom>
        </p:spPr>
        <p:txBody>
          <a:bodyPr anchor="ctr"/>
          <a:lstStyle/>
          <a:p>
            <a:r>
              <a:rPr sz="900">
                <a:solidFill>
                  <a:srgbClr val="141B33"/>
                </a:solidFill>
                <a:latin typeface="Segoe UI"/>
              </a:rPr>
              <a:t>gpt-6-astra (1,050,000-token context);</a:t>
            </a:r>
          </a:p>
          <a:p>
            <a:r>
              <a:rPr sz="900">
                <a:solidFill>
                  <a:srgbClr val="141B33"/>
                </a:solidFill>
                <a:latin typeface="Segoe UI"/>
              </a:rPr>
              <a:t>A2A tool GA; Model Router reaches</a:t>
            </a:r>
          </a:p>
          <a:p>
            <a:r>
              <a:rPr sz="900">
                <a:solidFill>
                  <a:srgbClr val="141B33"/>
                </a:solidFill>
                <a:latin typeface="Segoe UI"/>
              </a:rPr>
              <a:t>32 regions</a:t>
            </a:r>
          </a:p>
        </p:txBody>
      </p:sp>
      <p:sp>
        <p:nvSpPr>
          <p:cNvPr id="25" name="Shape"/>
          <p:cNvSpPr/>
          <p:nvPr/>
        </p:nvSpPr>
        <p:spPr>
          <a:xfrm>
            <a:off x="6265164" y="3433572"/>
            <a:ext cx="237744" cy="237744"/>
          </a:xfrm>
          <a:prstGeom prst="ellipse">
            <a:avLst/>
          </a:prstGeom>
          <a:solidFill>
            <a:srgbClr val="00B39F"/>
          </a:solidFill>
        </p:spPr>
        <p:txBody>
          <a:bodyPr anchor="ctr"/>
          <a:lstStyle/>
          <a:p>
            <a:pPr algn="ctr"/>
            <a:r>
              <a:rPr sz="1100" b="1">
                <a:solidFill>
                  <a:srgbClr val="0B1229"/>
                </a:solidFill>
                <a:latin typeface="Segoe UI"/>
              </a:rPr>
              <a:t>7</a:t>
            </a:r>
          </a:p>
        </p:txBody>
      </p:sp>
      <p:sp>
        <p:nvSpPr>
          <p:cNvPr id="26" name="TextBox"/>
          <p:cNvSpPr txBox="1"/>
          <p:nvPr/>
        </p:nvSpPr>
        <p:spPr>
          <a:xfrm>
            <a:off x="6118860" y="3086100"/>
            <a:ext cx="2785110" cy="472440"/>
          </a:xfrm>
          <a:prstGeom prst="rect">
            <a:avLst/>
          </a:prstGeom>
        </p:spPr>
        <p:txBody>
          <a:bodyPr anchor="ctr"/>
          <a:lstStyle/>
          <a:p>
            <a:r>
              <a:rPr sz="1100" b="1">
                <a:solidFill>
                  <a:srgbClr val="101A3C"/>
                </a:solidFill>
                <a:latin typeface="Segoe UI"/>
              </a:rPr>
              <a:t>22–25 Sep</a:t>
            </a:r>
          </a:p>
          <a:p>
            <a:endParaRPr sz="1100" b="1">
              <a:solidFill>
                <a:srgbClr val="101A3C"/>
              </a:solidFill>
              <a:latin typeface="Segoe UI"/>
            </a:endParaRPr>
          </a:p>
        </p:txBody>
      </p:sp>
      <p:sp>
        <p:nvSpPr>
          <p:cNvPr id="27" name="TextBox"/>
          <p:cNvSpPr txBox="1"/>
          <p:nvPr/>
        </p:nvSpPr>
        <p:spPr>
          <a:xfrm>
            <a:off x="6118860" y="3689604"/>
            <a:ext cx="2785110" cy="822960"/>
          </a:xfrm>
          <a:prstGeom prst="rect">
            <a:avLst/>
          </a:prstGeom>
        </p:spPr>
        <p:txBody>
          <a:bodyPr anchor="ctr"/>
          <a:lstStyle/>
          <a:p>
            <a:r>
              <a:rPr sz="900">
                <a:solidFill>
                  <a:srgbClr val="141B33"/>
                </a:solidFill>
                <a:latin typeface="Segoe UI"/>
              </a:rPr>
              <a:t>gpt-6 luna and sol; routines and</a:t>
            </a:r>
          </a:p>
          <a:p>
            <a:r>
              <a:rPr sz="900">
                <a:solidFill>
                  <a:srgbClr val="141B33"/>
                </a:solidFill>
                <a:latin typeface="Segoe UI"/>
              </a:rPr>
              <a:t>Tool Search GA; Insights, voice agents,</a:t>
            </a:r>
          </a:p>
          <a:p>
            <a:r>
              <a:rPr sz="900">
                <a:solidFill>
                  <a:srgbClr val="141B33"/>
                </a:solidFill>
                <a:latin typeface="Segoe UI"/>
              </a:rPr>
              <a:t>prompt-agent Toolboxes, egress</a:t>
            </a:r>
          </a:p>
          <a:p>
            <a:r>
              <a:rPr sz="900">
                <a:solidFill>
                  <a:srgbClr val="141B33"/>
                </a:solidFill>
                <a:latin typeface="Segoe UI"/>
              </a:rPr>
              <a:t>controls and Flex processing Preview</a:t>
            </a:r>
          </a:p>
        </p:txBody>
      </p:sp>
      <p:sp>
        <p:nvSpPr>
          <p:cNvPr id="28" name="Shape"/>
          <p:cNvSpPr/>
          <p:nvPr/>
        </p:nvSpPr>
        <p:spPr>
          <a:xfrm>
            <a:off x="9095994" y="3433572"/>
            <a:ext cx="237744" cy="237744"/>
          </a:xfrm>
          <a:prstGeom prst="ellipse">
            <a:avLst/>
          </a:prstGeom>
          <a:solidFill>
            <a:srgbClr val="00B39F"/>
          </a:solidFill>
        </p:spPr>
        <p:txBody>
          <a:bodyPr anchor="ctr"/>
          <a:lstStyle/>
          <a:p>
            <a:pPr algn="ctr"/>
            <a:r>
              <a:rPr sz="1100" b="1">
                <a:solidFill>
                  <a:srgbClr val="0B1229"/>
                </a:solidFill>
                <a:latin typeface="Segoe UI"/>
              </a:rPr>
              <a:t>8</a:t>
            </a:r>
          </a:p>
        </p:txBody>
      </p:sp>
      <p:sp>
        <p:nvSpPr>
          <p:cNvPr id="29" name="TextBox"/>
          <p:cNvSpPr txBox="1"/>
          <p:nvPr/>
        </p:nvSpPr>
        <p:spPr>
          <a:xfrm>
            <a:off x="8949690" y="3086100"/>
            <a:ext cx="2785110" cy="472440"/>
          </a:xfrm>
          <a:prstGeom prst="rect">
            <a:avLst/>
          </a:prstGeom>
        </p:spPr>
        <p:txBody>
          <a:bodyPr anchor="ctr"/>
          <a:lstStyle/>
          <a:p>
            <a:r>
              <a:rPr sz="1100" b="1">
                <a:solidFill>
                  <a:srgbClr val="101A3C"/>
                </a:solidFill>
                <a:latin typeface="Segoe UI"/>
              </a:rPr>
              <a:t>29 Sep – 22 Oct</a:t>
            </a:r>
          </a:p>
          <a:p>
            <a:endParaRPr sz="1100" b="1">
              <a:solidFill>
                <a:srgbClr val="101A3C"/>
              </a:solidFill>
              <a:latin typeface="Segoe UI"/>
            </a:endParaRPr>
          </a:p>
        </p:txBody>
      </p:sp>
      <p:sp>
        <p:nvSpPr>
          <p:cNvPr id="30" name="TextBox"/>
          <p:cNvSpPr txBox="1"/>
          <p:nvPr/>
        </p:nvSpPr>
        <p:spPr>
          <a:xfrm>
            <a:off x="8949690" y="3689604"/>
            <a:ext cx="2785110" cy="822960"/>
          </a:xfrm>
          <a:prstGeom prst="rect">
            <a:avLst/>
          </a:prstGeom>
        </p:spPr>
        <p:txBody>
          <a:bodyPr anchor="ctr"/>
          <a:lstStyle/>
          <a:p>
            <a:r>
              <a:rPr sz="900">
                <a:solidFill>
                  <a:srgbClr val="141B33"/>
                </a:solidFill>
                <a:latin typeface="Segoe UI"/>
              </a:rPr>
              <a:t>gpt-6.1-sol GA; Foundry Local 2.1; Flex</a:t>
            </a:r>
          </a:p>
          <a:p>
            <a:r>
              <a:rPr sz="900">
                <a:solidFill>
                  <a:srgbClr val="141B33"/>
                </a:solidFill>
                <a:latin typeface="Segoe UI"/>
              </a:rPr>
              <a:t>for GPT-6; Microsoft-Decision-1 Preview</a:t>
            </a:r>
          </a:p>
          <a:p>
            <a:r>
              <a:rPr sz="900">
                <a:solidFill>
                  <a:srgbClr val="141B33"/>
                </a:solidFill>
                <a:latin typeface="Segoe UI"/>
              </a:rPr>
              <a:t>(9 Oct); browser automation tool GA</a:t>
            </a:r>
          </a:p>
          <a:p>
            <a:r>
              <a:rPr sz="900">
                <a:solidFill>
                  <a:srgbClr val="141B33"/>
                </a:solidFill>
                <a:latin typeface="Segoe UI"/>
              </a:rPr>
              <a:t>(19 Oct); Decisions API (22 Oct)</a:t>
            </a:r>
          </a:p>
        </p:txBody>
      </p:sp>
      <p:sp>
        <p:nvSpPr>
          <p:cNvPr id="31" name="Shape"/>
          <p:cNvSpPr/>
          <p:nvPr/>
        </p:nvSpPr>
        <p:spPr>
          <a:xfrm>
            <a:off x="548640" y="4700016"/>
            <a:ext cx="11094720" cy="731520"/>
          </a:xfrm>
          <a:prstGeom prst="rect">
            <a:avLst/>
          </a:prstGeom>
          <a:solidFill>
            <a:srgbClr val="101A3C"/>
          </a:solidFill>
        </p:spPr>
        <p:txBody>
          <a:bodyPr/>
          <a:lstStyle/>
          <a:p>
            <a:endParaRPr/>
          </a:p>
        </p:txBody>
      </p:sp>
      <p:sp>
        <p:nvSpPr>
          <p:cNvPr id="32" name="TextBox"/>
          <p:cNvSpPr txBox="1"/>
          <p:nvPr/>
        </p:nvSpPr>
        <p:spPr>
          <a:xfrm>
            <a:off x="676656" y="4759452"/>
            <a:ext cx="10838688" cy="548640"/>
          </a:xfrm>
          <a:prstGeom prst="rect">
            <a:avLst/>
          </a:prstGeom>
        </p:spPr>
        <p:txBody>
          <a:bodyPr anchor="ctr"/>
          <a:lstStyle/>
          <a:p>
            <a:r>
              <a:rPr sz="900">
                <a:solidFill>
                  <a:srgbClr val="FFFFFF"/>
                </a:solidFill>
                <a:latin typeface="Segoe UI"/>
              </a:rPr>
              <a:t>Still Preview, so no SLA — memory · agent guardrails · long-running agents · Work IQ · Fabric IQ · client-side tracing · Flex processing · Insights</a:t>
            </a:r>
          </a:p>
          <a:p>
            <a:r>
              <a:rPr sz="900">
                <a:solidFill>
                  <a:srgbClr val="FFFFFF"/>
                </a:solidFill>
                <a:latin typeface="Segoe UI"/>
              </a:rPr>
              <a:t>voice agents · Agent Monitoring Dashboard · most Foundry IQ knowledge sources · skills · prompt-agent Toolboxes · instant access models · managed compute</a:t>
            </a:r>
          </a:p>
          <a:p>
            <a:r>
              <a:rPr sz="900">
                <a:solidFill>
                  <a:srgbClr val="FFFFFF"/>
                </a:solidFill>
                <a:latin typeface="Segoe UI"/>
              </a:rPr>
              <a:t>egress controls · reminder tool · Microsoft-Decision-1 — newest sources dated 15–22 October 2026; Ignite 2026 has not happened.</a:t>
            </a:r>
          </a:p>
        </p:txBody>
      </p:sp>
      <p:sp>
        <p:nvSpPr>
          <p:cNvPr id="33" name="Shape"/>
          <p:cNvSpPr/>
          <p:nvPr/>
        </p:nvSpPr>
        <p:spPr>
          <a:xfrm>
            <a:off x="548640" y="5687568"/>
            <a:ext cx="11094720" cy="9525"/>
          </a:xfrm>
          <a:prstGeom prst="rect">
            <a:avLst/>
          </a:prstGeom>
          <a:solidFill>
            <a:srgbClr val="E1E7F4"/>
          </a:solidFill>
        </p:spPr>
        <p:txBody>
          <a:bodyPr/>
          <a:lstStyle/>
          <a:p>
            <a:endParaRPr/>
          </a:p>
        </p:txBody>
      </p:sp>
      <p:sp>
        <p:nvSpPr>
          <p:cNvPr id="34"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devblogs.microsoft.com/foundry — September roundup · browser automation GA · routines GA</a:t>
            </a:r>
          </a:p>
          <a:p>
            <a:endParaRPr sz="900">
              <a:solidFill>
                <a:srgbClr val="44495B"/>
              </a:solidFill>
              <a:latin typeface="Segoe UI"/>
            </a:endParaRPr>
          </a:p>
        </p:txBody>
      </p:sp>
      <p:sp>
        <p:nvSpPr>
          <p:cNvPr id="35"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26</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p:cNvSpPr txBox="1"/>
          <p:nvPr/>
        </p:nvSpPr>
        <p:spPr>
          <a:xfrm>
            <a:off x="457200" y="224028"/>
            <a:ext cx="7315200" cy="411480"/>
          </a:xfrm>
          <a:prstGeom prst="rect">
            <a:avLst/>
          </a:prstGeom>
        </p:spPr>
        <p:txBody>
          <a:bodyPr anchor="ctr"/>
          <a:lstStyle/>
          <a:p>
            <a:r>
              <a:rPr sz="900" b="1">
                <a:solidFill>
                  <a:srgbClr val="008577"/>
                </a:solidFill>
                <a:latin typeface="Segoe UI"/>
              </a:rPr>
              <a:t>R E F E R E N C E S</a:t>
            </a:r>
          </a:p>
          <a:p>
            <a:endParaRPr sz="900" b="1">
              <a:solidFill>
                <a:srgbClr val="008577"/>
              </a:solidFill>
              <a:latin typeface="Segoe UI"/>
            </a:endParaRPr>
          </a:p>
        </p:txBody>
      </p:sp>
      <p:sp>
        <p:nvSpPr>
          <p:cNvPr id="3" name="TextBox"/>
          <p:cNvSpPr txBox="1"/>
          <p:nvPr/>
        </p:nvSpPr>
        <p:spPr>
          <a:xfrm>
            <a:off x="457200" y="461772"/>
            <a:ext cx="11277600" cy="929640"/>
          </a:xfrm>
          <a:prstGeom prst="rect">
            <a:avLst/>
          </a:prstGeom>
        </p:spPr>
        <p:txBody>
          <a:bodyPr anchor="ctr"/>
          <a:lstStyle/>
          <a:p>
            <a:r>
              <a:rPr sz="2600" b="1">
                <a:solidFill>
                  <a:srgbClr val="101A3C"/>
                </a:solidFill>
                <a:latin typeface="Segoe UI"/>
              </a:rPr>
              <a:t>References</a:t>
            </a:r>
          </a:p>
          <a:p>
            <a:endParaRPr sz="2600" b="1">
              <a:solidFill>
                <a:srgbClr val="101A3C"/>
              </a:solidFill>
              <a:latin typeface="Segoe UI"/>
            </a:endParaRPr>
          </a:p>
        </p:txBody>
      </p:sp>
      <p:sp>
        <p:nvSpPr>
          <p:cNvPr id="4" name="TextBox"/>
          <p:cNvSpPr txBox="1"/>
          <p:nvPr/>
        </p:nvSpPr>
        <p:spPr>
          <a:xfrm>
            <a:off x="457200" y="937260"/>
            <a:ext cx="11277600" cy="502919"/>
          </a:xfrm>
          <a:prstGeom prst="rect">
            <a:avLst/>
          </a:prstGeom>
        </p:spPr>
        <p:txBody>
          <a:bodyPr anchor="ctr"/>
          <a:lstStyle/>
          <a:p>
            <a:r>
              <a:rPr sz="1200">
                <a:solidFill>
                  <a:srgbClr val="44495B"/>
                </a:solidFill>
                <a:latin typeface="Segoe UI"/>
              </a:rPr>
              <a:t>Microsoft Learn, Foundry developer blog and GitHub pages behind this session.</a:t>
            </a:r>
          </a:p>
          <a:p>
            <a:endParaRPr sz="1200">
              <a:solidFill>
                <a:srgbClr val="44495B"/>
              </a:solidFill>
              <a:latin typeface="Segoe UI"/>
            </a:endParaRPr>
          </a:p>
        </p:txBody>
      </p:sp>
      <p:sp>
        <p:nvSpPr>
          <p:cNvPr id="5" name="Shape"/>
          <p:cNvSpPr/>
          <p:nvPr/>
        </p:nvSpPr>
        <p:spPr>
          <a:xfrm>
            <a:off x="548640" y="1417320"/>
            <a:ext cx="6126480" cy="3797807"/>
          </a:xfrm>
          <a:prstGeom prst="rect">
            <a:avLst/>
          </a:prstGeom>
          <a:solidFill>
            <a:srgbClr val="F6F8FD"/>
          </a:solidFill>
          <a:ln w="9525">
            <a:solidFill>
              <a:srgbClr val="E1E7F4"/>
            </a:solidFill>
          </a:ln>
        </p:spPr>
        <p:txBody>
          <a:bodyPr/>
          <a:lstStyle/>
          <a:p>
            <a:endParaRPr/>
          </a:p>
        </p:txBody>
      </p:sp>
      <p:sp>
        <p:nvSpPr>
          <p:cNvPr id="6" name="Shape"/>
          <p:cNvSpPr/>
          <p:nvPr/>
        </p:nvSpPr>
        <p:spPr>
          <a:xfrm>
            <a:off x="548640" y="1417320"/>
            <a:ext cx="6126480" cy="38405"/>
          </a:xfrm>
          <a:prstGeom prst="rect">
            <a:avLst/>
          </a:prstGeom>
          <a:solidFill>
            <a:srgbClr val="101A3C"/>
          </a:solidFill>
        </p:spPr>
        <p:txBody>
          <a:bodyPr/>
          <a:lstStyle/>
          <a:p>
            <a:endParaRPr/>
          </a:p>
        </p:txBody>
      </p:sp>
      <p:sp>
        <p:nvSpPr>
          <p:cNvPr id="7" name="TextBox"/>
          <p:cNvSpPr txBox="1"/>
          <p:nvPr/>
        </p:nvSpPr>
        <p:spPr>
          <a:xfrm>
            <a:off x="603504" y="1540764"/>
            <a:ext cx="6016752" cy="472440"/>
          </a:xfrm>
          <a:prstGeom prst="rect">
            <a:avLst/>
          </a:prstGeom>
        </p:spPr>
        <p:txBody>
          <a:bodyPr anchor="ctr"/>
          <a:lstStyle/>
          <a:p>
            <a:r>
              <a:rPr sz="1100" b="1">
                <a:solidFill>
                  <a:srgbClr val="101A3C"/>
                </a:solidFill>
                <a:latin typeface="Segoe UI"/>
              </a:rPr>
              <a:t>Microsoft Learn — learn.microsoft.com/</a:t>
            </a:r>
          </a:p>
          <a:p>
            <a:endParaRPr sz="1100" b="1">
              <a:solidFill>
                <a:srgbClr val="101A3C"/>
              </a:solidFill>
              <a:latin typeface="Segoe UI"/>
            </a:endParaRPr>
          </a:p>
        </p:txBody>
      </p:sp>
      <p:sp>
        <p:nvSpPr>
          <p:cNvPr id="8" name="TextBox"/>
          <p:cNvSpPr txBox="1"/>
          <p:nvPr/>
        </p:nvSpPr>
        <p:spPr>
          <a:xfrm>
            <a:off x="603504" y="1845564"/>
            <a:ext cx="6016752" cy="3291840"/>
          </a:xfrm>
          <a:prstGeom prst="rect">
            <a:avLst/>
          </a:prstGeom>
        </p:spPr>
        <p:txBody>
          <a:bodyPr anchor="t"/>
          <a:lstStyle/>
          <a:p>
            <a:r>
              <a:rPr sz="900">
                <a:solidFill>
                  <a:srgbClr val="141B33"/>
                </a:solidFill>
                <a:latin typeface="Segoe UI"/>
              </a:rPr>
              <a:t>azure/foundry/what-is-foundry · concepts/architecture</a:t>
            </a:r>
          </a:p>
          <a:p>
            <a:r>
              <a:rPr sz="900">
                <a:solidFill>
                  <a:srgbClr val="141B33"/>
                </a:solidFill>
                <a:latin typeface="Segoe UI"/>
              </a:rPr>
              <a:t>azure/foundry/concepts/capability-reference</a:t>
            </a:r>
          </a:p>
          <a:p>
            <a:r>
              <a:rPr sz="900">
                <a:solidFill>
                  <a:srgbClr val="141B33"/>
                </a:solidFill>
                <a:latin typeface="Segoe UI"/>
              </a:rPr>
              <a:t>azure/foundry/how-to/develop/sdk-overview · ai.azure.com/api-reference</a:t>
            </a:r>
          </a:p>
          <a:p>
            <a:r>
              <a:rPr sz="900">
                <a:solidFill>
                  <a:srgbClr val="141B33"/>
                </a:solidFill>
                <a:latin typeface="Segoe UI"/>
              </a:rPr>
              <a:t>azure/foundry/foundry-models/concepts/deployment-types</a:t>
            </a:r>
          </a:p>
          <a:p>
            <a:r>
              <a:rPr sz="900">
                <a:solidFill>
                  <a:srgbClr val="141B33"/>
                </a:solidFill>
                <a:latin typeface="Segoe UI"/>
              </a:rPr>
              <a:t>azure/foundry/foundry-models/concepts/models-sold-directly-by-azure · how-to/use-foundry-models-microsoft-decision</a:t>
            </a:r>
          </a:p>
          <a:p>
            <a:r>
              <a:rPr sz="900">
                <a:solidFill>
                  <a:srgbClr val="141B33"/>
                </a:solidFill>
                <a:latin typeface="Segoe UI"/>
              </a:rPr>
              <a:t>azure/foundry/openai/concepts/priority-processing · how-to/flex-processing · model-router · how-to/decisions</a:t>
            </a:r>
          </a:p>
          <a:p>
            <a:r>
              <a:rPr sz="900">
                <a:solidFill>
                  <a:srgbClr val="141B33"/>
                </a:solidFill>
                <a:latin typeface="Segoe UI"/>
              </a:rPr>
              <a:t>azure/foundry/agents/concepts/toolbox-overview · how-to/tools/browser-automation</a:t>
            </a:r>
          </a:p>
          <a:p>
            <a:r>
              <a:rPr sz="900">
                <a:solidFill>
                  <a:srgbClr val="141B33"/>
                </a:solidFill>
                <a:latin typeface="Segoe UI"/>
              </a:rPr>
              <a:t>azure/search/agentic-retrieval-overview</a:t>
            </a:r>
          </a:p>
          <a:p>
            <a:r>
              <a:rPr sz="900">
                <a:solidFill>
                  <a:srgbClr val="141B33"/>
                </a:solidFill>
                <a:latin typeface="Segoe UI"/>
              </a:rPr>
              <a:t>azure/foundry/agents/how-to/tools/work-iq · tools/fabric-iq</a:t>
            </a:r>
          </a:p>
          <a:p>
            <a:r>
              <a:rPr sz="900">
                <a:solidFill>
                  <a:srgbClr val="141B33"/>
                </a:solidFill>
                <a:latin typeface="Segoe UI"/>
              </a:rPr>
              <a:t>azure/foundry/agents/overview · concepts/hosted-agents · how-to/configure-voice-agent</a:t>
            </a:r>
          </a:p>
          <a:p>
            <a:r>
              <a:rPr sz="900">
                <a:solidFill>
                  <a:srgbClr val="141B33"/>
                </a:solidFill>
                <a:latin typeface="Segoe UI"/>
              </a:rPr>
              <a:t>azure/foundry/agents/concepts/long-running-agent-resilience</a:t>
            </a:r>
          </a:p>
          <a:p>
            <a:r>
              <a:rPr sz="900">
                <a:solidFill>
                  <a:srgbClr val="141B33"/>
                </a:solidFill>
                <a:latin typeface="Segoe UI"/>
              </a:rPr>
              <a:t>azure/foundry/agents/how-to/manage-task-state</a:t>
            </a:r>
          </a:p>
          <a:p>
            <a:r>
              <a:rPr sz="900">
                <a:solidFill>
                  <a:srgbClr val="141B33"/>
                </a:solidFill>
                <a:latin typeface="Segoe UI"/>
              </a:rPr>
              <a:t>agent-framework/overview</a:t>
            </a:r>
          </a:p>
          <a:p>
            <a:r>
              <a:rPr sz="900">
                <a:solidFill>
                  <a:srgbClr val="141B33"/>
                </a:solidFill>
                <a:latin typeface="Segoe UI"/>
              </a:rPr>
              <a:t>azure/foundry/control-plane/overview · observability/how-to/agent-insights</a:t>
            </a:r>
          </a:p>
          <a:p>
            <a:r>
              <a:rPr sz="900">
                <a:solidFill>
                  <a:srgbClr val="141B33"/>
                </a:solidFill>
                <a:latin typeface="Segoe UI"/>
              </a:rPr>
              <a:t>azure/foundry/guardrails/guardrails-overview</a:t>
            </a:r>
          </a:p>
          <a:p>
            <a:r>
              <a:rPr sz="900">
                <a:solidFill>
                  <a:srgbClr val="141B33"/>
                </a:solidFill>
                <a:latin typeface="Segoe UI"/>
              </a:rPr>
              <a:t>azure/ai-services/content-safety/overview</a:t>
            </a:r>
          </a:p>
          <a:p>
            <a:r>
              <a:rPr sz="900">
                <a:solidFill>
                  <a:srgbClr val="141B33"/>
                </a:solidFill>
                <a:latin typeface="Segoe UI"/>
              </a:rPr>
              <a:t>azure/foundry/concepts/built-in-evaluators</a:t>
            </a:r>
          </a:p>
          <a:p>
            <a:r>
              <a:rPr sz="900">
                <a:solidFill>
                  <a:srgbClr val="141B33"/>
                </a:solidFill>
                <a:latin typeface="Segoe UI"/>
              </a:rPr>
              <a:t>azure/foundry/observability/how-to/cloud-evaluation-targets</a:t>
            </a:r>
          </a:p>
          <a:p>
            <a:r>
              <a:rPr sz="900">
                <a:solidFill>
                  <a:srgbClr val="141B33"/>
                </a:solidFill>
                <a:latin typeface="Segoe UI"/>
              </a:rPr>
              <a:t>azure/foundry/observability/how-to/trace-agent-client-side</a:t>
            </a:r>
          </a:p>
          <a:p>
            <a:r>
              <a:rPr sz="900">
                <a:solidFill>
                  <a:srgbClr val="141B33"/>
                </a:solidFill>
                <a:latin typeface="Segoe UI"/>
              </a:rPr>
              <a:t>azure/architecture/ai-ml/architecture/baseline-microsoft-foundry-chat</a:t>
            </a:r>
          </a:p>
        </p:txBody>
      </p:sp>
      <p:sp>
        <p:nvSpPr>
          <p:cNvPr id="9" name="Shape"/>
          <p:cNvSpPr/>
          <p:nvPr/>
        </p:nvSpPr>
        <p:spPr>
          <a:xfrm>
            <a:off x="6949440" y="1417320"/>
            <a:ext cx="4693920" cy="2148840"/>
          </a:xfrm>
          <a:prstGeom prst="rect">
            <a:avLst/>
          </a:prstGeom>
          <a:solidFill>
            <a:srgbClr val="F6F8FD"/>
          </a:solidFill>
          <a:ln w="9525">
            <a:solidFill>
              <a:srgbClr val="E1E7F4"/>
            </a:solidFill>
          </a:ln>
        </p:spPr>
        <p:txBody>
          <a:bodyPr/>
          <a:lstStyle/>
          <a:p>
            <a:endParaRPr/>
          </a:p>
        </p:txBody>
      </p:sp>
      <p:sp>
        <p:nvSpPr>
          <p:cNvPr id="10" name="Shape"/>
          <p:cNvSpPr/>
          <p:nvPr/>
        </p:nvSpPr>
        <p:spPr>
          <a:xfrm>
            <a:off x="6949440" y="1417320"/>
            <a:ext cx="4693920" cy="38405"/>
          </a:xfrm>
          <a:prstGeom prst="rect">
            <a:avLst/>
          </a:prstGeom>
          <a:solidFill>
            <a:srgbClr val="00B39F"/>
          </a:solidFill>
        </p:spPr>
        <p:txBody>
          <a:bodyPr/>
          <a:lstStyle/>
          <a:p>
            <a:endParaRPr/>
          </a:p>
        </p:txBody>
      </p:sp>
      <p:sp>
        <p:nvSpPr>
          <p:cNvPr id="11" name="TextBox"/>
          <p:cNvSpPr txBox="1"/>
          <p:nvPr/>
        </p:nvSpPr>
        <p:spPr>
          <a:xfrm>
            <a:off x="7004304" y="1540764"/>
            <a:ext cx="4584192" cy="472440"/>
          </a:xfrm>
          <a:prstGeom prst="rect">
            <a:avLst/>
          </a:prstGeom>
        </p:spPr>
        <p:txBody>
          <a:bodyPr anchor="ctr"/>
          <a:lstStyle/>
          <a:p>
            <a:r>
              <a:rPr sz="1100" b="1">
                <a:solidFill>
                  <a:srgbClr val="101A3C"/>
                </a:solidFill>
                <a:latin typeface="Segoe UI"/>
              </a:rPr>
              <a:t>Blog and code</a:t>
            </a:r>
          </a:p>
        </p:txBody>
      </p:sp>
      <p:sp>
        <p:nvSpPr>
          <p:cNvPr id="12" name="TextBox"/>
          <p:cNvSpPr txBox="1"/>
          <p:nvPr/>
        </p:nvSpPr>
        <p:spPr>
          <a:xfrm>
            <a:off x="7004304" y="1845564"/>
            <a:ext cx="4584192" cy="1737360"/>
          </a:xfrm>
          <a:prstGeom prst="rect">
            <a:avLst/>
          </a:prstGeom>
        </p:spPr>
        <p:txBody>
          <a:bodyPr wrap="square" anchor="ctr"/>
          <a:lstStyle/>
          <a:p>
            <a:r>
              <a:rPr sz="900">
                <a:solidFill>
                  <a:srgbClr val="141B33"/>
                </a:solidFill>
                <a:latin typeface="Segoe UI"/>
              </a:rPr>
              <a:t>devblogs.microsoft.com/foundry — What's new in Microsoft Foundry: Build 2026 (2 June 2026), July–August 2026 (9 September 2026) and September 2026 (15 October 2026); browser automation tool GA (19 October 2026)</a:t>
            </a:r>
          </a:p>
          <a:p>
            <a:pPr>
              <a:spcBef>
                <a:spcPts val="300"/>
              </a:spcBef>
            </a:pPr>
            <a:r>
              <a:rPr sz="900">
                <a:solidFill>
                  <a:srgbClr val="141B33"/>
                </a:solidFill>
                <a:latin typeface="Segoe UI"/>
              </a:rPr>
              <a:t>devblogs.microsoft.com/agent-framework — Microsoft Agent Framework version 1.0 (3 April 2026)</a:t>
            </a:r>
          </a:p>
          <a:p>
            <a:pPr>
              <a:spcBef>
                <a:spcPts val="300"/>
              </a:spcBef>
            </a:pPr>
            <a:r>
              <a:rPr sz="900">
                <a:solidFill>
                  <a:srgbClr val="141B33"/>
                </a:solidFill>
                <a:latin typeface="Segoe UI"/>
              </a:rPr>
              <a:t>github.com/microsoft/agent-framework — SDK, samples and release notes</a:t>
            </a:r>
          </a:p>
          <a:p>
            <a:pPr>
              <a:spcBef>
                <a:spcPts val="300"/>
              </a:spcBef>
            </a:pPr>
            <a:r>
              <a:rPr sz="900">
                <a:solidFill>
                  <a:srgbClr val="141B33"/>
                </a:solidFill>
                <a:latin typeface="Segoe UI"/>
              </a:rPr>
              <a:t>github.com/microsoft-foundry/foundry-samples — Bicep, Python and Terraform samples used in the Foundry documentation</a:t>
            </a:r>
          </a:p>
          <a:p>
            <a:pPr>
              <a:spcBef>
                <a:spcPts val="300"/>
              </a:spcBef>
            </a:pPr>
            <a:r>
              <a:rPr sz="900">
                <a:solidFill>
                  <a:srgbClr val="141B33"/>
                </a:solidFill>
                <a:latin typeface="Segoe UI"/>
              </a:rPr>
              <a:t>ai.azure.com/api-reference — Foundry API reference and Foundry-Features header</a:t>
            </a:r>
          </a:p>
        </p:txBody>
      </p:sp>
      <p:sp>
        <p:nvSpPr>
          <p:cNvPr id="13" name="Shape"/>
          <p:cNvSpPr/>
          <p:nvPr/>
        </p:nvSpPr>
        <p:spPr>
          <a:xfrm>
            <a:off x="6949440" y="3785615"/>
            <a:ext cx="4693920" cy="1417320"/>
          </a:xfrm>
          <a:prstGeom prst="rect">
            <a:avLst/>
          </a:prstGeom>
          <a:solidFill>
            <a:srgbClr val="F6F8FD"/>
          </a:solidFill>
          <a:ln w="9525">
            <a:solidFill>
              <a:srgbClr val="E1E7F4"/>
            </a:solidFill>
          </a:ln>
        </p:spPr>
        <p:txBody>
          <a:bodyPr/>
          <a:lstStyle/>
          <a:p>
            <a:endParaRPr/>
          </a:p>
        </p:txBody>
      </p:sp>
      <p:sp>
        <p:nvSpPr>
          <p:cNvPr id="14" name="Shape"/>
          <p:cNvSpPr/>
          <p:nvPr/>
        </p:nvSpPr>
        <p:spPr>
          <a:xfrm>
            <a:off x="6949440" y="3749039"/>
            <a:ext cx="4693920" cy="38405"/>
          </a:xfrm>
          <a:prstGeom prst="rect">
            <a:avLst/>
          </a:prstGeom>
          <a:solidFill>
            <a:srgbClr val="101A3C"/>
          </a:solidFill>
        </p:spPr>
        <p:txBody>
          <a:bodyPr/>
          <a:lstStyle/>
          <a:p>
            <a:endParaRPr/>
          </a:p>
        </p:txBody>
      </p:sp>
      <p:sp>
        <p:nvSpPr>
          <p:cNvPr id="15" name="TextBox"/>
          <p:cNvSpPr txBox="1"/>
          <p:nvPr/>
        </p:nvSpPr>
        <p:spPr>
          <a:xfrm>
            <a:off x="7004304" y="3877056"/>
            <a:ext cx="4584192" cy="472440"/>
          </a:xfrm>
          <a:prstGeom prst="rect">
            <a:avLst/>
          </a:prstGeom>
        </p:spPr>
        <p:txBody>
          <a:bodyPr anchor="ctr"/>
          <a:lstStyle/>
          <a:p>
            <a:r>
              <a:rPr sz="1100" b="1">
                <a:solidFill>
                  <a:srgbClr val="101A3C"/>
                </a:solidFill>
                <a:latin typeface="Segoe UI"/>
              </a:rPr>
              <a:t>Staying current</a:t>
            </a:r>
          </a:p>
        </p:txBody>
      </p:sp>
      <p:sp>
        <p:nvSpPr>
          <p:cNvPr id="16" name="TextBox"/>
          <p:cNvSpPr txBox="1"/>
          <p:nvPr/>
        </p:nvSpPr>
        <p:spPr>
          <a:xfrm>
            <a:off x="7004304" y="4178808"/>
            <a:ext cx="4584192" cy="822960"/>
          </a:xfrm>
          <a:prstGeom prst="rect">
            <a:avLst/>
          </a:prstGeom>
        </p:spPr>
        <p:txBody>
          <a:bodyPr anchor="ctr"/>
          <a:lstStyle/>
          <a:p>
            <a:r>
              <a:rPr sz="900">
                <a:solidFill>
                  <a:srgbClr val="141B33"/>
                </a:solidFill>
                <a:latin typeface="Segoe UI"/>
              </a:rPr>
              <a:t>learn.microsoft.com/azure/foundry/whats-new-foundry lists new and updated articles each month; the Foundry developer blog publishes a roundup after each release wave. Preview features carry no service level agreement and can change before general availability.</a:t>
            </a:r>
          </a:p>
        </p:txBody>
      </p:sp>
      <p:sp>
        <p:nvSpPr>
          <p:cNvPr id="17" name="Shape"/>
          <p:cNvSpPr/>
          <p:nvPr/>
        </p:nvSpPr>
        <p:spPr>
          <a:xfrm>
            <a:off x="548640" y="5687568"/>
            <a:ext cx="11094720" cy="9525"/>
          </a:xfrm>
          <a:prstGeom prst="rect">
            <a:avLst/>
          </a:prstGeom>
          <a:solidFill>
            <a:srgbClr val="E1E7F4"/>
          </a:solidFill>
        </p:spPr>
        <p:txBody>
          <a:bodyPr/>
          <a:lstStyle/>
          <a:p>
            <a:endParaRPr/>
          </a:p>
        </p:txBody>
      </p:sp>
      <p:sp>
        <p:nvSpPr>
          <p:cNvPr id="18" name="TextBox"/>
          <p:cNvSpPr txBox="1"/>
          <p:nvPr/>
        </p:nvSpPr>
        <p:spPr>
          <a:xfrm>
            <a:off x="457200" y="5801868"/>
            <a:ext cx="7863840" cy="411480"/>
          </a:xfrm>
          <a:prstGeom prst="rect">
            <a:avLst/>
          </a:prstGeom>
        </p:spPr>
        <p:txBody>
          <a:bodyPr anchor="ctr"/>
          <a:lstStyle/>
          <a:p>
            <a:r>
              <a:rPr sz="900">
                <a:solidFill>
                  <a:srgbClr val="44495B"/>
                </a:solidFill>
                <a:latin typeface="Segoe UI"/>
              </a:rPr>
              <a:t>Source: learn.microsoft.com/azure/foundry/whats-new-foundry</a:t>
            </a:r>
          </a:p>
          <a:p>
            <a:endParaRPr sz="900">
              <a:solidFill>
                <a:srgbClr val="44495B"/>
              </a:solidFill>
              <a:latin typeface="Segoe UI"/>
            </a:endParaRPr>
          </a:p>
        </p:txBody>
      </p:sp>
      <p:sp>
        <p:nvSpPr>
          <p:cNvPr id="19" name="TextBox"/>
          <p:cNvSpPr txBox="1"/>
          <p:nvPr/>
        </p:nvSpPr>
        <p:spPr>
          <a:xfrm>
            <a:off x="8412480" y="5801868"/>
            <a:ext cx="3319272" cy="274320"/>
          </a:xfrm>
          <a:prstGeom prst="rect">
            <a:avLst/>
          </a:prstGeom>
        </p:spPr>
        <p:txBody>
          <a:bodyPr wrap="none"/>
          <a:lstStyle/>
          <a:p>
            <a:pPr algn="r"/>
            <a:r>
              <a:rPr sz="900">
                <a:solidFill>
                  <a:srgbClr val="44495B"/>
                </a:solidFill>
                <a:latin typeface="Segoe UI"/>
              </a:rPr>
              <a:t>Microsoft Foundry · October 2026 · 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Metadata/LabelInfo.xml><?xml version="1.0" encoding="utf-8"?>
<clbl:labelList xmlns:clbl="http://schemas.microsoft.com/office/2020/mipLabelMetadata">
  <clbl:label id="{87867195-f2b8-4ac2-b0b6-6bb73cb33afc}" enabled="1" method="Privileged" siteId="{72f988bf-86f1-41af-91ab-2d7cd011db47}" removed="0"/>
</clbl:labelList>
</file>

<file path=docProps/app.xml><?xml version="1.0" encoding="utf-8"?>
<Properties xmlns="http://schemas.openxmlformats.org/officeDocument/2006/extended-properties" xmlns:vt="http://schemas.openxmlformats.org/officeDocument/2006/docPropsVTypes">
  <TotalTime>1</TotalTime>
  <Words>21399</Words>
  <Application>Microsoft Office PowerPoint</Application>
  <PresentationFormat>Widescreen</PresentationFormat>
  <Paragraphs>1734</Paragraphs>
  <Slides>27</Slides>
  <Notes>27</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
  <cp:lastModifiedBy>Alex Sachelarescu</cp:lastModifiedBy>
  <cp:revision>60</cp:revision>
  <dcterms:created xsi:type="dcterms:W3CDTF">2026-09-11T13:27:13Z</dcterms:created>
  <dcterms:modified xsi:type="dcterms:W3CDTF">2026-10-30T08:12:19Z</dcterms:modified>
  <cp:category/>
</cp:coreProperties>
</file>