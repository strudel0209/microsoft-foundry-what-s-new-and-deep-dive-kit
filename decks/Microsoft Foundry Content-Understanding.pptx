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5F6272-E5CC-47A4-8D65-EA77167209E1}" v="3" dt="2026-10-14T14:12:20.5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3" d="100"/>
          <a:sy n="123" d="100"/>
        </p:scale>
        <p:origin x="96" y="26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9E5F6272-E5CC-47A4-8D65-EA77167209E1}"/>
    <pc:docChg chg="modSld">
      <pc:chgData name="" userId="" providerId="" clId="Web-{9E5F6272-E5CC-47A4-8D65-EA77167209E1}" dt="2026-10-14T14:12:20.595" v="3" actId="34807"/>
      <pc:docMkLst>
        <pc:docMk/>
      </pc:docMkLst>
      <pc:sldChg chg="modNotesTx">
        <pc:chgData name="" userId="" providerId="" clId="Web-{9E5F6272-E5CC-47A4-8D65-EA77167209E1}" dt="2026-10-14T14:10:08.967" v="0" actId="34807"/>
        <pc:sldMkLst>
          <pc:docMk/>
          <pc:sldMk cId="0" sldId="256"/>
        </pc:sldMkLst>
      </pc:sldChg>
      <pc:sldChg chg="modSp modNotesTx">
        <pc:chgData name="" userId="" providerId="" clId="Web-{9E5F6272-E5CC-47A4-8D65-EA77167209E1}" dt="2026-10-14T14:10:08.967" v="0" actId="34807"/>
        <pc:sldMkLst>
          <pc:docMk/>
          <pc:sldMk cId="0" sldId="257"/>
        </pc:sldMkLst>
        <pc:spChg chg="mod">
          <ac:chgData name="" userId="" providerId="" clId="Web-{9E5F6272-E5CC-47A4-8D65-EA77167209E1}" dt="2026-10-14T14:10:08.967" v="0" actId="34807"/>
          <ac:spMkLst>
            <pc:docMk/>
            <pc:sldMk cId="0" sldId="257"/>
            <ac:spMk id="29" creationId="{00000000-0000-0000-0000-000000000000}"/>
          </ac:spMkLst>
        </pc:spChg>
        <pc:spChg chg="mod">
          <ac:chgData name="" userId="" providerId="" clId="Web-{9E5F6272-E5CC-47A4-8D65-EA77167209E1}" dt="2026-10-14T14:10:08.967" v="0" actId="34807"/>
          <ac:spMkLst>
            <pc:docMk/>
            <pc:sldMk cId="0" sldId="257"/>
            <ac:spMk id="35" creationId="{00000000-0000-0000-0000-000000000000}"/>
          </ac:spMkLst>
        </pc:spChg>
      </pc:sldChg>
      <pc:sldChg chg="modSp modNotesTx">
        <pc:chgData name="" userId="" providerId="" clId="Web-{9E5F6272-E5CC-47A4-8D65-EA77167209E1}" dt="2026-10-14T14:10:11.451" v="1" actId="34807"/>
        <pc:sldMkLst>
          <pc:docMk/>
          <pc:sldMk cId="0" sldId="258"/>
        </pc:sldMkLst>
        <pc:spChg chg="mod">
          <ac:chgData name="" userId="" providerId="" clId="Web-{9E5F6272-E5CC-47A4-8D65-EA77167209E1}" dt="2026-10-14T14:10:08.967" v="0" actId="34807"/>
          <ac:spMkLst>
            <pc:docMk/>
            <pc:sldMk cId="0" sldId="258"/>
            <ac:spMk id="8" creationId="{00000000-0000-0000-0000-000000000000}"/>
          </ac:spMkLst>
        </pc:spChg>
        <pc:spChg chg="mod">
          <ac:chgData name="" userId="" providerId="" clId="Web-{9E5F6272-E5CC-47A4-8D65-EA77167209E1}" dt="2026-10-14T14:10:11.451" v="1" actId="34807"/>
          <ac:spMkLst>
            <pc:docMk/>
            <pc:sldMk cId="0" sldId="258"/>
            <ac:spMk id="10" creationId="{00000000-0000-0000-0000-000000000000}"/>
          </ac:spMkLst>
        </pc:spChg>
        <pc:spChg chg="mod">
          <ac:chgData name="" userId="" providerId="" clId="Web-{9E5F6272-E5CC-47A4-8D65-EA77167209E1}" dt="2026-10-14T14:10:08.967" v="0" actId="34807"/>
          <ac:spMkLst>
            <pc:docMk/>
            <pc:sldMk cId="0" sldId="258"/>
            <ac:spMk id="18" creationId="{00000000-0000-0000-0000-000000000000}"/>
          </ac:spMkLst>
        </pc:spChg>
        <pc:spChg chg="mod">
          <ac:chgData name="" userId="" providerId="" clId="Web-{9E5F6272-E5CC-47A4-8D65-EA77167209E1}" dt="2026-10-14T14:10:08.967" v="0" actId="34807"/>
          <ac:spMkLst>
            <pc:docMk/>
            <pc:sldMk cId="0" sldId="258"/>
            <ac:spMk id="25" creationId="{00000000-0000-0000-0000-000000000000}"/>
          </ac:spMkLst>
        </pc:spChg>
        <pc:spChg chg="mod">
          <ac:chgData name="" userId="" providerId="" clId="Web-{9E5F6272-E5CC-47A4-8D65-EA77167209E1}" dt="2026-10-14T14:10:08.967" v="0" actId="34807"/>
          <ac:spMkLst>
            <pc:docMk/>
            <pc:sldMk cId="0" sldId="258"/>
            <ac:spMk id="26" creationId="{00000000-0000-0000-0000-000000000000}"/>
          </ac:spMkLst>
        </pc:spChg>
        <pc:spChg chg="mod">
          <ac:chgData name="" userId="" providerId="" clId="Web-{9E5F6272-E5CC-47A4-8D65-EA77167209E1}" dt="2026-10-14T14:10:08.967" v="0" actId="34807"/>
          <ac:spMkLst>
            <pc:docMk/>
            <pc:sldMk cId="0" sldId="258"/>
            <ac:spMk id="34" creationId="{00000000-0000-0000-0000-000000000000}"/>
          </ac:spMkLst>
        </pc:spChg>
      </pc:sldChg>
      <pc:sldChg chg="modSp modNotesTx">
        <pc:chgData name="" userId="" providerId="" clId="Web-{9E5F6272-E5CC-47A4-8D65-EA77167209E1}" dt="2026-10-14T14:10:08.967" v="0" actId="34807"/>
        <pc:sldMkLst>
          <pc:docMk/>
          <pc:sldMk cId="0" sldId="259"/>
        </pc:sldMkLst>
        <pc:spChg chg="mod">
          <ac:chgData name="" userId="" providerId="" clId="Web-{9E5F6272-E5CC-47A4-8D65-EA77167209E1}" dt="2026-10-14T14:10:08.967" v="0" actId="34807"/>
          <ac:spMkLst>
            <pc:docMk/>
            <pc:sldMk cId="0" sldId="259"/>
            <ac:spMk id="26" creationId="{00000000-0000-0000-0000-000000000000}"/>
          </ac:spMkLst>
        </pc:spChg>
        <pc:spChg chg="mod">
          <ac:chgData name="" userId="" providerId="" clId="Web-{9E5F6272-E5CC-47A4-8D65-EA77167209E1}" dt="2026-10-14T14:10:08.967" v="0" actId="34807"/>
          <ac:spMkLst>
            <pc:docMk/>
            <pc:sldMk cId="0" sldId="259"/>
            <ac:spMk id="41" creationId="{00000000-0000-0000-0000-000000000000}"/>
          </ac:spMkLst>
        </pc:spChg>
        <pc:spChg chg="mod">
          <ac:chgData name="" userId="" providerId="" clId="Web-{9E5F6272-E5CC-47A4-8D65-EA77167209E1}" dt="2026-10-14T14:10:08.967" v="0" actId="34807"/>
          <ac:spMkLst>
            <pc:docMk/>
            <pc:sldMk cId="0" sldId="259"/>
            <ac:spMk id="46" creationId="{00000000-0000-0000-0000-000000000000}"/>
          </ac:spMkLst>
        </pc:spChg>
      </pc:sldChg>
      <pc:sldChg chg="modSp modNotesTx">
        <pc:chgData name="" userId="" providerId="" clId="Web-{9E5F6272-E5CC-47A4-8D65-EA77167209E1}" dt="2026-10-14T14:12:20.595" v="3" actId="34807"/>
        <pc:sldMkLst>
          <pc:docMk/>
          <pc:sldMk cId="0" sldId="260"/>
        </pc:sldMkLst>
        <pc:spChg chg="mod">
          <ac:chgData name="" userId="" providerId="" clId="Web-{9E5F6272-E5CC-47A4-8D65-EA77167209E1}" dt="2026-10-14T14:10:08.967" v="0" actId="34807"/>
          <ac:spMkLst>
            <pc:docMk/>
            <pc:sldMk cId="0" sldId="260"/>
            <ac:spMk id="4" creationId="{00000000-0000-0000-0000-000000000000}"/>
          </ac:spMkLst>
        </pc:spChg>
        <pc:spChg chg="mod">
          <ac:chgData name="" userId="" providerId="" clId="Web-{9E5F6272-E5CC-47A4-8D65-EA77167209E1}" dt="2026-10-14T14:10:08.967" v="0" actId="34807"/>
          <ac:spMkLst>
            <pc:docMk/>
            <pc:sldMk cId="0" sldId="260"/>
            <ac:spMk id="7" creationId="{00000000-0000-0000-0000-000000000000}"/>
          </ac:spMkLst>
        </pc:spChg>
        <pc:spChg chg="mod">
          <ac:chgData name="" userId="" providerId="" clId="Web-{9E5F6272-E5CC-47A4-8D65-EA77167209E1}" dt="2026-10-14T14:10:08.967" v="0" actId="34807"/>
          <ac:spMkLst>
            <pc:docMk/>
            <pc:sldMk cId="0" sldId="260"/>
            <ac:spMk id="29" creationId="{00000000-0000-0000-0000-000000000000}"/>
          </ac:spMkLst>
        </pc:spChg>
        <pc:spChg chg="mod">
          <ac:chgData name="" userId="" providerId="" clId="Web-{9E5F6272-E5CC-47A4-8D65-EA77167209E1}" dt="2026-10-14T14:12:20.595" v="3" actId="34807"/>
          <ac:spMkLst>
            <pc:docMk/>
            <pc:sldMk cId="0" sldId="260"/>
            <ac:spMk id="40" creationId="{00000000-0000-0000-0000-000000000000}"/>
          </ac:spMkLst>
        </pc:spChg>
        <pc:spChg chg="mod">
          <ac:chgData name="" userId="" providerId="" clId="Web-{9E5F6272-E5CC-47A4-8D65-EA77167209E1}" dt="2026-10-14T14:10:08.967" v="0" actId="34807"/>
          <ac:spMkLst>
            <pc:docMk/>
            <pc:sldMk cId="0" sldId="260"/>
            <ac:spMk id="44" creationId="{00000000-0000-0000-0000-000000000000}"/>
          </ac:spMkLst>
        </pc:spChg>
      </pc:sldChg>
      <pc:sldChg chg="modSp modNotesTx">
        <pc:chgData name="" userId="" providerId="" clId="Web-{9E5F6272-E5CC-47A4-8D65-EA77167209E1}" dt="2026-10-14T14:10:08.967" v="0" actId="34807"/>
        <pc:sldMkLst>
          <pc:docMk/>
          <pc:sldMk cId="0" sldId="261"/>
        </pc:sldMkLst>
        <pc:spChg chg="mod">
          <ac:chgData name="" userId="" providerId="" clId="Web-{9E5F6272-E5CC-47A4-8D65-EA77167209E1}" dt="2026-10-14T14:10:08.967" v="0" actId="34807"/>
          <ac:spMkLst>
            <pc:docMk/>
            <pc:sldMk cId="0" sldId="261"/>
            <ac:spMk id="8" creationId="{00000000-0000-0000-0000-000000000000}"/>
          </ac:spMkLst>
        </pc:spChg>
        <pc:spChg chg="mod">
          <ac:chgData name="" userId="" providerId="" clId="Web-{9E5F6272-E5CC-47A4-8D65-EA77167209E1}" dt="2026-10-14T14:10:08.967" v="0" actId="34807"/>
          <ac:spMkLst>
            <pc:docMk/>
            <pc:sldMk cId="0" sldId="261"/>
            <ac:spMk id="23" creationId="{00000000-0000-0000-0000-000000000000}"/>
          </ac:spMkLst>
        </pc:spChg>
        <pc:spChg chg="mod">
          <ac:chgData name="" userId="" providerId="" clId="Web-{9E5F6272-E5CC-47A4-8D65-EA77167209E1}" dt="2026-10-14T14:10:08.967" v="0" actId="34807"/>
          <ac:spMkLst>
            <pc:docMk/>
            <pc:sldMk cId="0" sldId="261"/>
            <ac:spMk id="43" creationId="{00000000-0000-0000-0000-000000000000}"/>
          </ac:spMkLst>
        </pc:spChg>
      </pc:sldChg>
      <pc:sldChg chg="modSp modNotesTx">
        <pc:chgData name="" userId="" providerId="" clId="Web-{9E5F6272-E5CC-47A4-8D65-EA77167209E1}" dt="2026-10-14T14:10:08.967" v="0" actId="34807"/>
        <pc:sldMkLst>
          <pc:docMk/>
          <pc:sldMk cId="0" sldId="262"/>
        </pc:sldMkLst>
        <pc:spChg chg="mod">
          <ac:chgData name="" userId="" providerId="" clId="Web-{9E5F6272-E5CC-47A4-8D65-EA77167209E1}" dt="2026-10-14T14:10:08.967" v="0" actId="34807"/>
          <ac:spMkLst>
            <pc:docMk/>
            <pc:sldMk cId="0" sldId="262"/>
            <ac:spMk id="3" creationId="{00000000-0000-0000-0000-000000000000}"/>
          </ac:spMkLst>
        </pc:spChg>
      </pc:sldChg>
      <pc:sldChg chg="modSp modNotesTx">
        <pc:chgData name="" userId="" providerId="" clId="Web-{9E5F6272-E5CC-47A4-8D65-EA77167209E1}" dt="2026-10-14T14:10:08.967" v="0" actId="34807"/>
        <pc:sldMkLst>
          <pc:docMk/>
          <pc:sldMk cId="0" sldId="263"/>
        </pc:sldMkLst>
        <pc:spChg chg="mod">
          <ac:chgData name="" userId="" providerId="" clId="Web-{9E5F6272-E5CC-47A4-8D65-EA77167209E1}" dt="2026-10-14T14:10:08.967" v="0" actId="34807"/>
          <ac:spMkLst>
            <pc:docMk/>
            <pc:sldMk cId="0" sldId="263"/>
            <ac:spMk id="26" creationId="{00000000-0000-0000-0000-000000000000}"/>
          </ac:spMkLst>
        </pc:spChg>
        <pc:spChg chg="mod">
          <ac:chgData name="" userId="" providerId="" clId="Web-{9E5F6272-E5CC-47A4-8D65-EA77167209E1}" dt="2026-10-14T14:10:08.967" v="0" actId="34807"/>
          <ac:spMkLst>
            <pc:docMk/>
            <pc:sldMk cId="0" sldId="263"/>
            <ac:spMk id="33" creationId="{00000000-0000-0000-0000-000000000000}"/>
          </ac:spMkLst>
        </pc:spChg>
        <pc:spChg chg="mod">
          <ac:chgData name="" userId="" providerId="" clId="Web-{9E5F6272-E5CC-47A4-8D65-EA77167209E1}" dt="2026-10-14T14:10:08.967" v="0" actId="34807"/>
          <ac:spMkLst>
            <pc:docMk/>
            <pc:sldMk cId="0" sldId="263"/>
            <ac:spMk id="41" creationId="{00000000-0000-0000-0000-000000000000}"/>
          </ac:spMkLst>
        </pc:spChg>
        <pc:spChg chg="mod">
          <ac:chgData name="" userId="" providerId="" clId="Web-{9E5F6272-E5CC-47A4-8D65-EA77167209E1}" dt="2026-10-14T14:10:08.967" v="0" actId="34807"/>
          <ac:spMkLst>
            <pc:docMk/>
            <pc:sldMk cId="0" sldId="263"/>
            <ac:spMk id="46" creationId="{00000000-0000-0000-0000-000000000000}"/>
          </ac:spMkLst>
        </pc:spChg>
        <pc:spChg chg="mod">
          <ac:chgData name="" userId="" providerId="" clId="Web-{9E5F6272-E5CC-47A4-8D65-EA77167209E1}" dt="2026-10-14T14:10:08.967" v="0" actId="34807"/>
          <ac:spMkLst>
            <pc:docMk/>
            <pc:sldMk cId="0" sldId="263"/>
            <ac:spMk id="56" creationId="{00000000-0000-0000-0000-000000000000}"/>
          </ac:spMkLst>
        </pc:spChg>
      </pc:sldChg>
      <pc:sldChg chg="modSp modNotesTx">
        <pc:chgData name="" userId="" providerId="" clId="Web-{9E5F6272-E5CC-47A4-8D65-EA77167209E1}" dt="2026-10-14T14:10:08.967" v="0" actId="34807"/>
        <pc:sldMkLst>
          <pc:docMk/>
          <pc:sldMk cId="0" sldId="264"/>
        </pc:sldMkLst>
        <pc:spChg chg="mod">
          <ac:chgData name="" userId="" providerId="" clId="Web-{9E5F6272-E5CC-47A4-8D65-EA77167209E1}" dt="2026-10-14T14:10:08.967" v="0" actId="34807"/>
          <ac:spMkLst>
            <pc:docMk/>
            <pc:sldMk cId="0" sldId="264"/>
            <ac:spMk id="8" creationId="{00000000-0000-0000-0000-000000000000}"/>
          </ac:spMkLst>
        </pc:spChg>
        <pc:spChg chg="mod">
          <ac:chgData name="" userId="" providerId="" clId="Web-{9E5F6272-E5CC-47A4-8D65-EA77167209E1}" dt="2026-10-14T14:10:08.967" v="0" actId="34807"/>
          <ac:spMkLst>
            <pc:docMk/>
            <pc:sldMk cId="0" sldId="264"/>
            <ac:spMk id="32" creationId="{00000000-0000-0000-0000-000000000000}"/>
          </ac:spMkLst>
        </pc:spChg>
        <pc:spChg chg="mod">
          <ac:chgData name="" userId="" providerId="" clId="Web-{9E5F6272-E5CC-47A4-8D65-EA77167209E1}" dt="2026-10-14T14:10:08.967" v="0" actId="34807"/>
          <ac:spMkLst>
            <pc:docMk/>
            <pc:sldMk cId="0" sldId="264"/>
            <ac:spMk id="60" creationId="{00000000-0000-0000-0000-000000000000}"/>
          </ac:spMkLst>
        </pc:spChg>
      </pc:sldChg>
      <pc:sldChg chg="modSp modNotesTx">
        <pc:chgData name="" userId="" providerId="" clId="Web-{9E5F6272-E5CC-47A4-8D65-EA77167209E1}" dt="2026-10-14T14:10:08.967" v="0" actId="34807"/>
        <pc:sldMkLst>
          <pc:docMk/>
          <pc:sldMk cId="0" sldId="265"/>
        </pc:sldMkLst>
        <pc:spChg chg="mod">
          <ac:chgData name="" userId="" providerId="" clId="Web-{9E5F6272-E5CC-47A4-8D65-EA77167209E1}" dt="2026-10-14T14:10:08.967" v="0" actId="34807"/>
          <ac:spMkLst>
            <pc:docMk/>
            <pc:sldMk cId="0" sldId="265"/>
            <ac:spMk id="36" creationId="{00000000-0000-0000-0000-000000000000}"/>
          </ac:spMkLst>
        </pc:spChg>
      </pc:sldChg>
      <pc:sldChg chg="modSp modNotesTx">
        <pc:chgData name="" userId="" providerId="" clId="Web-{9E5F6272-E5CC-47A4-8D65-EA77167209E1}" dt="2026-10-14T14:10:08.967" v="0" actId="34807"/>
        <pc:sldMkLst>
          <pc:docMk/>
          <pc:sldMk cId="0" sldId="266"/>
        </pc:sldMkLst>
        <pc:spChg chg="mod">
          <ac:chgData name="" userId="" providerId="" clId="Web-{9E5F6272-E5CC-47A4-8D65-EA77167209E1}" dt="2026-10-14T14:10:08.967" v="0" actId="34807"/>
          <ac:spMkLst>
            <pc:docMk/>
            <pc:sldMk cId="0" sldId="266"/>
            <ac:spMk id="13" creationId="{00000000-0000-0000-0000-000000000000}"/>
          </ac:spMkLst>
        </pc:spChg>
        <pc:spChg chg="mod">
          <ac:chgData name="" userId="" providerId="" clId="Web-{9E5F6272-E5CC-47A4-8D65-EA77167209E1}" dt="2026-10-14T14:10:08.967" v="0" actId="34807"/>
          <ac:spMkLst>
            <pc:docMk/>
            <pc:sldMk cId="0" sldId="266"/>
            <ac:spMk id="15" creationId="{00000000-0000-0000-0000-000000000000}"/>
          </ac:spMkLst>
        </pc:spChg>
        <pc:spChg chg="mod">
          <ac:chgData name="" userId="" providerId="" clId="Web-{9E5F6272-E5CC-47A4-8D65-EA77167209E1}" dt="2026-10-14T14:10:08.967" v="0" actId="34807"/>
          <ac:spMkLst>
            <pc:docMk/>
            <pc:sldMk cId="0" sldId="266"/>
            <ac:spMk id="19" creationId="{00000000-0000-0000-0000-000000000000}"/>
          </ac:spMkLst>
        </pc:spChg>
        <pc:spChg chg="mod">
          <ac:chgData name="" userId="" providerId="" clId="Web-{9E5F6272-E5CC-47A4-8D65-EA77167209E1}" dt="2026-10-14T14:10:08.967" v="0" actId="34807"/>
          <ac:spMkLst>
            <pc:docMk/>
            <pc:sldMk cId="0" sldId="266"/>
            <ac:spMk id="23" creationId="{00000000-0000-0000-0000-000000000000}"/>
          </ac:spMkLst>
        </pc:spChg>
        <pc:spChg chg="mod">
          <ac:chgData name="" userId="" providerId="" clId="Web-{9E5F6272-E5CC-47A4-8D65-EA77167209E1}" dt="2026-10-14T14:10:08.967" v="0" actId="34807"/>
          <ac:spMkLst>
            <pc:docMk/>
            <pc:sldMk cId="0" sldId="266"/>
            <ac:spMk id="24" creationId="{00000000-0000-0000-0000-000000000000}"/>
          </ac:spMkLst>
        </pc:spChg>
        <pc:spChg chg="mod">
          <ac:chgData name="" userId="" providerId="" clId="Web-{9E5F6272-E5CC-47A4-8D65-EA77167209E1}" dt="2026-10-14T14:10:08.967" v="0" actId="34807"/>
          <ac:spMkLst>
            <pc:docMk/>
            <pc:sldMk cId="0" sldId="266"/>
            <ac:spMk id="36" creationId="{00000000-0000-0000-0000-000000000000}"/>
          </ac:spMkLst>
        </pc:spChg>
        <pc:spChg chg="mod">
          <ac:chgData name="" userId="" providerId="" clId="Web-{9E5F6272-E5CC-47A4-8D65-EA77167209E1}" dt="2026-10-14T14:10:08.967" v="0" actId="34807"/>
          <ac:spMkLst>
            <pc:docMk/>
            <pc:sldMk cId="0" sldId="266"/>
            <ac:spMk id="47" creationId="{00000000-0000-0000-0000-000000000000}"/>
          </ac:spMkLst>
        </pc:spChg>
        <pc:spChg chg="mod">
          <ac:chgData name="" userId="" providerId="" clId="Web-{9E5F6272-E5CC-47A4-8D65-EA77167209E1}" dt="2026-10-14T14:10:08.967" v="0" actId="34807"/>
          <ac:spMkLst>
            <pc:docMk/>
            <pc:sldMk cId="0" sldId="266"/>
            <ac:spMk id="50" creationId="{00000000-0000-0000-0000-000000000000}"/>
          </ac:spMkLst>
        </pc:spChg>
        <pc:spChg chg="mod">
          <ac:chgData name="" userId="" providerId="" clId="Web-{9E5F6272-E5CC-47A4-8D65-EA77167209E1}" dt="2026-10-14T14:10:08.967" v="0" actId="34807"/>
          <ac:spMkLst>
            <pc:docMk/>
            <pc:sldMk cId="0" sldId="266"/>
            <ac:spMk id="54" creationId="{00000000-0000-0000-0000-000000000000}"/>
          </ac:spMkLst>
        </pc:spChg>
        <pc:spChg chg="mod">
          <ac:chgData name="" userId="" providerId="" clId="Web-{9E5F6272-E5CC-47A4-8D65-EA77167209E1}" dt="2026-10-14T14:10:08.967" v="0" actId="34807"/>
          <ac:spMkLst>
            <pc:docMk/>
            <pc:sldMk cId="0" sldId="266"/>
            <ac:spMk id="55" creationId="{00000000-0000-0000-0000-000000000000}"/>
          </ac:spMkLst>
        </pc:spChg>
      </pc:sldChg>
      <pc:sldChg chg="modSp modNotesTx">
        <pc:chgData name="" userId="" providerId="" clId="Web-{9E5F6272-E5CC-47A4-8D65-EA77167209E1}" dt="2026-10-14T14:10:08.967" v="0" actId="34807"/>
        <pc:sldMkLst>
          <pc:docMk/>
          <pc:sldMk cId="0" sldId="267"/>
        </pc:sldMkLst>
        <pc:spChg chg="mod">
          <ac:chgData name="" userId="" providerId="" clId="Web-{9E5F6272-E5CC-47A4-8D65-EA77167209E1}" dt="2026-10-14T14:10:08.967" v="0" actId="34807"/>
          <ac:spMkLst>
            <pc:docMk/>
            <pc:sldMk cId="0" sldId="267"/>
            <ac:spMk id="24" creationId="{00000000-0000-0000-0000-000000000000}"/>
          </ac:spMkLst>
        </pc:spChg>
        <pc:spChg chg="mod">
          <ac:chgData name="" userId="" providerId="" clId="Web-{9E5F6272-E5CC-47A4-8D65-EA77167209E1}" dt="2026-10-14T14:10:08.967" v="0" actId="34807"/>
          <ac:spMkLst>
            <pc:docMk/>
            <pc:sldMk cId="0" sldId="267"/>
            <ac:spMk id="29" creationId="{00000000-0000-0000-0000-000000000000}"/>
          </ac:spMkLst>
        </pc:spChg>
        <pc:spChg chg="mod">
          <ac:chgData name="" userId="" providerId="" clId="Web-{9E5F6272-E5CC-47A4-8D65-EA77167209E1}" dt="2026-10-14T14:10:08.967" v="0" actId="34807"/>
          <ac:spMkLst>
            <pc:docMk/>
            <pc:sldMk cId="0" sldId="267"/>
            <ac:spMk id="34" creationId="{00000000-0000-0000-0000-000000000000}"/>
          </ac:spMkLst>
        </pc:spChg>
        <pc:spChg chg="mod">
          <ac:chgData name="" userId="" providerId="" clId="Web-{9E5F6272-E5CC-47A4-8D65-EA77167209E1}" dt="2026-10-14T14:10:08.967" v="0" actId="34807"/>
          <ac:spMkLst>
            <pc:docMk/>
            <pc:sldMk cId="0" sldId="267"/>
            <ac:spMk id="3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151A7F-A218-400D-B2AA-FF76126F9EDB}" type="datetimeFigureOut">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7B249C-7B18-4306-9969-358784E20A6F}" type="slidenum">
              <a:t>‹#›</a:t>
            </a:fld>
            <a:endParaRPr lang="en-US"/>
          </a:p>
        </p:txBody>
      </p:sp>
    </p:spTree>
    <p:extLst>
      <p:ext uri="{BB962C8B-B14F-4D97-AF65-F5344CB8AC3E}">
        <p14:creationId xmlns:p14="http://schemas.microsoft.com/office/powerpoint/2010/main" val="3091364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session covers Azure Content Understanding: what the service does, how its pipeline is built, and where it sits against the two things customers most often confuse it with, Azure Document Intelligence and a standalone optical character recognition model.
The session is aimed at solution architects, developers and technical decision makers, and its sources, the official documentation and the Foundry blog, were verified on 30 September 2026.
Three points of context set the frame.
First, the naming.
The official documentation does not use the label "version 2" anywhere. It identifies releases by API version strings. The names "1.0" and "2.0" appear only in the Foundry blog. For that reason the deck states the API version wherever status matters, and the session is explicit about what is generally available and what is not.
Second, the status split.
API 2025-11-01 is generally available and is the version for production. API 2026-06-01-preview carries the newest capabilities and has no service level agreement. That distinction runs through the whole deck, and preview items are marked with an asterisk on the slides.
Third, the branding.
The service is now documented as Azure Content Understanding in Foundry Tools, and Azure Document Intelligence is now presented as part of it. This is a portfolio change, not a technical merge, and slide 10 explains exactly what it does and does not mean.
A common question is whether Content Understanding replaces Document Intelligence. It does not: Microsoft states that no migration is required, and slide 10 covers the detail.
The overall narrative is simple: Content Understanding turns documents, images, audio and video into structured data, and every capability in this session is presented together with the API version that carries it and its release status.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Today we will look at Azure Content Understanding in five sections.
The order is deliberate. The first two sections describe the service as it is, what it does and how a request actually flows through it, and they are the foundation.
We begin with what the service is, on slides 3 and 4: the problem it solves, where it sits in the platform, and the four content types it accepts.
We then examine how it works, on slides 5 and 6: the analyzer pipeline end to end, and the request flow for both processing modes. The architecture slide in this section, slide 5, is the one to spend time on.
The third section, on slides 7 to 9, answers the question most people arrive with: what changed this year. The honest answer has two halves, because some changes landed in the generally available API and some are preview only. Mixing them up leads to production commitments that cannot be met.
The fourth section, on slides 10 and 11, is decision material. The two comparison slides exist because these questions come up in almost every architecture conversation: how the service differs from Azure Document Intelligence, and how it differs from simply calling an optical character recognition model.
We close with running the service, on slide 12: limits, the three-part cost model, regional availability, and the sources behind this deck.
Where time is short, slides 5, 10 and 11 carry the session. Slide 5 is the architecture, and slides 10 and 11 are the comparisons.
A common question is whether there is a sample repository. There is: slide 12 names it, the Azure-Samples Python repository for Content Understanding.
A note on naming applies throughout. The official documentation identifies releases by API version, not by a product version number. Where the deck says generally available, it means API 2025-11-01; where it says preview, it means API 2026-06-01-preview, which carries no service level agreement.
The overall narrative is simple: understand the service and its pipeline, separate what is generally available from what is preview, choose between the neighbouring tools, and then plan for limits and cost.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explains what the service does and the problem it solves. Read it as four pairs from left to right: a problem that existed before a service like this, and what the service provides instead.
The core idea is that the service exists to make unstructured content predictable enough to act on automatically: one configured analyzer turns unstructured files into schema-shaped output with a confidence score per value.
Two terms need defining first, because the rest of the deck depends on them. An analyzer is a named, reusable configuration object. It holds the extraction settings, the field schema the customer defined, and the models to use. It is created once and reused across every file of that type. Grounding means that for each value returned, the service also returns the region of the source content it came from, so a reviewer can see the evidence rather than trusting the answer.
First, content in many shapes.
Scanned PDFs, photographs, call recordings and video each used to need a different pipeline. One analyzer accepts all four content types with the same settings.
Second, unpredictable output.
Optical character recognition returns whatever text is on the page. Here, the customer names the fields in plain language and the service returns exactly those fields as typed JSON, alongside readable Markdown.
Third, a measure of trust.
This is the commercially interesting part. Microsoft describes the goal as straight-through processing with confidence scores: set a threshold, pass everything above it automatically, and route the rest to a person. That threshold is where the saving comes from, and it is worth measuring on real documents before committing to a number. The honest limit is that confidence scores and grounding are supported for document files only, not for image, audio or video.
Fourth, no prompt engineering.
A field description is the instruction. A common question is whether anything must be trained first. It need not be: plain-language field descriptions are enough to start, and labelled examples are optional afterwards.
The key takeaway is that the service turns unstructured content into predictable values with a trust signal, so that automation can be decided per value rather than per document.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where the service sits in the platform, what it accepts, what it produces and where the output goes. Read it from left to right: content in, the service, the outputs and their destinations.
The core idea is that this is one tool inside a Microsoft Foundry resource, and the same analyzer handles all four content types rather than needing a separate service for each.
First, the containing resource.
A common question is whether the service needs its own resource. It does not: it is provisioned as part of a Microsoft Foundry resource, which also supplies its identity and regional placement.
Second, the content it accepts.
Documents cover printed and handwritten text, tables, selection marks, barcodes, formulas and figures. Images support schema-driven description and classification. Audio adds transcription, speaker separation and speaker role. Video adds transcription plus key frames and shot detection.
Third, Azure Document Intelligence.
This box causes the most confusion, so it should be stated precisely. Microsoft has brought Document Intelligence under the Content Understanding brand, and the Azure product page now titles it accordingly. However, the documentation is explicit that for customers running Document Intelligence in production, the APIs, endpoints, software development kits and billing are unchanged, and no migration is required. The merge is at the portfolio and branding level. Technically they remain two services with two APIs, and slide 10 covers how to choose between them.
Fourth, the outputs and where they go.
The service returns both Markdown and typed JSON, and which one matters depends on the scenario. Retrieval and search pipelines consume the Markdown; Azure AI Search has a built-in skill that does extraction and chunking in one step. Straight-through processing consumes the JSON fields, because those carry the confidence score and the source region. The same output gives predictable input to a Foundry agent or to the customer's own application code.
The key takeaway is that one analyzer in one Foundry resource covers every content type, and Document Intelligence sits alongside it in the same family without any migration.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the analyzer pipeline: five stages between the file that is sent and the structured output that comes back. Read it from left to right, following the numbered stages, with the contextualization layer running underneath.
The core idea is that two stages do very different work, content extraction and field extraction, and most misunderstandings come from collapsing them into one.
First, the input.
A file is referenced by URL or sent as bytes in the request body. The analyzer above the pipeline is the reusable configuration created once: extraction settings, the field schema, the Foundry models to use, prebuilt or custom.
Second, content extraction.
Optical character recognition reads printed and handwritten text, tables, selection marks such as checkboxes, barcodes and formulas, and speech is transcribed. This stage is deterministic and needs no language model. A common question is whether the service can be used purely for optical character recognition. It can, and slide 11 covers when that is the right choice.
Third, segmentation.
A long file is split into logical sections, and each section can be routed to a different analyzer, so a mixed batch is classified and split in one call.
Fourth, field extraction.
This stage produces the customer's schema, extracting, classifying or generating each field, and it is the stage that uses a language model.
Fifth, the output.
Markdown, plus typed JSON with a confidence score and a source per field.
The contextualization layer beneath is worth naming explicitly, because it is a distinct billed component and a separate line on the bill, not part of the model cost. It prepares the context sent to the model, normalises values such as dates into canonical form, and computes both the confidence score and the source region.
The models belong to the customer. The analyzer names a language model and an embedding model, and the resource maps each to a deployment the customer owns, which is also why provisioned throughput works.
The architectural principle is a clear split of roles: deterministic extraction reads the content, the language model produces the fields, and the contextualization layer prepares the context and computes the trust signals in between.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the request flow and compares the two processing modes. Read it from top to bottom: the asynchronous path, the synchronous path, and the table that decides between them.
The core idea is that the synchronous path is a convenience for a narrow case, not a faster version of the service.
First, the asynchronous path.
This is the generally available path, for all content types. The client application sends the analysis request, referencing the file by URL or sending its bytes directly. The service returns 202 Accepted with an operation location header. The application polls that location until the status reads Succeeded, then reads the result, Markdown plus fields. The result can also be deleted explicitly once retrieved, which matters when the content is sensitive.
A common question is how long asynchronous processing takes. It is not documented as a guaranteed figure, so it should be measured on the customer's own documents; the Azure AI Search integration times out at five minutes.
Second, the synchronous path.
It is in preview and removes the polling: the result comes back in the response. The reason it matters is not speed. The content is processed in memory rather than stored by the service, and that is sometimes the deciding factor in a privacy review.
Third, the trade-offs.
The table makes the trade-offs concrete. The asynchronous path accepts documents, images, audio and video, supports field extraction with confidence and source, accepts up to 200 MB and 300 pages, and is charged at the standard page rate. The synchronous path accepts documents only, through the read and layout analyzers only, with no custom field schema, a limit of 10 MB and the first five pages, and costs roughly 50 per cent more per page.
As with every preview item in the deck, the synchronous path carries no service level agreement.
The key takeaway is that any design needing its own fields is on the asynchronous path regardless, and the synchronous path is chosen only when in-memory processing of text and layout is the actual requirement.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compares what changed in 2026 in two columns: what landed in the generally available API and can be relied on, and what is preview only.
The core idea is that the two columns carry different weight, and conflating them is how teams end up committing to something they cannot run in production.
First, the generally available column, API 2025-11-01.
These are improvements inherited without changing code. Analyzers can use the GPT-5 series, including the mini and nano variants, and existing provisioned throughput commitments apply. Merging extraction and grounding cut average inference tokens by up to 28 per cent, with accuracy up to 3 per cent better. That token reduction is worth stating plainly, because it lowers the bill on the customer's own model deployment rather than the service meter. The refreshed confidence model improved score accuracy by up to 14 per cent, measured by area under the ROC curve.
The caution underneath is equally practical: confidence quality drops noticeably on the mini and nano variants, so where a threshold depends on the score, the model choice should not economise there.
Second, the preview column, API 2026-06-01-preview.
Agentic mode is the headline and is genuinely new capability: it reasons over a document, performs multi-step calculations and validates against conditions, and it replaces the retired pro mode. Alongside it are synchronous read and layout, advanced contextualization with up to 3.5 per cent better accuracy for up to 22 per cent fewer tokens at a higher rate, private training by distillation, classification enhancements, and signature detection, document metadata and new tax-form prebuilt analyzers.
Third, the two caveats for agentic mode.
It is explicitly not a drop-in replacement for pro mode: it takes one file per request and does not support extracted fields. And it needs around 400,000 tokens per minute of model capacity per job.
A common question is when the preview becomes generally available. The date is not published, so plans should rest on the generally available API, with the preview evaluated alongside it.
The key takeaway is to build on API 2025-11-01 and treat every preview capability as something to evaluate, not to commit to.</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explains agentic mode, a preview capability, in detail. Read it from left to right: one input file, the reasoning stage, and the schema that comes out.
The core idea is in the dark band at the top. Standard extraction locates a value that is written somewhere on the page. Agentic mode is for answers that are not written anywhere and have to be constructed: a total that needs reconciling, a condition that needs checking, a relationship between a contract and its amendment.
First, the input.
One input file goes in, and it may legitimately hold several related documents. Microsoft's own example is a contract with its appendix and the governing rules.
Second, the reasoning.
The service applies its highest reasoning effort across four capabilities: reading across separated parts of the file, calculating derived values, validating against conditions written into the field descriptions, and interpreting tables, figures and forms as evidence.
Third, the output.
What comes out is the same typed schema a standard analyzer returns; the reasoning is internal. It is turned on with one setting when the analyzer is created, config.workflow set to agentic, and the schema, the call and the result shape stay the same.
Fourth, the cost.
The cost is real: the higher advanced contextualization billing rate, more tokens on the customer's own deployment, typically longer latency, and roughly 400,000 tokens a minute per job. That capacity figure is a provisioning decision, not a detail.
Fifth, the preview limits.
It supports documents only and one input file per request, fields using the extract method are not supported, and labelled samples cannot improve it. Microsoft also states plainly that it is not a replacement for human review.
A common question is whether agentic mode should be used everywhere. It should not: for straightforward field extraction the standard analyzer is cheaper and faster.
The key takeaway is that agentic mode is worth its cost only where the answer must be built from evidence across a document, such as reconciling a financial report or checking a document against requirements.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explains how an analyzer is improved with labelled examples, and what the preview changes. Read it from top to bottom: the correction workflow, then the table of what the built analyzer carries afterwards.
The core idea is that what changed is not how an analyzer is corrected, but what it keeps afterwards.
First, the correction workflow.
The workflow is identical in both API versions. Upload a sample the analyzer got wrong. Auto label runs the current analyzer and pre-fills its answers, so the reviewer edits rather than starts from nothing. Correct the values that are wrong. Rebuild the analyzer so it uses the samples. On volume, one sample is enough when templates barely vary, and one per format is needed when they do. Quality should be evaluated before and after, to show whether the samples actually helped.
Second, the preview change.
The table underneath is the preview change, distilled training, and it matters for two different reasons.
Third, privacy.
The built analyzer neither contains nor needs the labelled documents at analysis time, so training data stops travelling with the artefact. Those documents stay in the customer's own storage account, in the Content Understanding Studio project, for design purposes only.
Fourth, cost.
Distilling the patterns rather than carrying the documents means fewer tokens on every analysis afterwards, on the customer's own model deployment.
Fifth, the limits.
Labelled samples teach layout and terminology but cannot fix character recognition errors. If a letter is misread as a digit, labelling it correctly will not help. The approach also does not apply to fields that use the generate method or to content other than documents.
A common question is whether this replaces agentic mode. It does not: the two solve different problems, and agentic mode cannot use labelled samples at all.
Labelled training exists in both API versions; only the distilled form is in preview, with no service level agreement.
The key takeaway is that distillation keeps the same correction workflow while removing the labelled documents from the built analyzer, which helps both the privacy review and the token bill.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compares Content Understanding with Azure Document Intelligence. Read the upper table row by row, then the lower band, which is Microsoft's own guidance on which to choose.
The core idea is that nothing has been retired and no migration is required. Microsoft states that explicitly for customers already running Document Intelligence in production: the APIs, endpoints, software development kits and billing are unchanged.
What has changed is the packaging. Document Intelligence is now presented as part of Content Understanding, and the Azure product page is titled that way. That is a portfolio decision. Technically these remain two services with two APIs.
First, the criteria table.
Content Understanding is best at complex, unstructured and multimodal content and inferred values, with fields described in plain language and the customer's own Foundry model deployments. Document Intelligence is best at deterministic, high-accuracy extraction from structured and templated forms, with prebuilt schemas or custom models trained on at least five labelled samples.
Second, inference.
Content Understanding can return a value not written on the page, such as deriving a contract end date from a start date and a term. Document Intelligence cannot, by design. This is a governance difference as much as a capability one, because an inferred value needs a different review posture.
Third, containers.
If the requirement is on-premises or disconnected, Document Intelligence is the only option today, because it runs in containers and Content Understanding is cloud only.
Fourth, the published guidance.
The lower half is Microsoft's own decision table: Content Understanding for reading text or layout only and for unstructured documents, Document Intelligence for standard structured forms and for on-premises or disconnected use.
One caveat applies: the guidance page was last updated in June 2026 and predates the current preview, so it compares the generally available versions.
A common question is whether the two will eventually merge technically. That has not been announced, so plans should assume two services.
The key takeaway is that the brand has merged but the services have not: the choice between them follows Microsoft's published decision table, not the product name.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compares Content Understanding with a standalone optical character recognition model, such as Mistral OCR. Read the table row by row, then the band in the middle.
The core idea is that these are not competing products, so a feature-by-feature scoreboard would mislead. One is a model that converts a file to text. The other is a configured pipeline that contains such a step.
First, an important caveat.
Microsoft publishes no comparison between Content Understanding and Mistral OCR, and this should be stated explicitly rather than implied. What is verifiable is that Mistral optical character recognition models sit in the Foundry model catalog as models sold directly by Azure, so both can be procured in the same place. Everything in the table is a structural difference drawn from each product's own documentation, not a Microsoft ranking.
Second, the structural differences.
An OCR model is called once per file and returns text or Markdown with layout blocks; the application code then parses that text to find the values it needs, with no trust signal per value. Content Understanding is a named analyzer that returns the declared fields as typed JSON, with a confidence score and source region per field for documents, handles audio and video through one interface, and classifies, splits and routes mixed batches in one call. Agentic mode, in preview, adds reasoning over content.
Third, the band in the middle.
This resolves most of the confusion. Content Understanding has optical character recognition inside it: its read and layout analyzers require no language model, and Microsoft recommends them over Document Intelligence for plain reading. So the decision is not which vendor reads text better; it is whether only text is needed, or text plus a defined schema, a confidence score and routing.
A common question is whether a project can start with reading only and add fields later. It can: the same analyzer object gains a field schema without changing the calling pattern.
The key takeaway is that a standalone OCR model fits when text is all that is needed, and Content Understanding fits when the application needs named values it can act on and threshold.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lists the limits that shape a design, how the bill is assembled, and the sources behind this deck. Read it from top to bottom: constraints, the three billing parts, then the references.
The core idea is that the cost model has three parts and only two of them appear on this service's bill, which is the single most common surprise in a first invoice.
First, the constraints.
Files can be up to 200 MB and 300 pages. An analyzer holds up to 1,000 fields, and classification supports up to 200 categories nested up to five levels. Throughput is 1,000 pages or images a minute, and four hours of audio or video. Two constraints are easy to miss. Confidence and grounding are supported for documents only, so a straight-through design over images or audio has no score to threshold on. And regional availability is twelve regions at the time of writing, but Microsoft's own pages are inconsistent on the number, so it should be confirmed against the region page rather than any summary before presenting or designing.
Second, content extraction.
It is metered per thousand pages, and the rate depends on the work actually performed rather than the analyzer requested. A digital document needing no optical character recognition is charged at the lowest tier even if a layout analyzer was called.
Third, contextualization.
It is metered per million tokens, with a higher rate for the preview advanced tier.
Fourth, the model deployment.
Language and embedding tokens do not appear on this service at all: they land on the customer's own Foundry deployment.
Fifth, the sources.
The lower section lists the official documentation pages behind the deck, the reference architecture and the Python samples repository. A common question is whether there is a published reference architecture. There is: the multi-modal content processing pattern in the Azure Architecture Center, with a matching solution accelerator.
The key takeaway is that a cost estimate must add the customer's own model deployment to the two meters on this service, and that the regional list should be confirmed before any design is committed.</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9"/>
          </a:solidFill>
          <a:ln>
            <a:noFill/>
          </a:ln>
          <a:effectLst/>
        </p:spPr>
        <p:txBody>
          <a:bodyPr wrap="square" rtlCol="0" anchor="ctr"/>
          <a:lstStyle/>
          <a:p>
            <a:endParaRPr/>
          </a:p>
        </p:txBody>
      </p:sp>
      <p:sp>
        <p:nvSpPr>
          <p:cNvPr id="3" name="Rectangle 2"/>
          <p:cNvSpPr/>
          <p:nvPr/>
        </p:nvSpPr>
        <p:spPr>
          <a:xfrm>
            <a:off x="0" y="0"/>
            <a:ext cx="82296" cy="6858000"/>
          </a:xfrm>
          <a:prstGeom prst="rect">
            <a:avLst/>
          </a:prstGeom>
          <a:solidFill>
            <a:srgbClr val="00B39F"/>
          </a:solidFill>
          <a:ln>
            <a:noFill/>
          </a:ln>
          <a:effectLst/>
        </p:spPr>
        <p:txBody>
          <a:bodyPr wrap="square" rtlCol="0" anchor="ctr"/>
          <a:lstStyle/>
          <a:p>
            <a:endParaRPr/>
          </a:p>
        </p:txBody>
      </p:sp>
      <p:sp>
        <p:nvSpPr>
          <p:cNvPr id="4" name="TextBox 3"/>
          <p:cNvSpPr txBox="1"/>
          <p:nvPr/>
        </p:nvSpPr>
        <p:spPr>
          <a:xfrm>
            <a:off x="914400" y="1828800"/>
            <a:ext cx="9144000" cy="201168"/>
          </a:xfrm>
          <a:prstGeom prst="rect">
            <a:avLst/>
          </a:prstGeom>
          <a:noFill/>
        </p:spPr>
        <p:txBody>
          <a:bodyPr wrap="square" lIns="0" tIns="0" rIns="0" bIns="0" anchor="t">
            <a:spAutoFit/>
          </a:bodyPr>
          <a:lstStyle/>
          <a:p>
            <a:pPr algn="l">
              <a:lnSpc>
                <a:spcPct val="100000"/>
              </a:lnSpc>
            </a:pPr>
            <a:r>
              <a:rPr sz="900" b="1" i="0" spc="160" dirty="0">
                <a:solidFill>
                  <a:srgbClr val="00B39F"/>
                </a:solidFill>
                <a:latin typeface="Segoe UI"/>
                <a:cs typeface="Segoe UI"/>
              </a:rPr>
              <a:t>FOUNDRY TOOLS  ·  TECHNICAL DEEP DIVE</a:t>
            </a:r>
          </a:p>
        </p:txBody>
      </p:sp>
      <p:sp>
        <p:nvSpPr>
          <p:cNvPr id="5" name="TextBox 4"/>
          <p:cNvSpPr txBox="1"/>
          <p:nvPr/>
        </p:nvSpPr>
        <p:spPr>
          <a:xfrm>
            <a:off x="914400" y="2203704"/>
            <a:ext cx="10241280" cy="658368"/>
          </a:xfrm>
          <a:prstGeom prst="rect">
            <a:avLst/>
          </a:prstGeom>
          <a:noFill/>
        </p:spPr>
        <p:txBody>
          <a:bodyPr wrap="square" lIns="0" tIns="0" rIns="0" bIns="0" anchor="t">
            <a:spAutoFit/>
          </a:bodyPr>
          <a:lstStyle/>
          <a:p>
            <a:pPr algn="l">
              <a:lnSpc>
                <a:spcPct val="100000"/>
              </a:lnSpc>
            </a:pPr>
            <a:r>
              <a:rPr sz="4200" b="1" i="0" dirty="0">
                <a:solidFill>
                  <a:srgbClr val="FFFFFF"/>
                </a:solidFill>
                <a:latin typeface="Segoe UI"/>
                <a:cs typeface="Segoe UI"/>
              </a:rPr>
              <a:t>Azure Content Understanding</a:t>
            </a:r>
          </a:p>
        </p:txBody>
      </p:sp>
      <p:sp>
        <p:nvSpPr>
          <p:cNvPr id="6" name="TextBox 5"/>
          <p:cNvSpPr txBox="1"/>
          <p:nvPr/>
        </p:nvSpPr>
        <p:spPr>
          <a:xfrm>
            <a:off x="914400" y="2962656"/>
            <a:ext cx="9692640" cy="566928"/>
          </a:xfrm>
          <a:prstGeom prst="rect">
            <a:avLst/>
          </a:prstGeom>
          <a:noFill/>
        </p:spPr>
        <p:txBody>
          <a:bodyPr wrap="square" lIns="0" tIns="0" rIns="0" bIns="0" anchor="t">
            <a:spAutoFit/>
          </a:bodyPr>
          <a:lstStyle/>
          <a:p>
            <a:pPr algn="l">
              <a:lnSpc>
                <a:spcPct val="132000"/>
              </a:lnSpc>
            </a:pPr>
            <a:r>
              <a:rPr sz="1450" b="0" i="0" dirty="0">
                <a:solidFill>
                  <a:srgbClr val="B9C2D6"/>
                </a:solidFill>
                <a:latin typeface="Segoe UI"/>
                <a:cs typeface="Segoe UI"/>
              </a:rPr>
              <a:t>Turning documents, images, audio and video into structured data —</a:t>
            </a:r>
          </a:p>
          <a:p>
            <a:pPr algn="l">
              <a:lnSpc>
                <a:spcPct val="132000"/>
              </a:lnSpc>
            </a:pPr>
            <a:r>
              <a:rPr sz="1450" b="0" i="0" dirty="0">
                <a:solidFill>
                  <a:srgbClr val="B9C2D6"/>
                </a:solidFill>
                <a:latin typeface="Segoe UI"/>
                <a:cs typeface="Segoe UI"/>
              </a:rPr>
              <a:t>what the service does, how it is built, and how it differs from the tools it is confused with</a:t>
            </a:r>
          </a:p>
        </p:txBody>
      </p:sp>
      <p:cxnSp>
        <p:nvCxnSpPr>
          <p:cNvPr id="7" name="Connector 6"/>
          <p:cNvCxnSpPr/>
          <p:nvPr/>
        </p:nvCxnSpPr>
        <p:spPr>
          <a:xfrm>
            <a:off x="914400" y="3895344"/>
            <a:ext cx="2011680" cy="0"/>
          </a:xfrm>
          <a:prstGeom prst="line">
            <a:avLst/>
          </a:prstGeom>
          <a:ln w="25400">
            <a:solidFill>
              <a:srgbClr val="00B39F"/>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AUDIENCE</a:t>
            </a:r>
          </a:p>
        </p:txBody>
      </p:sp>
      <p:sp>
        <p:nvSpPr>
          <p:cNvPr id="9" name="TextBox 8"/>
          <p:cNvSpPr txBox="1"/>
          <p:nvPr/>
        </p:nvSpPr>
        <p:spPr>
          <a:xfrm>
            <a:off x="91440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Solution architects, developers,</a:t>
            </a:r>
          </a:p>
          <a:p>
            <a:pPr algn="l">
              <a:lnSpc>
                <a:spcPct val="128000"/>
              </a:lnSpc>
            </a:pPr>
            <a:r>
              <a:rPr sz="950" b="0" i="0" dirty="0">
                <a:solidFill>
                  <a:srgbClr val="B9C2D6"/>
                </a:solidFill>
                <a:latin typeface="Segoe UI"/>
                <a:cs typeface="Segoe UI"/>
              </a:rPr>
              <a:t>technical decision makers</a:t>
            </a:r>
          </a:p>
        </p:txBody>
      </p:sp>
      <p:sp>
        <p:nvSpPr>
          <p:cNvPr id="10" name="TextBox 9"/>
          <p:cNvSpPr txBox="1"/>
          <p:nvPr/>
        </p:nvSpPr>
        <p:spPr>
          <a:xfrm>
            <a:off x="429768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SCOPE</a:t>
            </a:r>
          </a:p>
        </p:txBody>
      </p:sp>
      <p:sp>
        <p:nvSpPr>
          <p:cNvPr id="11" name="TextBox 10"/>
          <p:cNvSpPr txBox="1"/>
          <p:nvPr/>
        </p:nvSpPr>
        <p:spPr>
          <a:xfrm>
            <a:off x="429768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API 2025-11-01 generally available</a:t>
            </a:r>
          </a:p>
          <a:p>
            <a:pPr algn="l">
              <a:lnSpc>
                <a:spcPct val="128000"/>
              </a:lnSpc>
            </a:pPr>
            <a:r>
              <a:rPr sz="950" b="0" i="0" dirty="0">
                <a:solidFill>
                  <a:srgbClr val="B9C2D6"/>
                </a:solidFill>
                <a:latin typeface="Segoe UI"/>
                <a:cs typeface="Segoe UI"/>
              </a:rPr>
              <a:t>API 2026-06-01-preview in preview</a:t>
            </a:r>
          </a:p>
        </p:txBody>
      </p:sp>
      <p:sp>
        <p:nvSpPr>
          <p:cNvPr id="12" name="TextBox 11"/>
          <p:cNvSpPr txBox="1"/>
          <p:nvPr/>
        </p:nvSpPr>
        <p:spPr>
          <a:xfrm>
            <a:off x="768096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SOURCES VERIFIED</a:t>
            </a:r>
          </a:p>
        </p:txBody>
      </p:sp>
      <p:sp>
        <p:nvSpPr>
          <p:cNvPr id="13" name="TextBox 12"/>
          <p:cNvSpPr txBox="1"/>
          <p:nvPr/>
        </p:nvSpPr>
        <p:spPr>
          <a:xfrm>
            <a:off x="768096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30 September 2026</a:t>
            </a:r>
          </a:p>
          <a:p>
            <a:pPr algn="l">
              <a:lnSpc>
                <a:spcPct val="128000"/>
              </a:lnSpc>
            </a:pPr>
            <a:r>
              <a:rPr sz="950" b="0" i="0" dirty="0">
                <a:solidFill>
                  <a:srgbClr val="B9C2D6"/>
                </a:solidFill>
                <a:latin typeface="Segoe UI"/>
                <a:cs typeface="Segoe UI"/>
              </a:rPr>
              <a:t>Microsoft Learn and the Foundry blog</a:t>
            </a:r>
          </a:p>
        </p:txBody>
      </p:sp>
      <p:sp>
        <p:nvSpPr>
          <p:cNvPr id="14" name="TextBox 13"/>
          <p:cNvSpPr txBox="1"/>
          <p:nvPr/>
        </p:nvSpPr>
        <p:spPr>
          <a:xfrm>
            <a:off x="914400" y="5897880"/>
            <a:ext cx="7315200" cy="146194"/>
          </a:xfrm>
          <a:prstGeom prst="rect">
            <a:avLst/>
          </a:prstGeom>
          <a:noFill/>
        </p:spPr>
        <p:txBody>
          <a:bodyPr wrap="square" lIns="0" tIns="0" rIns="0" bIns="0" anchor="t">
            <a:spAutoFit/>
          </a:bodyPr>
          <a:lstStyle/>
          <a:p>
            <a:pPr algn="l">
              <a:lnSpc>
                <a:spcPct val="100000"/>
              </a:lnSpc>
            </a:pPr>
            <a:r>
              <a:rPr lang="en-GB" sz="950" b="0" i="0" dirty="0">
                <a:solidFill>
                  <a:srgbClr val="B9C2D6"/>
                </a:solidFill>
                <a:latin typeface="Segoe UI"/>
                <a:cs typeface="Segoe UI"/>
              </a:rPr>
              <a:t>September 2026</a:t>
            </a:r>
            <a:endParaRPr sz="950" b="0" i="0" dirty="0">
              <a:solidFill>
                <a:srgbClr val="B9C2D6"/>
              </a:solidFill>
              <a:latin typeface="Segoe UI"/>
              <a:cs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AGENDA</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What we will cover</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What the service does, how the pipeline is built, and how to choose between it and its neighbours</a:t>
            </a:r>
          </a:p>
        </p:txBody>
      </p:sp>
      <p:sp>
        <p:nvSpPr>
          <p:cNvPr id="5" name="TextBox 4"/>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2</a:t>
            </a:r>
          </a:p>
        </p:txBody>
      </p:sp>
      <p:sp>
        <p:nvSpPr>
          <p:cNvPr id="6" name="Rectangle 5"/>
          <p:cNvSpPr/>
          <p:nvPr/>
        </p:nvSpPr>
        <p:spPr>
          <a:xfrm>
            <a:off x="457200" y="1554480"/>
            <a:ext cx="2148840" cy="2487168"/>
          </a:xfrm>
          <a:prstGeom prst="rect">
            <a:avLst/>
          </a:prstGeom>
          <a:solidFill>
            <a:srgbClr val="F6F8FD"/>
          </a:solidFill>
          <a:ln w="9525">
            <a:solidFill>
              <a:srgbClr val="E1E7F4"/>
            </a:solidFill>
          </a:ln>
          <a:effectLst/>
        </p:spPr>
        <p:txBody>
          <a:bodyPr wrap="square" rtlCol="0" anchor="ctr"/>
          <a:lstStyle/>
          <a:p>
            <a:endParaRPr/>
          </a:p>
        </p:txBody>
      </p:sp>
      <p:sp>
        <p:nvSpPr>
          <p:cNvPr id="7" name="Rectangle 6"/>
          <p:cNvSpPr/>
          <p:nvPr/>
        </p:nvSpPr>
        <p:spPr>
          <a:xfrm>
            <a:off x="457200" y="1554480"/>
            <a:ext cx="2148840" cy="41148"/>
          </a:xfrm>
          <a:prstGeom prst="rect">
            <a:avLst/>
          </a:prstGeom>
          <a:solidFill>
            <a:srgbClr val="00B39F"/>
          </a:solidFill>
          <a:ln>
            <a:noFill/>
          </a:ln>
          <a:effectLst/>
        </p:spPr>
        <p:txBody>
          <a:bodyPr wrap="square" rtlCol="0" anchor="ctr"/>
          <a:lstStyle/>
          <a:p>
            <a:endParaRPr/>
          </a:p>
        </p:txBody>
      </p:sp>
      <p:sp>
        <p:nvSpPr>
          <p:cNvPr id="8" name="TextBox 7"/>
          <p:cNvSpPr txBox="1"/>
          <p:nvPr/>
        </p:nvSpPr>
        <p:spPr>
          <a:xfrm>
            <a:off x="640080" y="1755648"/>
            <a:ext cx="731520" cy="274320"/>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01</a:t>
            </a:r>
          </a:p>
        </p:txBody>
      </p:sp>
      <p:sp>
        <p:nvSpPr>
          <p:cNvPr id="9" name="TextBox 8"/>
          <p:cNvSpPr txBox="1"/>
          <p:nvPr/>
        </p:nvSpPr>
        <p:spPr>
          <a:xfrm>
            <a:off x="640080" y="2121408"/>
            <a:ext cx="1783080" cy="420624"/>
          </a:xfrm>
          <a:prstGeom prst="rect">
            <a:avLst/>
          </a:prstGeom>
          <a:noFill/>
        </p:spPr>
        <p:txBody>
          <a:bodyPr wrap="square" lIns="0" tIns="0" rIns="0" bIns="0" anchor="t">
            <a:spAutoFit/>
          </a:bodyPr>
          <a:lstStyle/>
          <a:p>
            <a:pPr algn="l">
              <a:lnSpc>
                <a:spcPct val="110000"/>
              </a:lnSpc>
            </a:pPr>
            <a:r>
              <a:rPr sz="1150" b="1" i="0" dirty="0">
                <a:solidFill>
                  <a:srgbClr val="101A3C"/>
                </a:solidFill>
                <a:latin typeface="Segoe UI"/>
                <a:cs typeface="Segoe UI"/>
              </a:rPr>
              <a:t>What it is</a:t>
            </a:r>
          </a:p>
        </p:txBody>
      </p:sp>
      <p:sp>
        <p:nvSpPr>
          <p:cNvPr id="10" name="TextBox 9"/>
          <p:cNvSpPr txBox="1"/>
          <p:nvPr/>
        </p:nvSpPr>
        <p:spPr>
          <a:xfrm>
            <a:off x="640080" y="2688336"/>
            <a:ext cx="1783080" cy="914400"/>
          </a:xfrm>
          <a:prstGeom prst="rect">
            <a:avLst/>
          </a:prstGeom>
          <a:noFill/>
        </p:spPr>
        <p:txBody>
          <a:bodyPr wrap="square" lIns="0" tIns="0" rIns="0" bIns="0" anchor="t">
            <a:spAutoFit/>
          </a:bodyPr>
          <a:lstStyle/>
          <a:p>
            <a:pPr algn="l">
              <a:lnSpc>
                <a:spcPct val="126000"/>
              </a:lnSpc>
            </a:pPr>
            <a:r>
              <a:rPr sz="850" b="0" i="0" dirty="0">
                <a:solidFill>
                  <a:srgbClr val="44495B"/>
                </a:solidFill>
                <a:latin typeface="Segoe UI"/>
                <a:cs typeface="Segoe UI"/>
              </a:rPr>
              <a:t>The problem it solves, where it sits</a:t>
            </a:r>
          </a:p>
          <a:p>
            <a:pPr algn="l">
              <a:lnSpc>
                <a:spcPct val="126000"/>
              </a:lnSpc>
            </a:pPr>
            <a:r>
              <a:rPr sz="850" b="0" i="0" dirty="0">
                <a:solidFill>
                  <a:srgbClr val="44495B"/>
                </a:solidFill>
                <a:latin typeface="Segoe UI"/>
                <a:cs typeface="Segoe UI"/>
              </a:rPr>
              <a:t>in the platform, and the four</a:t>
            </a:r>
          </a:p>
          <a:p>
            <a:pPr algn="l">
              <a:lnSpc>
                <a:spcPct val="126000"/>
              </a:lnSpc>
            </a:pPr>
            <a:r>
              <a:rPr sz="850" b="0" i="0" dirty="0">
                <a:solidFill>
                  <a:srgbClr val="44495B"/>
                </a:solidFill>
                <a:latin typeface="Segoe UI"/>
                <a:cs typeface="Segoe UI"/>
              </a:rPr>
              <a:t>content types it accepts</a:t>
            </a:r>
          </a:p>
        </p:txBody>
      </p:sp>
      <p:sp>
        <p:nvSpPr>
          <p:cNvPr id="11" name="Rectangle 10"/>
          <p:cNvSpPr/>
          <p:nvPr/>
        </p:nvSpPr>
        <p:spPr>
          <a:xfrm>
            <a:off x="640080" y="3675887"/>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3–4</a:t>
            </a:r>
          </a:p>
        </p:txBody>
      </p:sp>
      <p:sp>
        <p:nvSpPr>
          <p:cNvPr id="12" name="Rectangle 11"/>
          <p:cNvSpPr/>
          <p:nvPr/>
        </p:nvSpPr>
        <p:spPr>
          <a:xfrm>
            <a:off x="2724912" y="1554480"/>
            <a:ext cx="2148840" cy="2487168"/>
          </a:xfrm>
          <a:prstGeom prst="rect">
            <a:avLst/>
          </a:prstGeom>
          <a:solidFill>
            <a:srgbClr val="F6F8FD"/>
          </a:solidFill>
          <a:ln w="9525">
            <a:solidFill>
              <a:srgbClr val="E1E7F4"/>
            </a:solidFill>
          </a:ln>
          <a:effectLst/>
        </p:spPr>
        <p:txBody>
          <a:bodyPr wrap="square" rtlCol="0" anchor="ctr"/>
          <a:lstStyle/>
          <a:p>
            <a:endParaRPr/>
          </a:p>
        </p:txBody>
      </p:sp>
      <p:sp>
        <p:nvSpPr>
          <p:cNvPr id="13" name="Rectangle 12"/>
          <p:cNvSpPr/>
          <p:nvPr/>
        </p:nvSpPr>
        <p:spPr>
          <a:xfrm>
            <a:off x="2724912" y="1554480"/>
            <a:ext cx="2148840" cy="41148"/>
          </a:xfrm>
          <a:prstGeom prst="rect">
            <a:avLst/>
          </a:prstGeom>
          <a:solidFill>
            <a:srgbClr val="00B39F"/>
          </a:solidFill>
          <a:ln>
            <a:noFill/>
          </a:ln>
          <a:effectLst/>
        </p:spPr>
        <p:txBody>
          <a:bodyPr wrap="square" rtlCol="0" anchor="ctr"/>
          <a:lstStyle/>
          <a:p>
            <a:endParaRPr/>
          </a:p>
        </p:txBody>
      </p:sp>
      <p:sp>
        <p:nvSpPr>
          <p:cNvPr id="14" name="TextBox 13"/>
          <p:cNvSpPr txBox="1"/>
          <p:nvPr/>
        </p:nvSpPr>
        <p:spPr>
          <a:xfrm>
            <a:off x="2907792" y="1755648"/>
            <a:ext cx="731520" cy="274320"/>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02</a:t>
            </a:r>
          </a:p>
        </p:txBody>
      </p:sp>
      <p:sp>
        <p:nvSpPr>
          <p:cNvPr id="15" name="TextBox 14"/>
          <p:cNvSpPr txBox="1"/>
          <p:nvPr/>
        </p:nvSpPr>
        <p:spPr>
          <a:xfrm>
            <a:off x="2907792" y="2121408"/>
            <a:ext cx="1783080" cy="420624"/>
          </a:xfrm>
          <a:prstGeom prst="rect">
            <a:avLst/>
          </a:prstGeom>
          <a:noFill/>
        </p:spPr>
        <p:txBody>
          <a:bodyPr wrap="square" lIns="0" tIns="0" rIns="0" bIns="0" anchor="t">
            <a:spAutoFit/>
          </a:bodyPr>
          <a:lstStyle/>
          <a:p>
            <a:pPr algn="l">
              <a:lnSpc>
                <a:spcPct val="110000"/>
              </a:lnSpc>
            </a:pPr>
            <a:r>
              <a:rPr sz="1150" b="1" i="0" dirty="0">
                <a:solidFill>
                  <a:srgbClr val="101A3C"/>
                </a:solidFill>
                <a:latin typeface="Segoe UI"/>
                <a:cs typeface="Segoe UI"/>
              </a:rPr>
              <a:t>How it works</a:t>
            </a:r>
          </a:p>
        </p:txBody>
      </p:sp>
      <p:sp>
        <p:nvSpPr>
          <p:cNvPr id="16" name="TextBox 15"/>
          <p:cNvSpPr txBox="1"/>
          <p:nvPr/>
        </p:nvSpPr>
        <p:spPr>
          <a:xfrm>
            <a:off x="2907792" y="2688336"/>
            <a:ext cx="1783080" cy="914400"/>
          </a:xfrm>
          <a:prstGeom prst="rect">
            <a:avLst/>
          </a:prstGeom>
          <a:noFill/>
        </p:spPr>
        <p:txBody>
          <a:bodyPr wrap="square" lIns="0" tIns="0" rIns="0" bIns="0" anchor="t">
            <a:spAutoFit/>
          </a:bodyPr>
          <a:lstStyle/>
          <a:p>
            <a:pPr algn="l">
              <a:lnSpc>
                <a:spcPct val="126000"/>
              </a:lnSpc>
            </a:pPr>
            <a:r>
              <a:rPr sz="850" b="0" i="0" dirty="0">
                <a:solidFill>
                  <a:srgbClr val="44495B"/>
                </a:solidFill>
                <a:latin typeface="Segoe UI"/>
                <a:cs typeface="Segoe UI"/>
              </a:rPr>
              <a:t>The analyzer pipeline end to end,</a:t>
            </a:r>
          </a:p>
          <a:p>
            <a:pPr algn="l">
              <a:lnSpc>
                <a:spcPct val="126000"/>
              </a:lnSpc>
            </a:pPr>
            <a:r>
              <a:rPr sz="850" b="0" i="0" dirty="0">
                <a:solidFill>
                  <a:srgbClr val="44495B"/>
                </a:solidFill>
                <a:latin typeface="Segoe UI"/>
                <a:cs typeface="Segoe UI"/>
              </a:rPr>
              <a:t>and the request flow for both</a:t>
            </a:r>
          </a:p>
          <a:p>
            <a:pPr algn="l">
              <a:lnSpc>
                <a:spcPct val="126000"/>
              </a:lnSpc>
            </a:pPr>
            <a:r>
              <a:rPr sz="850" b="0" i="0" dirty="0">
                <a:solidFill>
                  <a:srgbClr val="44495B"/>
                </a:solidFill>
                <a:latin typeface="Segoe UI"/>
                <a:cs typeface="Segoe UI"/>
              </a:rPr>
              <a:t>processing modes</a:t>
            </a:r>
          </a:p>
        </p:txBody>
      </p:sp>
      <p:sp>
        <p:nvSpPr>
          <p:cNvPr id="17" name="Rectangle 16"/>
          <p:cNvSpPr/>
          <p:nvPr/>
        </p:nvSpPr>
        <p:spPr>
          <a:xfrm>
            <a:off x="2907792" y="3675887"/>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5–6</a:t>
            </a:r>
          </a:p>
        </p:txBody>
      </p:sp>
      <p:sp>
        <p:nvSpPr>
          <p:cNvPr id="18" name="Rectangle 17"/>
          <p:cNvSpPr/>
          <p:nvPr/>
        </p:nvSpPr>
        <p:spPr>
          <a:xfrm>
            <a:off x="4992624" y="1554480"/>
            <a:ext cx="2148840" cy="2487168"/>
          </a:xfrm>
          <a:prstGeom prst="rect">
            <a:avLst/>
          </a:prstGeom>
          <a:solidFill>
            <a:srgbClr val="F6F8FD"/>
          </a:solidFill>
          <a:ln w="9525">
            <a:solidFill>
              <a:srgbClr val="E1E7F4"/>
            </a:solidFill>
          </a:ln>
          <a:effectLst/>
        </p:spPr>
        <p:txBody>
          <a:bodyPr wrap="square" rtlCol="0" anchor="ctr"/>
          <a:lstStyle/>
          <a:p>
            <a:endParaRPr/>
          </a:p>
        </p:txBody>
      </p:sp>
      <p:sp>
        <p:nvSpPr>
          <p:cNvPr id="19" name="Rectangle 18"/>
          <p:cNvSpPr/>
          <p:nvPr/>
        </p:nvSpPr>
        <p:spPr>
          <a:xfrm>
            <a:off x="4992624" y="1554480"/>
            <a:ext cx="2148840" cy="41148"/>
          </a:xfrm>
          <a:prstGeom prst="rect">
            <a:avLst/>
          </a:prstGeom>
          <a:solidFill>
            <a:srgbClr val="00B39F"/>
          </a:solidFill>
          <a:ln>
            <a:noFill/>
          </a:ln>
          <a:effectLst/>
        </p:spPr>
        <p:txBody>
          <a:bodyPr wrap="square" rtlCol="0" anchor="ctr"/>
          <a:lstStyle/>
          <a:p>
            <a:endParaRPr/>
          </a:p>
        </p:txBody>
      </p:sp>
      <p:sp>
        <p:nvSpPr>
          <p:cNvPr id="20" name="TextBox 19"/>
          <p:cNvSpPr txBox="1"/>
          <p:nvPr/>
        </p:nvSpPr>
        <p:spPr>
          <a:xfrm>
            <a:off x="5175504" y="1755648"/>
            <a:ext cx="731520" cy="274320"/>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03</a:t>
            </a:r>
          </a:p>
        </p:txBody>
      </p:sp>
      <p:sp>
        <p:nvSpPr>
          <p:cNvPr id="21" name="TextBox 20"/>
          <p:cNvSpPr txBox="1"/>
          <p:nvPr/>
        </p:nvSpPr>
        <p:spPr>
          <a:xfrm>
            <a:off x="5175504" y="2121408"/>
            <a:ext cx="1783080" cy="420624"/>
          </a:xfrm>
          <a:prstGeom prst="rect">
            <a:avLst/>
          </a:prstGeom>
          <a:noFill/>
        </p:spPr>
        <p:txBody>
          <a:bodyPr wrap="square" lIns="0" tIns="0" rIns="0" bIns="0" anchor="t">
            <a:spAutoFit/>
          </a:bodyPr>
          <a:lstStyle/>
          <a:p>
            <a:pPr algn="l">
              <a:lnSpc>
                <a:spcPct val="110000"/>
              </a:lnSpc>
            </a:pPr>
            <a:r>
              <a:rPr sz="1150" b="1" i="0" dirty="0">
                <a:solidFill>
                  <a:srgbClr val="101A3C"/>
                </a:solidFill>
                <a:latin typeface="Segoe UI"/>
                <a:cs typeface="Segoe UI"/>
              </a:rPr>
              <a:t>What changed in 2026</a:t>
            </a:r>
          </a:p>
        </p:txBody>
      </p:sp>
      <p:sp>
        <p:nvSpPr>
          <p:cNvPr id="22" name="TextBox 21"/>
          <p:cNvSpPr txBox="1"/>
          <p:nvPr/>
        </p:nvSpPr>
        <p:spPr>
          <a:xfrm>
            <a:off x="5175504" y="2688336"/>
            <a:ext cx="1783080" cy="914400"/>
          </a:xfrm>
          <a:prstGeom prst="rect">
            <a:avLst/>
          </a:prstGeom>
          <a:noFill/>
        </p:spPr>
        <p:txBody>
          <a:bodyPr wrap="square" lIns="0" tIns="0" rIns="0" bIns="0" anchor="t">
            <a:spAutoFit/>
          </a:bodyPr>
          <a:lstStyle/>
          <a:p>
            <a:pPr algn="l">
              <a:lnSpc>
                <a:spcPct val="126000"/>
              </a:lnSpc>
            </a:pPr>
            <a:r>
              <a:rPr sz="850" b="0" i="0" dirty="0">
                <a:solidFill>
                  <a:srgbClr val="44495B"/>
                </a:solidFill>
                <a:latin typeface="Segoe UI"/>
                <a:cs typeface="Segoe UI"/>
              </a:rPr>
              <a:t>The generally available refresh, the</a:t>
            </a:r>
          </a:p>
          <a:p>
            <a:pPr algn="l">
              <a:lnSpc>
                <a:spcPct val="126000"/>
              </a:lnSpc>
            </a:pPr>
            <a:r>
              <a:rPr sz="850" b="0" i="0" dirty="0">
                <a:solidFill>
                  <a:srgbClr val="44495B"/>
                </a:solidFill>
                <a:latin typeface="Segoe UI"/>
                <a:cs typeface="Segoe UI"/>
              </a:rPr>
              <a:t>preview wave, and the two preview</a:t>
            </a:r>
          </a:p>
          <a:p>
            <a:pPr algn="l">
              <a:lnSpc>
                <a:spcPct val="126000"/>
              </a:lnSpc>
            </a:pPr>
            <a:r>
              <a:rPr sz="850" b="0" i="0" dirty="0">
                <a:solidFill>
                  <a:srgbClr val="44495B"/>
                </a:solidFill>
                <a:latin typeface="Segoe UI"/>
                <a:cs typeface="Segoe UI"/>
              </a:rPr>
              <a:t>capabilities that change what is possible</a:t>
            </a:r>
          </a:p>
        </p:txBody>
      </p:sp>
      <p:sp>
        <p:nvSpPr>
          <p:cNvPr id="23" name="Rectangle 22"/>
          <p:cNvSpPr/>
          <p:nvPr/>
        </p:nvSpPr>
        <p:spPr>
          <a:xfrm>
            <a:off x="5175504" y="3675887"/>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1" i="0" dirty="0">
                <a:solidFill>
                  <a:srgbClr val="101A3C"/>
                </a:solidFill>
                <a:latin typeface="Segoe UI"/>
                <a:cs typeface="Segoe UI"/>
              </a:rPr>
              <a:t>Slides 7–9</a:t>
            </a:r>
          </a:p>
        </p:txBody>
      </p:sp>
      <p:sp>
        <p:nvSpPr>
          <p:cNvPr id="24" name="Rectangle 23"/>
          <p:cNvSpPr/>
          <p:nvPr/>
        </p:nvSpPr>
        <p:spPr>
          <a:xfrm>
            <a:off x="7260336" y="1554480"/>
            <a:ext cx="2148840" cy="2487168"/>
          </a:xfrm>
          <a:prstGeom prst="rect">
            <a:avLst/>
          </a:prstGeom>
          <a:solidFill>
            <a:srgbClr val="F6F8FD"/>
          </a:solidFill>
          <a:ln w="9525">
            <a:solidFill>
              <a:srgbClr val="E1E7F4"/>
            </a:solidFill>
          </a:ln>
          <a:effectLst/>
        </p:spPr>
        <p:txBody>
          <a:bodyPr wrap="square" rtlCol="0" anchor="ctr"/>
          <a:lstStyle/>
          <a:p>
            <a:endParaRPr/>
          </a:p>
        </p:txBody>
      </p:sp>
      <p:sp>
        <p:nvSpPr>
          <p:cNvPr id="25" name="Rectangle 24"/>
          <p:cNvSpPr/>
          <p:nvPr/>
        </p:nvSpPr>
        <p:spPr>
          <a:xfrm>
            <a:off x="7260336" y="1554480"/>
            <a:ext cx="2148840" cy="41148"/>
          </a:xfrm>
          <a:prstGeom prst="rect">
            <a:avLst/>
          </a:prstGeom>
          <a:solidFill>
            <a:srgbClr val="00B39F"/>
          </a:solidFill>
          <a:ln>
            <a:noFill/>
          </a:ln>
          <a:effectLst/>
        </p:spPr>
        <p:txBody>
          <a:bodyPr wrap="square" rtlCol="0" anchor="ctr"/>
          <a:lstStyle/>
          <a:p>
            <a:endParaRPr/>
          </a:p>
        </p:txBody>
      </p:sp>
      <p:sp>
        <p:nvSpPr>
          <p:cNvPr id="26" name="TextBox 25"/>
          <p:cNvSpPr txBox="1"/>
          <p:nvPr/>
        </p:nvSpPr>
        <p:spPr>
          <a:xfrm>
            <a:off x="7443215" y="1755648"/>
            <a:ext cx="731520" cy="274320"/>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04</a:t>
            </a:r>
          </a:p>
        </p:txBody>
      </p:sp>
      <p:sp>
        <p:nvSpPr>
          <p:cNvPr id="27" name="TextBox 26"/>
          <p:cNvSpPr txBox="1"/>
          <p:nvPr/>
        </p:nvSpPr>
        <p:spPr>
          <a:xfrm>
            <a:off x="7443215" y="2121408"/>
            <a:ext cx="1783080" cy="420624"/>
          </a:xfrm>
          <a:prstGeom prst="rect">
            <a:avLst/>
          </a:prstGeom>
          <a:noFill/>
        </p:spPr>
        <p:txBody>
          <a:bodyPr wrap="square" lIns="0" tIns="0" rIns="0" bIns="0" anchor="t">
            <a:spAutoFit/>
          </a:bodyPr>
          <a:lstStyle/>
          <a:p>
            <a:pPr algn="l">
              <a:lnSpc>
                <a:spcPct val="110000"/>
              </a:lnSpc>
            </a:pPr>
            <a:r>
              <a:rPr sz="1150" b="1" i="0" dirty="0">
                <a:solidFill>
                  <a:srgbClr val="101A3C"/>
                </a:solidFill>
                <a:latin typeface="Segoe UI"/>
                <a:cs typeface="Segoe UI"/>
              </a:rPr>
              <a:t>Choosing between tools</a:t>
            </a:r>
          </a:p>
        </p:txBody>
      </p:sp>
      <p:sp>
        <p:nvSpPr>
          <p:cNvPr id="28" name="TextBox 27"/>
          <p:cNvSpPr txBox="1"/>
          <p:nvPr/>
        </p:nvSpPr>
        <p:spPr>
          <a:xfrm>
            <a:off x="7443215" y="2688336"/>
            <a:ext cx="1783080" cy="914400"/>
          </a:xfrm>
          <a:prstGeom prst="rect">
            <a:avLst/>
          </a:prstGeom>
          <a:noFill/>
        </p:spPr>
        <p:txBody>
          <a:bodyPr wrap="square" lIns="0" tIns="0" rIns="0" bIns="0" anchor="t">
            <a:spAutoFit/>
          </a:bodyPr>
          <a:lstStyle/>
          <a:p>
            <a:pPr algn="l">
              <a:lnSpc>
                <a:spcPct val="126000"/>
              </a:lnSpc>
            </a:pPr>
            <a:r>
              <a:rPr sz="850" b="0" i="0" dirty="0">
                <a:solidFill>
                  <a:srgbClr val="44495B"/>
                </a:solidFill>
                <a:latin typeface="Segoe UI"/>
                <a:cs typeface="Segoe UI"/>
              </a:rPr>
              <a:t>Compared with Azure Document</a:t>
            </a:r>
          </a:p>
          <a:p>
            <a:pPr algn="l">
              <a:lnSpc>
                <a:spcPct val="126000"/>
              </a:lnSpc>
            </a:pPr>
            <a:r>
              <a:rPr sz="850" b="0" i="0" dirty="0">
                <a:solidFill>
                  <a:srgbClr val="44495B"/>
                </a:solidFill>
                <a:latin typeface="Segoe UI"/>
                <a:cs typeface="Segoe UI"/>
              </a:rPr>
              <a:t>Intelligence, and compared with</a:t>
            </a:r>
          </a:p>
          <a:p>
            <a:pPr algn="l">
              <a:lnSpc>
                <a:spcPct val="126000"/>
              </a:lnSpc>
            </a:pPr>
            <a:r>
              <a:rPr sz="850" b="0" i="0" dirty="0">
                <a:solidFill>
                  <a:srgbClr val="44495B"/>
                </a:solidFill>
                <a:latin typeface="Segoe UI"/>
                <a:cs typeface="Segoe UI"/>
              </a:rPr>
              <a:t>a standalone OCR model</a:t>
            </a:r>
          </a:p>
        </p:txBody>
      </p:sp>
      <p:sp>
        <p:nvSpPr>
          <p:cNvPr id="29" name="Rectangle 28"/>
          <p:cNvSpPr/>
          <p:nvPr/>
        </p:nvSpPr>
        <p:spPr>
          <a:xfrm>
            <a:off x="7443215" y="3675887"/>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lang="en-US" sz="750" b="1" i="0" dirty="0">
                <a:solidFill>
                  <a:srgbClr val="101A3C"/>
                </a:solidFill>
                <a:latin typeface="Segoe UI"/>
                <a:cs typeface="Segoe UI"/>
              </a:rPr>
              <a:t>Slides 10–11</a:t>
            </a:r>
            <a:endParaRPr sz="750" b="1" i="0" dirty="0">
              <a:solidFill>
                <a:srgbClr val="101A3C"/>
              </a:solidFill>
              <a:latin typeface="Segoe UI"/>
              <a:cs typeface="Segoe UI"/>
            </a:endParaRPr>
          </a:p>
        </p:txBody>
      </p:sp>
      <p:sp>
        <p:nvSpPr>
          <p:cNvPr id="30" name="Rectangle 29"/>
          <p:cNvSpPr/>
          <p:nvPr/>
        </p:nvSpPr>
        <p:spPr>
          <a:xfrm>
            <a:off x="9528048" y="1554480"/>
            <a:ext cx="2148840" cy="2487168"/>
          </a:xfrm>
          <a:prstGeom prst="rect">
            <a:avLst/>
          </a:prstGeom>
          <a:solidFill>
            <a:srgbClr val="F6F8FD"/>
          </a:solidFill>
          <a:ln w="9525">
            <a:solidFill>
              <a:srgbClr val="E1E7F4"/>
            </a:solidFill>
          </a:ln>
          <a:effectLst/>
        </p:spPr>
        <p:txBody>
          <a:bodyPr wrap="square" rtlCol="0" anchor="ctr"/>
          <a:lstStyle/>
          <a:p>
            <a:endParaRPr/>
          </a:p>
        </p:txBody>
      </p:sp>
      <p:sp>
        <p:nvSpPr>
          <p:cNvPr id="31" name="Rectangle 30"/>
          <p:cNvSpPr/>
          <p:nvPr/>
        </p:nvSpPr>
        <p:spPr>
          <a:xfrm>
            <a:off x="9528048" y="1554480"/>
            <a:ext cx="2148840" cy="41148"/>
          </a:xfrm>
          <a:prstGeom prst="rect">
            <a:avLst/>
          </a:prstGeom>
          <a:solidFill>
            <a:srgbClr val="00B39F"/>
          </a:solidFill>
          <a:ln>
            <a:noFill/>
          </a:ln>
          <a:effectLst/>
        </p:spPr>
        <p:txBody>
          <a:bodyPr wrap="square" rtlCol="0" anchor="ctr"/>
          <a:lstStyle/>
          <a:p>
            <a:endParaRPr/>
          </a:p>
        </p:txBody>
      </p:sp>
      <p:sp>
        <p:nvSpPr>
          <p:cNvPr id="32" name="TextBox 31"/>
          <p:cNvSpPr txBox="1"/>
          <p:nvPr/>
        </p:nvSpPr>
        <p:spPr>
          <a:xfrm>
            <a:off x="9710928" y="1755648"/>
            <a:ext cx="731520" cy="274320"/>
          </a:xfrm>
          <a:prstGeom prst="rect">
            <a:avLst/>
          </a:prstGeom>
          <a:noFill/>
        </p:spPr>
        <p:txBody>
          <a:bodyPr wrap="square" lIns="0" tIns="0" rIns="0" bIns="0" anchor="t">
            <a:spAutoFit/>
          </a:bodyPr>
          <a:lstStyle/>
          <a:p>
            <a:pPr algn="l">
              <a:lnSpc>
                <a:spcPct val="100000"/>
              </a:lnSpc>
            </a:pPr>
            <a:r>
              <a:rPr sz="1600" b="1" i="0" dirty="0">
                <a:solidFill>
                  <a:srgbClr val="008173"/>
                </a:solidFill>
                <a:latin typeface="Segoe UI"/>
                <a:cs typeface="Segoe UI"/>
              </a:rPr>
              <a:t>05</a:t>
            </a:r>
          </a:p>
        </p:txBody>
      </p:sp>
      <p:sp>
        <p:nvSpPr>
          <p:cNvPr id="33" name="TextBox 32"/>
          <p:cNvSpPr txBox="1"/>
          <p:nvPr/>
        </p:nvSpPr>
        <p:spPr>
          <a:xfrm>
            <a:off x="9710928" y="2121408"/>
            <a:ext cx="1783080" cy="420624"/>
          </a:xfrm>
          <a:prstGeom prst="rect">
            <a:avLst/>
          </a:prstGeom>
          <a:noFill/>
        </p:spPr>
        <p:txBody>
          <a:bodyPr wrap="square" lIns="0" tIns="0" rIns="0" bIns="0" anchor="t">
            <a:spAutoFit/>
          </a:bodyPr>
          <a:lstStyle/>
          <a:p>
            <a:pPr algn="l">
              <a:lnSpc>
                <a:spcPct val="110000"/>
              </a:lnSpc>
            </a:pPr>
            <a:r>
              <a:rPr sz="1150" b="1" i="0" dirty="0">
                <a:solidFill>
                  <a:srgbClr val="101A3C"/>
                </a:solidFill>
                <a:latin typeface="Segoe UI"/>
                <a:cs typeface="Segoe UI"/>
              </a:rPr>
              <a:t>Running it</a:t>
            </a:r>
          </a:p>
        </p:txBody>
      </p:sp>
      <p:sp>
        <p:nvSpPr>
          <p:cNvPr id="34" name="TextBox 33"/>
          <p:cNvSpPr txBox="1"/>
          <p:nvPr/>
        </p:nvSpPr>
        <p:spPr>
          <a:xfrm>
            <a:off x="9710928" y="2688336"/>
            <a:ext cx="1783080" cy="914400"/>
          </a:xfrm>
          <a:prstGeom prst="rect">
            <a:avLst/>
          </a:prstGeom>
          <a:noFill/>
        </p:spPr>
        <p:txBody>
          <a:bodyPr wrap="square" lIns="0" tIns="0" rIns="0" bIns="0" anchor="t">
            <a:spAutoFit/>
          </a:bodyPr>
          <a:lstStyle/>
          <a:p>
            <a:pPr algn="l">
              <a:lnSpc>
                <a:spcPct val="126000"/>
              </a:lnSpc>
            </a:pPr>
            <a:r>
              <a:rPr sz="850" b="0" i="0" dirty="0">
                <a:solidFill>
                  <a:srgbClr val="44495B"/>
                </a:solidFill>
                <a:latin typeface="Segoe UI"/>
                <a:cs typeface="Segoe UI"/>
              </a:rPr>
              <a:t>Limits, the three-part cost model,</a:t>
            </a:r>
          </a:p>
          <a:p>
            <a:pPr algn="l">
              <a:lnSpc>
                <a:spcPct val="126000"/>
              </a:lnSpc>
            </a:pPr>
            <a:r>
              <a:rPr sz="850" b="0" i="0" dirty="0">
                <a:solidFill>
                  <a:srgbClr val="44495B"/>
                </a:solidFill>
                <a:latin typeface="Segoe UI"/>
                <a:cs typeface="Segoe UI"/>
              </a:rPr>
              <a:t>regional availability, and the</a:t>
            </a:r>
          </a:p>
          <a:p>
            <a:pPr algn="l">
              <a:lnSpc>
                <a:spcPct val="126000"/>
              </a:lnSpc>
            </a:pPr>
            <a:r>
              <a:rPr sz="850" b="0" i="0" dirty="0">
                <a:solidFill>
                  <a:srgbClr val="44495B"/>
                </a:solidFill>
                <a:latin typeface="Segoe UI"/>
                <a:cs typeface="Segoe UI"/>
              </a:rPr>
              <a:t>sources behind this deck</a:t>
            </a:r>
          </a:p>
        </p:txBody>
      </p:sp>
      <p:sp>
        <p:nvSpPr>
          <p:cNvPr id="35" name="Rectangle 34"/>
          <p:cNvSpPr/>
          <p:nvPr/>
        </p:nvSpPr>
        <p:spPr>
          <a:xfrm>
            <a:off x="9710928" y="3675887"/>
            <a:ext cx="950976" cy="237744"/>
          </a:xfrm>
          <a:prstGeom prst="rect">
            <a:avLst/>
          </a:prstGeom>
          <a:solidFill>
            <a:srgbClr val="EBEFF7"/>
          </a:solidFill>
          <a:ln>
            <a:noFill/>
          </a:ln>
          <a:effectLst/>
        </p:spPr>
        <p:txBody>
          <a:bodyPr wrap="square" lIns="54864" tIns="18288" rIns="54864" bIns="18288" rtlCol="0" anchor="ctr"/>
          <a:lstStyle/>
          <a:p>
            <a:pPr algn="ctr">
              <a:lnSpc>
                <a:spcPct val="100000"/>
              </a:lnSpc>
            </a:pPr>
            <a:r>
              <a:rPr lang="en-US" sz="750" b="1" i="0" dirty="0">
                <a:solidFill>
                  <a:srgbClr val="101A3C"/>
                </a:solidFill>
                <a:latin typeface="Segoe UI"/>
                <a:cs typeface="Segoe UI"/>
              </a:rPr>
              <a:t>Slide 12</a:t>
            </a:r>
            <a:endParaRPr sz="750" b="1" i="0" dirty="0">
              <a:solidFill>
                <a:srgbClr val="101A3C"/>
              </a:solidFill>
              <a:latin typeface="Segoe UI"/>
              <a:cs typeface="Segoe UI"/>
            </a:endParaRPr>
          </a:p>
        </p:txBody>
      </p:sp>
      <p:sp>
        <p:nvSpPr>
          <p:cNvPr id="36" name="Rectangle 35"/>
          <p:cNvSpPr/>
          <p:nvPr/>
        </p:nvSpPr>
        <p:spPr>
          <a:xfrm>
            <a:off x="457200" y="4334256"/>
            <a:ext cx="11277295" cy="676656"/>
          </a:xfrm>
          <a:prstGeom prst="rect">
            <a:avLst/>
          </a:prstGeom>
          <a:solidFill>
            <a:srgbClr val="EBEFF7"/>
          </a:solidFill>
          <a:ln>
            <a:noFill/>
          </a:ln>
          <a:effectLst/>
        </p:spPr>
        <p:txBody>
          <a:bodyPr wrap="square" rtlCol="0" anchor="ctr"/>
          <a:lstStyle/>
          <a:p>
            <a:endParaRPr/>
          </a:p>
        </p:txBody>
      </p:sp>
      <p:sp>
        <p:nvSpPr>
          <p:cNvPr id="37" name="Rectangle 36"/>
          <p:cNvSpPr/>
          <p:nvPr/>
        </p:nvSpPr>
        <p:spPr>
          <a:xfrm>
            <a:off x="457200" y="4334256"/>
            <a:ext cx="41148" cy="676656"/>
          </a:xfrm>
          <a:prstGeom prst="rect">
            <a:avLst/>
          </a:prstGeom>
          <a:solidFill>
            <a:srgbClr val="00B39F"/>
          </a:solidFill>
          <a:ln>
            <a:noFill/>
          </a:ln>
          <a:effectLst/>
        </p:spPr>
        <p:txBody>
          <a:bodyPr wrap="square" rtlCol="0" anchor="ctr"/>
          <a:lstStyle/>
          <a:p>
            <a:endParaRPr/>
          </a:p>
        </p:txBody>
      </p:sp>
      <p:sp>
        <p:nvSpPr>
          <p:cNvPr id="38" name="TextBox 37"/>
          <p:cNvSpPr txBox="1"/>
          <p:nvPr/>
        </p:nvSpPr>
        <p:spPr>
          <a:xfrm>
            <a:off x="694944" y="4434840"/>
            <a:ext cx="10856671" cy="493776"/>
          </a:xfrm>
          <a:prstGeom prst="rect">
            <a:avLst/>
          </a:prstGeom>
          <a:noFill/>
        </p:spPr>
        <p:txBody>
          <a:bodyPr wrap="square" lIns="0" tIns="0" rIns="0" bIns="0" anchor="t">
            <a:spAutoFit/>
          </a:bodyPr>
          <a:lstStyle/>
          <a:p>
            <a:pPr algn="l">
              <a:lnSpc>
                <a:spcPct val="120000"/>
              </a:lnSpc>
            </a:pPr>
            <a:r>
              <a:rPr sz="900" b="0" i="0" dirty="0">
                <a:solidFill>
                  <a:srgbClr val="101A3C"/>
                </a:solidFill>
                <a:latin typeface="Segoe UI"/>
                <a:cs typeface="Segoe UI"/>
              </a:rPr>
              <a:t>A note on naming used throughout: Microsoft Learn identifies releases by API version, not by a product version number. Where this deck says “generally available” it means API 2025-11-01; where it says preview it means API 2026-06-01-preview, which carries no service level agreement.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WHAT IT IS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What the service does, and the problem it solves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One configured analyzer turns unstructured files into predictable, schema-shaped output with a confidence score per value</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learn.microsoft.com/azure/ai-services/content-understanding/overview</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3</a:t>
            </a:r>
          </a:p>
        </p:txBody>
      </p:sp>
      <p:sp>
        <p:nvSpPr>
          <p:cNvPr id="7" name="Rectangle 6"/>
          <p:cNvSpPr/>
          <p:nvPr/>
        </p:nvSpPr>
        <p:spPr>
          <a:xfrm>
            <a:off x="457200" y="1335024"/>
            <a:ext cx="11277295" cy="530352"/>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713232" y="1444752"/>
            <a:ext cx="10765231" cy="365760"/>
          </a:xfrm>
          <a:prstGeom prst="rect">
            <a:avLst/>
          </a:prstGeom>
          <a:noFill/>
        </p:spPr>
        <p:txBody>
          <a:bodyPr wrap="square" lIns="0" tIns="0" rIns="0" bIns="0" anchor="t">
            <a:spAutoFit/>
          </a:bodyPr>
          <a:lstStyle/>
          <a:p>
            <a:pPr algn="l">
              <a:lnSpc>
                <a:spcPct val="124000"/>
              </a:lnSpc>
            </a:pPr>
            <a:r>
              <a:rPr lang="en-US" sz="1050" b="0" i="0" dirty="0">
                <a:solidFill>
                  <a:srgbClr val="FFFFFF"/>
                </a:solidFill>
                <a:latin typeface="Segoe UI"/>
                <a:cs typeface="Segoe UI"/>
              </a:rPr>
              <a:t>A Foundry Tool that processes documents, images, audio and video into a defined output format — extracting, classifying or generating each field, and returning where in the content each value came from.</a:t>
            </a:r>
            <a:endParaRPr sz="1050" b="0" i="0" dirty="0">
              <a:solidFill>
                <a:srgbClr val="FFFFFF"/>
              </a:solidFill>
              <a:latin typeface="Segoe UI"/>
              <a:cs typeface="Segoe UI"/>
            </a:endParaRPr>
          </a:p>
        </p:txBody>
      </p:sp>
      <p:sp>
        <p:nvSpPr>
          <p:cNvPr id="9" name="TextBox 8"/>
          <p:cNvSpPr txBox="1"/>
          <p:nvPr/>
        </p:nvSpPr>
        <p:spPr>
          <a:xfrm>
            <a:off x="457200" y="2048256"/>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THE PROBLEM, BEFORE A SERVICE LIKE THIS</a:t>
            </a:r>
          </a:p>
        </p:txBody>
      </p:sp>
      <p:sp>
        <p:nvSpPr>
          <p:cNvPr id="10" name="TextBox 9"/>
          <p:cNvSpPr txBox="1"/>
          <p:nvPr/>
        </p:nvSpPr>
        <p:spPr>
          <a:xfrm>
            <a:off x="5791200" y="2048256"/>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WHAT THE SERVICE PROVIDES INSTEAD</a:t>
            </a:r>
          </a:p>
        </p:txBody>
      </p:sp>
      <p:sp>
        <p:nvSpPr>
          <p:cNvPr id="11" name="Rectangle 10"/>
          <p:cNvSpPr/>
          <p:nvPr/>
        </p:nvSpPr>
        <p:spPr>
          <a:xfrm>
            <a:off x="457200" y="2304288"/>
            <a:ext cx="5394960" cy="786384"/>
          </a:xfrm>
          <a:prstGeom prst="rect">
            <a:avLst/>
          </a:prstGeom>
          <a:solidFill>
            <a:srgbClr val="F6F8FD"/>
          </a:solidFill>
          <a:ln w="9525">
            <a:solidFill>
              <a:srgbClr val="E1E7F4"/>
            </a:solidFill>
          </a:ln>
          <a:effectLst/>
        </p:spPr>
        <p:txBody>
          <a:bodyPr wrap="square" rtlCol="0" anchor="ctr"/>
          <a:lstStyle/>
          <a:p>
            <a:endParaRPr/>
          </a:p>
        </p:txBody>
      </p:sp>
      <p:sp>
        <p:nvSpPr>
          <p:cNvPr id="12" name="Rectangle 11"/>
          <p:cNvSpPr/>
          <p:nvPr/>
        </p:nvSpPr>
        <p:spPr>
          <a:xfrm>
            <a:off x="457200" y="2304288"/>
            <a:ext cx="41148" cy="786384"/>
          </a:xfrm>
          <a:prstGeom prst="rect">
            <a:avLst/>
          </a:prstGeom>
          <a:solidFill>
            <a:srgbClr val="44495B"/>
          </a:solidFill>
          <a:ln>
            <a:noFill/>
          </a:ln>
          <a:effectLst/>
        </p:spPr>
        <p:txBody>
          <a:bodyPr wrap="square" rtlCol="0" anchor="ctr"/>
          <a:lstStyle/>
          <a:p>
            <a:endParaRPr/>
          </a:p>
        </p:txBody>
      </p:sp>
      <p:sp>
        <p:nvSpPr>
          <p:cNvPr id="13" name="TextBox 12"/>
          <p:cNvSpPr txBox="1"/>
          <p:nvPr/>
        </p:nvSpPr>
        <p:spPr>
          <a:xfrm>
            <a:off x="658368" y="2414016"/>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Content arrives in many shapes</a:t>
            </a:r>
          </a:p>
        </p:txBody>
      </p:sp>
      <p:sp>
        <p:nvSpPr>
          <p:cNvPr id="14" name="TextBox 13"/>
          <p:cNvSpPr txBox="1"/>
          <p:nvPr/>
        </p:nvSpPr>
        <p:spPr>
          <a:xfrm>
            <a:off x="658368" y="2642616"/>
            <a:ext cx="4992624" cy="402336"/>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Scanned PDFs, digital documents, photographs, call recordings and video each need a different tool and a different pipeline.</a:t>
            </a:r>
          </a:p>
        </p:txBody>
      </p:sp>
      <p:sp>
        <p:nvSpPr>
          <p:cNvPr id="15" name="Rectangle 14"/>
          <p:cNvSpPr/>
          <p:nvPr/>
        </p:nvSpPr>
        <p:spPr>
          <a:xfrm>
            <a:off x="6345936" y="2304288"/>
            <a:ext cx="5394960" cy="786384"/>
          </a:xfrm>
          <a:prstGeom prst="rect">
            <a:avLst/>
          </a:prstGeom>
          <a:solidFill>
            <a:srgbClr val="FFFFFF"/>
          </a:solidFill>
          <a:ln w="9525">
            <a:solidFill>
              <a:srgbClr val="E1E7F4"/>
            </a:solidFill>
          </a:ln>
          <a:effectLst/>
        </p:spPr>
        <p:txBody>
          <a:bodyPr wrap="square" rtlCol="0" anchor="ctr"/>
          <a:lstStyle/>
          <a:p>
            <a:endParaRPr/>
          </a:p>
        </p:txBody>
      </p:sp>
      <p:sp>
        <p:nvSpPr>
          <p:cNvPr id="16" name="Rectangle 15"/>
          <p:cNvSpPr/>
          <p:nvPr/>
        </p:nvSpPr>
        <p:spPr>
          <a:xfrm>
            <a:off x="6345936" y="2304288"/>
            <a:ext cx="41148" cy="786384"/>
          </a:xfrm>
          <a:prstGeom prst="rect">
            <a:avLst/>
          </a:prstGeom>
          <a:solidFill>
            <a:srgbClr val="00B39F"/>
          </a:solidFill>
          <a:ln>
            <a:noFill/>
          </a:ln>
          <a:effectLst/>
        </p:spPr>
        <p:txBody>
          <a:bodyPr wrap="square" rtlCol="0" anchor="ctr"/>
          <a:lstStyle/>
          <a:p>
            <a:endParaRPr/>
          </a:p>
        </p:txBody>
      </p:sp>
      <p:sp>
        <p:nvSpPr>
          <p:cNvPr id="17" name="TextBox 16"/>
          <p:cNvSpPr txBox="1"/>
          <p:nvPr/>
        </p:nvSpPr>
        <p:spPr>
          <a:xfrm>
            <a:off x="6547104" y="2414016"/>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One analyzer, four content types</a:t>
            </a:r>
          </a:p>
        </p:txBody>
      </p:sp>
      <p:sp>
        <p:nvSpPr>
          <p:cNvPr id="18" name="TextBox 17"/>
          <p:cNvSpPr txBox="1"/>
          <p:nvPr/>
        </p:nvSpPr>
        <p:spPr>
          <a:xfrm>
            <a:off x="6547104" y="2642616"/>
            <a:ext cx="4992624" cy="402336"/>
          </a:xfrm>
          <a:prstGeom prst="rect">
            <a:avLst/>
          </a:prstGeom>
          <a:noFill/>
        </p:spPr>
        <p:txBody>
          <a:bodyPr wrap="square" lIns="0" tIns="0" rIns="0" bIns="0" anchor="t">
            <a:spAutoFit/>
          </a:bodyPr>
          <a:lstStyle/>
          <a:p>
            <a:pPr algn="l">
              <a:lnSpc>
                <a:spcPct val="116000"/>
              </a:lnSpc>
            </a:pPr>
            <a:r>
              <a:rPr lang="en-US" sz="800" b="0" i="0" dirty="0">
                <a:solidFill>
                  <a:srgbClr val="44495B"/>
                </a:solidFill>
                <a:latin typeface="Segoe UI"/>
                <a:cs typeface="Segoe UI"/>
              </a:rPr>
              <a:t>The same configured object accepts documents, images, audio and video, and applies the same settings to every file it receives.</a:t>
            </a:r>
            <a:endParaRPr sz="800" b="0" i="0" dirty="0">
              <a:solidFill>
                <a:srgbClr val="44495B"/>
              </a:solidFill>
              <a:latin typeface="Segoe UI"/>
              <a:cs typeface="Segoe UI"/>
            </a:endParaRPr>
          </a:p>
        </p:txBody>
      </p:sp>
      <p:sp>
        <p:nvSpPr>
          <p:cNvPr id="19" name="Rectangle 18"/>
          <p:cNvSpPr/>
          <p:nvPr/>
        </p:nvSpPr>
        <p:spPr>
          <a:xfrm>
            <a:off x="457200" y="3182112"/>
            <a:ext cx="5394960" cy="786384"/>
          </a:xfrm>
          <a:prstGeom prst="rect">
            <a:avLst/>
          </a:prstGeom>
          <a:solidFill>
            <a:srgbClr val="F6F8FD"/>
          </a:solidFill>
          <a:ln w="9525">
            <a:solidFill>
              <a:srgbClr val="E1E7F4"/>
            </a:solidFill>
          </a:ln>
          <a:effectLst/>
        </p:spPr>
        <p:txBody>
          <a:bodyPr wrap="square" rtlCol="0" anchor="ctr"/>
          <a:lstStyle/>
          <a:p>
            <a:endParaRPr/>
          </a:p>
        </p:txBody>
      </p:sp>
      <p:sp>
        <p:nvSpPr>
          <p:cNvPr id="20" name="Rectangle 19"/>
          <p:cNvSpPr/>
          <p:nvPr/>
        </p:nvSpPr>
        <p:spPr>
          <a:xfrm>
            <a:off x="457200" y="3182112"/>
            <a:ext cx="41148" cy="786384"/>
          </a:xfrm>
          <a:prstGeom prst="rect">
            <a:avLst/>
          </a:prstGeom>
          <a:solidFill>
            <a:srgbClr val="44495B"/>
          </a:solidFill>
          <a:ln>
            <a:noFill/>
          </a:ln>
          <a:effectLst/>
        </p:spPr>
        <p:txBody>
          <a:bodyPr wrap="square" rtlCol="0" anchor="ctr"/>
          <a:lstStyle/>
          <a:p>
            <a:endParaRPr/>
          </a:p>
        </p:txBody>
      </p:sp>
      <p:sp>
        <p:nvSpPr>
          <p:cNvPr id="21" name="TextBox 20"/>
          <p:cNvSpPr txBox="1"/>
          <p:nvPr/>
        </p:nvSpPr>
        <p:spPr>
          <a:xfrm>
            <a:off x="658368" y="3291840"/>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Output shape is unpredictable</a:t>
            </a:r>
          </a:p>
        </p:txBody>
      </p:sp>
      <p:sp>
        <p:nvSpPr>
          <p:cNvPr id="22" name="TextBox 21"/>
          <p:cNvSpPr txBox="1"/>
          <p:nvPr/>
        </p:nvSpPr>
        <p:spPr>
          <a:xfrm>
            <a:off x="658368" y="3520440"/>
            <a:ext cx="4992624" cy="402336"/>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Optical character recognition returns whatever text is on the page. The application still has to find the values it actually needs.</a:t>
            </a:r>
          </a:p>
        </p:txBody>
      </p:sp>
      <p:sp>
        <p:nvSpPr>
          <p:cNvPr id="23" name="Rectangle 22"/>
          <p:cNvSpPr/>
          <p:nvPr/>
        </p:nvSpPr>
        <p:spPr>
          <a:xfrm>
            <a:off x="6345936" y="3182112"/>
            <a:ext cx="5394960" cy="786384"/>
          </a:xfrm>
          <a:prstGeom prst="rect">
            <a:avLst/>
          </a:prstGeom>
          <a:solidFill>
            <a:srgbClr val="FFFFFF"/>
          </a:solidFill>
          <a:ln w="9525">
            <a:solidFill>
              <a:srgbClr val="E1E7F4"/>
            </a:solidFill>
          </a:ln>
          <a:effectLst/>
        </p:spPr>
        <p:txBody>
          <a:bodyPr wrap="square" rtlCol="0" anchor="ctr"/>
          <a:lstStyle/>
          <a:p>
            <a:endParaRPr/>
          </a:p>
        </p:txBody>
      </p:sp>
      <p:sp>
        <p:nvSpPr>
          <p:cNvPr id="24" name="Rectangle 23"/>
          <p:cNvSpPr/>
          <p:nvPr/>
        </p:nvSpPr>
        <p:spPr>
          <a:xfrm>
            <a:off x="6345936" y="3182112"/>
            <a:ext cx="41148" cy="786384"/>
          </a:xfrm>
          <a:prstGeom prst="rect">
            <a:avLst/>
          </a:prstGeom>
          <a:solidFill>
            <a:srgbClr val="00B39F"/>
          </a:solidFill>
          <a:ln>
            <a:noFill/>
          </a:ln>
          <a:effectLst/>
        </p:spPr>
        <p:txBody>
          <a:bodyPr wrap="square" rtlCol="0" anchor="ctr"/>
          <a:lstStyle/>
          <a:p>
            <a:endParaRPr/>
          </a:p>
        </p:txBody>
      </p:sp>
      <p:sp>
        <p:nvSpPr>
          <p:cNvPr id="25" name="TextBox 24"/>
          <p:cNvSpPr txBox="1"/>
          <p:nvPr/>
        </p:nvSpPr>
        <p:spPr>
          <a:xfrm>
            <a:off x="6547104" y="3291840"/>
            <a:ext cx="4992624" cy="182880"/>
          </a:xfrm>
          <a:prstGeom prst="rect">
            <a:avLst/>
          </a:prstGeom>
          <a:noFill/>
        </p:spPr>
        <p:txBody>
          <a:bodyPr wrap="square" lIns="0" tIns="0" rIns="0" bIns="0" anchor="t">
            <a:spAutoFit/>
          </a:bodyPr>
          <a:lstStyle/>
          <a:p>
            <a:pPr algn="l">
              <a:lnSpc>
                <a:spcPct val="100000"/>
              </a:lnSpc>
            </a:pPr>
            <a:r>
              <a:rPr lang="en-US" sz="1000" b="1" i="0" dirty="0">
                <a:solidFill>
                  <a:srgbClr val="101A3C"/>
                </a:solidFill>
                <a:latin typeface="Segoe UI"/>
                <a:cs typeface="Segoe UI"/>
              </a:rPr>
              <a:t>Output schema defined up front</a:t>
            </a:r>
            <a:endParaRPr sz="1000" b="1" i="0" dirty="0">
              <a:solidFill>
                <a:srgbClr val="101A3C"/>
              </a:solidFill>
              <a:latin typeface="Segoe UI"/>
              <a:cs typeface="Segoe UI"/>
            </a:endParaRPr>
          </a:p>
        </p:txBody>
      </p:sp>
      <p:sp>
        <p:nvSpPr>
          <p:cNvPr id="26" name="TextBox 25"/>
          <p:cNvSpPr txBox="1"/>
          <p:nvPr/>
        </p:nvSpPr>
        <p:spPr>
          <a:xfrm>
            <a:off x="6547104" y="3520440"/>
            <a:ext cx="4992624" cy="402336"/>
          </a:xfrm>
          <a:prstGeom prst="rect">
            <a:avLst/>
          </a:prstGeom>
          <a:noFill/>
        </p:spPr>
        <p:txBody>
          <a:bodyPr wrap="square" lIns="0" tIns="0" rIns="0" bIns="0" anchor="t">
            <a:spAutoFit/>
          </a:bodyPr>
          <a:lstStyle/>
          <a:p>
            <a:pPr algn="l">
              <a:lnSpc>
                <a:spcPct val="116000"/>
              </a:lnSpc>
            </a:pPr>
            <a:r>
              <a:rPr lang="en-US" sz="800" b="0" i="0" dirty="0">
                <a:solidFill>
                  <a:srgbClr val="44495B"/>
                </a:solidFill>
                <a:latin typeface="Segoe UI"/>
                <a:cs typeface="Segoe UI"/>
              </a:rPr>
              <a:t>Fields are named in plain language. The service returns exactly those fields, as typed JSON, alongside readable Markdown.</a:t>
            </a:r>
            <a:endParaRPr sz="800" b="0" i="0" dirty="0">
              <a:solidFill>
                <a:srgbClr val="44495B"/>
              </a:solidFill>
              <a:latin typeface="Segoe UI"/>
              <a:cs typeface="Segoe UI"/>
            </a:endParaRPr>
          </a:p>
        </p:txBody>
      </p:sp>
      <p:sp>
        <p:nvSpPr>
          <p:cNvPr id="27" name="Rectangle 26"/>
          <p:cNvSpPr/>
          <p:nvPr/>
        </p:nvSpPr>
        <p:spPr>
          <a:xfrm>
            <a:off x="457200" y="4059935"/>
            <a:ext cx="5394960" cy="786384"/>
          </a:xfrm>
          <a:prstGeom prst="rect">
            <a:avLst/>
          </a:prstGeom>
          <a:solidFill>
            <a:srgbClr val="F6F8FD"/>
          </a:solidFill>
          <a:ln w="9525">
            <a:solidFill>
              <a:srgbClr val="E1E7F4"/>
            </a:solidFill>
          </a:ln>
          <a:effectLst/>
        </p:spPr>
        <p:txBody>
          <a:bodyPr wrap="square" rtlCol="0" anchor="ctr"/>
          <a:lstStyle/>
          <a:p>
            <a:endParaRPr/>
          </a:p>
        </p:txBody>
      </p:sp>
      <p:sp>
        <p:nvSpPr>
          <p:cNvPr id="28" name="Rectangle 27"/>
          <p:cNvSpPr/>
          <p:nvPr/>
        </p:nvSpPr>
        <p:spPr>
          <a:xfrm>
            <a:off x="457200" y="4059935"/>
            <a:ext cx="41148" cy="786384"/>
          </a:xfrm>
          <a:prstGeom prst="rect">
            <a:avLst/>
          </a:prstGeom>
          <a:solidFill>
            <a:srgbClr val="44495B"/>
          </a:solidFill>
          <a:ln>
            <a:noFill/>
          </a:ln>
          <a:effectLst/>
        </p:spPr>
        <p:txBody>
          <a:bodyPr wrap="square" rtlCol="0" anchor="ctr"/>
          <a:lstStyle/>
          <a:p>
            <a:endParaRPr/>
          </a:p>
        </p:txBody>
      </p:sp>
      <p:sp>
        <p:nvSpPr>
          <p:cNvPr id="29" name="TextBox 28"/>
          <p:cNvSpPr txBox="1"/>
          <p:nvPr/>
        </p:nvSpPr>
        <p:spPr>
          <a:xfrm>
            <a:off x="658368" y="4169663"/>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No measure of trust</a:t>
            </a:r>
          </a:p>
        </p:txBody>
      </p:sp>
      <p:sp>
        <p:nvSpPr>
          <p:cNvPr id="30" name="TextBox 29"/>
          <p:cNvSpPr txBox="1"/>
          <p:nvPr/>
        </p:nvSpPr>
        <p:spPr>
          <a:xfrm>
            <a:off x="658368" y="4398264"/>
            <a:ext cx="4992624" cy="402336"/>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A value is returned with no indication of how reliable it is, so either everything is reviewed by a person, or nothing is.</a:t>
            </a:r>
          </a:p>
        </p:txBody>
      </p:sp>
      <p:sp>
        <p:nvSpPr>
          <p:cNvPr id="31" name="Rectangle 30"/>
          <p:cNvSpPr/>
          <p:nvPr/>
        </p:nvSpPr>
        <p:spPr>
          <a:xfrm>
            <a:off x="6345936" y="4059935"/>
            <a:ext cx="5394960" cy="786384"/>
          </a:xfrm>
          <a:prstGeom prst="rect">
            <a:avLst/>
          </a:prstGeom>
          <a:solidFill>
            <a:srgbClr val="FFFFFF"/>
          </a:solidFill>
          <a:ln w="9525">
            <a:solidFill>
              <a:srgbClr val="E1E7F4"/>
            </a:solidFill>
          </a:ln>
          <a:effectLst/>
        </p:spPr>
        <p:txBody>
          <a:bodyPr wrap="square" rtlCol="0" anchor="ctr"/>
          <a:lstStyle/>
          <a:p>
            <a:endParaRPr/>
          </a:p>
        </p:txBody>
      </p:sp>
      <p:sp>
        <p:nvSpPr>
          <p:cNvPr id="32" name="Rectangle 31"/>
          <p:cNvSpPr/>
          <p:nvPr/>
        </p:nvSpPr>
        <p:spPr>
          <a:xfrm>
            <a:off x="6345936" y="4059935"/>
            <a:ext cx="41148" cy="786384"/>
          </a:xfrm>
          <a:prstGeom prst="rect">
            <a:avLst/>
          </a:prstGeom>
          <a:solidFill>
            <a:srgbClr val="00B39F"/>
          </a:solidFill>
          <a:ln>
            <a:noFill/>
          </a:ln>
          <a:effectLst/>
        </p:spPr>
        <p:txBody>
          <a:bodyPr wrap="square" rtlCol="0" anchor="ctr"/>
          <a:lstStyle/>
          <a:p>
            <a:endParaRPr/>
          </a:p>
        </p:txBody>
      </p:sp>
      <p:sp>
        <p:nvSpPr>
          <p:cNvPr id="33" name="TextBox 32"/>
          <p:cNvSpPr txBox="1"/>
          <p:nvPr/>
        </p:nvSpPr>
        <p:spPr>
          <a:xfrm>
            <a:off x="6547104" y="4169663"/>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A confidence score per value</a:t>
            </a:r>
          </a:p>
        </p:txBody>
      </p:sp>
      <p:sp>
        <p:nvSpPr>
          <p:cNvPr id="34" name="TextBox 33"/>
          <p:cNvSpPr txBox="1"/>
          <p:nvPr/>
        </p:nvSpPr>
        <p:spPr>
          <a:xfrm>
            <a:off x="6547104" y="4398264"/>
            <a:ext cx="4992624" cy="402336"/>
          </a:xfrm>
          <a:prstGeom prst="rect">
            <a:avLst/>
          </a:prstGeom>
          <a:noFill/>
        </p:spPr>
        <p:txBody>
          <a:bodyPr wrap="square" lIns="0" tIns="0" rIns="0" bIns="0" anchor="t">
            <a:spAutoFit/>
          </a:bodyPr>
          <a:lstStyle/>
          <a:p>
            <a:pPr algn="l">
              <a:lnSpc>
                <a:spcPct val="116000"/>
              </a:lnSpc>
            </a:pPr>
            <a:r>
              <a:rPr lang="en-US" sz="800" b="0" i="0" dirty="0">
                <a:solidFill>
                  <a:srgbClr val="44495B"/>
                </a:solidFill>
                <a:latin typeface="Segoe UI"/>
                <a:cs typeface="Segoe UI"/>
              </a:rPr>
              <a:t>Each extracted value carries a score between 0 and 1, so low-scoring cases go to a person and the rest pass straight through.</a:t>
            </a:r>
            <a:endParaRPr sz="800" b="0" i="0" dirty="0">
              <a:solidFill>
                <a:srgbClr val="44495B"/>
              </a:solidFill>
              <a:latin typeface="Segoe UI"/>
              <a:cs typeface="Segoe UI"/>
            </a:endParaRPr>
          </a:p>
        </p:txBody>
      </p:sp>
      <p:sp>
        <p:nvSpPr>
          <p:cNvPr id="35" name="Rectangle 34"/>
          <p:cNvSpPr/>
          <p:nvPr/>
        </p:nvSpPr>
        <p:spPr>
          <a:xfrm>
            <a:off x="457200" y="4937759"/>
            <a:ext cx="5394960" cy="786384"/>
          </a:xfrm>
          <a:prstGeom prst="rect">
            <a:avLst/>
          </a:prstGeom>
          <a:solidFill>
            <a:srgbClr val="F6F8FD"/>
          </a:solidFill>
          <a:ln w="9525">
            <a:solidFill>
              <a:srgbClr val="E1E7F4"/>
            </a:solidFill>
          </a:ln>
          <a:effectLst/>
        </p:spPr>
        <p:txBody>
          <a:bodyPr wrap="square" rtlCol="0" anchor="ctr"/>
          <a:lstStyle/>
          <a:p>
            <a:endParaRPr/>
          </a:p>
        </p:txBody>
      </p:sp>
      <p:sp>
        <p:nvSpPr>
          <p:cNvPr id="36" name="Rectangle 35"/>
          <p:cNvSpPr/>
          <p:nvPr/>
        </p:nvSpPr>
        <p:spPr>
          <a:xfrm>
            <a:off x="457200" y="4937759"/>
            <a:ext cx="41148" cy="786384"/>
          </a:xfrm>
          <a:prstGeom prst="rect">
            <a:avLst/>
          </a:prstGeom>
          <a:solidFill>
            <a:srgbClr val="44495B"/>
          </a:solidFill>
          <a:ln>
            <a:noFill/>
          </a:ln>
          <a:effectLst/>
        </p:spPr>
        <p:txBody>
          <a:bodyPr wrap="square" rtlCol="0" anchor="ctr"/>
          <a:lstStyle/>
          <a:p>
            <a:endParaRPr/>
          </a:p>
        </p:txBody>
      </p:sp>
      <p:sp>
        <p:nvSpPr>
          <p:cNvPr id="37" name="TextBox 36"/>
          <p:cNvSpPr txBox="1"/>
          <p:nvPr/>
        </p:nvSpPr>
        <p:spPr>
          <a:xfrm>
            <a:off x="658368" y="5047488"/>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Prompt engineering per document type</a:t>
            </a:r>
          </a:p>
        </p:txBody>
      </p:sp>
      <p:sp>
        <p:nvSpPr>
          <p:cNvPr id="38" name="TextBox 37"/>
          <p:cNvSpPr txBox="1"/>
          <p:nvPr/>
        </p:nvSpPr>
        <p:spPr>
          <a:xfrm>
            <a:off x="658368" y="5276088"/>
            <a:ext cx="4992624" cy="402336"/>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Each new form or contract becomes a new prompt to write, test and maintain.</a:t>
            </a:r>
          </a:p>
        </p:txBody>
      </p:sp>
      <p:sp>
        <p:nvSpPr>
          <p:cNvPr id="39" name="Rectangle 38"/>
          <p:cNvSpPr/>
          <p:nvPr/>
        </p:nvSpPr>
        <p:spPr>
          <a:xfrm>
            <a:off x="6345936" y="4937759"/>
            <a:ext cx="5394960" cy="786384"/>
          </a:xfrm>
          <a:prstGeom prst="rect">
            <a:avLst/>
          </a:prstGeom>
          <a:solidFill>
            <a:srgbClr val="FFFFFF"/>
          </a:solidFill>
          <a:ln w="9525">
            <a:solidFill>
              <a:srgbClr val="E1E7F4"/>
            </a:solidFill>
          </a:ln>
          <a:effectLst/>
        </p:spPr>
        <p:txBody>
          <a:bodyPr wrap="square" rtlCol="0" anchor="ctr"/>
          <a:lstStyle/>
          <a:p>
            <a:endParaRPr/>
          </a:p>
        </p:txBody>
      </p:sp>
      <p:sp>
        <p:nvSpPr>
          <p:cNvPr id="40" name="Rectangle 39"/>
          <p:cNvSpPr/>
          <p:nvPr/>
        </p:nvSpPr>
        <p:spPr>
          <a:xfrm>
            <a:off x="6345936" y="4937759"/>
            <a:ext cx="41148" cy="786384"/>
          </a:xfrm>
          <a:prstGeom prst="rect">
            <a:avLst/>
          </a:prstGeom>
          <a:solidFill>
            <a:srgbClr val="00B39F"/>
          </a:solidFill>
          <a:ln>
            <a:noFill/>
          </a:ln>
          <a:effectLst/>
        </p:spPr>
        <p:txBody>
          <a:bodyPr wrap="square" rtlCol="0" anchor="ctr"/>
          <a:lstStyle/>
          <a:p>
            <a:endParaRPr/>
          </a:p>
        </p:txBody>
      </p:sp>
      <p:sp>
        <p:nvSpPr>
          <p:cNvPr id="41" name="TextBox 40"/>
          <p:cNvSpPr txBox="1"/>
          <p:nvPr/>
        </p:nvSpPr>
        <p:spPr>
          <a:xfrm>
            <a:off x="6547104" y="5047488"/>
            <a:ext cx="4992624"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No prompt engineering required</a:t>
            </a:r>
          </a:p>
        </p:txBody>
      </p:sp>
      <p:sp>
        <p:nvSpPr>
          <p:cNvPr id="42" name="TextBox 41"/>
          <p:cNvSpPr txBox="1"/>
          <p:nvPr/>
        </p:nvSpPr>
        <p:spPr>
          <a:xfrm>
            <a:off x="6547104" y="5276088"/>
            <a:ext cx="4992624" cy="402336"/>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A field description is the instruction. The service handles context, grounding and model selection behind the analyzer.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WHAT IT IS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Where it sits, and what it accepts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One tool in the Foundry Tools family, with Azure Document Intelligence now presented as part of it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learn.microsoft.com/azure/ai-services/content-understanding/choosing-right-ai-tool</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4</a:t>
            </a:r>
          </a:p>
        </p:txBody>
      </p:sp>
      <p:sp>
        <p:nvSpPr>
          <p:cNvPr id="7" name="Rectangle 6"/>
          <p:cNvSpPr/>
          <p:nvPr/>
        </p:nvSpPr>
        <p:spPr>
          <a:xfrm>
            <a:off x="457200" y="1371600"/>
            <a:ext cx="11277295" cy="420624"/>
          </a:xfrm>
          <a:prstGeom prst="rect">
            <a:avLst/>
          </a:prstGeom>
          <a:solidFill>
            <a:srgbClr val="EBEFF7"/>
          </a:solidFill>
          <a:ln w="9525">
            <a:solidFill>
              <a:srgbClr val="E1E7F4"/>
            </a:solidFill>
          </a:ln>
          <a:effectLst/>
        </p:spPr>
        <p:txBody>
          <a:bodyPr wrap="square" rtlCol="0" anchor="ctr"/>
          <a:lstStyle/>
          <a:p>
            <a:endParaRPr/>
          </a:p>
        </p:txBody>
      </p:sp>
      <p:sp>
        <p:nvSpPr>
          <p:cNvPr id="8" name="TextBox 7"/>
          <p:cNvSpPr txBox="1"/>
          <p:nvPr/>
        </p:nvSpPr>
        <p:spPr>
          <a:xfrm>
            <a:off x="694944" y="1472184"/>
            <a:ext cx="10801807" cy="237744"/>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Microsoft Foundry resource  —  one resource provides the tool, its identity and its regional placement</a:t>
            </a:r>
          </a:p>
        </p:txBody>
      </p:sp>
      <p:sp>
        <p:nvSpPr>
          <p:cNvPr id="9" name="TextBox 8"/>
          <p:cNvSpPr txBox="1"/>
          <p:nvPr/>
        </p:nvSpPr>
        <p:spPr>
          <a:xfrm>
            <a:off x="457200" y="1956816"/>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CONTENT IT ACCEPTS</a:t>
            </a:r>
          </a:p>
        </p:txBody>
      </p:sp>
      <p:sp>
        <p:nvSpPr>
          <p:cNvPr id="10" name="Rectangle 9"/>
          <p:cNvSpPr/>
          <p:nvPr/>
        </p:nvSpPr>
        <p:spPr>
          <a:xfrm>
            <a:off x="457200" y="2212848"/>
            <a:ext cx="3017520" cy="713232"/>
          </a:xfrm>
          <a:prstGeom prst="rect">
            <a:avLst/>
          </a:prstGeom>
          <a:solidFill>
            <a:srgbClr val="F6F8FD"/>
          </a:solidFill>
          <a:ln w="9525">
            <a:solidFill>
              <a:srgbClr val="E1E7F4"/>
            </a:solidFill>
          </a:ln>
          <a:effectLst/>
        </p:spPr>
        <p:txBody>
          <a:bodyPr wrap="square" rtlCol="0" anchor="ctr"/>
          <a:lstStyle/>
          <a:p>
            <a:endParaRPr/>
          </a:p>
        </p:txBody>
      </p:sp>
      <p:sp>
        <p:nvSpPr>
          <p:cNvPr id="11" name="Rectangle 10"/>
          <p:cNvSpPr/>
          <p:nvPr/>
        </p:nvSpPr>
        <p:spPr>
          <a:xfrm>
            <a:off x="457200" y="2212848"/>
            <a:ext cx="41148" cy="713232"/>
          </a:xfrm>
          <a:prstGeom prst="rect">
            <a:avLst/>
          </a:prstGeom>
          <a:solidFill>
            <a:srgbClr val="00B39F"/>
          </a:solidFill>
          <a:ln>
            <a:noFill/>
          </a:ln>
          <a:effectLst/>
        </p:spPr>
        <p:txBody>
          <a:bodyPr wrap="square" rtlCol="0" anchor="ctr"/>
          <a:lstStyle/>
          <a:p>
            <a:endParaRPr/>
          </a:p>
        </p:txBody>
      </p:sp>
      <p:sp>
        <p:nvSpPr>
          <p:cNvPr id="12" name="TextBox 11"/>
          <p:cNvSpPr txBox="1"/>
          <p:nvPr/>
        </p:nvSpPr>
        <p:spPr>
          <a:xfrm>
            <a:off x="640080" y="2313432"/>
            <a:ext cx="274320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Documents</a:t>
            </a:r>
          </a:p>
        </p:txBody>
      </p:sp>
      <p:sp>
        <p:nvSpPr>
          <p:cNvPr id="13" name="TextBox 12"/>
          <p:cNvSpPr txBox="1"/>
          <p:nvPr/>
        </p:nvSpPr>
        <p:spPr>
          <a:xfrm>
            <a:off x="640080" y="2514600"/>
            <a:ext cx="2743200" cy="36576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printed and handwritten text,</a:t>
            </a:r>
          </a:p>
          <a:p>
            <a:pPr algn="l">
              <a:lnSpc>
                <a:spcPct val="116000"/>
              </a:lnSpc>
            </a:pPr>
            <a:r>
              <a:rPr sz="750" b="0" i="0" dirty="0">
                <a:solidFill>
                  <a:srgbClr val="44495B"/>
                </a:solidFill>
                <a:latin typeface="Segoe UI"/>
                <a:cs typeface="Segoe UI"/>
              </a:rPr>
              <a:t>tables, selection marks,</a:t>
            </a:r>
          </a:p>
          <a:p>
            <a:pPr algn="l">
              <a:lnSpc>
                <a:spcPct val="116000"/>
              </a:lnSpc>
            </a:pPr>
            <a:r>
              <a:rPr sz="750" b="0" i="0" dirty="0">
                <a:solidFill>
                  <a:srgbClr val="44495B"/>
                </a:solidFill>
                <a:latin typeface="Segoe UI"/>
                <a:cs typeface="Segoe UI"/>
              </a:rPr>
              <a:t>barcodes, formulas, figures</a:t>
            </a:r>
          </a:p>
        </p:txBody>
      </p:sp>
      <p:sp>
        <p:nvSpPr>
          <p:cNvPr id="14" name="Rectangle 13"/>
          <p:cNvSpPr/>
          <p:nvPr/>
        </p:nvSpPr>
        <p:spPr>
          <a:xfrm>
            <a:off x="457200" y="2999232"/>
            <a:ext cx="3017520" cy="713232"/>
          </a:xfrm>
          <a:prstGeom prst="rect">
            <a:avLst/>
          </a:prstGeom>
          <a:solidFill>
            <a:srgbClr val="F6F8FD"/>
          </a:solidFill>
          <a:ln w="9525">
            <a:solidFill>
              <a:srgbClr val="E1E7F4"/>
            </a:solidFill>
          </a:ln>
          <a:effectLst/>
        </p:spPr>
        <p:txBody>
          <a:bodyPr wrap="square" rtlCol="0" anchor="ctr"/>
          <a:lstStyle/>
          <a:p>
            <a:endParaRPr/>
          </a:p>
        </p:txBody>
      </p:sp>
      <p:sp>
        <p:nvSpPr>
          <p:cNvPr id="15" name="Rectangle 14"/>
          <p:cNvSpPr/>
          <p:nvPr/>
        </p:nvSpPr>
        <p:spPr>
          <a:xfrm>
            <a:off x="457200" y="2999232"/>
            <a:ext cx="41148" cy="713232"/>
          </a:xfrm>
          <a:prstGeom prst="rect">
            <a:avLst/>
          </a:prstGeom>
          <a:solidFill>
            <a:srgbClr val="00B39F"/>
          </a:solidFill>
          <a:ln>
            <a:noFill/>
          </a:ln>
          <a:effectLst/>
        </p:spPr>
        <p:txBody>
          <a:bodyPr wrap="square" rtlCol="0" anchor="ctr"/>
          <a:lstStyle/>
          <a:p>
            <a:endParaRPr/>
          </a:p>
        </p:txBody>
      </p:sp>
      <p:sp>
        <p:nvSpPr>
          <p:cNvPr id="16" name="TextBox 15"/>
          <p:cNvSpPr txBox="1"/>
          <p:nvPr/>
        </p:nvSpPr>
        <p:spPr>
          <a:xfrm>
            <a:off x="640080" y="3099815"/>
            <a:ext cx="274320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Images</a:t>
            </a:r>
          </a:p>
        </p:txBody>
      </p:sp>
      <p:sp>
        <p:nvSpPr>
          <p:cNvPr id="17" name="TextBox 16"/>
          <p:cNvSpPr txBox="1"/>
          <p:nvPr/>
        </p:nvSpPr>
        <p:spPr>
          <a:xfrm>
            <a:off x="640080" y="3300984"/>
            <a:ext cx="2743200" cy="36576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schema-driven description</a:t>
            </a:r>
          </a:p>
          <a:p>
            <a:pPr algn="l">
              <a:lnSpc>
                <a:spcPct val="116000"/>
              </a:lnSpc>
            </a:pPr>
            <a:r>
              <a:rPr sz="750" b="0" i="0" dirty="0">
                <a:solidFill>
                  <a:srgbClr val="44495B"/>
                </a:solidFill>
                <a:latin typeface="Segoe UI"/>
                <a:cs typeface="Segoe UI"/>
              </a:rPr>
              <a:t>and classification</a:t>
            </a:r>
          </a:p>
        </p:txBody>
      </p:sp>
      <p:sp>
        <p:nvSpPr>
          <p:cNvPr id="18" name="Rectangle 17"/>
          <p:cNvSpPr/>
          <p:nvPr/>
        </p:nvSpPr>
        <p:spPr>
          <a:xfrm>
            <a:off x="457200" y="3785615"/>
            <a:ext cx="3017520" cy="713232"/>
          </a:xfrm>
          <a:prstGeom prst="rect">
            <a:avLst/>
          </a:prstGeom>
          <a:solidFill>
            <a:srgbClr val="F6F8FD"/>
          </a:solidFill>
          <a:ln w="9525">
            <a:solidFill>
              <a:srgbClr val="E1E7F4"/>
            </a:solidFill>
          </a:ln>
          <a:effectLst/>
        </p:spPr>
        <p:txBody>
          <a:bodyPr wrap="square" rtlCol="0" anchor="ctr"/>
          <a:lstStyle/>
          <a:p>
            <a:endParaRPr/>
          </a:p>
        </p:txBody>
      </p:sp>
      <p:sp>
        <p:nvSpPr>
          <p:cNvPr id="19" name="Rectangle 18"/>
          <p:cNvSpPr/>
          <p:nvPr/>
        </p:nvSpPr>
        <p:spPr>
          <a:xfrm>
            <a:off x="457200" y="3785615"/>
            <a:ext cx="41148" cy="713232"/>
          </a:xfrm>
          <a:prstGeom prst="rect">
            <a:avLst/>
          </a:prstGeom>
          <a:solidFill>
            <a:srgbClr val="00B39F"/>
          </a:solidFill>
          <a:ln>
            <a:noFill/>
          </a:ln>
          <a:effectLst/>
        </p:spPr>
        <p:txBody>
          <a:bodyPr wrap="square" rtlCol="0" anchor="ctr"/>
          <a:lstStyle/>
          <a:p>
            <a:endParaRPr/>
          </a:p>
        </p:txBody>
      </p:sp>
      <p:sp>
        <p:nvSpPr>
          <p:cNvPr id="20" name="TextBox 19"/>
          <p:cNvSpPr txBox="1"/>
          <p:nvPr/>
        </p:nvSpPr>
        <p:spPr>
          <a:xfrm>
            <a:off x="640080" y="3886200"/>
            <a:ext cx="274320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Audio</a:t>
            </a:r>
          </a:p>
        </p:txBody>
      </p:sp>
      <p:sp>
        <p:nvSpPr>
          <p:cNvPr id="21" name="TextBox 20"/>
          <p:cNvSpPr txBox="1"/>
          <p:nvPr/>
        </p:nvSpPr>
        <p:spPr>
          <a:xfrm>
            <a:off x="640080" y="4087368"/>
            <a:ext cx="2743200" cy="36576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transcription, speaker</a:t>
            </a:r>
          </a:p>
          <a:p>
            <a:pPr algn="l">
              <a:lnSpc>
                <a:spcPct val="116000"/>
              </a:lnSpc>
            </a:pPr>
            <a:r>
              <a:rPr sz="750" b="0" i="0" dirty="0">
                <a:solidFill>
                  <a:srgbClr val="44495B"/>
                </a:solidFill>
                <a:latin typeface="Segoe UI"/>
                <a:cs typeface="Segoe UI"/>
              </a:rPr>
              <a:t>separation, speaker role</a:t>
            </a:r>
          </a:p>
        </p:txBody>
      </p:sp>
      <p:sp>
        <p:nvSpPr>
          <p:cNvPr id="22" name="Rectangle 21"/>
          <p:cNvSpPr/>
          <p:nvPr/>
        </p:nvSpPr>
        <p:spPr>
          <a:xfrm>
            <a:off x="457200" y="4572000"/>
            <a:ext cx="3017520" cy="713232"/>
          </a:xfrm>
          <a:prstGeom prst="rect">
            <a:avLst/>
          </a:prstGeom>
          <a:solidFill>
            <a:srgbClr val="F6F8FD"/>
          </a:solidFill>
          <a:ln w="9525">
            <a:solidFill>
              <a:srgbClr val="E1E7F4"/>
            </a:solidFill>
          </a:ln>
          <a:effectLst/>
        </p:spPr>
        <p:txBody>
          <a:bodyPr wrap="square" rtlCol="0" anchor="ctr"/>
          <a:lstStyle/>
          <a:p>
            <a:endParaRPr/>
          </a:p>
        </p:txBody>
      </p:sp>
      <p:sp>
        <p:nvSpPr>
          <p:cNvPr id="23" name="Rectangle 22"/>
          <p:cNvSpPr/>
          <p:nvPr/>
        </p:nvSpPr>
        <p:spPr>
          <a:xfrm>
            <a:off x="457200" y="4572000"/>
            <a:ext cx="41148" cy="713232"/>
          </a:xfrm>
          <a:prstGeom prst="rect">
            <a:avLst/>
          </a:prstGeom>
          <a:solidFill>
            <a:srgbClr val="00B39F"/>
          </a:solidFill>
          <a:ln>
            <a:noFill/>
          </a:ln>
          <a:effectLst/>
        </p:spPr>
        <p:txBody>
          <a:bodyPr wrap="square" rtlCol="0" anchor="ctr"/>
          <a:lstStyle/>
          <a:p>
            <a:endParaRPr/>
          </a:p>
        </p:txBody>
      </p:sp>
      <p:sp>
        <p:nvSpPr>
          <p:cNvPr id="24" name="TextBox 23"/>
          <p:cNvSpPr txBox="1"/>
          <p:nvPr/>
        </p:nvSpPr>
        <p:spPr>
          <a:xfrm>
            <a:off x="640080" y="4672584"/>
            <a:ext cx="274320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Video</a:t>
            </a:r>
          </a:p>
        </p:txBody>
      </p:sp>
      <p:sp>
        <p:nvSpPr>
          <p:cNvPr id="25" name="TextBox 24"/>
          <p:cNvSpPr txBox="1"/>
          <p:nvPr/>
        </p:nvSpPr>
        <p:spPr>
          <a:xfrm>
            <a:off x="640080" y="4873752"/>
            <a:ext cx="2743200" cy="365760"/>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transcription plus key frames</a:t>
            </a:r>
          </a:p>
          <a:p>
            <a:pPr algn="l">
              <a:lnSpc>
                <a:spcPct val="116000"/>
              </a:lnSpc>
            </a:pPr>
            <a:r>
              <a:rPr sz="750" b="0" i="0" dirty="0">
                <a:solidFill>
                  <a:srgbClr val="44495B"/>
                </a:solidFill>
                <a:latin typeface="Segoe UI"/>
                <a:cs typeface="Segoe UI"/>
              </a:rPr>
              <a:t>and shot detection</a:t>
            </a:r>
          </a:p>
        </p:txBody>
      </p:sp>
      <p:sp>
        <p:nvSpPr>
          <p:cNvPr id="26" name="Rectangle 25"/>
          <p:cNvSpPr/>
          <p:nvPr/>
        </p:nvSpPr>
        <p:spPr>
          <a:xfrm>
            <a:off x="3877056" y="2212848"/>
            <a:ext cx="2926080" cy="2944368"/>
          </a:xfrm>
          <a:prstGeom prst="rect">
            <a:avLst/>
          </a:prstGeom>
          <a:solidFill>
            <a:srgbClr val="101A3C"/>
          </a:solidFill>
          <a:ln>
            <a:noFill/>
          </a:ln>
          <a:effectLst/>
        </p:spPr>
        <p:txBody>
          <a:bodyPr wrap="square" lIns="54864" tIns="18288" rIns="54864" bIns="18288" rtlCol="0" anchor="ctr"/>
          <a:lstStyle/>
          <a:p>
            <a:pPr algn="ctr">
              <a:lnSpc>
                <a:spcPct val="126000"/>
              </a:lnSpc>
            </a:pPr>
            <a:r>
              <a:rPr lang="en-US" sz="1300" b="1" i="0" dirty="0">
                <a:solidFill>
                  <a:srgbClr val="FFFFFF"/>
                </a:solidFill>
                <a:latin typeface="Segoe UI"/>
                <a:cs typeface="Segoe UI"/>
              </a:rPr>
              <a:t>Azure Content
Understanding
one analyzer applies the
same settings to everything
it receives</a:t>
            </a:r>
            <a:endParaRPr sz="800" b="0" i="0" dirty="0">
              <a:solidFill>
                <a:srgbClr val="B9C2D6"/>
              </a:solidFill>
              <a:latin typeface="Segoe UI"/>
              <a:cs typeface="Segoe UI"/>
            </a:endParaRPr>
          </a:p>
        </p:txBody>
      </p:sp>
      <p:cxnSp>
        <p:nvCxnSpPr>
          <p:cNvPr id="27" name="Connector 26"/>
          <p:cNvCxnSpPr/>
          <p:nvPr/>
        </p:nvCxnSpPr>
        <p:spPr>
          <a:xfrm>
            <a:off x="3474720" y="2569464"/>
            <a:ext cx="402336"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474720" y="3355848"/>
            <a:ext cx="402336"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474720" y="4142232"/>
            <a:ext cx="402336"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474720" y="4928616"/>
            <a:ext cx="402336"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059168" y="1956816"/>
            <a:ext cx="47548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INSIDE THE SAME TOOL FAMILY</a:t>
            </a:r>
          </a:p>
        </p:txBody>
      </p:sp>
      <p:sp>
        <p:nvSpPr>
          <p:cNvPr id="32" name="Rectangle 31"/>
          <p:cNvSpPr/>
          <p:nvPr/>
        </p:nvSpPr>
        <p:spPr>
          <a:xfrm>
            <a:off x="7059168" y="2212848"/>
            <a:ext cx="4672584" cy="859536"/>
          </a:xfrm>
          <a:prstGeom prst="rect">
            <a:avLst/>
          </a:prstGeom>
          <a:solidFill>
            <a:srgbClr val="FFFFFF"/>
          </a:solidFill>
          <a:ln w="9525">
            <a:solidFill>
              <a:srgbClr val="E1E7F4"/>
            </a:solidFill>
          </a:ln>
          <a:effectLst/>
        </p:spPr>
        <p:txBody>
          <a:bodyPr wrap="square" rtlCol="0" anchor="ctr"/>
          <a:lstStyle/>
          <a:p>
            <a:endParaRPr/>
          </a:p>
        </p:txBody>
      </p:sp>
      <p:sp>
        <p:nvSpPr>
          <p:cNvPr id="33" name="TextBox 32"/>
          <p:cNvSpPr txBox="1"/>
          <p:nvPr/>
        </p:nvSpPr>
        <p:spPr>
          <a:xfrm>
            <a:off x="7242048" y="2322576"/>
            <a:ext cx="4297680" cy="182880"/>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Azure Document Intelligence</a:t>
            </a:r>
          </a:p>
        </p:txBody>
      </p:sp>
      <p:sp>
        <p:nvSpPr>
          <p:cNvPr id="34" name="TextBox 33"/>
          <p:cNvSpPr txBox="1"/>
          <p:nvPr/>
        </p:nvSpPr>
        <p:spPr>
          <a:xfrm>
            <a:off x="7242048" y="2542032"/>
            <a:ext cx="4297680" cy="438912"/>
          </a:xfrm>
          <a:prstGeom prst="rect">
            <a:avLst/>
          </a:prstGeom>
          <a:noFill/>
        </p:spPr>
        <p:txBody>
          <a:bodyPr wrap="square" lIns="0" tIns="0" rIns="0" bIns="0" anchor="t">
            <a:spAutoFit/>
          </a:bodyPr>
          <a:lstStyle/>
          <a:p>
            <a:pPr algn="l">
              <a:lnSpc>
                <a:spcPct val="116000"/>
              </a:lnSpc>
            </a:pPr>
            <a:r>
              <a:rPr sz="750" b="0" i="0" dirty="0">
                <a:solidFill>
                  <a:srgbClr val="44495B"/>
                </a:solidFill>
                <a:latin typeface="Segoe UI"/>
                <a:cs typeface="Segoe UI"/>
              </a:rPr>
              <a:t>Now presented as part of Content Understanding. Deterministic, high-accuracy extraction from structured forms. Its APIs, SDKs and billing are unchanged — no migration is required.</a:t>
            </a:r>
          </a:p>
        </p:txBody>
      </p:sp>
      <p:sp>
        <p:nvSpPr>
          <p:cNvPr id="35" name="TextBox 34"/>
          <p:cNvSpPr txBox="1"/>
          <p:nvPr/>
        </p:nvSpPr>
        <p:spPr>
          <a:xfrm>
            <a:off x="7059168" y="3255264"/>
            <a:ext cx="47548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WHAT IT PRODUCES</a:t>
            </a:r>
          </a:p>
        </p:txBody>
      </p:sp>
      <p:sp>
        <p:nvSpPr>
          <p:cNvPr id="36" name="Rectangle 35"/>
          <p:cNvSpPr/>
          <p:nvPr/>
        </p:nvSpPr>
        <p:spPr>
          <a:xfrm>
            <a:off x="7059168" y="3511296"/>
            <a:ext cx="4672584" cy="493776"/>
          </a:xfrm>
          <a:prstGeom prst="rect">
            <a:avLst/>
          </a:prstGeom>
          <a:solidFill>
            <a:srgbClr val="F6F8FD"/>
          </a:solidFill>
          <a:ln w="9525">
            <a:solidFill>
              <a:srgbClr val="E1E7F4"/>
            </a:solidFill>
          </a:ln>
          <a:effectLst/>
        </p:spPr>
        <p:txBody>
          <a:bodyPr wrap="square" rtlCol="0" anchor="ctr"/>
          <a:lstStyle/>
          <a:p>
            <a:endParaRPr/>
          </a:p>
        </p:txBody>
      </p:sp>
      <p:sp>
        <p:nvSpPr>
          <p:cNvPr id="37" name="TextBox 36"/>
          <p:cNvSpPr txBox="1"/>
          <p:nvPr/>
        </p:nvSpPr>
        <p:spPr>
          <a:xfrm>
            <a:off x="7242048" y="3575303"/>
            <a:ext cx="1481328" cy="365760"/>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Markdown</a:t>
            </a:r>
          </a:p>
        </p:txBody>
      </p:sp>
      <p:sp>
        <p:nvSpPr>
          <p:cNvPr id="38" name="TextBox 37"/>
          <p:cNvSpPr txBox="1"/>
          <p:nvPr/>
        </p:nvSpPr>
        <p:spPr>
          <a:xfrm>
            <a:off x="8796528" y="3575303"/>
            <a:ext cx="2788920" cy="365760"/>
          </a:xfrm>
          <a:prstGeom prst="rect">
            <a:avLst/>
          </a:prstGeom>
          <a:noFill/>
        </p:spPr>
        <p:txBody>
          <a:bodyPr wrap="square" lIns="0" tIns="0" rIns="0" bIns="0" anchor="ctr">
            <a:spAutoFit/>
          </a:bodyPr>
          <a:lstStyle/>
          <a:p>
            <a:pPr algn="l">
              <a:lnSpc>
                <a:spcPct val="114000"/>
              </a:lnSpc>
            </a:pPr>
            <a:r>
              <a:rPr sz="750" b="0" i="0" dirty="0">
                <a:solidFill>
                  <a:srgbClr val="44495B"/>
                </a:solidFill>
                <a:latin typeface="Segoe UI"/>
                <a:cs typeface="Segoe UI"/>
              </a:rPr>
              <a:t>readable text for search and for passing to a language model</a:t>
            </a:r>
          </a:p>
        </p:txBody>
      </p:sp>
      <p:sp>
        <p:nvSpPr>
          <p:cNvPr id="39" name="Rectangle 38"/>
          <p:cNvSpPr/>
          <p:nvPr/>
        </p:nvSpPr>
        <p:spPr>
          <a:xfrm>
            <a:off x="7059168" y="4078224"/>
            <a:ext cx="4672584" cy="493776"/>
          </a:xfrm>
          <a:prstGeom prst="rect">
            <a:avLst/>
          </a:prstGeom>
          <a:solidFill>
            <a:srgbClr val="FFFFFF"/>
          </a:solidFill>
          <a:ln w="9525">
            <a:solidFill>
              <a:srgbClr val="E1E7F4"/>
            </a:solidFill>
          </a:ln>
          <a:effectLst/>
        </p:spPr>
        <p:txBody>
          <a:bodyPr wrap="square" rtlCol="0" anchor="ctr"/>
          <a:lstStyle/>
          <a:p>
            <a:endParaRPr/>
          </a:p>
        </p:txBody>
      </p:sp>
      <p:sp>
        <p:nvSpPr>
          <p:cNvPr id="40" name="TextBox 39"/>
          <p:cNvSpPr txBox="1"/>
          <p:nvPr/>
        </p:nvSpPr>
        <p:spPr>
          <a:xfrm>
            <a:off x="7242048" y="4142232"/>
            <a:ext cx="1481328" cy="365760"/>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Typed JSON fields</a:t>
            </a:r>
          </a:p>
        </p:txBody>
      </p:sp>
      <p:sp>
        <p:nvSpPr>
          <p:cNvPr id="41" name="TextBox 40"/>
          <p:cNvSpPr txBox="1"/>
          <p:nvPr/>
        </p:nvSpPr>
        <p:spPr>
          <a:xfrm>
            <a:off x="8796528" y="4142232"/>
            <a:ext cx="2788920" cy="365760"/>
          </a:xfrm>
          <a:prstGeom prst="rect">
            <a:avLst/>
          </a:prstGeom>
          <a:noFill/>
        </p:spPr>
        <p:txBody>
          <a:bodyPr wrap="square" lIns="0" tIns="0" rIns="0" bIns="0" anchor="ctr">
            <a:spAutoFit/>
          </a:bodyPr>
          <a:lstStyle/>
          <a:p>
            <a:pPr algn="l">
              <a:lnSpc>
                <a:spcPct val="114000"/>
              </a:lnSpc>
            </a:pPr>
            <a:r>
              <a:rPr lang="en-US" sz="750" b="0" i="0" dirty="0">
                <a:solidFill>
                  <a:srgbClr val="44495B"/>
                </a:solidFill>
                <a:latin typeface="Segoe UI"/>
                <a:cs typeface="Segoe UI"/>
              </a:rPr>
              <a:t>exactly the defined schema, with a value, a confidence score and a source region</a:t>
            </a:r>
            <a:endParaRPr sz="750" b="0" i="0" dirty="0">
              <a:solidFill>
                <a:srgbClr val="44495B"/>
              </a:solidFill>
              <a:latin typeface="Segoe UI"/>
              <a:cs typeface="Segoe UI"/>
            </a:endParaRPr>
          </a:p>
        </p:txBody>
      </p:sp>
      <p:sp>
        <p:nvSpPr>
          <p:cNvPr id="42" name="TextBox 41"/>
          <p:cNvSpPr txBox="1"/>
          <p:nvPr/>
        </p:nvSpPr>
        <p:spPr>
          <a:xfrm>
            <a:off x="7059168" y="4663440"/>
            <a:ext cx="47548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WHERE THE OUTPUT GOES</a:t>
            </a:r>
          </a:p>
        </p:txBody>
      </p:sp>
      <p:sp>
        <p:nvSpPr>
          <p:cNvPr id="43" name="TextBox 42"/>
          <p:cNvSpPr txBox="1"/>
          <p:nvPr/>
        </p:nvSpPr>
        <p:spPr>
          <a:xfrm>
            <a:off x="7059168" y="4919472"/>
            <a:ext cx="1737360" cy="182880"/>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Azure AI Search</a:t>
            </a:r>
          </a:p>
        </p:txBody>
      </p:sp>
      <p:sp>
        <p:nvSpPr>
          <p:cNvPr id="44" name="TextBox 43"/>
          <p:cNvSpPr txBox="1"/>
          <p:nvPr/>
        </p:nvSpPr>
        <p:spPr>
          <a:xfrm>
            <a:off x="8869680" y="4919472"/>
            <a:ext cx="2862072" cy="310896"/>
          </a:xfrm>
          <a:prstGeom prst="rect">
            <a:avLst/>
          </a:prstGeom>
          <a:noFill/>
        </p:spPr>
        <p:txBody>
          <a:bodyPr wrap="square" lIns="0" tIns="0" rIns="0" bIns="0" anchor="t">
            <a:spAutoFit/>
          </a:bodyPr>
          <a:lstStyle/>
          <a:p>
            <a:pPr algn="l">
              <a:lnSpc>
                <a:spcPct val="114000"/>
              </a:lnSpc>
            </a:pPr>
            <a:r>
              <a:rPr sz="750" b="0" i="0" dirty="0">
                <a:solidFill>
                  <a:srgbClr val="44495B"/>
                </a:solidFill>
                <a:latin typeface="Segoe UI"/>
                <a:cs typeface="Segoe UI"/>
              </a:rPr>
              <a:t>a built-in skill does extraction and chunking in one step</a:t>
            </a:r>
          </a:p>
        </p:txBody>
      </p:sp>
      <p:sp>
        <p:nvSpPr>
          <p:cNvPr id="45" name="TextBox 44"/>
          <p:cNvSpPr txBox="1"/>
          <p:nvPr/>
        </p:nvSpPr>
        <p:spPr>
          <a:xfrm>
            <a:off x="7059168" y="5321808"/>
            <a:ext cx="1737360" cy="182880"/>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Agents and applications</a:t>
            </a:r>
          </a:p>
        </p:txBody>
      </p:sp>
      <p:sp>
        <p:nvSpPr>
          <p:cNvPr id="46" name="TextBox 45"/>
          <p:cNvSpPr txBox="1"/>
          <p:nvPr/>
        </p:nvSpPr>
        <p:spPr>
          <a:xfrm>
            <a:off x="8869680" y="5321808"/>
            <a:ext cx="2862072" cy="310896"/>
          </a:xfrm>
          <a:prstGeom prst="rect">
            <a:avLst/>
          </a:prstGeom>
          <a:noFill/>
        </p:spPr>
        <p:txBody>
          <a:bodyPr wrap="square" lIns="0" tIns="0" rIns="0" bIns="0" anchor="t">
            <a:spAutoFit/>
          </a:bodyPr>
          <a:lstStyle/>
          <a:p>
            <a:pPr algn="l">
              <a:lnSpc>
                <a:spcPct val="114000"/>
              </a:lnSpc>
            </a:pPr>
            <a:r>
              <a:rPr lang="en-US" sz="750" b="0" i="0" dirty="0">
                <a:solidFill>
                  <a:srgbClr val="44495B"/>
                </a:solidFill>
                <a:latin typeface="Segoe UI"/>
                <a:cs typeface="Segoe UI"/>
              </a:rPr>
              <a:t>predictable input for a Foundry agent or custom code</a:t>
            </a:r>
            <a:endParaRPr sz="750" b="0" i="0" dirty="0">
              <a:solidFill>
                <a:srgbClr val="44495B"/>
              </a:solidFill>
              <a:latin typeface="Segoe UI"/>
              <a:cs typeface="Segoe UI"/>
            </a:endParaRPr>
          </a:p>
        </p:txBody>
      </p:sp>
      <p:sp>
        <p:nvSpPr>
          <p:cNvPr id="47" name="Rectangle 46"/>
          <p:cNvSpPr/>
          <p:nvPr/>
        </p:nvSpPr>
        <p:spPr>
          <a:xfrm>
            <a:off x="457200" y="5573268"/>
            <a:ext cx="146304" cy="91440"/>
          </a:xfrm>
          <a:prstGeom prst="rect">
            <a:avLst/>
          </a:prstGeom>
          <a:solidFill>
            <a:srgbClr val="101A3C"/>
          </a:solidFill>
          <a:ln>
            <a:noFill/>
          </a:ln>
          <a:effectLst/>
        </p:spPr>
        <p:txBody>
          <a:bodyPr wrap="square" rtlCol="0" anchor="ctr"/>
          <a:lstStyle/>
          <a:p>
            <a:endParaRPr/>
          </a:p>
        </p:txBody>
      </p:sp>
      <p:sp>
        <p:nvSpPr>
          <p:cNvPr id="48" name="TextBox 47"/>
          <p:cNvSpPr txBox="1"/>
          <p:nvPr/>
        </p:nvSpPr>
        <p:spPr>
          <a:xfrm>
            <a:off x="676656" y="55458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The service</a:t>
            </a:r>
          </a:p>
        </p:txBody>
      </p:sp>
      <p:sp>
        <p:nvSpPr>
          <p:cNvPr id="49" name="Rectangle 48"/>
          <p:cNvSpPr/>
          <p:nvPr/>
        </p:nvSpPr>
        <p:spPr>
          <a:xfrm>
            <a:off x="1339824" y="5573268"/>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0" name="TextBox 49"/>
          <p:cNvSpPr txBox="1"/>
          <p:nvPr/>
        </p:nvSpPr>
        <p:spPr>
          <a:xfrm>
            <a:off x="1559280" y="55458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Capability or output</a:t>
            </a:r>
          </a:p>
        </p:txBody>
      </p:sp>
      <p:sp>
        <p:nvSpPr>
          <p:cNvPr id="51" name="Rectangle 50"/>
          <p:cNvSpPr/>
          <p:nvPr/>
        </p:nvSpPr>
        <p:spPr>
          <a:xfrm>
            <a:off x="2697708" y="5573268"/>
            <a:ext cx="146304" cy="91440"/>
          </a:xfrm>
          <a:prstGeom prst="rect">
            <a:avLst/>
          </a:prstGeom>
          <a:solidFill>
            <a:srgbClr val="EBEFF7"/>
          </a:solidFill>
          <a:ln>
            <a:noFill/>
          </a:ln>
          <a:effectLst/>
        </p:spPr>
        <p:txBody>
          <a:bodyPr wrap="square" rtlCol="0" anchor="ctr"/>
          <a:lstStyle/>
          <a:p>
            <a:endParaRPr/>
          </a:p>
        </p:txBody>
      </p:sp>
      <p:sp>
        <p:nvSpPr>
          <p:cNvPr id="52" name="TextBox 51"/>
          <p:cNvSpPr txBox="1"/>
          <p:nvPr/>
        </p:nvSpPr>
        <p:spPr>
          <a:xfrm>
            <a:off x="2917164" y="55458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Containing resource</a:t>
            </a:r>
          </a:p>
        </p:txBody>
      </p:sp>
      <p:cxnSp>
        <p:nvCxnSpPr>
          <p:cNvPr id="53" name="Connector 52"/>
          <p:cNvCxnSpPr/>
          <p:nvPr/>
        </p:nvCxnSpPr>
        <p:spPr>
          <a:xfrm>
            <a:off x="4002785" y="5618988"/>
            <a:ext cx="164592" cy="0"/>
          </a:xfrm>
          <a:prstGeom prst="line">
            <a:avLst/>
          </a:prstGeom>
          <a:ln w="13970">
            <a:solidFill>
              <a:srgbClr val="44495B"/>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222242" y="5545836"/>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Content 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HOW IT WORKS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The analyzer pipeline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lang="en-US" sz="1250" b="0" i="0" dirty="0">
                <a:solidFill>
                  <a:srgbClr val="44495B"/>
                </a:solidFill>
                <a:latin typeface="Segoe UI"/>
                <a:cs typeface="Segoe UI"/>
              </a:rPr>
              <a:t>Five stages between the submitted file and the structured output returned</a:t>
            </a:r>
            <a:endParaRPr sz="1250" b="0" i="0" dirty="0">
              <a:solidFill>
                <a:srgbClr val="44495B"/>
              </a:solidFill>
              <a:latin typeface="Segoe UI"/>
              <a:cs typeface="Segoe UI"/>
            </a:endParaRP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learn.microsoft.com/azure/ai-services/content-understanding/concepts/analyzer-reference</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5</a:t>
            </a:r>
          </a:p>
        </p:txBody>
      </p:sp>
      <p:sp>
        <p:nvSpPr>
          <p:cNvPr id="7" name="Rectangle 6"/>
          <p:cNvSpPr/>
          <p:nvPr/>
        </p:nvSpPr>
        <p:spPr>
          <a:xfrm>
            <a:off x="457200" y="1316736"/>
            <a:ext cx="11277295" cy="566928"/>
          </a:xfrm>
          <a:prstGeom prst="rect">
            <a:avLst/>
          </a:prstGeom>
          <a:solidFill>
            <a:srgbClr val="101A3C"/>
          </a:solidFill>
          <a:ln>
            <a:noFill/>
          </a:ln>
          <a:effectLst/>
        </p:spPr>
        <p:txBody>
          <a:bodyPr wrap="square" lIns="54864" tIns="18288" rIns="54864" bIns="18288" rtlCol="0" anchor="ctr"/>
          <a:lstStyle/>
          <a:p>
            <a:pPr algn="ctr">
              <a:lnSpc>
                <a:spcPct val="128000"/>
              </a:lnSpc>
            </a:pPr>
            <a:r>
              <a:rPr lang="en-US" sz="1000" b="1" i="0" dirty="0">
                <a:solidFill>
                  <a:srgbClr val="FFFFFF"/>
                </a:solidFill>
                <a:latin typeface="Segoe UI"/>
                <a:cs typeface="Segoe UI"/>
              </a:rPr>
              <a:t>Analyzer  —  the reusable configuration, created once
extraction settings   ·   field schema   ·   which Foundry models to use   ·   prebuilt or custom</a:t>
            </a:r>
            <a:endParaRPr sz="800" b="0" i="0" dirty="0">
              <a:solidFill>
                <a:srgbClr val="B9C2D6"/>
              </a:solidFill>
              <a:latin typeface="Segoe UI"/>
              <a:cs typeface="Segoe UI"/>
            </a:endParaRPr>
          </a:p>
        </p:txBody>
      </p:sp>
      <p:sp>
        <p:nvSpPr>
          <p:cNvPr id="8" name="Rectangle 7"/>
          <p:cNvSpPr/>
          <p:nvPr/>
        </p:nvSpPr>
        <p:spPr>
          <a:xfrm>
            <a:off x="457200" y="2103120"/>
            <a:ext cx="1965960" cy="1335024"/>
          </a:xfrm>
          <a:prstGeom prst="rect">
            <a:avLst/>
          </a:prstGeom>
          <a:solidFill>
            <a:srgbClr val="EBEFF7"/>
          </a:solidFill>
          <a:ln w="9525">
            <a:solidFill>
              <a:srgbClr val="E1E7F4"/>
            </a:solidFill>
          </a:ln>
          <a:effectLst/>
        </p:spPr>
        <p:txBody>
          <a:bodyPr wrap="square" rtlCol="0" anchor="ctr"/>
          <a:lstStyle/>
          <a:p>
            <a:endParaRPr/>
          </a:p>
        </p:txBody>
      </p:sp>
      <p:sp>
        <p:nvSpPr>
          <p:cNvPr id="9" name="Rectangle 8"/>
          <p:cNvSpPr/>
          <p:nvPr/>
        </p:nvSpPr>
        <p:spPr>
          <a:xfrm>
            <a:off x="457200" y="2103120"/>
            <a:ext cx="1965960" cy="41148"/>
          </a:xfrm>
          <a:prstGeom prst="rect">
            <a:avLst/>
          </a:prstGeom>
          <a:solidFill>
            <a:srgbClr val="44495B"/>
          </a:solidFill>
          <a:ln>
            <a:noFill/>
          </a:ln>
          <a:effectLst/>
        </p:spPr>
        <p:txBody>
          <a:bodyPr wrap="square" rtlCol="0" anchor="ctr"/>
          <a:lstStyle/>
          <a:p>
            <a:endParaRPr/>
          </a:p>
        </p:txBody>
      </p:sp>
      <p:sp>
        <p:nvSpPr>
          <p:cNvPr id="10" name="TextBox 9"/>
          <p:cNvSpPr txBox="1"/>
          <p:nvPr/>
        </p:nvSpPr>
        <p:spPr>
          <a:xfrm>
            <a:off x="585216" y="2231136"/>
            <a:ext cx="1709928" cy="384048"/>
          </a:xfrm>
          <a:prstGeom prst="rect">
            <a:avLst/>
          </a:prstGeom>
          <a:noFill/>
        </p:spPr>
        <p:txBody>
          <a:bodyPr wrap="square" lIns="0" tIns="0" rIns="0" bIns="0" anchor="t">
            <a:spAutoFit/>
          </a:bodyPr>
          <a:lstStyle/>
          <a:p>
            <a:pPr algn="l">
              <a:lnSpc>
                <a:spcPct val="106000"/>
              </a:lnSpc>
            </a:pPr>
            <a:r>
              <a:rPr sz="1000" b="1" i="0" dirty="0">
                <a:solidFill>
                  <a:srgbClr val="101A3C"/>
                </a:solidFill>
                <a:latin typeface="Segoe UI"/>
                <a:cs typeface="Segoe UI"/>
              </a:rPr>
              <a:t>Input</a:t>
            </a:r>
          </a:p>
        </p:txBody>
      </p:sp>
      <p:sp>
        <p:nvSpPr>
          <p:cNvPr id="11" name="TextBox 10"/>
          <p:cNvSpPr txBox="1"/>
          <p:nvPr/>
        </p:nvSpPr>
        <p:spPr>
          <a:xfrm>
            <a:off x="585216" y="2706624"/>
            <a:ext cx="1709928" cy="658368"/>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a file by URL,</a:t>
            </a:r>
          </a:p>
          <a:p>
            <a:pPr algn="l">
              <a:lnSpc>
                <a:spcPct val="118000"/>
              </a:lnSpc>
            </a:pPr>
            <a:r>
              <a:rPr sz="750" b="0" i="0" dirty="0">
                <a:solidFill>
                  <a:srgbClr val="44495B"/>
                </a:solidFill>
                <a:latin typeface="Segoe UI"/>
                <a:cs typeface="Segoe UI"/>
              </a:rPr>
              <a:t>or bytes in the</a:t>
            </a:r>
          </a:p>
          <a:p>
            <a:pPr algn="l">
              <a:lnSpc>
                <a:spcPct val="118000"/>
              </a:lnSpc>
            </a:pPr>
            <a:r>
              <a:rPr sz="750" b="0" i="0" dirty="0">
                <a:solidFill>
                  <a:srgbClr val="44495B"/>
                </a:solidFill>
                <a:latin typeface="Segoe UI"/>
                <a:cs typeface="Segoe UI"/>
              </a:rPr>
              <a:t>request body</a:t>
            </a:r>
          </a:p>
        </p:txBody>
      </p:sp>
      <p:cxnSp>
        <p:nvCxnSpPr>
          <p:cNvPr id="12" name="Connector 11"/>
          <p:cNvCxnSpPr/>
          <p:nvPr/>
        </p:nvCxnSpPr>
        <p:spPr>
          <a:xfrm>
            <a:off x="2423160" y="2770632"/>
            <a:ext cx="24688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441448" y="2665475"/>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14" name="Rectangle 13"/>
          <p:cNvSpPr/>
          <p:nvPr/>
        </p:nvSpPr>
        <p:spPr>
          <a:xfrm>
            <a:off x="2670048" y="2103120"/>
            <a:ext cx="1965960" cy="1335024"/>
          </a:xfrm>
          <a:prstGeom prst="rect">
            <a:avLst/>
          </a:prstGeom>
          <a:solidFill>
            <a:srgbClr val="FFFFFF"/>
          </a:solidFill>
          <a:ln w="9525">
            <a:solidFill>
              <a:srgbClr val="E1E7F4"/>
            </a:solidFill>
          </a:ln>
          <a:effectLst/>
        </p:spPr>
        <p:txBody>
          <a:bodyPr wrap="square" rtlCol="0" anchor="ctr"/>
          <a:lstStyle/>
          <a:p>
            <a:endParaRPr/>
          </a:p>
        </p:txBody>
      </p:sp>
      <p:sp>
        <p:nvSpPr>
          <p:cNvPr id="15" name="Rectangle 14"/>
          <p:cNvSpPr/>
          <p:nvPr/>
        </p:nvSpPr>
        <p:spPr>
          <a:xfrm>
            <a:off x="2670048" y="2103120"/>
            <a:ext cx="1965960" cy="41148"/>
          </a:xfrm>
          <a:prstGeom prst="rect">
            <a:avLst/>
          </a:prstGeom>
          <a:solidFill>
            <a:srgbClr val="00B39F"/>
          </a:solidFill>
          <a:ln>
            <a:noFill/>
          </a:ln>
          <a:effectLst/>
        </p:spPr>
        <p:txBody>
          <a:bodyPr wrap="square" rtlCol="0" anchor="ctr"/>
          <a:lstStyle/>
          <a:p>
            <a:endParaRPr/>
          </a:p>
        </p:txBody>
      </p:sp>
      <p:sp>
        <p:nvSpPr>
          <p:cNvPr id="16" name="TextBox 15"/>
          <p:cNvSpPr txBox="1"/>
          <p:nvPr/>
        </p:nvSpPr>
        <p:spPr>
          <a:xfrm>
            <a:off x="2798064" y="2231136"/>
            <a:ext cx="1709928" cy="384048"/>
          </a:xfrm>
          <a:prstGeom prst="rect">
            <a:avLst/>
          </a:prstGeom>
          <a:noFill/>
        </p:spPr>
        <p:txBody>
          <a:bodyPr wrap="square" lIns="0" tIns="0" rIns="0" bIns="0" anchor="t">
            <a:spAutoFit/>
          </a:bodyPr>
          <a:lstStyle/>
          <a:p>
            <a:pPr algn="l">
              <a:lnSpc>
                <a:spcPct val="106000"/>
              </a:lnSpc>
            </a:pPr>
            <a:r>
              <a:rPr sz="1000" b="1" i="0" dirty="0">
                <a:solidFill>
                  <a:srgbClr val="101A3C"/>
                </a:solidFill>
                <a:latin typeface="Segoe UI"/>
                <a:cs typeface="Segoe UI"/>
              </a:rPr>
              <a:t>Content</a:t>
            </a:r>
          </a:p>
          <a:p>
            <a:pPr algn="l">
              <a:lnSpc>
                <a:spcPct val="106000"/>
              </a:lnSpc>
            </a:pPr>
            <a:r>
              <a:rPr sz="1000" b="1" i="0" dirty="0">
                <a:solidFill>
                  <a:srgbClr val="101A3C"/>
                </a:solidFill>
                <a:latin typeface="Segoe UI"/>
                <a:cs typeface="Segoe UI"/>
              </a:rPr>
              <a:t>extraction</a:t>
            </a:r>
          </a:p>
        </p:txBody>
      </p:sp>
      <p:sp>
        <p:nvSpPr>
          <p:cNvPr id="17" name="TextBox 16"/>
          <p:cNvSpPr txBox="1"/>
          <p:nvPr/>
        </p:nvSpPr>
        <p:spPr>
          <a:xfrm>
            <a:off x="2798064" y="2706624"/>
            <a:ext cx="1709928" cy="658368"/>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text by optical</a:t>
            </a:r>
          </a:p>
          <a:p>
            <a:pPr algn="l">
              <a:lnSpc>
                <a:spcPct val="118000"/>
              </a:lnSpc>
            </a:pPr>
            <a:r>
              <a:rPr sz="750" b="0" i="0" dirty="0">
                <a:solidFill>
                  <a:srgbClr val="44495B"/>
                </a:solidFill>
                <a:latin typeface="Segoe UI"/>
                <a:cs typeface="Segoe UI"/>
              </a:rPr>
              <a:t>character recognition,</a:t>
            </a:r>
          </a:p>
          <a:p>
            <a:pPr algn="l">
              <a:lnSpc>
                <a:spcPct val="118000"/>
              </a:lnSpc>
            </a:pPr>
            <a:r>
              <a:rPr sz="750" b="0" i="0" dirty="0">
                <a:solidFill>
                  <a:srgbClr val="44495B"/>
                </a:solidFill>
                <a:latin typeface="Segoe UI"/>
                <a:cs typeface="Segoe UI"/>
              </a:rPr>
              <a:t>tables, layout;</a:t>
            </a:r>
          </a:p>
          <a:p>
            <a:pPr algn="l">
              <a:lnSpc>
                <a:spcPct val="118000"/>
              </a:lnSpc>
            </a:pPr>
            <a:r>
              <a:rPr sz="750" b="0" i="0" dirty="0">
                <a:solidFill>
                  <a:srgbClr val="44495B"/>
                </a:solidFill>
                <a:latin typeface="Segoe UI"/>
                <a:cs typeface="Segoe UI"/>
              </a:rPr>
              <a:t>speech transcribed</a:t>
            </a:r>
          </a:p>
        </p:txBody>
      </p:sp>
      <p:cxnSp>
        <p:nvCxnSpPr>
          <p:cNvPr id="18" name="Connector 17"/>
          <p:cNvCxnSpPr/>
          <p:nvPr/>
        </p:nvCxnSpPr>
        <p:spPr>
          <a:xfrm>
            <a:off x="4636008" y="2770632"/>
            <a:ext cx="24688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654296" y="2665475"/>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20" name="Rectangle 19"/>
          <p:cNvSpPr/>
          <p:nvPr/>
        </p:nvSpPr>
        <p:spPr>
          <a:xfrm>
            <a:off x="4882896" y="2103120"/>
            <a:ext cx="1965960" cy="1335024"/>
          </a:xfrm>
          <a:prstGeom prst="rect">
            <a:avLst/>
          </a:prstGeom>
          <a:solidFill>
            <a:srgbClr val="FFFFFF"/>
          </a:solidFill>
          <a:ln w="9525">
            <a:solidFill>
              <a:srgbClr val="E1E7F4"/>
            </a:solidFill>
          </a:ln>
          <a:effectLst/>
        </p:spPr>
        <p:txBody>
          <a:bodyPr wrap="square" rtlCol="0" anchor="ctr"/>
          <a:lstStyle/>
          <a:p>
            <a:endParaRPr/>
          </a:p>
        </p:txBody>
      </p:sp>
      <p:sp>
        <p:nvSpPr>
          <p:cNvPr id="21" name="Rectangle 20"/>
          <p:cNvSpPr/>
          <p:nvPr/>
        </p:nvSpPr>
        <p:spPr>
          <a:xfrm>
            <a:off x="4882896" y="2103120"/>
            <a:ext cx="1965960" cy="41148"/>
          </a:xfrm>
          <a:prstGeom prst="rect">
            <a:avLst/>
          </a:prstGeom>
          <a:solidFill>
            <a:srgbClr val="00B39F"/>
          </a:solidFill>
          <a:ln>
            <a:noFill/>
          </a:ln>
          <a:effectLst/>
        </p:spPr>
        <p:txBody>
          <a:bodyPr wrap="square" rtlCol="0" anchor="ctr"/>
          <a:lstStyle/>
          <a:p>
            <a:endParaRPr/>
          </a:p>
        </p:txBody>
      </p:sp>
      <p:sp>
        <p:nvSpPr>
          <p:cNvPr id="22" name="TextBox 21"/>
          <p:cNvSpPr txBox="1"/>
          <p:nvPr/>
        </p:nvSpPr>
        <p:spPr>
          <a:xfrm>
            <a:off x="5010912" y="2231136"/>
            <a:ext cx="1709928" cy="384048"/>
          </a:xfrm>
          <a:prstGeom prst="rect">
            <a:avLst/>
          </a:prstGeom>
          <a:noFill/>
        </p:spPr>
        <p:txBody>
          <a:bodyPr wrap="square" lIns="0" tIns="0" rIns="0" bIns="0" anchor="t">
            <a:spAutoFit/>
          </a:bodyPr>
          <a:lstStyle/>
          <a:p>
            <a:pPr algn="l">
              <a:lnSpc>
                <a:spcPct val="106000"/>
              </a:lnSpc>
            </a:pPr>
            <a:r>
              <a:rPr sz="1000" b="1" i="0" dirty="0">
                <a:solidFill>
                  <a:srgbClr val="101A3C"/>
                </a:solidFill>
                <a:latin typeface="Segoe UI"/>
                <a:cs typeface="Segoe UI"/>
              </a:rPr>
              <a:t>Segmentation</a:t>
            </a:r>
          </a:p>
        </p:txBody>
      </p:sp>
      <p:sp>
        <p:nvSpPr>
          <p:cNvPr id="23" name="TextBox 22"/>
          <p:cNvSpPr txBox="1"/>
          <p:nvPr/>
        </p:nvSpPr>
        <p:spPr>
          <a:xfrm>
            <a:off x="5010912" y="2706624"/>
            <a:ext cx="1709928" cy="658368"/>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splits a long file</a:t>
            </a:r>
          </a:p>
          <a:p>
            <a:pPr algn="l">
              <a:lnSpc>
                <a:spcPct val="118000"/>
              </a:lnSpc>
            </a:pPr>
            <a:r>
              <a:rPr sz="750" b="0" i="0" dirty="0">
                <a:solidFill>
                  <a:srgbClr val="44495B"/>
                </a:solidFill>
                <a:latin typeface="Segoe UI"/>
                <a:cs typeface="Segoe UI"/>
              </a:rPr>
              <a:t>into logical sections,</a:t>
            </a:r>
          </a:p>
          <a:p>
            <a:pPr algn="l">
              <a:lnSpc>
                <a:spcPct val="118000"/>
              </a:lnSpc>
            </a:pPr>
            <a:r>
              <a:rPr sz="750" b="0" i="0" dirty="0">
                <a:solidFill>
                  <a:srgbClr val="44495B"/>
                </a:solidFill>
                <a:latin typeface="Segoe UI"/>
                <a:cs typeface="Segoe UI"/>
              </a:rPr>
              <a:t>and can route each</a:t>
            </a:r>
          </a:p>
          <a:p>
            <a:pPr algn="l">
              <a:lnSpc>
                <a:spcPct val="118000"/>
              </a:lnSpc>
            </a:pPr>
            <a:r>
              <a:rPr sz="750" b="0" i="0" dirty="0">
                <a:solidFill>
                  <a:srgbClr val="44495B"/>
                </a:solidFill>
                <a:latin typeface="Segoe UI"/>
                <a:cs typeface="Segoe UI"/>
              </a:rPr>
              <a:t>to a different analyzer</a:t>
            </a:r>
          </a:p>
        </p:txBody>
      </p:sp>
      <p:cxnSp>
        <p:nvCxnSpPr>
          <p:cNvPr id="24" name="Connector 23"/>
          <p:cNvCxnSpPr/>
          <p:nvPr/>
        </p:nvCxnSpPr>
        <p:spPr>
          <a:xfrm>
            <a:off x="6848856" y="2770632"/>
            <a:ext cx="24688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867144" y="2665475"/>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26" name="Rectangle 25"/>
          <p:cNvSpPr/>
          <p:nvPr/>
        </p:nvSpPr>
        <p:spPr>
          <a:xfrm>
            <a:off x="7095744" y="2103120"/>
            <a:ext cx="1965960" cy="1335024"/>
          </a:xfrm>
          <a:prstGeom prst="rect">
            <a:avLst/>
          </a:prstGeom>
          <a:solidFill>
            <a:srgbClr val="FFFFFF"/>
          </a:solidFill>
          <a:ln w="9525">
            <a:solidFill>
              <a:srgbClr val="E1E7F4"/>
            </a:solidFill>
          </a:ln>
          <a:effectLst/>
        </p:spPr>
        <p:txBody>
          <a:bodyPr wrap="square" rtlCol="0" anchor="ctr"/>
          <a:lstStyle/>
          <a:p>
            <a:endParaRPr/>
          </a:p>
        </p:txBody>
      </p:sp>
      <p:sp>
        <p:nvSpPr>
          <p:cNvPr id="27" name="Rectangle 26"/>
          <p:cNvSpPr/>
          <p:nvPr/>
        </p:nvSpPr>
        <p:spPr>
          <a:xfrm>
            <a:off x="7095744" y="2103120"/>
            <a:ext cx="1965960" cy="41148"/>
          </a:xfrm>
          <a:prstGeom prst="rect">
            <a:avLst/>
          </a:prstGeom>
          <a:solidFill>
            <a:srgbClr val="00B39F"/>
          </a:solidFill>
          <a:ln>
            <a:noFill/>
          </a:ln>
          <a:effectLst/>
        </p:spPr>
        <p:txBody>
          <a:bodyPr wrap="square" rtlCol="0" anchor="ctr"/>
          <a:lstStyle/>
          <a:p>
            <a:endParaRPr/>
          </a:p>
        </p:txBody>
      </p:sp>
      <p:sp>
        <p:nvSpPr>
          <p:cNvPr id="28" name="TextBox 27"/>
          <p:cNvSpPr txBox="1"/>
          <p:nvPr/>
        </p:nvSpPr>
        <p:spPr>
          <a:xfrm>
            <a:off x="7223759" y="2231136"/>
            <a:ext cx="1709928" cy="384048"/>
          </a:xfrm>
          <a:prstGeom prst="rect">
            <a:avLst/>
          </a:prstGeom>
          <a:noFill/>
        </p:spPr>
        <p:txBody>
          <a:bodyPr wrap="square" lIns="0" tIns="0" rIns="0" bIns="0" anchor="t">
            <a:spAutoFit/>
          </a:bodyPr>
          <a:lstStyle/>
          <a:p>
            <a:pPr algn="l">
              <a:lnSpc>
                <a:spcPct val="106000"/>
              </a:lnSpc>
            </a:pPr>
            <a:r>
              <a:rPr sz="1000" b="1" i="0" dirty="0">
                <a:solidFill>
                  <a:srgbClr val="101A3C"/>
                </a:solidFill>
                <a:latin typeface="Segoe UI"/>
                <a:cs typeface="Segoe UI"/>
              </a:rPr>
              <a:t>Field</a:t>
            </a:r>
          </a:p>
          <a:p>
            <a:pPr algn="l">
              <a:lnSpc>
                <a:spcPct val="106000"/>
              </a:lnSpc>
            </a:pPr>
            <a:r>
              <a:rPr sz="1000" b="1" i="0" dirty="0">
                <a:solidFill>
                  <a:srgbClr val="101A3C"/>
                </a:solidFill>
                <a:latin typeface="Segoe UI"/>
                <a:cs typeface="Segoe UI"/>
              </a:rPr>
              <a:t>extraction</a:t>
            </a:r>
          </a:p>
        </p:txBody>
      </p:sp>
      <p:sp>
        <p:nvSpPr>
          <p:cNvPr id="29" name="TextBox 28"/>
          <p:cNvSpPr txBox="1"/>
          <p:nvPr/>
        </p:nvSpPr>
        <p:spPr>
          <a:xfrm>
            <a:off x="7223759" y="2706624"/>
            <a:ext cx="1709928" cy="658368"/>
          </a:xfrm>
          <a:prstGeom prst="rect">
            <a:avLst/>
          </a:prstGeom>
          <a:noFill/>
        </p:spPr>
        <p:txBody>
          <a:bodyPr wrap="square" lIns="0" tIns="0" rIns="0" bIns="0" anchor="t">
            <a:spAutoFit/>
          </a:bodyPr>
          <a:lstStyle/>
          <a:p>
            <a:pPr algn="l">
              <a:lnSpc>
                <a:spcPct val="118000"/>
              </a:lnSpc>
            </a:pPr>
            <a:r>
              <a:rPr lang="en-US" sz="750" b="0" i="0" dirty="0">
                <a:solidFill>
                  <a:srgbClr val="44495B"/>
                </a:solidFill>
                <a:latin typeface="Segoe UI"/>
                <a:cs typeface="Segoe UI"/>
              </a:rPr>
              <a:t>produces the schema:
extract, classify
or generate
each field</a:t>
            </a:r>
            <a:endParaRPr sz="750" b="0" i="0" dirty="0">
              <a:solidFill>
                <a:srgbClr val="44495B"/>
              </a:solidFill>
              <a:latin typeface="Segoe UI"/>
              <a:cs typeface="Segoe UI"/>
            </a:endParaRPr>
          </a:p>
        </p:txBody>
      </p:sp>
      <p:cxnSp>
        <p:nvCxnSpPr>
          <p:cNvPr id="30" name="Connector 29"/>
          <p:cNvCxnSpPr/>
          <p:nvPr/>
        </p:nvCxnSpPr>
        <p:spPr>
          <a:xfrm>
            <a:off x="9061704" y="2770632"/>
            <a:ext cx="24688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9079992" y="2665475"/>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sp>
        <p:nvSpPr>
          <p:cNvPr id="32" name="Rectangle 31"/>
          <p:cNvSpPr/>
          <p:nvPr/>
        </p:nvSpPr>
        <p:spPr>
          <a:xfrm>
            <a:off x="9308592" y="2103120"/>
            <a:ext cx="1965960" cy="1335024"/>
          </a:xfrm>
          <a:prstGeom prst="rect">
            <a:avLst/>
          </a:prstGeom>
          <a:solidFill>
            <a:srgbClr val="EBEFF7"/>
          </a:solidFill>
          <a:ln w="9525">
            <a:solidFill>
              <a:srgbClr val="E1E7F4"/>
            </a:solidFill>
          </a:ln>
          <a:effectLst/>
        </p:spPr>
        <p:txBody>
          <a:bodyPr wrap="square" rtlCol="0" anchor="ctr"/>
          <a:lstStyle/>
          <a:p>
            <a:endParaRPr/>
          </a:p>
        </p:txBody>
      </p:sp>
      <p:sp>
        <p:nvSpPr>
          <p:cNvPr id="33" name="Rectangle 32"/>
          <p:cNvSpPr/>
          <p:nvPr/>
        </p:nvSpPr>
        <p:spPr>
          <a:xfrm>
            <a:off x="9308592" y="2103120"/>
            <a:ext cx="1965960" cy="41148"/>
          </a:xfrm>
          <a:prstGeom prst="rect">
            <a:avLst/>
          </a:prstGeom>
          <a:solidFill>
            <a:srgbClr val="44495B"/>
          </a:solidFill>
          <a:ln>
            <a:noFill/>
          </a:ln>
          <a:effectLst/>
        </p:spPr>
        <p:txBody>
          <a:bodyPr wrap="square" rtlCol="0" anchor="ctr"/>
          <a:lstStyle/>
          <a:p>
            <a:endParaRPr/>
          </a:p>
        </p:txBody>
      </p:sp>
      <p:sp>
        <p:nvSpPr>
          <p:cNvPr id="34" name="TextBox 33"/>
          <p:cNvSpPr txBox="1"/>
          <p:nvPr/>
        </p:nvSpPr>
        <p:spPr>
          <a:xfrm>
            <a:off x="9436608" y="2231136"/>
            <a:ext cx="1709928" cy="384048"/>
          </a:xfrm>
          <a:prstGeom prst="rect">
            <a:avLst/>
          </a:prstGeom>
          <a:noFill/>
        </p:spPr>
        <p:txBody>
          <a:bodyPr wrap="square" lIns="0" tIns="0" rIns="0" bIns="0" anchor="t">
            <a:spAutoFit/>
          </a:bodyPr>
          <a:lstStyle/>
          <a:p>
            <a:pPr algn="l">
              <a:lnSpc>
                <a:spcPct val="106000"/>
              </a:lnSpc>
            </a:pPr>
            <a:r>
              <a:rPr sz="1000" b="1" i="0" dirty="0">
                <a:solidFill>
                  <a:srgbClr val="101A3C"/>
                </a:solidFill>
                <a:latin typeface="Segoe UI"/>
                <a:cs typeface="Segoe UI"/>
              </a:rPr>
              <a:t>Output</a:t>
            </a:r>
          </a:p>
        </p:txBody>
      </p:sp>
      <p:sp>
        <p:nvSpPr>
          <p:cNvPr id="35" name="TextBox 34"/>
          <p:cNvSpPr txBox="1"/>
          <p:nvPr/>
        </p:nvSpPr>
        <p:spPr>
          <a:xfrm>
            <a:off x="9436608" y="2706624"/>
            <a:ext cx="1709928" cy="658368"/>
          </a:xfrm>
          <a:prstGeom prst="rect">
            <a:avLst/>
          </a:prstGeom>
          <a:noFill/>
        </p:spPr>
        <p:txBody>
          <a:bodyPr wrap="square" lIns="0" tIns="0" rIns="0" bIns="0" anchor="t">
            <a:spAutoFit/>
          </a:bodyPr>
          <a:lstStyle/>
          <a:p>
            <a:pPr algn="l">
              <a:lnSpc>
                <a:spcPct val="118000"/>
              </a:lnSpc>
            </a:pPr>
            <a:r>
              <a:rPr sz="750" b="0" i="0" dirty="0">
                <a:solidFill>
                  <a:srgbClr val="44495B"/>
                </a:solidFill>
                <a:latin typeface="Segoe UI"/>
                <a:cs typeface="Segoe UI"/>
              </a:rPr>
              <a:t>Markdown, plus</a:t>
            </a:r>
          </a:p>
          <a:p>
            <a:pPr algn="l">
              <a:lnSpc>
                <a:spcPct val="118000"/>
              </a:lnSpc>
            </a:pPr>
            <a:r>
              <a:rPr sz="750" b="0" i="0" dirty="0">
                <a:solidFill>
                  <a:srgbClr val="44495B"/>
                </a:solidFill>
                <a:latin typeface="Segoe UI"/>
                <a:cs typeface="Segoe UI"/>
              </a:rPr>
              <a:t>typed JSON with a</a:t>
            </a:r>
          </a:p>
          <a:p>
            <a:pPr algn="l">
              <a:lnSpc>
                <a:spcPct val="118000"/>
              </a:lnSpc>
            </a:pPr>
            <a:r>
              <a:rPr sz="750" b="0" i="0" dirty="0">
                <a:solidFill>
                  <a:srgbClr val="44495B"/>
                </a:solidFill>
                <a:latin typeface="Segoe UI"/>
                <a:cs typeface="Segoe UI"/>
              </a:rPr>
              <a:t>confidence score and</a:t>
            </a:r>
          </a:p>
          <a:p>
            <a:pPr algn="l">
              <a:lnSpc>
                <a:spcPct val="118000"/>
              </a:lnSpc>
            </a:pPr>
            <a:r>
              <a:rPr sz="750" b="0" i="0" dirty="0">
                <a:solidFill>
                  <a:srgbClr val="44495B"/>
                </a:solidFill>
                <a:latin typeface="Segoe UI"/>
                <a:cs typeface="Segoe UI"/>
              </a:rPr>
              <a:t>source per field</a:t>
            </a:r>
          </a:p>
        </p:txBody>
      </p:sp>
      <p:sp>
        <p:nvSpPr>
          <p:cNvPr id="36" name="Rectangle 35"/>
          <p:cNvSpPr/>
          <p:nvPr/>
        </p:nvSpPr>
        <p:spPr>
          <a:xfrm>
            <a:off x="2670048" y="3675887"/>
            <a:ext cx="6620256" cy="566928"/>
          </a:xfrm>
          <a:prstGeom prst="rect">
            <a:avLst/>
          </a:prstGeom>
          <a:solidFill>
            <a:srgbClr val="0B1229"/>
          </a:solidFill>
          <a:ln>
            <a:noFill/>
          </a:ln>
          <a:effectLst/>
        </p:spPr>
        <p:txBody>
          <a:bodyPr wrap="square" lIns="54864" tIns="18288" rIns="54864" bIns="18288" rtlCol="0" anchor="ctr"/>
          <a:lstStyle/>
          <a:p>
            <a:pPr algn="ctr">
              <a:lnSpc>
                <a:spcPct val="124000"/>
              </a:lnSpc>
            </a:pPr>
            <a:r>
              <a:rPr sz="950" b="1" i="0" dirty="0">
                <a:solidFill>
                  <a:srgbClr val="FFFFFF"/>
                </a:solidFill>
                <a:latin typeface="Segoe UI"/>
                <a:cs typeface="Segoe UI"/>
              </a:rPr>
              <a:t>Contextualization layer  —  runs across the middle three stages</a:t>
            </a:r>
          </a:p>
          <a:p>
            <a:pPr algn="ctr">
              <a:lnSpc>
                <a:spcPct val="124000"/>
              </a:lnSpc>
            </a:pPr>
            <a:r>
              <a:rPr sz="750" b="0" i="0" dirty="0">
                <a:solidFill>
                  <a:srgbClr val="B9C2D6"/>
                </a:solidFill>
                <a:latin typeface="Segoe UI"/>
                <a:cs typeface="Segoe UI"/>
              </a:rPr>
              <a:t>prepares context for the model, normalises values, computes the confidence score and the source region</a:t>
            </a:r>
          </a:p>
        </p:txBody>
      </p:sp>
      <p:cxnSp>
        <p:nvCxnSpPr>
          <p:cNvPr id="37" name="Connector 36"/>
          <p:cNvCxnSpPr/>
          <p:nvPr/>
        </p:nvCxnSpPr>
        <p:spPr>
          <a:xfrm>
            <a:off x="3657600" y="3438144"/>
            <a:ext cx="0" cy="237743"/>
          </a:xfrm>
          <a:prstGeom prst="line">
            <a:avLst/>
          </a:prstGeom>
          <a:ln w="11430">
            <a:solidFill>
              <a:srgbClr val="44495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870448" y="3438144"/>
            <a:ext cx="0" cy="237743"/>
          </a:xfrm>
          <a:prstGeom prst="line">
            <a:avLst/>
          </a:prstGeom>
          <a:ln w="11430">
            <a:solidFill>
              <a:srgbClr val="44495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083296" y="3438144"/>
            <a:ext cx="0" cy="237743"/>
          </a:xfrm>
          <a:prstGeom prst="line">
            <a:avLst/>
          </a:prstGeom>
          <a:ln w="11430">
            <a:solidFill>
              <a:srgbClr val="44495B"/>
            </a:solidFill>
            <a:prstDash val="dash"/>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2670048" y="4370832"/>
            <a:ext cx="6620256"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22000"/>
              </a:lnSpc>
            </a:pPr>
            <a:r>
              <a:rPr lang="en-US" sz="900" b="1" i="0" dirty="0">
                <a:solidFill>
                  <a:srgbClr val="101A3C"/>
                </a:solidFill>
                <a:latin typeface="Segoe UI"/>
                <a:cs typeface="Segoe UI"/>
              </a:rPr>
              <a:t>Customer-owned Foundry model deployments  ·  a language model and an embedding model
brought by the customer — the analyzer names the model, the resource maps it to the deployment</a:t>
            </a:r>
            <a:endParaRPr sz="750" b="0" i="0" dirty="0">
              <a:solidFill>
                <a:srgbClr val="44495B"/>
              </a:solidFill>
              <a:latin typeface="Segoe UI"/>
              <a:cs typeface="Segoe UI"/>
            </a:endParaRPr>
          </a:p>
        </p:txBody>
      </p:sp>
      <p:cxnSp>
        <p:nvCxnSpPr>
          <p:cNvPr id="41" name="Connector 40"/>
          <p:cNvCxnSpPr/>
          <p:nvPr/>
        </p:nvCxnSpPr>
        <p:spPr>
          <a:xfrm>
            <a:off x="5980176" y="4242816"/>
            <a:ext cx="0" cy="128016"/>
          </a:xfrm>
          <a:prstGeom prst="line">
            <a:avLst/>
          </a:prstGeom>
          <a:ln w="11430">
            <a:solidFill>
              <a:srgbClr val="44495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457200" y="4992624"/>
            <a:ext cx="11277295" cy="512064"/>
          </a:xfrm>
          <a:prstGeom prst="rect">
            <a:avLst/>
          </a:prstGeom>
          <a:solidFill>
            <a:srgbClr val="EBEFF7"/>
          </a:solidFill>
          <a:ln>
            <a:noFill/>
          </a:ln>
          <a:effectLst/>
        </p:spPr>
        <p:txBody>
          <a:bodyPr wrap="square" rtlCol="0" anchor="ctr"/>
          <a:lstStyle/>
          <a:p>
            <a:endParaRPr/>
          </a:p>
        </p:txBody>
      </p:sp>
      <p:sp>
        <p:nvSpPr>
          <p:cNvPr id="43" name="Rectangle 42"/>
          <p:cNvSpPr/>
          <p:nvPr/>
        </p:nvSpPr>
        <p:spPr>
          <a:xfrm>
            <a:off x="457200" y="4992624"/>
            <a:ext cx="41148" cy="512064"/>
          </a:xfrm>
          <a:prstGeom prst="rect">
            <a:avLst/>
          </a:prstGeom>
          <a:solidFill>
            <a:srgbClr val="00B39F"/>
          </a:solidFill>
          <a:ln>
            <a:noFill/>
          </a:ln>
          <a:effectLst/>
        </p:spPr>
        <p:txBody>
          <a:bodyPr wrap="square" rtlCol="0" anchor="ctr"/>
          <a:lstStyle/>
          <a:p>
            <a:endParaRPr/>
          </a:p>
        </p:txBody>
      </p:sp>
      <p:sp>
        <p:nvSpPr>
          <p:cNvPr id="44" name="TextBox 43"/>
          <p:cNvSpPr txBox="1"/>
          <p:nvPr/>
        </p:nvSpPr>
        <p:spPr>
          <a:xfrm>
            <a:off x="694944" y="5093208"/>
            <a:ext cx="10856671" cy="329184"/>
          </a:xfrm>
          <a:prstGeom prst="rect">
            <a:avLst/>
          </a:prstGeom>
          <a:noFill/>
        </p:spPr>
        <p:txBody>
          <a:bodyPr wrap="square" lIns="0" tIns="0" rIns="0" bIns="0" anchor="t">
            <a:spAutoFit/>
          </a:bodyPr>
          <a:lstStyle/>
          <a:p>
            <a:pPr algn="l">
              <a:lnSpc>
                <a:spcPct val="120000"/>
              </a:lnSpc>
            </a:pPr>
            <a:r>
              <a:rPr lang="en-US" sz="900" b="0" i="0" dirty="0">
                <a:solidFill>
                  <a:srgbClr val="101A3C"/>
                </a:solidFill>
                <a:latin typeface="Segoe UI"/>
                <a:cs typeface="Segoe UI"/>
              </a:rPr>
              <a:t>The stage that surprises people is contextualization. It is a distinct billed component, not part of the model cost — and it is where the confidence score and the source region are actually computed.</a:t>
            </a:r>
            <a:endParaRPr sz="900" b="0" i="0" dirty="0">
              <a:solidFill>
                <a:srgbClr val="101A3C"/>
              </a:solidFill>
              <a:latin typeface="Segoe UI"/>
              <a:cs typeface="Segoe UI"/>
            </a:endParaRPr>
          </a:p>
        </p:txBody>
      </p:sp>
      <p:sp>
        <p:nvSpPr>
          <p:cNvPr id="45" name="Rectangle 44"/>
          <p:cNvSpPr/>
          <p:nvPr/>
        </p:nvSpPr>
        <p:spPr>
          <a:xfrm>
            <a:off x="457200" y="5609844"/>
            <a:ext cx="146304" cy="91440"/>
          </a:xfrm>
          <a:prstGeom prst="rect">
            <a:avLst/>
          </a:prstGeom>
          <a:solidFill>
            <a:srgbClr val="EBEFF7"/>
          </a:solidFill>
          <a:ln>
            <a:noFill/>
          </a:ln>
          <a:effectLst/>
        </p:spPr>
        <p:txBody>
          <a:bodyPr wrap="square" rtlCol="0" anchor="ctr"/>
          <a:lstStyle/>
          <a:p>
            <a:endParaRPr/>
          </a:p>
        </p:txBody>
      </p:sp>
      <p:sp>
        <p:nvSpPr>
          <p:cNvPr id="46" name="TextBox 45"/>
          <p:cNvSpPr txBox="1"/>
          <p:nvPr/>
        </p:nvSpPr>
        <p:spPr>
          <a:xfrm>
            <a:off x="676656"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Input and output</a:t>
            </a:r>
          </a:p>
        </p:txBody>
      </p:sp>
      <p:sp>
        <p:nvSpPr>
          <p:cNvPr id="47" name="Rectangle 46"/>
          <p:cNvSpPr/>
          <p:nvPr/>
        </p:nvSpPr>
        <p:spPr>
          <a:xfrm>
            <a:off x="1603857" y="5609844"/>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48" name="TextBox 47"/>
          <p:cNvSpPr txBox="1"/>
          <p:nvPr/>
        </p:nvSpPr>
        <p:spPr>
          <a:xfrm>
            <a:off x="1823313"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Processing stage</a:t>
            </a:r>
          </a:p>
        </p:txBody>
      </p:sp>
      <p:sp>
        <p:nvSpPr>
          <p:cNvPr id="49" name="Rectangle 48"/>
          <p:cNvSpPr/>
          <p:nvPr/>
        </p:nvSpPr>
        <p:spPr>
          <a:xfrm>
            <a:off x="2750515" y="5609844"/>
            <a:ext cx="146304" cy="91440"/>
          </a:xfrm>
          <a:prstGeom prst="rect">
            <a:avLst/>
          </a:prstGeom>
          <a:solidFill>
            <a:srgbClr val="0B1229"/>
          </a:solidFill>
          <a:ln>
            <a:noFill/>
          </a:ln>
          <a:effectLst/>
        </p:spPr>
        <p:txBody>
          <a:bodyPr wrap="square" rtlCol="0" anchor="ctr"/>
          <a:lstStyle/>
          <a:p>
            <a:endParaRPr/>
          </a:p>
        </p:txBody>
      </p:sp>
      <p:sp>
        <p:nvSpPr>
          <p:cNvPr id="50" name="TextBox 49"/>
          <p:cNvSpPr txBox="1"/>
          <p:nvPr/>
        </p:nvSpPr>
        <p:spPr>
          <a:xfrm>
            <a:off x="2969971"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Cross-cutting layer</a:t>
            </a:r>
          </a:p>
        </p:txBody>
      </p:sp>
      <p:cxnSp>
        <p:nvCxnSpPr>
          <p:cNvPr id="51" name="Connector 50"/>
          <p:cNvCxnSpPr/>
          <p:nvPr/>
        </p:nvCxnSpPr>
        <p:spPr>
          <a:xfrm>
            <a:off x="4055592" y="5655564"/>
            <a:ext cx="164592" cy="0"/>
          </a:xfrm>
          <a:prstGeom prst="line">
            <a:avLst/>
          </a:prstGeom>
          <a:ln w="13970">
            <a:solidFill>
              <a:srgbClr val="44495B"/>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275048"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Content flow</a:t>
            </a:r>
          </a:p>
        </p:txBody>
      </p:sp>
      <p:cxnSp>
        <p:nvCxnSpPr>
          <p:cNvPr id="53" name="Connector 52"/>
          <p:cNvCxnSpPr/>
          <p:nvPr/>
        </p:nvCxnSpPr>
        <p:spPr>
          <a:xfrm>
            <a:off x="4991023" y="5655564"/>
            <a:ext cx="164592" cy="0"/>
          </a:xfrm>
          <a:prstGeom prst="line">
            <a:avLst/>
          </a:prstGeom>
          <a:ln w="13970">
            <a:solidFill>
              <a:srgbClr val="44495B"/>
            </a:solidFill>
            <a:prstDash val="dash"/>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5210479" y="558241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Supporting service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HOW IT WORKS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The request flow, and the two processing modes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Submit and poll for everything; or, for plain text and layout only, send and get the answer back directly</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learn.microsoft.com/azure/ai-services/content-understanding/quickstart/use-rest-api · use-synchronous-rest-api</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6</a:t>
            </a:r>
          </a:p>
        </p:txBody>
      </p:sp>
      <p:sp>
        <p:nvSpPr>
          <p:cNvPr id="7" name="TextBox 6"/>
          <p:cNvSpPr txBox="1"/>
          <p:nvPr/>
        </p:nvSpPr>
        <p:spPr>
          <a:xfrm>
            <a:off x="457200" y="1280160"/>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ASYNCHRONOUS — THE GENERALLY AVAILABLE PATH, ALL CONTENT TYPES</a:t>
            </a:r>
          </a:p>
        </p:txBody>
      </p:sp>
      <p:sp>
        <p:nvSpPr>
          <p:cNvPr id="8" name="Rectangle 7"/>
          <p:cNvSpPr/>
          <p:nvPr/>
        </p:nvSpPr>
        <p:spPr>
          <a:xfrm>
            <a:off x="457200" y="1554480"/>
            <a:ext cx="2011680" cy="566928"/>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16000"/>
              </a:lnSpc>
            </a:pPr>
            <a:r>
              <a:rPr lang="en-US" sz="850" b="1" i="0" dirty="0">
                <a:solidFill>
                  <a:srgbClr val="101A3C"/>
                </a:solidFill>
                <a:latin typeface="Segoe UI"/>
                <a:cs typeface="Segoe UI"/>
              </a:rPr>
              <a:t>Client application</a:t>
            </a:r>
            <a:endParaRPr sz="850" b="1" i="0" dirty="0">
              <a:solidFill>
                <a:srgbClr val="101A3C"/>
              </a:solidFill>
              <a:latin typeface="Segoe UI"/>
              <a:cs typeface="Segoe UI"/>
            </a:endParaRPr>
          </a:p>
        </p:txBody>
      </p:sp>
      <p:cxnSp>
        <p:nvCxnSpPr>
          <p:cNvPr id="9" name="Connector 8"/>
          <p:cNvCxnSpPr/>
          <p:nvPr/>
        </p:nvCxnSpPr>
        <p:spPr>
          <a:xfrm>
            <a:off x="2468880" y="1837943"/>
            <a:ext cx="29260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510028" y="1732787"/>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11" name="Rectangle 10"/>
          <p:cNvSpPr/>
          <p:nvPr/>
        </p:nvSpPr>
        <p:spPr>
          <a:xfrm>
            <a:off x="2761488" y="1554480"/>
            <a:ext cx="2011680"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6000"/>
              </a:lnSpc>
            </a:pPr>
            <a:r>
              <a:rPr sz="850" b="0" i="0" dirty="0">
                <a:solidFill>
                  <a:srgbClr val="101A3C"/>
                </a:solidFill>
                <a:latin typeface="Segoe UI"/>
                <a:cs typeface="Segoe UI"/>
              </a:rPr>
              <a:t>POST …:analyze</a:t>
            </a:r>
          </a:p>
        </p:txBody>
      </p:sp>
      <p:cxnSp>
        <p:nvCxnSpPr>
          <p:cNvPr id="12" name="Connector 11"/>
          <p:cNvCxnSpPr/>
          <p:nvPr/>
        </p:nvCxnSpPr>
        <p:spPr>
          <a:xfrm>
            <a:off x="4773168" y="1837943"/>
            <a:ext cx="29260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4814316" y="1732787"/>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14" name="Rectangle 13"/>
          <p:cNvSpPr/>
          <p:nvPr/>
        </p:nvSpPr>
        <p:spPr>
          <a:xfrm>
            <a:off x="5065776" y="1554480"/>
            <a:ext cx="2011680"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6000"/>
              </a:lnSpc>
            </a:pPr>
            <a:r>
              <a:rPr sz="850" b="0" i="0" dirty="0">
                <a:solidFill>
                  <a:srgbClr val="101A3C"/>
                </a:solidFill>
                <a:latin typeface="Segoe UI"/>
                <a:cs typeface="Segoe UI"/>
              </a:rPr>
              <a:t>202 Accepted</a:t>
            </a:r>
          </a:p>
          <a:p>
            <a:pPr algn="ctr">
              <a:lnSpc>
                <a:spcPct val="116000"/>
              </a:lnSpc>
            </a:pPr>
            <a:r>
              <a:rPr sz="850" b="0" i="0" dirty="0">
                <a:solidFill>
                  <a:srgbClr val="101A3C"/>
                </a:solidFill>
                <a:latin typeface="Segoe UI"/>
                <a:cs typeface="Segoe UI"/>
              </a:rPr>
              <a:t>+ operation location</a:t>
            </a:r>
          </a:p>
        </p:txBody>
      </p:sp>
      <p:cxnSp>
        <p:nvCxnSpPr>
          <p:cNvPr id="15" name="Connector 14"/>
          <p:cNvCxnSpPr/>
          <p:nvPr/>
        </p:nvCxnSpPr>
        <p:spPr>
          <a:xfrm>
            <a:off x="7077456" y="1837943"/>
            <a:ext cx="29260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118604" y="1732787"/>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17" name="Rectangle 16"/>
          <p:cNvSpPr/>
          <p:nvPr/>
        </p:nvSpPr>
        <p:spPr>
          <a:xfrm>
            <a:off x="7370064" y="1554480"/>
            <a:ext cx="1865376"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6000"/>
              </a:lnSpc>
            </a:pPr>
            <a:r>
              <a:rPr sz="850" b="0" i="0" dirty="0">
                <a:solidFill>
                  <a:srgbClr val="101A3C"/>
                </a:solidFill>
                <a:latin typeface="Segoe UI"/>
                <a:cs typeface="Segoe UI"/>
              </a:rPr>
              <a:t>Poll until</a:t>
            </a:r>
          </a:p>
          <a:p>
            <a:pPr algn="ctr">
              <a:lnSpc>
                <a:spcPct val="116000"/>
              </a:lnSpc>
            </a:pPr>
            <a:r>
              <a:rPr sz="850" b="0" i="0" dirty="0">
                <a:solidFill>
                  <a:srgbClr val="101A3C"/>
                </a:solidFill>
                <a:latin typeface="Segoe UI"/>
                <a:cs typeface="Segoe UI"/>
              </a:rPr>
              <a:t>Succeeded</a:t>
            </a:r>
          </a:p>
        </p:txBody>
      </p:sp>
      <p:cxnSp>
        <p:nvCxnSpPr>
          <p:cNvPr id="18" name="Connector 17"/>
          <p:cNvCxnSpPr/>
          <p:nvPr/>
        </p:nvCxnSpPr>
        <p:spPr>
          <a:xfrm>
            <a:off x="9235440" y="1837943"/>
            <a:ext cx="29260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276588" y="1732787"/>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sp>
        <p:nvSpPr>
          <p:cNvPr id="20" name="Rectangle 19"/>
          <p:cNvSpPr/>
          <p:nvPr/>
        </p:nvSpPr>
        <p:spPr>
          <a:xfrm>
            <a:off x="9528048" y="1554480"/>
            <a:ext cx="2203704" cy="566928"/>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16000"/>
              </a:lnSpc>
            </a:pPr>
            <a:r>
              <a:rPr sz="850" b="1" i="0" dirty="0">
                <a:solidFill>
                  <a:srgbClr val="101A3C"/>
                </a:solidFill>
                <a:latin typeface="Segoe UI"/>
                <a:cs typeface="Segoe UI"/>
              </a:rPr>
              <a:t>Result:</a:t>
            </a:r>
          </a:p>
          <a:p>
            <a:pPr algn="ctr">
              <a:lnSpc>
                <a:spcPct val="116000"/>
              </a:lnSpc>
            </a:pPr>
            <a:r>
              <a:rPr sz="850" b="1" i="0" dirty="0">
                <a:solidFill>
                  <a:srgbClr val="101A3C"/>
                </a:solidFill>
                <a:latin typeface="Segoe UI"/>
                <a:cs typeface="Segoe UI"/>
              </a:rPr>
              <a:t>Markdown + fields</a:t>
            </a:r>
          </a:p>
        </p:txBody>
      </p:sp>
      <p:sp>
        <p:nvSpPr>
          <p:cNvPr id="21" name="TextBox 20"/>
          <p:cNvSpPr txBox="1"/>
          <p:nvPr/>
        </p:nvSpPr>
        <p:spPr>
          <a:xfrm>
            <a:off x="457200" y="2231136"/>
            <a:ext cx="11277295" cy="182880"/>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The file is referenced by URL, or sent as bytes. Results can be deleted explicitly once retrieved.</a:t>
            </a:r>
          </a:p>
        </p:txBody>
      </p:sp>
      <p:sp>
        <p:nvSpPr>
          <p:cNvPr id="22" name="TextBox 21"/>
          <p:cNvSpPr txBox="1"/>
          <p:nvPr/>
        </p:nvSpPr>
        <p:spPr>
          <a:xfrm>
            <a:off x="457200" y="2578608"/>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SYNCHRONOUS* — PREVIEW, AND ONLY FOR READING TEXT AND LAYOUT</a:t>
            </a:r>
          </a:p>
        </p:txBody>
      </p:sp>
      <p:sp>
        <p:nvSpPr>
          <p:cNvPr id="23" name="Rectangle 22"/>
          <p:cNvSpPr/>
          <p:nvPr/>
        </p:nvSpPr>
        <p:spPr>
          <a:xfrm>
            <a:off x="457200" y="2852928"/>
            <a:ext cx="2011680" cy="512064"/>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00000"/>
              </a:lnSpc>
            </a:pPr>
            <a:r>
              <a:rPr lang="en-US" sz="850" b="1" i="0" dirty="0">
                <a:solidFill>
                  <a:srgbClr val="101A3C"/>
                </a:solidFill>
                <a:latin typeface="Segoe UI"/>
                <a:cs typeface="Segoe UI"/>
              </a:rPr>
              <a:t>Client application</a:t>
            </a:r>
            <a:endParaRPr sz="850" b="1" i="0" dirty="0">
              <a:solidFill>
                <a:srgbClr val="101A3C"/>
              </a:solidFill>
              <a:latin typeface="Segoe UI"/>
              <a:cs typeface="Segoe UI"/>
            </a:endParaRPr>
          </a:p>
        </p:txBody>
      </p:sp>
      <p:cxnSp>
        <p:nvCxnSpPr>
          <p:cNvPr id="24" name="Connector 23"/>
          <p:cNvCxnSpPr/>
          <p:nvPr/>
        </p:nvCxnSpPr>
        <p:spPr>
          <a:xfrm>
            <a:off x="2468880" y="3108960"/>
            <a:ext cx="29260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2510028" y="300380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26" name="Rectangle 25"/>
          <p:cNvSpPr/>
          <p:nvPr/>
        </p:nvSpPr>
        <p:spPr>
          <a:xfrm>
            <a:off x="2761488" y="2852928"/>
            <a:ext cx="2011680"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50" b="0" i="0" dirty="0">
                <a:solidFill>
                  <a:srgbClr val="101A3C"/>
                </a:solidFill>
                <a:latin typeface="Segoe UI"/>
                <a:cs typeface="Segoe UI"/>
              </a:rPr>
              <a:t>POST …:analyzeInline</a:t>
            </a:r>
          </a:p>
        </p:txBody>
      </p:sp>
      <p:cxnSp>
        <p:nvCxnSpPr>
          <p:cNvPr id="27" name="Connector 26"/>
          <p:cNvCxnSpPr/>
          <p:nvPr/>
        </p:nvCxnSpPr>
        <p:spPr>
          <a:xfrm>
            <a:off x="4773168" y="3108960"/>
            <a:ext cx="292608"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4814316" y="300380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29" name="Rectangle 28"/>
          <p:cNvSpPr/>
          <p:nvPr/>
        </p:nvSpPr>
        <p:spPr>
          <a:xfrm>
            <a:off x="5065776" y="2852928"/>
            <a:ext cx="2011680" cy="512064"/>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00000"/>
              </a:lnSpc>
            </a:pPr>
            <a:r>
              <a:rPr sz="850" b="1" i="0" dirty="0">
                <a:solidFill>
                  <a:srgbClr val="101A3C"/>
                </a:solidFill>
                <a:latin typeface="Segoe UI"/>
                <a:cs typeface="Segoe UI"/>
              </a:rPr>
              <a:t>Result in the response</a:t>
            </a:r>
          </a:p>
        </p:txBody>
      </p:sp>
      <p:sp>
        <p:nvSpPr>
          <p:cNvPr id="30" name="TextBox 29"/>
          <p:cNvSpPr txBox="1"/>
          <p:nvPr/>
        </p:nvSpPr>
        <p:spPr>
          <a:xfrm>
            <a:off x="7370064" y="2852928"/>
            <a:ext cx="4361688" cy="548640"/>
          </a:xfrm>
          <a:prstGeom prst="rect">
            <a:avLst/>
          </a:prstGeom>
          <a:noFill/>
        </p:spPr>
        <p:txBody>
          <a:bodyPr wrap="square" lIns="0" tIns="0" rIns="0" bIns="0" anchor="t">
            <a:spAutoFit/>
          </a:bodyPr>
          <a:lstStyle/>
          <a:p>
            <a:pPr algn="l">
              <a:lnSpc>
                <a:spcPct val="118000"/>
              </a:lnSpc>
            </a:pPr>
            <a:r>
              <a:rPr sz="800" b="0" i="0" dirty="0">
                <a:solidFill>
                  <a:srgbClr val="44495B"/>
                </a:solidFill>
                <a:latin typeface="Segoe UI"/>
                <a:cs typeface="Segoe UI"/>
              </a:rPr>
              <a:t>No polling, and the content is processed in memory rather than stored by the service. Limited to 10 MB and the first 5 pages.</a:t>
            </a:r>
          </a:p>
        </p:txBody>
      </p:sp>
      <p:sp>
        <p:nvSpPr>
          <p:cNvPr id="31" name="TextBox 30"/>
          <p:cNvSpPr txBox="1"/>
          <p:nvPr/>
        </p:nvSpPr>
        <p:spPr>
          <a:xfrm>
            <a:off x="457200" y="3639312"/>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WHICH ONE TO USE</a:t>
            </a:r>
          </a:p>
        </p:txBody>
      </p:sp>
      <p:sp>
        <p:nvSpPr>
          <p:cNvPr id="32" name="Rectangle 31"/>
          <p:cNvSpPr/>
          <p:nvPr/>
        </p:nvSpPr>
        <p:spPr>
          <a:xfrm>
            <a:off x="457200" y="3785615"/>
            <a:ext cx="11277295" cy="310896"/>
          </a:xfrm>
          <a:prstGeom prst="rect">
            <a:avLst/>
          </a:prstGeom>
          <a:solidFill>
            <a:srgbClr val="101A3C"/>
          </a:solidFill>
          <a:ln>
            <a:noFill/>
          </a:ln>
          <a:effectLst/>
        </p:spPr>
        <p:txBody>
          <a:bodyPr wrap="square" rtlCol="0" anchor="ctr"/>
          <a:lstStyle/>
          <a:p>
            <a:endParaRPr/>
          </a:p>
        </p:txBody>
      </p:sp>
      <p:sp>
        <p:nvSpPr>
          <p:cNvPr id="33" name="TextBox 32"/>
          <p:cNvSpPr txBox="1"/>
          <p:nvPr/>
        </p:nvSpPr>
        <p:spPr>
          <a:xfrm>
            <a:off x="585216" y="3863339"/>
            <a:ext cx="2072579" cy="182880"/>
          </a:xfrm>
          <a:prstGeom prst="rect">
            <a:avLst/>
          </a:prstGeom>
          <a:noFill/>
        </p:spPr>
        <p:txBody>
          <a:bodyPr wrap="none" lIns="0" tIns="0" rIns="0" bIns="0" anchor="t">
            <a:spAutoFit/>
          </a:bodyPr>
          <a:lstStyle/>
          <a:p>
            <a:pPr algn="l">
              <a:lnSpc>
                <a:spcPct val="100000"/>
              </a:lnSpc>
            </a:pPr>
            <a:endParaRPr/>
          </a:p>
        </p:txBody>
      </p:sp>
      <p:sp>
        <p:nvSpPr>
          <p:cNvPr id="34" name="TextBox 33"/>
          <p:cNvSpPr txBox="1"/>
          <p:nvPr/>
        </p:nvSpPr>
        <p:spPr>
          <a:xfrm>
            <a:off x="2840675" y="3863339"/>
            <a:ext cx="4553583" cy="182880"/>
          </a:xfrm>
          <a:prstGeom prst="rect">
            <a:avLst/>
          </a:prstGeom>
          <a:noFill/>
        </p:spPr>
        <p:txBody>
          <a:bodyPr wrap="none" lIns="0" tIns="0" rIns="0" bIns="0" anchor="t">
            <a:spAutoFit/>
          </a:bodyPr>
          <a:lstStyle/>
          <a:p>
            <a:pPr algn="l">
              <a:lnSpc>
                <a:spcPct val="100000"/>
              </a:lnSpc>
            </a:pPr>
            <a:r>
              <a:rPr sz="900" b="1" i="0" dirty="0">
                <a:solidFill>
                  <a:srgbClr val="FFFFFF"/>
                </a:solidFill>
                <a:latin typeface="Segoe UI"/>
                <a:cs typeface="Segoe UI"/>
              </a:rPr>
              <a:t>Asynchronous</a:t>
            </a:r>
          </a:p>
        </p:txBody>
      </p:sp>
      <p:sp>
        <p:nvSpPr>
          <p:cNvPr id="35" name="TextBox 34"/>
          <p:cNvSpPr txBox="1"/>
          <p:nvPr/>
        </p:nvSpPr>
        <p:spPr>
          <a:xfrm>
            <a:off x="7577139" y="3863339"/>
            <a:ext cx="4102492" cy="182880"/>
          </a:xfrm>
          <a:prstGeom prst="rect">
            <a:avLst/>
          </a:prstGeom>
          <a:noFill/>
        </p:spPr>
        <p:txBody>
          <a:bodyPr wrap="none" lIns="0" tIns="0" rIns="0" bIns="0" anchor="t">
            <a:spAutoFit/>
          </a:bodyPr>
          <a:lstStyle/>
          <a:p>
            <a:pPr algn="l">
              <a:lnSpc>
                <a:spcPct val="100000"/>
              </a:lnSpc>
            </a:pPr>
            <a:r>
              <a:rPr sz="900" b="1" i="0" dirty="0">
                <a:solidFill>
                  <a:srgbClr val="FFFFFF"/>
                </a:solidFill>
                <a:latin typeface="Segoe UI"/>
                <a:cs typeface="Segoe UI"/>
              </a:rPr>
              <a:t>Synchronous*</a:t>
            </a:r>
          </a:p>
        </p:txBody>
      </p:sp>
      <p:sp>
        <p:nvSpPr>
          <p:cNvPr id="36" name="Rectangle 35"/>
          <p:cNvSpPr/>
          <p:nvPr/>
        </p:nvSpPr>
        <p:spPr>
          <a:xfrm>
            <a:off x="457200" y="4096511"/>
            <a:ext cx="11277295" cy="347472"/>
          </a:xfrm>
          <a:prstGeom prst="rect">
            <a:avLst/>
          </a:prstGeom>
          <a:solidFill>
            <a:srgbClr val="F6F8FD"/>
          </a:solidFill>
          <a:ln>
            <a:noFill/>
          </a:ln>
          <a:effectLst/>
        </p:spPr>
        <p:txBody>
          <a:bodyPr wrap="square" rtlCol="0" anchor="ctr"/>
          <a:lstStyle/>
          <a:p>
            <a:endParaRPr/>
          </a:p>
        </p:txBody>
      </p:sp>
      <p:cxnSp>
        <p:nvCxnSpPr>
          <p:cNvPr id="37" name="Connector 36"/>
          <p:cNvCxnSpPr/>
          <p:nvPr/>
        </p:nvCxnSpPr>
        <p:spPr>
          <a:xfrm>
            <a:off x="457200" y="4443983"/>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85216" y="4146803"/>
            <a:ext cx="2036003" cy="265176"/>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Content types</a:t>
            </a:r>
          </a:p>
        </p:txBody>
      </p:sp>
      <p:sp>
        <p:nvSpPr>
          <p:cNvPr id="39" name="TextBox 38"/>
          <p:cNvSpPr txBox="1"/>
          <p:nvPr/>
        </p:nvSpPr>
        <p:spPr>
          <a:xfrm>
            <a:off x="2840675" y="4146803"/>
            <a:ext cx="4517007" cy="26517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Documents, images, audio and video</a:t>
            </a:r>
          </a:p>
        </p:txBody>
      </p:sp>
      <p:sp>
        <p:nvSpPr>
          <p:cNvPr id="40" name="TextBox 39"/>
          <p:cNvSpPr txBox="1"/>
          <p:nvPr/>
        </p:nvSpPr>
        <p:spPr>
          <a:xfrm>
            <a:off x="7577139" y="4146803"/>
            <a:ext cx="4065916" cy="26517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Documents only, and only the read and layout analyzers</a:t>
            </a:r>
          </a:p>
        </p:txBody>
      </p:sp>
      <p:cxnSp>
        <p:nvCxnSpPr>
          <p:cNvPr id="41" name="Connector 40"/>
          <p:cNvCxnSpPr/>
          <p:nvPr/>
        </p:nvCxnSpPr>
        <p:spPr>
          <a:xfrm>
            <a:off x="457200" y="4791455"/>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85216" y="4494275"/>
            <a:ext cx="2036003" cy="265176"/>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Field extraction</a:t>
            </a:r>
          </a:p>
        </p:txBody>
      </p:sp>
      <p:sp>
        <p:nvSpPr>
          <p:cNvPr id="43" name="TextBox 42"/>
          <p:cNvSpPr txBox="1"/>
          <p:nvPr/>
        </p:nvSpPr>
        <p:spPr>
          <a:xfrm>
            <a:off x="2840675" y="4494275"/>
            <a:ext cx="4517007" cy="265176"/>
          </a:xfrm>
          <a:prstGeom prst="rect">
            <a:avLst/>
          </a:prstGeom>
          <a:noFill/>
        </p:spPr>
        <p:txBody>
          <a:bodyPr wrap="square" lIns="0" tIns="0" rIns="0" bIns="0" anchor="ctr">
            <a:spAutoFit/>
          </a:bodyPr>
          <a:lstStyle/>
          <a:p>
            <a:pPr algn="l">
              <a:lnSpc>
                <a:spcPct val="112000"/>
              </a:lnSpc>
            </a:pPr>
            <a:r>
              <a:rPr lang="en-US" sz="850" b="0" i="0" dirty="0">
                <a:solidFill>
                  <a:srgbClr val="44495B"/>
                </a:solidFill>
                <a:latin typeface="Segoe UI"/>
                <a:cs typeface="Segoe UI"/>
              </a:rPr>
              <a:t>Yes — the defined schema, with confidence and source</a:t>
            </a:r>
            <a:endParaRPr sz="850" b="0" i="0" dirty="0">
              <a:solidFill>
                <a:srgbClr val="44495B"/>
              </a:solidFill>
              <a:latin typeface="Segoe UI"/>
              <a:cs typeface="Segoe UI"/>
            </a:endParaRPr>
          </a:p>
        </p:txBody>
      </p:sp>
      <p:sp>
        <p:nvSpPr>
          <p:cNvPr id="44" name="TextBox 43"/>
          <p:cNvSpPr txBox="1"/>
          <p:nvPr/>
        </p:nvSpPr>
        <p:spPr>
          <a:xfrm>
            <a:off x="7577139" y="4494275"/>
            <a:ext cx="4065916" cy="26517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 — text and layout only, no custom fields</a:t>
            </a:r>
          </a:p>
        </p:txBody>
      </p:sp>
      <p:sp>
        <p:nvSpPr>
          <p:cNvPr id="45" name="Rectangle 44"/>
          <p:cNvSpPr/>
          <p:nvPr/>
        </p:nvSpPr>
        <p:spPr>
          <a:xfrm>
            <a:off x="457200" y="4791455"/>
            <a:ext cx="11277295" cy="347472"/>
          </a:xfrm>
          <a:prstGeom prst="rect">
            <a:avLst/>
          </a:prstGeom>
          <a:solidFill>
            <a:srgbClr val="F6F8FD"/>
          </a:solidFill>
          <a:ln>
            <a:noFill/>
          </a:ln>
          <a:effectLst/>
        </p:spPr>
        <p:txBody>
          <a:bodyPr wrap="square" rtlCol="0" anchor="ctr"/>
          <a:lstStyle/>
          <a:p>
            <a:endParaRPr/>
          </a:p>
        </p:txBody>
      </p:sp>
      <p:cxnSp>
        <p:nvCxnSpPr>
          <p:cNvPr id="46" name="Connector 45"/>
          <p:cNvCxnSpPr/>
          <p:nvPr/>
        </p:nvCxnSpPr>
        <p:spPr>
          <a:xfrm>
            <a:off x="457200" y="5138927"/>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85216" y="4841747"/>
            <a:ext cx="2036003" cy="265176"/>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Size ceiling</a:t>
            </a:r>
          </a:p>
        </p:txBody>
      </p:sp>
      <p:sp>
        <p:nvSpPr>
          <p:cNvPr id="48" name="TextBox 47"/>
          <p:cNvSpPr txBox="1"/>
          <p:nvPr/>
        </p:nvSpPr>
        <p:spPr>
          <a:xfrm>
            <a:off x="2840675" y="4841747"/>
            <a:ext cx="4517007" cy="26517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200 MB, up to 300 pages</a:t>
            </a:r>
          </a:p>
        </p:txBody>
      </p:sp>
      <p:sp>
        <p:nvSpPr>
          <p:cNvPr id="49" name="TextBox 48"/>
          <p:cNvSpPr txBox="1"/>
          <p:nvPr/>
        </p:nvSpPr>
        <p:spPr>
          <a:xfrm>
            <a:off x="7577139" y="4841747"/>
            <a:ext cx="4065916" cy="26517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10 MB, first 5 pages only</a:t>
            </a:r>
          </a:p>
        </p:txBody>
      </p:sp>
      <p:cxnSp>
        <p:nvCxnSpPr>
          <p:cNvPr id="50" name="Connector 49"/>
          <p:cNvCxnSpPr/>
          <p:nvPr/>
        </p:nvCxnSpPr>
        <p:spPr>
          <a:xfrm>
            <a:off x="457200" y="5486399"/>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85216" y="5189219"/>
            <a:ext cx="2036003" cy="265176"/>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Cost</a:t>
            </a:r>
          </a:p>
        </p:txBody>
      </p:sp>
      <p:sp>
        <p:nvSpPr>
          <p:cNvPr id="52" name="TextBox 51"/>
          <p:cNvSpPr txBox="1"/>
          <p:nvPr/>
        </p:nvSpPr>
        <p:spPr>
          <a:xfrm>
            <a:off x="2840675" y="5189219"/>
            <a:ext cx="4517007" cy="26517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Standard page rate</a:t>
            </a:r>
          </a:p>
        </p:txBody>
      </p:sp>
      <p:sp>
        <p:nvSpPr>
          <p:cNvPr id="53" name="TextBox 52"/>
          <p:cNvSpPr txBox="1"/>
          <p:nvPr/>
        </p:nvSpPr>
        <p:spPr>
          <a:xfrm>
            <a:off x="7577139" y="5189219"/>
            <a:ext cx="4065916" cy="26517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About 50 per cent more per page</a:t>
            </a:r>
          </a:p>
        </p:txBody>
      </p:sp>
      <p:cxnSp>
        <p:nvCxnSpPr>
          <p:cNvPr id="54" name="Connector 53"/>
          <p:cNvCxnSpPr/>
          <p:nvPr/>
        </p:nvCxnSpPr>
        <p:spPr>
          <a:xfrm>
            <a:off x="2712659" y="4096511"/>
            <a:ext cx="0" cy="1389888"/>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449123" y="4096511"/>
            <a:ext cx="0" cy="1389888"/>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7200" y="5559552"/>
            <a:ext cx="7315200" cy="146304"/>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WHAT CHANGED IN 2026</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lang="en-US" sz="2600" b="1" i="0" dirty="0">
                <a:solidFill>
                  <a:srgbClr val="101A3C"/>
                </a:solidFill>
                <a:latin typeface="Segoe UI"/>
                <a:cs typeface="Segoe UI"/>
              </a:rPr>
              <a:t>Changes in 2026 and release status</a:t>
            </a:r>
            <a:endParaRPr sz="2600" b="1" i="0" dirty="0">
              <a:solidFill>
                <a:srgbClr val="101A3C"/>
              </a:solidFill>
              <a:latin typeface="Segoe UI"/>
              <a:cs typeface="Segoe UI"/>
            </a:endParaRP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One set of improvements landed in the generally available API; a second, larger set is preview only</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learn.microsoft.com/azure/ai-services/content-understanding/whats-new · concepts/agentic-mode</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7</a:t>
            </a:r>
          </a:p>
        </p:txBody>
      </p:sp>
      <p:sp>
        <p:nvSpPr>
          <p:cNvPr id="7" name="Rectangle 6"/>
          <p:cNvSpPr/>
          <p:nvPr/>
        </p:nvSpPr>
        <p:spPr>
          <a:xfrm>
            <a:off x="457200" y="1316736"/>
            <a:ext cx="5541264" cy="457200"/>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658368" y="1417320"/>
            <a:ext cx="5120640" cy="256032"/>
          </a:xfrm>
          <a:prstGeom prst="rect">
            <a:avLst/>
          </a:prstGeom>
          <a:noFill/>
        </p:spPr>
        <p:txBody>
          <a:bodyPr wrap="square" lIns="0" tIns="0" rIns="0" bIns="0" anchor="t">
            <a:spAutoFit/>
          </a:bodyPr>
          <a:lstStyle/>
          <a:p>
            <a:pPr algn="l">
              <a:lnSpc>
                <a:spcPct val="100000"/>
              </a:lnSpc>
            </a:pPr>
            <a:r>
              <a:rPr sz="1000" b="1" i="0" dirty="0">
                <a:solidFill>
                  <a:srgbClr val="FFFFFF"/>
                </a:solidFill>
                <a:latin typeface="Segoe UI"/>
                <a:cs typeface="Segoe UI"/>
              </a:rPr>
              <a:t>Generally available  ·  API 2025-11-01  ·  use in production</a:t>
            </a:r>
          </a:p>
        </p:txBody>
      </p:sp>
      <p:sp>
        <p:nvSpPr>
          <p:cNvPr id="9" name="Rectangle 8"/>
          <p:cNvSpPr/>
          <p:nvPr/>
        </p:nvSpPr>
        <p:spPr>
          <a:xfrm>
            <a:off x="457200" y="1865376"/>
            <a:ext cx="5541264" cy="749808"/>
          </a:xfrm>
          <a:prstGeom prst="rect">
            <a:avLst/>
          </a:prstGeom>
          <a:solidFill>
            <a:srgbClr val="F6F8FD"/>
          </a:solidFill>
          <a:ln w="9525">
            <a:solidFill>
              <a:srgbClr val="E1E7F4"/>
            </a:solidFill>
          </a:ln>
          <a:effectLst/>
        </p:spPr>
        <p:txBody>
          <a:bodyPr wrap="square" rtlCol="0" anchor="ctr"/>
          <a:lstStyle/>
          <a:p>
            <a:endParaRPr/>
          </a:p>
        </p:txBody>
      </p:sp>
      <p:sp>
        <p:nvSpPr>
          <p:cNvPr id="10" name="Rectangle 9"/>
          <p:cNvSpPr/>
          <p:nvPr/>
        </p:nvSpPr>
        <p:spPr>
          <a:xfrm>
            <a:off x="457200" y="1865376"/>
            <a:ext cx="41148" cy="749808"/>
          </a:xfrm>
          <a:prstGeom prst="rect">
            <a:avLst/>
          </a:prstGeom>
          <a:solidFill>
            <a:srgbClr val="00B39F"/>
          </a:solidFill>
          <a:ln>
            <a:noFill/>
          </a:ln>
          <a:effectLst/>
        </p:spPr>
        <p:txBody>
          <a:bodyPr wrap="square" rtlCol="0" anchor="ctr"/>
          <a:lstStyle/>
          <a:p>
            <a:endParaRPr/>
          </a:p>
        </p:txBody>
      </p:sp>
      <p:sp>
        <p:nvSpPr>
          <p:cNvPr id="11" name="TextBox 10"/>
          <p:cNvSpPr txBox="1"/>
          <p:nvPr/>
        </p:nvSpPr>
        <p:spPr>
          <a:xfrm>
            <a:off x="658368" y="1975104"/>
            <a:ext cx="512064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GPT-5 series models supported</a:t>
            </a:r>
          </a:p>
        </p:txBody>
      </p:sp>
      <p:sp>
        <p:nvSpPr>
          <p:cNvPr id="12" name="TextBox 11"/>
          <p:cNvSpPr txBox="1"/>
          <p:nvPr/>
        </p:nvSpPr>
        <p:spPr>
          <a:xfrm>
            <a:off x="658368" y="2194560"/>
            <a:ext cx="5120640" cy="365760"/>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Analyzers can use the GPT-5 family, including mini and nano variants. Existing provisioned throughput commitments apply.</a:t>
            </a:r>
          </a:p>
        </p:txBody>
      </p:sp>
      <p:sp>
        <p:nvSpPr>
          <p:cNvPr id="13" name="Rectangle 12"/>
          <p:cNvSpPr/>
          <p:nvPr/>
        </p:nvSpPr>
        <p:spPr>
          <a:xfrm>
            <a:off x="457200" y="2688336"/>
            <a:ext cx="5541264" cy="749808"/>
          </a:xfrm>
          <a:prstGeom prst="rect">
            <a:avLst/>
          </a:prstGeom>
          <a:solidFill>
            <a:srgbClr val="F6F8FD"/>
          </a:solidFill>
          <a:ln w="9525">
            <a:solidFill>
              <a:srgbClr val="E1E7F4"/>
            </a:solidFill>
          </a:ln>
          <a:effectLst/>
        </p:spPr>
        <p:txBody>
          <a:bodyPr wrap="square" rtlCol="0" anchor="ctr"/>
          <a:lstStyle/>
          <a:p>
            <a:endParaRPr/>
          </a:p>
        </p:txBody>
      </p:sp>
      <p:sp>
        <p:nvSpPr>
          <p:cNvPr id="14" name="Rectangle 13"/>
          <p:cNvSpPr/>
          <p:nvPr/>
        </p:nvSpPr>
        <p:spPr>
          <a:xfrm>
            <a:off x="457200" y="2688336"/>
            <a:ext cx="41148" cy="749808"/>
          </a:xfrm>
          <a:prstGeom prst="rect">
            <a:avLst/>
          </a:prstGeom>
          <a:solidFill>
            <a:srgbClr val="00B39F"/>
          </a:solidFill>
          <a:ln>
            <a:noFill/>
          </a:ln>
          <a:effectLst/>
        </p:spPr>
        <p:txBody>
          <a:bodyPr wrap="square" rtlCol="0" anchor="ctr"/>
          <a:lstStyle/>
          <a:p>
            <a:endParaRPr/>
          </a:p>
        </p:txBody>
      </p:sp>
      <p:sp>
        <p:nvSpPr>
          <p:cNvPr id="15" name="TextBox 14"/>
          <p:cNvSpPr txBox="1"/>
          <p:nvPr/>
        </p:nvSpPr>
        <p:spPr>
          <a:xfrm>
            <a:off x="658368" y="2798064"/>
            <a:ext cx="512064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Fewer tokens for the same work</a:t>
            </a:r>
          </a:p>
        </p:txBody>
      </p:sp>
      <p:sp>
        <p:nvSpPr>
          <p:cNvPr id="16" name="TextBox 15"/>
          <p:cNvSpPr txBox="1"/>
          <p:nvPr/>
        </p:nvSpPr>
        <p:spPr>
          <a:xfrm>
            <a:off x="658368" y="3017520"/>
            <a:ext cx="5120640" cy="365760"/>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Merging extraction and grounding cut average inference tokens by up to 28 per cent, with accuracy up to 3 per cent better.</a:t>
            </a:r>
          </a:p>
        </p:txBody>
      </p:sp>
      <p:sp>
        <p:nvSpPr>
          <p:cNvPr id="17" name="Rectangle 16"/>
          <p:cNvSpPr/>
          <p:nvPr/>
        </p:nvSpPr>
        <p:spPr>
          <a:xfrm>
            <a:off x="457200" y="3511296"/>
            <a:ext cx="5541264" cy="749808"/>
          </a:xfrm>
          <a:prstGeom prst="rect">
            <a:avLst/>
          </a:prstGeom>
          <a:solidFill>
            <a:srgbClr val="F6F8FD"/>
          </a:solidFill>
          <a:ln w="9525">
            <a:solidFill>
              <a:srgbClr val="E1E7F4"/>
            </a:solidFill>
          </a:ln>
          <a:effectLst/>
        </p:spPr>
        <p:txBody>
          <a:bodyPr wrap="square" rtlCol="0" anchor="ctr"/>
          <a:lstStyle/>
          <a:p>
            <a:endParaRPr/>
          </a:p>
        </p:txBody>
      </p:sp>
      <p:sp>
        <p:nvSpPr>
          <p:cNvPr id="18" name="Rectangle 17"/>
          <p:cNvSpPr/>
          <p:nvPr/>
        </p:nvSpPr>
        <p:spPr>
          <a:xfrm>
            <a:off x="457200" y="3511296"/>
            <a:ext cx="41148" cy="749808"/>
          </a:xfrm>
          <a:prstGeom prst="rect">
            <a:avLst/>
          </a:prstGeom>
          <a:solidFill>
            <a:srgbClr val="00B39F"/>
          </a:solidFill>
          <a:ln>
            <a:noFill/>
          </a:ln>
          <a:effectLst/>
        </p:spPr>
        <p:txBody>
          <a:bodyPr wrap="square" rtlCol="0" anchor="ctr"/>
          <a:lstStyle/>
          <a:p>
            <a:endParaRPr/>
          </a:p>
        </p:txBody>
      </p:sp>
      <p:sp>
        <p:nvSpPr>
          <p:cNvPr id="19" name="TextBox 18"/>
          <p:cNvSpPr txBox="1"/>
          <p:nvPr/>
        </p:nvSpPr>
        <p:spPr>
          <a:xfrm>
            <a:off x="658368" y="3621024"/>
            <a:ext cx="512064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A better confidence score</a:t>
            </a:r>
          </a:p>
        </p:txBody>
      </p:sp>
      <p:sp>
        <p:nvSpPr>
          <p:cNvPr id="20" name="TextBox 19"/>
          <p:cNvSpPr txBox="1"/>
          <p:nvPr/>
        </p:nvSpPr>
        <p:spPr>
          <a:xfrm>
            <a:off x="658368" y="3840480"/>
            <a:ext cx="5120640" cy="365760"/>
          </a:xfrm>
          <a:prstGeom prst="rect">
            <a:avLst/>
          </a:prstGeom>
          <a:noFill/>
        </p:spPr>
        <p:txBody>
          <a:bodyPr wrap="square" lIns="0" tIns="0" rIns="0" bIns="0" anchor="t">
            <a:spAutoFit/>
          </a:bodyPr>
          <a:lstStyle/>
          <a:p>
            <a:pPr algn="l">
              <a:lnSpc>
                <a:spcPct val="116000"/>
              </a:lnSpc>
            </a:pPr>
            <a:r>
              <a:rPr sz="800" b="0" i="0" dirty="0">
                <a:solidFill>
                  <a:srgbClr val="44495B"/>
                </a:solidFill>
                <a:latin typeface="Segoe UI"/>
                <a:cs typeface="Segoe UI"/>
              </a:rPr>
              <a:t>The refreshed confidence model improved score accuracy by up to 14 per cent, measured by area under the ROC curve.</a:t>
            </a:r>
          </a:p>
        </p:txBody>
      </p:sp>
      <p:sp>
        <p:nvSpPr>
          <p:cNvPr id="21" name="Rectangle 20"/>
          <p:cNvSpPr/>
          <p:nvPr/>
        </p:nvSpPr>
        <p:spPr>
          <a:xfrm>
            <a:off x="457200" y="4370832"/>
            <a:ext cx="5541264" cy="566928"/>
          </a:xfrm>
          <a:prstGeom prst="rect">
            <a:avLst/>
          </a:prstGeom>
          <a:solidFill>
            <a:srgbClr val="EBEFF7"/>
          </a:solidFill>
          <a:ln>
            <a:noFill/>
          </a:ln>
          <a:effectLst/>
        </p:spPr>
        <p:txBody>
          <a:bodyPr wrap="square" rtlCol="0" anchor="ctr"/>
          <a:lstStyle/>
          <a:p>
            <a:endParaRPr/>
          </a:p>
        </p:txBody>
      </p:sp>
      <p:sp>
        <p:nvSpPr>
          <p:cNvPr id="22" name="Rectangle 21"/>
          <p:cNvSpPr/>
          <p:nvPr/>
        </p:nvSpPr>
        <p:spPr>
          <a:xfrm>
            <a:off x="457200" y="4370832"/>
            <a:ext cx="41148" cy="566928"/>
          </a:xfrm>
          <a:prstGeom prst="rect">
            <a:avLst/>
          </a:prstGeom>
          <a:solidFill>
            <a:srgbClr val="00B39F"/>
          </a:solidFill>
          <a:ln>
            <a:noFill/>
          </a:ln>
          <a:effectLst/>
        </p:spPr>
        <p:txBody>
          <a:bodyPr wrap="square" rtlCol="0" anchor="ctr"/>
          <a:lstStyle/>
          <a:p>
            <a:endParaRPr/>
          </a:p>
        </p:txBody>
      </p:sp>
      <p:sp>
        <p:nvSpPr>
          <p:cNvPr id="23" name="TextBox 22"/>
          <p:cNvSpPr txBox="1"/>
          <p:nvPr/>
        </p:nvSpPr>
        <p:spPr>
          <a:xfrm>
            <a:off x="694944" y="4471416"/>
            <a:ext cx="5120640" cy="384048"/>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Caution from the same guidance: confidence quality drops noticeably on the mini and nano variants. Avoid them where the confidence score is load-bearing.</a:t>
            </a:r>
          </a:p>
        </p:txBody>
      </p:sp>
      <p:sp>
        <p:nvSpPr>
          <p:cNvPr id="24" name="Rectangle 23"/>
          <p:cNvSpPr/>
          <p:nvPr/>
        </p:nvSpPr>
        <p:spPr>
          <a:xfrm>
            <a:off x="6345936" y="1316736"/>
            <a:ext cx="5385816" cy="457200"/>
          </a:xfrm>
          <a:prstGeom prst="rect">
            <a:avLst/>
          </a:prstGeom>
          <a:solidFill>
            <a:srgbClr val="2A3355"/>
          </a:solidFill>
          <a:ln>
            <a:noFill/>
          </a:ln>
          <a:effectLst/>
        </p:spPr>
        <p:txBody>
          <a:bodyPr wrap="square" rtlCol="0" anchor="ctr"/>
          <a:lstStyle/>
          <a:p>
            <a:endParaRPr/>
          </a:p>
        </p:txBody>
      </p:sp>
      <p:sp>
        <p:nvSpPr>
          <p:cNvPr id="25" name="TextBox 24"/>
          <p:cNvSpPr txBox="1"/>
          <p:nvPr/>
        </p:nvSpPr>
        <p:spPr>
          <a:xfrm>
            <a:off x="6547104" y="1417320"/>
            <a:ext cx="4937760" cy="256032"/>
          </a:xfrm>
          <a:prstGeom prst="rect">
            <a:avLst/>
          </a:prstGeom>
          <a:noFill/>
        </p:spPr>
        <p:txBody>
          <a:bodyPr wrap="square" lIns="0" tIns="0" rIns="0" bIns="0" anchor="t">
            <a:spAutoFit/>
          </a:bodyPr>
          <a:lstStyle/>
          <a:p>
            <a:pPr algn="l">
              <a:lnSpc>
                <a:spcPct val="100000"/>
              </a:lnSpc>
            </a:pPr>
            <a:r>
              <a:rPr sz="1000" b="1" i="0" dirty="0">
                <a:solidFill>
                  <a:srgbClr val="FFFFFF"/>
                </a:solidFill>
                <a:latin typeface="Segoe UI"/>
                <a:cs typeface="Segoe UI"/>
              </a:rPr>
              <a:t>Preview*  ·  API 2026-06-01-preview  ·  evaluate only</a:t>
            </a:r>
          </a:p>
        </p:txBody>
      </p:sp>
      <p:sp>
        <p:nvSpPr>
          <p:cNvPr id="26" name="Rectangle 25"/>
          <p:cNvSpPr/>
          <p:nvPr/>
        </p:nvSpPr>
        <p:spPr>
          <a:xfrm>
            <a:off x="6345936" y="1865376"/>
            <a:ext cx="5385816" cy="457200"/>
          </a:xfrm>
          <a:prstGeom prst="rect">
            <a:avLst/>
          </a:prstGeom>
          <a:solidFill>
            <a:srgbClr val="FFFFFF"/>
          </a:solidFill>
          <a:ln w="9525">
            <a:solidFill>
              <a:srgbClr val="E1E7F4"/>
            </a:solidFill>
          </a:ln>
          <a:effectLst/>
        </p:spPr>
        <p:txBody>
          <a:bodyPr wrap="square" rtlCol="0" anchor="ctr"/>
          <a:lstStyle/>
          <a:p>
            <a:endParaRPr/>
          </a:p>
        </p:txBody>
      </p:sp>
      <p:sp>
        <p:nvSpPr>
          <p:cNvPr id="27" name="TextBox 26"/>
          <p:cNvSpPr txBox="1"/>
          <p:nvPr/>
        </p:nvSpPr>
        <p:spPr>
          <a:xfrm>
            <a:off x="6547104" y="1911095"/>
            <a:ext cx="498348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Agentic mode</a:t>
            </a:r>
          </a:p>
        </p:txBody>
      </p:sp>
      <p:sp>
        <p:nvSpPr>
          <p:cNvPr id="28" name="TextBox 27"/>
          <p:cNvSpPr txBox="1"/>
          <p:nvPr/>
        </p:nvSpPr>
        <p:spPr>
          <a:xfrm>
            <a:off x="6547104" y="2084832"/>
            <a:ext cx="4983480" cy="219456"/>
          </a:xfrm>
          <a:prstGeom prst="rect">
            <a:avLst/>
          </a:prstGeom>
          <a:noFill/>
        </p:spPr>
        <p:txBody>
          <a:bodyPr wrap="square" lIns="0" tIns="0" rIns="0" bIns="0" anchor="t">
            <a:spAutoFit/>
          </a:bodyPr>
          <a:lstStyle/>
          <a:p>
            <a:pPr algn="l">
              <a:lnSpc>
                <a:spcPct val="110000"/>
              </a:lnSpc>
            </a:pPr>
            <a:r>
              <a:rPr sz="750" b="0" i="0" dirty="0">
                <a:solidFill>
                  <a:srgbClr val="44495B"/>
                </a:solidFill>
                <a:latin typeface="Segoe UI"/>
                <a:cs typeface="Segoe UI"/>
              </a:rPr>
              <a:t>Reasons over a document: multi-step calculation, validation against conditions, reading tables and figures. Replaces the retired pro mode.</a:t>
            </a:r>
          </a:p>
        </p:txBody>
      </p:sp>
      <p:sp>
        <p:nvSpPr>
          <p:cNvPr id="29" name="Rectangle 28"/>
          <p:cNvSpPr/>
          <p:nvPr/>
        </p:nvSpPr>
        <p:spPr>
          <a:xfrm>
            <a:off x="6345936" y="2386584"/>
            <a:ext cx="5385816" cy="457200"/>
          </a:xfrm>
          <a:prstGeom prst="rect">
            <a:avLst/>
          </a:prstGeom>
          <a:solidFill>
            <a:srgbClr val="FFFFFF"/>
          </a:solidFill>
          <a:ln w="9525">
            <a:solidFill>
              <a:srgbClr val="E1E7F4"/>
            </a:solidFill>
          </a:ln>
          <a:effectLst/>
        </p:spPr>
        <p:txBody>
          <a:bodyPr wrap="square" rtlCol="0" anchor="ctr"/>
          <a:lstStyle/>
          <a:p>
            <a:endParaRPr/>
          </a:p>
        </p:txBody>
      </p:sp>
      <p:sp>
        <p:nvSpPr>
          <p:cNvPr id="30" name="TextBox 29"/>
          <p:cNvSpPr txBox="1"/>
          <p:nvPr/>
        </p:nvSpPr>
        <p:spPr>
          <a:xfrm>
            <a:off x="6547104" y="2432303"/>
            <a:ext cx="498348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Synchronous read and layout</a:t>
            </a:r>
          </a:p>
        </p:txBody>
      </p:sp>
      <p:sp>
        <p:nvSpPr>
          <p:cNvPr id="31" name="TextBox 30"/>
          <p:cNvSpPr txBox="1"/>
          <p:nvPr/>
        </p:nvSpPr>
        <p:spPr>
          <a:xfrm>
            <a:off x="6547104" y="2606039"/>
            <a:ext cx="4983480" cy="219456"/>
          </a:xfrm>
          <a:prstGeom prst="rect">
            <a:avLst/>
          </a:prstGeom>
          <a:noFill/>
        </p:spPr>
        <p:txBody>
          <a:bodyPr wrap="square" lIns="0" tIns="0" rIns="0" bIns="0" anchor="t">
            <a:spAutoFit/>
          </a:bodyPr>
          <a:lstStyle/>
          <a:p>
            <a:pPr algn="l">
              <a:lnSpc>
                <a:spcPct val="110000"/>
              </a:lnSpc>
            </a:pPr>
            <a:r>
              <a:rPr sz="750" b="0" i="0" dirty="0">
                <a:solidFill>
                  <a:srgbClr val="44495B"/>
                </a:solidFill>
                <a:latin typeface="Segoe UI"/>
                <a:cs typeface="Segoe UI"/>
              </a:rPr>
              <a:t>Processed in memory, answer in the response, no polling.</a:t>
            </a:r>
          </a:p>
        </p:txBody>
      </p:sp>
      <p:sp>
        <p:nvSpPr>
          <p:cNvPr id="32" name="Rectangle 31"/>
          <p:cNvSpPr/>
          <p:nvPr/>
        </p:nvSpPr>
        <p:spPr>
          <a:xfrm>
            <a:off x="6345936" y="2907791"/>
            <a:ext cx="5385816" cy="457200"/>
          </a:xfrm>
          <a:prstGeom prst="rect">
            <a:avLst/>
          </a:prstGeom>
          <a:solidFill>
            <a:srgbClr val="FFFFFF"/>
          </a:solidFill>
          <a:ln w="9525">
            <a:solidFill>
              <a:srgbClr val="E1E7F4"/>
            </a:solidFill>
          </a:ln>
          <a:effectLst/>
        </p:spPr>
        <p:txBody>
          <a:bodyPr wrap="square" rtlCol="0" anchor="ctr"/>
          <a:lstStyle/>
          <a:p>
            <a:endParaRPr/>
          </a:p>
        </p:txBody>
      </p:sp>
      <p:sp>
        <p:nvSpPr>
          <p:cNvPr id="33" name="TextBox 32"/>
          <p:cNvSpPr txBox="1"/>
          <p:nvPr/>
        </p:nvSpPr>
        <p:spPr>
          <a:xfrm>
            <a:off x="6547104" y="2953511"/>
            <a:ext cx="498348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Advanced contextualization</a:t>
            </a:r>
          </a:p>
        </p:txBody>
      </p:sp>
      <p:sp>
        <p:nvSpPr>
          <p:cNvPr id="34" name="TextBox 33"/>
          <p:cNvSpPr txBox="1"/>
          <p:nvPr/>
        </p:nvSpPr>
        <p:spPr>
          <a:xfrm>
            <a:off x="6547104" y="3127248"/>
            <a:ext cx="4983480" cy="219456"/>
          </a:xfrm>
          <a:prstGeom prst="rect">
            <a:avLst/>
          </a:prstGeom>
          <a:noFill/>
        </p:spPr>
        <p:txBody>
          <a:bodyPr wrap="square" lIns="0" tIns="0" rIns="0" bIns="0" anchor="t">
            <a:spAutoFit/>
          </a:bodyPr>
          <a:lstStyle/>
          <a:p>
            <a:pPr algn="l">
              <a:lnSpc>
                <a:spcPct val="110000"/>
              </a:lnSpc>
            </a:pPr>
            <a:r>
              <a:rPr sz="750" b="0" i="0" dirty="0">
                <a:solidFill>
                  <a:srgbClr val="44495B"/>
                </a:solidFill>
                <a:latin typeface="Segoe UI"/>
                <a:cs typeface="Segoe UI"/>
              </a:rPr>
              <a:t>Up to 3.5 per cent better accuracy for up to 22 per cent fewer tokens. Billed at a higher rate.</a:t>
            </a:r>
          </a:p>
        </p:txBody>
      </p:sp>
      <p:sp>
        <p:nvSpPr>
          <p:cNvPr id="35" name="Rectangle 34"/>
          <p:cNvSpPr/>
          <p:nvPr/>
        </p:nvSpPr>
        <p:spPr>
          <a:xfrm>
            <a:off x="6345936" y="3428999"/>
            <a:ext cx="5385816" cy="457200"/>
          </a:xfrm>
          <a:prstGeom prst="rect">
            <a:avLst/>
          </a:prstGeom>
          <a:solidFill>
            <a:srgbClr val="FFFFFF"/>
          </a:solidFill>
          <a:ln w="9525">
            <a:solidFill>
              <a:srgbClr val="E1E7F4"/>
            </a:solidFill>
          </a:ln>
          <a:effectLst/>
        </p:spPr>
        <p:txBody>
          <a:bodyPr wrap="square" rtlCol="0" anchor="ctr"/>
          <a:lstStyle/>
          <a:p>
            <a:endParaRPr/>
          </a:p>
        </p:txBody>
      </p:sp>
      <p:sp>
        <p:nvSpPr>
          <p:cNvPr id="36" name="TextBox 35"/>
          <p:cNvSpPr txBox="1"/>
          <p:nvPr/>
        </p:nvSpPr>
        <p:spPr>
          <a:xfrm>
            <a:off x="6547104" y="3474719"/>
            <a:ext cx="498348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Private training by distillation</a:t>
            </a:r>
          </a:p>
        </p:txBody>
      </p:sp>
      <p:sp>
        <p:nvSpPr>
          <p:cNvPr id="37" name="TextBox 36"/>
          <p:cNvSpPr txBox="1"/>
          <p:nvPr/>
        </p:nvSpPr>
        <p:spPr>
          <a:xfrm>
            <a:off x="6547104" y="3648455"/>
            <a:ext cx="4983480" cy="219456"/>
          </a:xfrm>
          <a:prstGeom prst="rect">
            <a:avLst/>
          </a:prstGeom>
          <a:noFill/>
        </p:spPr>
        <p:txBody>
          <a:bodyPr wrap="square" lIns="0" tIns="0" rIns="0" bIns="0" anchor="t">
            <a:spAutoFit/>
          </a:bodyPr>
          <a:lstStyle/>
          <a:p>
            <a:pPr algn="l">
              <a:lnSpc>
                <a:spcPct val="110000"/>
              </a:lnSpc>
            </a:pPr>
            <a:r>
              <a:rPr sz="750" b="0" i="0" dirty="0">
                <a:solidFill>
                  <a:srgbClr val="44495B"/>
                </a:solidFill>
                <a:latin typeface="Segoe UI"/>
                <a:cs typeface="Segoe UI"/>
              </a:rPr>
              <a:t>Labelled patterns are distilled into the analyzer, which then neither keeps nor needs the labelled documents.</a:t>
            </a:r>
          </a:p>
        </p:txBody>
      </p:sp>
      <p:sp>
        <p:nvSpPr>
          <p:cNvPr id="38" name="Rectangle 37"/>
          <p:cNvSpPr/>
          <p:nvPr/>
        </p:nvSpPr>
        <p:spPr>
          <a:xfrm>
            <a:off x="6345936" y="3950207"/>
            <a:ext cx="5385816" cy="457200"/>
          </a:xfrm>
          <a:prstGeom prst="rect">
            <a:avLst/>
          </a:prstGeom>
          <a:solidFill>
            <a:srgbClr val="FFFFFF"/>
          </a:solidFill>
          <a:ln w="9525">
            <a:solidFill>
              <a:srgbClr val="E1E7F4"/>
            </a:solidFill>
          </a:ln>
          <a:effectLst/>
        </p:spPr>
        <p:txBody>
          <a:bodyPr wrap="square" rtlCol="0" anchor="ctr"/>
          <a:lstStyle/>
          <a:p>
            <a:endParaRPr/>
          </a:p>
        </p:txBody>
      </p:sp>
      <p:sp>
        <p:nvSpPr>
          <p:cNvPr id="39" name="TextBox 38"/>
          <p:cNvSpPr txBox="1"/>
          <p:nvPr/>
        </p:nvSpPr>
        <p:spPr>
          <a:xfrm>
            <a:off x="6547104" y="3995927"/>
            <a:ext cx="498348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Classification enhancements</a:t>
            </a:r>
          </a:p>
        </p:txBody>
      </p:sp>
      <p:sp>
        <p:nvSpPr>
          <p:cNvPr id="40" name="TextBox 39"/>
          <p:cNvSpPr txBox="1"/>
          <p:nvPr/>
        </p:nvSpPr>
        <p:spPr>
          <a:xfrm>
            <a:off x="6547104" y="4169663"/>
            <a:ext cx="4983480" cy="219456"/>
          </a:xfrm>
          <a:prstGeom prst="rect">
            <a:avLst/>
          </a:prstGeom>
          <a:noFill/>
        </p:spPr>
        <p:txBody>
          <a:bodyPr wrap="square" lIns="0" tIns="0" rIns="0" bIns="0" anchor="t">
            <a:spAutoFit/>
          </a:bodyPr>
          <a:lstStyle/>
          <a:p>
            <a:pPr algn="l">
              <a:lnSpc>
                <a:spcPct val="110000"/>
              </a:lnSpc>
            </a:pPr>
            <a:r>
              <a:rPr sz="750" b="0" i="0" dirty="0">
                <a:solidFill>
                  <a:srgbClr val="44495B"/>
                </a:solidFill>
                <a:latin typeface="Segoe UI"/>
                <a:cs typeface="Segoe UI"/>
              </a:rPr>
              <a:t>Layout-aware features for classifying, and splitting a single page into separately classified segments.</a:t>
            </a:r>
          </a:p>
        </p:txBody>
      </p:sp>
      <p:sp>
        <p:nvSpPr>
          <p:cNvPr id="41" name="Rectangle 40"/>
          <p:cNvSpPr/>
          <p:nvPr/>
        </p:nvSpPr>
        <p:spPr>
          <a:xfrm>
            <a:off x="6345936" y="4471416"/>
            <a:ext cx="5385816" cy="457200"/>
          </a:xfrm>
          <a:prstGeom prst="rect">
            <a:avLst/>
          </a:prstGeom>
          <a:solidFill>
            <a:srgbClr val="FFFFFF"/>
          </a:solidFill>
          <a:ln w="9525">
            <a:solidFill>
              <a:srgbClr val="E1E7F4"/>
            </a:solidFill>
          </a:ln>
          <a:effectLst/>
        </p:spPr>
        <p:txBody>
          <a:bodyPr wrap="square" rtlCol="0" anchor="ctr"/>
          <a:lstStyle/>
          <a:p>
            <a:endParaRPr/>
          </a:p>
        </p:txBody>
      </p:sp>
      <p:sp>
        <p:nvSpPr>
          <p:cNvPr id="42" name="TextBox 41"/>
          <p:cNvSpPr txBox="1"/>
          <p:nvPr/>
        </p:nvSpPr>
        <p:spPr>
          <a:xfrm>
            <a:off x="6547104" y="4517136"/>
            <a:ext cx="4983480" cy="164592"/>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Signatures, metadata, new tax forms</a:t>
            </a:r>
          </a:p>
        </p:txBody>
      </p:sp>
      <p:sp>
        <p:nvSpPr>
          <p:cNvPr id="43" name="TextBox 42"/>
          <p:cNvSpPr txBox="1"/>
          <p:nvPr/>
        </p:nvSpPr>
        <p:spPr>
          <a:xfrm>
            <a:off x="6547104" y="4690872"/>
            <a:ext cx="4983480" cy="219456"/>
          </a:xfrm>
          <a:prstGeom prst="rect">
            <a:avLst/>
          </a:prstGeom>
          <a:noFill/>
        </p:spPr>
        <p:txBody>
          <a:bodyPr wrap="square" lIns="0" tIns="0" rIns="0" bIns="0" anchor="t">
            <a:spAutoFit/>
          </a:bodyPr>
          <a:lstStyle/>
          <a:p>
            <a:pPr algn="l">
              <a:lnSpc>
                <a:spcPct val="110000"/>
              </a:lnSpc>
            </a:pPr>
            <a:r>
              <a:rPr sz="750" b="0" i="0" dirty="0">
                <a:solidFill>
                  <a:srgbClr val="44495B"/>
                </a:solidFill>
                <a:latin typeface="Segoe UI"/>
                <a:cs typeface="Segoe UI"/>
              </a:rPr>
              <a:t>Signature detection, document metadata, and Schedule K-1 and Minnesota M1 prebuilt analyzers.</a:t>
            </a:r>
          </a:p>
        </p:txBody>
      </p:sp>
      <p:sp>
        <p:nvSpPr>
          <p:cNvPr id="44" name="Rectangle 43"/>
          <p:cNvSpPr/>
          <p:nvPr/>
        </p:nvSpPr>
        <p:spPr>
          <a:xfrm>
            <a:off x="457200" y="5102352"/>
            <a:ext cx="11277295" cy="493776"/>
          </a:xfrm>
          <a:prstGeom prst="rect">
            <a:avLst/>
          </a:prstGeom>
          <a:solidFill>
            <a:srgbClr val="EBEFF7"/>
          </a:solidFill>
          <a:ln>
            <a:noFill/>
          </a:ln>
          <a:effectLst/>
        </p:spPr>
        <p:txBody>
          <a:bodyPr wrap="square" rtlCol="0" anchor="ctr"/>
          <a:lstStyle/>
          <a:p>
            <a:endParaRPr/>
          </a:p>
        </p:txBody>
      </p:sp>
      <p:sp>
        <p:nvSpPr>
          <p:cNvPr id="45" name="Rectangle 44"/>
          <p:cNvSpPr/>
          <p:nvPr/>
        </p:nvSpPr>
        <p:spPr>
          <a:xfrm>
            <a:off x="457200" y="5102352"/>
            <a:ext cx="41148" cy="493776"/>
          </a:xfrm>
          <a:prstGeom prst="rect">
            <a:avLst/>
          </a:prstGeom>
          <a:solidFill>
            <a:srgbClr val="00B39F"/>
          </a:solidFill>
          <a:ln>
            <a:noFill/>
          </a:ln>
          <a:effectLst/>
        </p:spPr>
        <p:txBody>
          <a:bodyPr wrap="square" rtlCol="0" anchor="ctr"/>
          <a:lstStyle/>
          <a:p>
            <a:endParaRPr/>
          </a:p>
        </p:txBody>
      </p:sp>
      <p:sp>
        <p:nvSpPr>
          <p:cNvPr id="46" name="TextBox 45"/>
          <p:cNvSpPr txBox="1"/>
          <p:nvPr/>
        </p:nvSpPr>
        <p:spPr>
          <a:xfrm>
            <a:off x="694944" y="5202936"/>
            <a:ext cx="10856671" cy="310896"/>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Two things to check before planning on agentic mode: it is not a drop-in replacement for pro mode — it takes one file per request and does not support extracted fields — and it needs roughly 400,000 tokens per minute of model capacity per job.</a:t>
            </a:r>
          </a:p>
        </p:txBody>
      </p:sp>
      <p:sp>
        <p:nvSpPr>
          <p:cNvPr id="47" name="TextBox 46"/>
          <p:cNvSpPr txBox="1"/>
          <p:nvPr/>
        </p:nvSpPr>
        <p:spPr>
          <a:xfrm>
            <a:off x="457200" y="5614416"/>
            <a:ext cx="7315200" cy="146304"/>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WHAT CHANGED IN 2026</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Agentic mode*, in detail</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For answers that have to be built from evidence across a document, rather than read from one place on it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learn.microsoft.com/azure/ai-services/content-understanding/concepts/agentic-mode</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8</a:t>
            </a:r>
          </a:p>
        </p:txBody>
      </p:sp>
      <p:sp>
        <p:nvSpPr>
          <p:cNvPr id="7" name="Rectangle 6"/>
          <p:cNvSpPr/>
          <p:nvPr/>
        </p:nvSpPr>
        <p:spPr>
          <a:xfrm>
            <a:off x="457200" y="1316736"/>
            <a:ext cx="11277295" cy="475488"/>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713232" y="1426464"/>
            <a:ext cx="10765231" cy="274320"/>
          </a:xfrm>
          <a:prstGeom prst="rect">
            <a:avLst/>
          </a:prstGeom>
          <a:noFill/>
        </p:spPr>
        <p:txBody>
          <a:bodyPr wrap="square" lIns="0" tIns="0" rIns="0" bIns="0" anchor="t">
            <a:spAutoFit/>
          </a:bodyPr>
          <a:lstStyle/>
          <a:p>
            <a:pPr algn="l">
              <a:lnSpc>
                <a:spcPct val="120000"/>
              </a:lnSpc>
            </a:pPr>
            <a:r>
              <a:rPr sz="1000" b="0" i="0" dirty="0">
                <a:solidFill>
                  <a:srgbClr val="FFFFFF"/>
                </a:solidFill>
                <a:latin typeface="Segoe UI"/>
                <a:cs typeface="Segoe UI"/>
              </a:rPr>
              <a:t>The problem it solves: standard extraction finds a value that is written somewhere. Some answers are not written anywhere — they have to be worked out from several parts of the document.</a:t>
            </a:r>
          </a:p>
        </p:txBody>
      </p:sp>
      <p:sp>
        <p:nvSpPr>
          <p:cNvPr id="9" name="TextBox 8"/>
          <p:cNvSpPr txBox="1"/>
          <p:nvPr/>
        </p:nvSpPr>
        <p:spPr>
          <a:xfrm>
            <a:off x="457200" y="1938528"/>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HOW A REQUEST IS HANDLED</a:t>
            </a:r>
          </a:p>
        </p:txBody>
      </p:sp>
      <p:sp>
        <p:nvSpPr>
          <p:cNvPr id="10" name="Rectangle 9"/>
          <p:cNvSpPr/>
          <p:nvPr/>
        </p:nvSpPr>
        <p:spPr>
          <a:xfrm>
            <a:off x="457200" y="2194560"/>
            <a:ext cx="2121408" cy="859536"/>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20000"/>
              </a:lnSpc>
            </a:pPr>
            <a:r>
              <a:rPr sz="1000" b="1" i="0" dirty="0">
                <a:solidFill>
                  <a:srgbClr val="101A3C"/>
                </a:solidFill>
                <a:latin typeface="Segoe UI"/>
                <a:cs typeface="Segoe UI"/>
              </a:rPr>
              <a:t>One input file</a:t>
            </a:r>
          </a:p>
          <a:p>
            <a:pPr algn="ctr">
              <a:lnSpc>
                <a:spcPct val="120000"/>
              </a:lnSpc>
            </a:pPr>
            <a:r>
              <a:rPr sz="750" b="0" i="0" dirty="0">
                <a:solidFill>
                  <a:srgbClr val="44495B"/>
                </a:solidFill>
                <a:latin typeface="Segoe UI"/>
                <a:cs typeface="Segoe UI"/>
              </a:rPr>
              <a:t>which may hold several</a:t>
            </a:r>
          </a:p>
          <a:p>
            <a:pPr algn="ctr">
              <a:lnSpc>
                <a:spcPct val="120000"/>
              </a:lnSpc>
            </a:pPr>
            <a:r>
              <a:rPr sz="750" b="0" i="0" dirty="0">
                <a:solidFill>
                  <a:srgbClr val="44495B"/>
                </a:solidFill>
                <a:latin typeface="Segoe UI"/>
                <a:cs typeface="Segoe UI"/>
              </a:rPr>
              <a:t>related documents — a contract,</a:t>
            </a:r>
          </a:p>
          <a:p>
            <a:pPr algn="ctr">
              <a:lnSpc>
                <a:spcPct val="120000"/>
              </a:lnSpc>
            </a:pPr>
            <a:r>
              <a:rPr sz="750" b="0" i="0" dirty="0">
                <a:solidFill>
                  <a:srgbClr val="44495B"/>
                </a:solidFill>
                <a:latin typeface="Segoe UI"/>
                <a:cs typeface="Segoe UI"/>
              </a:rPr>
              <a:t>its appendix, the rules</a:t>
            </a:r>
          </a:p>
        </p:txBody>
      </p:sp>
      <p:cxnSp>
        <p:nvCxnSpPr>
          <p:cNvPr id="11" name="Connector 10"/>
          <p:cNvCxnSpPr/>
          <p:nvPr/>
        </p:nvCxnSpPr>
        <p:spPr>
          <a:xfrm>
            <a:off x="2578608" y="2624328"/>
            <a:ext cx="402336"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2674620" y="2519172"/>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13" name="Rectangle 12"/>
          <p:cNvSpPr/>
          <p:nvPr/>
        </p:nvSpPr>
        <p:spPr>
          <a:xfrm>
            <a:off x="2980944" y="2048256"/>
            <a:ext cx="5760720" cy="1152144"/>
          </a:xfrm>
          <a:prstGeom prst="rect">
            <a:avLst/>
          </a:prstGeom>
          <a:noFill/>
          <a:ln w="9525">
            <a:solidFill>
              <a:srgbClr val="44495B"/>
            </a:solidFill>
            <a:prstDash val="dash"/>
          </a:ln>
          <a:effectLst/>
        </p:spPr>
        <p:txBody>
          <a:bodyPr wrap="square" rtlCol="0" anchor="ctr"/>
          <a:lstStyle/>
          <a:p>
            <a:endParaRPr/>
          </a:p>
        </p:txBody>
      </p:sp>
      <p:sp>
        <p:nvSpPr>
          <p:cNvPr id="14" name="TextBox 13"/>
          <p:cNvSpPr txBox="1"/>
          <p:nvPr/>
        </p:nvSpPr>
        <p:spPr>
          <a:xfrm>
            <a:off x="3108960" y="2103120"/>
            <a:ext cx="3657600" cy="164592"/>
          </a:xfrm>
          <a:prstGeom prst="rect">
            <a:avLst/>
          </a:prstGeom>
          <a:noFill/>
        </p:spPr>
        <p:txBody>
          <a:bodyPr wrap="square" lIns="0" tIns="0" rIns="0" bIns="0" anchor="t">
            <a:spAutoFit/>
          </a:bodyPr>
          <a:lstStyle/>
          <a:p>
            <a:pPr algn="l">
              <a:lnSpc>
                <a:spcPct val="100000"/>
              </a:lnSpc>
            </a:pPr>
            <a:r>
              <a:rPr sz="750" b="1" i="0" dirty="0">
                <a:solidFill>
                  <a:srgbClr val="44495B"/>
                </a:solidFill>
                <a:latin typeface="Segoe UI"/>
                <a:cs typeface="Segoe UI"/>
              </a:rPr>
              <a:t>A G E N T I C   R E A S O N I N G</a:t>
            </a:r>
          </a:p>
        </p:txBody>
      </p:sp>
      <p:sp>
        <p:nvSpPr>
          <p:cNvPr id="15" name="Rectangle 14"/>
          <p:cNvSpPr/>
          <p:nvPr/>
        </p:nvSpPr>
        <p:spPr>
          <a:xfrm>
            <a:off x="3090672" y="2322576"/>
            <a:ext cx="1335024" cy="804672"/>
          </a:xfrm>
          <a:prstGeom prst="rect">
            <a:avLst/>
          </a:prstGeom>
          <a:solidFill>
            <a:srgbClr val="FFFFFF"/>
          </a:solidFill>
          <a:ln w="9525">
            <a:solidFill>
              <a:srgbClr val="E1E7F4"/>
            </a:solidFill>
          </a:ln>
          <a:effectLst/>
        </p:spPr>
        <p:txBody>
          <a:bodyPr wrap="square" rtlCol="0" anchor="ctr"/>
          <a:lstStyle/>
          <a:p>
            <a:endParaRPr/>
          </a:p>
        </p:txBody>
      </p:sp>
      <p:sp>
        <p:nvSpPr>
          <p:cNvPr id="16" name="Rectangle 15"/>
          <p:cNvSpPr/>
          <p:nvPr/>
        </p:nvSpPr>
        <p:spPr>
          <a:xfrm>
            <a:off x="3090672" y="2322576"/>
            <a:ext cx="1335024" cy="41148"/>
          </a:xfrm>
          <a:prstGeom prst="rect">
            <a:avLst/>
          </a:prstGeom>
          <a:solidFill>
            <a:srgbClr val="00B39F"/>
          </a:solidFill>
          <a:ln>
            <a:noFill/>
          </a:ln>
          <a:effectLst/>
        </p:spPr>
        <p:txBody>
          <a:bodyPr wrap="square" rtlCol="0" anchor="ctr"/>
          <a:lstStyle/>
          <a:p>
            <a:endParaRPr/>
          </a:p>
        </p:txBody>
      </p:sp>
      <p:sp>
        <p:nvSpPr>
          <p:cNvPr id="17" name="TextBox 16"/>
          <p:cNvSpPr txBox="1"/>
          <p:nvPr/>
        </p:nvSpPr>
        <p:spPr>
          <a:xfrm>
            <a:off x="3191256" y="2432304"/>
            <a:ext cx="1152144"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Reads across</a:t>
            </a:r>
          </a:p>
        </p:txBody>
      </p:sp>
      <p:sp>
        <p:nvSpPr>
          <p:cNvPr id="18" name="TextBox 17"/>
          <p:cNvSpPr txBox="1"/>
          <p:nvPr/>
        </p:nvSpPr>
        <p:spPr>
          <a:xfrm>
            <a:off x="3191256" y="2633472"/>
            <a:ext cx="1152144" cy="402336"/>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connects related facts</a:t>
            </a:r>
          </a:p>
          <a:p>
            <a:pPr algn="l">
              <a:lnSpc>
                <a:spcPct val="112000"/>
              </a:lnSpc>
            </a:pPr>
            <a:r>
              <a:rPr sz="750" b="0" i="0" dirty="0">
                <a:solidFill>
                  <a:srgbClr val="44495B"/>
                </a:solidFill>
                <a:latin typeface="Segoe UI"/>
                <a:cs typeface="Segoe UI"/>
              </a:rPr>
              <a:t>in different places</a:t>
            </a:r>
          </a:p>
        </p:txBody>
      </p:sp>
      <p:sp>
        <p:nvSpPr>
          <p:cNvPr id="19" name="Rectangle 18"/>
          <p:cNvSpPr/>
          <p:nvPr/>
        </p:nvSpPr>
        <p:spPr>
          <a:xfrm>
            <a:off x="4489704" y="2322576"/>
            <a:ext cx="1335024" cy="804672"/>
          </a:xfrm>
          <a:prstGeom prst="rect">
            <a:avLst/>
          </a:prstGeom>
          <a:solidFill>
            <a:srgbClr val="FFFFFF"/>
          </a:solidFill>
          <a:ln w="9525">
            <a:solidFill>
              <a:srgbClr val="E1E7F4"/>
            </a:solidFill>
          </a:ln>
          <a:effectLst/>
        </p:spPr>
        <p:txBody>
          <a:bodyPr wrap="square" rtlCol="0" anchor="ctr"/>
          <a:lstStyle/>
          <a:p>
            <a:endParaRPr/>
          </a:p>
        </p:txBody>
      </p:sp>
      <p:sp>
        <p:nvSpPr>
          <p:cNvPr id="20" name="Rectangle 19"/>
          <p:cNvSpPr/>
          <p:nvPr/>
        </p:nvSpPr>
        <p:spPr>
          <a:xfrm>
            <a:off x="4489704" y="2322576"/>
            <a:ext cx="1335024" cy="41148"/>
          </a:xfrm>
          <a:prstGeom prst="rect">
            <a:avLst/>
          </a:prstGeom>
          <a:solidFill>
            <a:srgbClr val="00B39F"/>
          </a:solidFill>
          <a:ln>
            <a:noFill/>
          </a:ln>
          <a:effectLst/>
        </p:spPr>
        <p:txBody>
          <a:bodyPr wrap="square" rtlCol="0" anchor="ctr"/>
          <a:lstStyle/>
          <a:p>
            <a:endParaRPr/>
          </a:p>
        </p:txBody>
      </p:sp>
      <p:sp>
        <p:nvSpPr>
          <p:cNvPr id="21" name="TextBox 20"/>
          <p:cNvSpPr txBox="1"/>
          <p:nvPr/>
        </p:nvSpPr>
        <p:spPr>
          <a:xfrm>
            <a:off x="4590288" y="2432304"/>
            <a:ext cx="1152144"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Calculates</a:t>
            </a:r>
          </a:p>
        </p:txBody>
      </p:sp>
      <p:sp>
        <p:nvSpPr>
          <p:cNvPr id="22" name="TextBox 21"/>
          <p:cNvSpPr txBox="1"/>
          <p:nvPr/>
        </p:nvSpPr>
        <p:spPr>
          <a:xfrm>
            <a:off x="4590288" y="2633472"/>
            <a:ext cx="1152144" cy="402336"/>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derives totals and</a:t>
            </a:r>
          </a:p>
          <a:p>
            <a:pPr algn="l">
              <a:lnSpc>
                <a:spcPct val="112000"/>
              </a:lnSpc>
            </a:pPr>
            <a:r>
              <a:rPr sz="750" b="0" i="0" dirty="0">
                <a:solidFill>
                  <a:srgbClr val="44495B"/>
                </a:solidFill>
                <a:latin typeface="Segoe UI"/>
                <a:cs typeface="Segoe UI"/>
              </a:rPr>
              <a:t>reconciliations</a:t>
            </a:r>
          </a:p>
        </p:txBody>
      </p:sp>
      <p:sp>
        <p:nvSpPr>
          <p:cNvPr id="23" name="Rectangle 22"/>
          <p:cNvSpPr/>
          <p:nvPr/>
        </p:nvSpPr>
        <p:spPr>
          <a:xfrm>
            <a:off x="5888736" y="2322576"/>
            <a:ext cx="1335024" cy="804672"/>
          </a:xfrm>
          <a:prstGeom prst="rect">
            <a:avLst/>
          </a:prstGeom>
          <a:solidFill>
            <a:srgbClr val="FFFFFF"/>
          </a:solidFill>
          <a:ln w="9525">
            <a:solidFill>
              <a:srgbClr val="E1E7F4"/>
            </a:solidFill>
          </a:ln>
          <a:effectLst/>
        </p:spPr>
        <p:txBody>
          <a:bodyPr wrap="square" rtlCol="0" anchor="ctr"/>
          <a:lstStyle/>
          <a:p>
            <a:endParaRPr/>
          </a:p>
        </p:txBody>
      </p:sp>
      <p:sp>
        <p:nvSpPr>
          <p:cNvPr id="24" name="Rectangle 23"/>
          <p:cNvSpPr/>
          <p:nvPr/>
        </p:nvSpPr>
        <p:spPr>
          <a:xfrm>
            <a:off x="5888736" y="2322576"/>
            <a:ext cx="1335024" cy="41148"/>
          </a:xfrm>
          <a:prstGeom prst="rect">
            <a:avLst/>
          </a:prstGeom>
          <a:solidFill>
            <a:srgbClr val="00B39F"/>
          </a:solidFill>
          <a:ln>
            <a:noFill/>
          </a:ln>
          <a:effectLst/>
        </p:spPr>
        <p:txBody>
          <a:bodyPr wrap="square" rtlCol="0" anchor="ctr"/>
          <a:lstStyle/>
          <a:p>
            <a:endParaRPr/>
          </a:p>
        </p:txBody>
      </p:sp>
      <p:sp>
        <p:nvSpPr>
          <p:cNvPr id="25" name="TextBox 24"/>
          <p:cNvSpPr txBox="1"/>
          <p:nvPr/>
        </p:nvSpPr>
        <p:spPr>
          <a:xfrm>
            <a:off x="5989320" y="2432304"/>
            <a:ext cx="1152144"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Validates</a:t>
            </a:r>
          </a:p>
        </p:txBody>
      </p:sp>
      <p:sp>
        <p:nvSpPr>
          <p:cNvPr id="26" name="TextBox 25"/>
          <p:cNvSpPr txBox="1"/>
          <p:nvPr/>
        </p:nvSpPr>
        <p:spPr>
          <a:xfrm>
            <a:off x="5989320" y="2633472"/>
            <a:ext cx="1152144" cy="402336"/>
          </a:xfrm>
          <a:prstGeom prst="rect">
            <a:avLst/>
          </a:prstGeom>
          <a:noFill/>
        </p:spPr>
        <p:txBody>
          <a:bodyPr wrap="square" lIns="0" tIns="0" rIns="0" bIns="0" anchor="t">
            <a:spAutoFit/>
          </a:bodyPr>
          <a:lstStyle/>
          <a:p>
            <a:pPr algn="l">
              <a:lnSpc>
                <a:spcPct val="112000"/>
              </a:lnSpc>
            </a:pPr>
            <a:r>
              <a:rPr lang="en-US" sz="750" b="0" i="0" dirty="0">
                <a:solidFill>
                  <a:srgbClr val="44495B"/>
                </a:solidFill>
                <a:latin typeface="Segoe UI"/>
                <a:cs typeface="Segoe UI"/>
              </a:rPr>
              <a:t>checks values against
defined conditions</a:t>
            </a:r>
            <a:endParaRPr sz="750" b="0" i="0" dirty="0">
              <a:solidFill>
                <a:srgbClr val="44495B"/>
              </a:solidFill>
              <a:latin typeface="Segoe UI"/>
              <a:cs typeface="Segoe UI"/>
            </a:endParaRPr>
          </a:p>
        </p:txBody>
      </p:sp>
      <p:sp>
        <p:nvSpPr>
          <p:cNvPr id="27" name="Rectangle 26"/>
          <p:cNvSpPr/>
          <p:nvPr/>
        </p:nvSpPr>
        <p:spPr>
          <a:xfrm>
            <a:off x="7287768" y="2322576"/>
            <a:ext cx="1335024" cy="804672"/>
          </a:xfrm>
          <a:prstGeom prst="rect">
            <a:avLst/>
          </a:prstGeom>
          <a:solidFill>
            <a:srgbClr val="FFFFFF"/>
          </a:solidFill>
          <a:ln w="9525">
            <a:solidFill>
              <a:srgbClr val="E1E7F4"/>
            </a:solidFill>
          </a:ln>
          <a:effectLst/>
        </p:spPr>
        <p:txBody>
          <a:bodyPr wrap="square" rtlCol="0" anchor="ctr"/>
          <a:lstStyle/>
          <a:p>
            <a:endParaRPr/>
          </a:p>
        </p:txBody>
      </p:sp>
      <p:sp>
        <p:nvSpPr>
          <p:cNvPr id="28" name="Rectangle 27"/>
          <p:cNvSpPr/>
          <p:nvPr/>
        </p:nvSpPr>
        <p:spPr>
          <a:xfrm>
            <a:off x="7287768" y="2322576"/>
            <a:ext cx="1335024" cy="41148"/>
          </a:xfrm>
          <a:prstGeom prst="rect">
            <a:avLst/>
          </a:prstGeom>
          <a:solidFill>
            <a:srgbClr val="00B39F"/>
          </a:solidFill>
          <a:ln>
            <a:noFill/>
          </a:ln>
          <a:effectLst/>
        </p:spPr>
        <p:txBody>
          <a:bodyPr wrap="square" rtlCol="0" anchor="ctr"/>
          <a:lstStyle/>
          <a:p>
            <a:endParaRPr/>
          </a:p>
        </p:txBody>
      </p:sp>
      <p:sp>
        <p:nvSpPr>
          <p:cNvPr id="29" name="TextBox 28"/>
          <p:cNvSpPr txBox="1"/>
          <p:nvPr/>
        </p:nvSpPr>
        <p:spPr>
          <a:xfrm>
            <a:off x="7388352" y="2432304"/>
            <a:ext cx="1152144"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Reads visuals</a:t>
            </a:r>
          </a:p>
        </p:txBody>
      </p:sp>
      <p:sp>
        <p:nvSpPr>
          <p:cNvPr id="30" name="TextBox 29"/>
          <p:cNvSpPr txBox="1"/>
          <p:nvPr/>
        </p:nvSpPr>
        <p:spPr>
          <a:xfrm>
            <a:off x="7388352" y="2633472"/>
            <a:ext cx="1152144" cy="402336"/>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uses tables, figures</a:t>
            </a:r>
          </a:p>
          <a:p>
            <a:pPr algn="l">
              <a:lnSpc>
                <a:spcPct val="112000"/>
              </a:lnSpc>
            </a:pPr>
            <a:r>
              <a:rPr sz="750" b="0" i="0" dirty="0">
                <a:solidFill>
                  <a:srgbClr val="44495B"/>
                </a:solidFill>
                <a:latin typeface="Segoe UI"/>
                <a:cs typeface="Segoe UI"/>
              </a:rPr>
              <a:t>and forms as evidence</a:t>
            </a:r>
          </a:p>
        </p:txBody>
      </p:sp>
      <p:cxnSp>
        <p:nvCxnSpPr>
          <p:cNvPr id="31" name="Connector 30"/>
          <p:cNvCxnSpPr/>
          <p:nvPr/>
        </p:nvCxnSpPr>
        <p:spPr>
          <a:xfrm>
            <a:off x="8741664" y="2624328"/>
            <a:ext cx="402336"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8837676" y="2519172"/>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33" name="Rectangle 32"/>
          <p:cNvSpPr/>
          <p:nvPr/>
        </p:nvSpPr>
        <p:spPr>
          <a:xfrm>
            <a:off x="9144000" y="2194560"/>
            <a:ext cx="2587752" cy="859536"/>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20000"/>
              </a:lnSpc>
            </a:pPr>
            <a:r>
              <a:rPr lang="en-US" sz="1000" b="1" i="0" dirty="0">
                <a:solidFill>
                  <a:srgbClr val="101A3C"/>
                </a:solidFill>
                <a:latin typeface="Segoe UI"/>
                <a:cs typeface="Segoe UI"/>
              </a:rPr>
              <a:t>Defined schema
the same typed JSON fields
a standard analyzer returns —
the reasoning is internal</a:t>
            </a:r>
            <a:endParaRPr sz="750" b="0" i="0" dirty="0">
              <a:solidFill>
                <a:srgbClr val="44495B"/>
              </a:solidFill>
              <a:latin typeface="Segoe UI"/>
              <a:cs typeface="Segoe UI"/>
            </a:endParaRPr>
          </a:p>
        </p:txBody>
      </p:sp>
      <p:sp>
        <p:nvSpPr>
          <p:cNvPr id="34" name="TextBox 33"/>
          <p:cNvSpPr txBox="1"/>
          <p:nvPr/>
        </p:nvSpPr>
        <p:spPr>
          <a:xfrm>
            <a:off x="457200" y="3346704"/>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WORTH USING WHEN</a:t>
            </a:r>
          </a:p>
        </p:txBody>
      </p:sp>
      <p:sp>
        <p:nvSpPr>
          <p:cNvPr id="35" name="Rectangle 34"/>
          <p:cNvSpPr/>
          <p:nvPr/>
        </p:nvSpPr>
        <p:spPr>
          <a:xfrm>
            <a:off x="457200" y="3602736"/>
            <a:ext cx="5541264" cy="274320"/>
          </a:xfrm>
          <a:prstGeom prst="rect">
            <a:avLst/>
          </a:prstGeom>
          <a:solidFill>
            <a:srgbClr val="F6F8FD"/>
          </a:solidFill>
          <a:ln w="9525">
            <a:solidFill>
              <a:srgbClr val="E1E7F4"/>
            </a:solidFill>
          </a:ln>
          <a:effectLst/>
        </p:spPr>
        <p:txBody>
          <a:bodyPr wrap="square" rtlCol="0" anchor="ctr"/>
          <a:lstStyle/>
          <a:p>
            <a:endParaRPr/>
          </a:p>
        </p:txBody>
      </p:sp>
      <p:sp>
        <p:nvSpPr>
          <p:cNvPr id="36" name="TextBox 35"/>
          <p:cNvSpPr txBox="1"/>
          <p:nvPr/>
        </p:nvSpPr>
        <p:spPr>
          <a:xfrm>
            <a:off x="621792" y="3639312"/>
            <a:ext cx="5212080" cy="219456"/>
          </a:xfrm>
          <a:prstGeom prst="rect">
            <a:avLst/>
          </a:prstGeom>
          <a:noFill/>
        </p:spPr>
        <p:txBody>
          <a:bodyPr wrap="square" lIns="0" tIns="0" rIns="0" bIns="0" anchor="ctr">
            <a:spAutoFit/>
          </a:bodyPr>
          <a:lstStyle/>
          <a:p>
            <a:pPr algn="l">
              <a:lnSpc>
                <a:spcPct val="100000"/>
              </a:lnSpc>
            </a:pPr>
            <a:r>
              <a:rPr sz="850" b="0" i="0" dirty="0">
                <a:solidFill>
                  <a:srgbClr val="101A3C"/>
                </a:solidFill>
                <a:latin typeface="Segoe UI"/>
                <a:cs typeface="Segoe UI"/>
              </a:rPr>
              <a:t>Reconciling figures in a financial report</a:t>
            </a:r>
          </a:p>
        </p:txBody>
      </p:sp>
      <p:sp>
        <p:nvSpPr>
          <p:cNvPr id="37" name="Rectangle 36"/>
          <p:cNvSpPr/>
          <p:nvPr/>
        </p:nvSpPr>
        <p:spPr>
          <a:xfrm>
            <a:off x="457200" y="3931920"/>
            <a:ext cx="5541264" cy="274320"/>
          </a:xfrm>
          <a:prstGeom prst="rect">
            <a:avLst/>
          </a:prstGeom>
          <a:solidFill>
            <a:srgbClr val="FFFFFF"/>
          </a:solidFill>
          <a:ln w="9525">
            <a:solidFill>
              <a:srgbClr val="E1E7F4"/>
            </a:solidFill>
          </a:ln>
          <a:effectLst/>
        </p:spPr>
        <p:txBody>
          <a:bodyPr wrap="square" rtlCol="0" anchor="ctr"/>
          <a:lstStyle/>
          <a:p>
            <a:endParaRPr/>
          </a:p>
        </p:txBody>
      </p:sp>
      <p:sp>
        <p:nvSpPr>
          <p:cNvPr id="38" name="TextBox 37"/>
          <p:cNvSpPr txBox="1"/>
          <p:nvPr/>
        </p:nvSpPr>
        <p:spPr>
          <a:xfrm>
            <a:off x="621792" y="3968496"/>
            <a:ext cx="5212080" cy="219456"/>
          </a:xfrm>
          <a:prstGeom prst="rect">
            <a:avLst/>
          </a:prstGeom>
          <a:noFill/>
        </p:spPr>
        <p:txBody>
          <a:bodyPr wrap="square" lIns="0" tIns="0" rIns="0" bIns="0" anchor="ctr">
            <a:spAutoFit/>
          </a:bodyPr>
          <a:lstStyle/>
          <a:p>
            <a:pPr algn="l">
              <a:lnSpc>
                <a:spcPct val="100000"/>
              </a:lnSpc>
            </a:pPr>
            <a:r>
              <a:rPr sz="850" b="0" i="0" dirty="0">
                <a:solidFill>
                  <a:srgbClr val="101A3C"/>
                </a:solidFill>
                <a:latin typeface="Segoe UI"/>
                <a:cs typeface="Segoe UI"/>
              </a:rPr>
              <a:t>Checking a document against a set of requirements</a:t>
            </a:r>
          </a:p>
        </p:txBody>
      </p:sp>
      <p:sp>
        <p:nvSpPr>
          <p:cNvPr id="39" name="Rectangle 38"/>
          <p:cNvSpPr/>
          <p:nvPr/>
        </p:nvSpPr>
        <p:spPr>
          <a:xfrm>
            <a:off x="457200" y="4261104"/>
            <a:ext cx="5541264" cy="274320"/>
          </a:xfrm>
          <a:prstGeom prst="rect">
            <a:avLst/>
          </a:prstGeom>
          <a:solidFill>
            <a:srgbClr val="F6F8FD"/>
          </a:solidFill>
          <a:ln w="9525">
            <a:solidFill>
              <a:srgbClr val="E1E7F4"/>
            </a:solidFill>
          </a:ln>
          <a:effectLst/>
        </p:spPr>
        <p:txBody>
          <a:bodyPr wrap="square" rtlCol="0" anchor="ctr"/>
          <a:lstStyle/>
          <a:p>
            <a:endParaRPr/>
          </a:p>
        </p:txBody>
      </p:sp>
      <p:sp>
        <p:nvSpPr>
          <p:cNvPr id="40" name="TextBox 39"/>
          <p:cNvSpPr txBox="1"/>
          <p:nvPr/>
        </p:nvSpPr>
        <p:spPr>
          <a:xfrm>
            <a:off x="621792" y="4297680"/>
            <a:ext cx="5212080" cy="219456"/>
          </a:xfrm>
          <a:prstGeom prst="rect">
            <a:avLst/>
          </a:prstGeom>
          <a:noFill/>
        </p:spPr>
        <p:txBody>
          <a:bodyPr wrap="square" lIns="0" tIns="0" rIns="0" bIns="0" anchor="ctr">
            <a:spAutoFit/>
          </a:bodyPr>
          <a:lstStyle/>
          <a:p>
            <a:pPr algn="l">
              <a:lnSpc>
                <a:spcPct val="100000"/>
              </a:lnSpc>
            </a:pPr>
            <a:r>
              <a:rPr sz="850" b="0" i="0" dirty="0">
                <a:solidFill>
                  <a:srgbClr val="101A3C"/>
                </a:solidFill>
                <a:latin typeface="Segoe UI"/>
                <a:cs typeface="Segoe UI"/>
              </a:rPr>
              <a:t>Relating a contract to its amendments in the same file</a:t>
            </a:r>
          </a:p>
        </p:txBody>
      </p:sp>
      <p:sp>
        <p:nvSpPr>
          <p:cNvPr id="41" name="TextBox 40"/>
          <p:cNvSpPr txBox="1"/>
          <p:nvPr/>
        </p:nvSpPr>
        <p:spPr>
          <a:xfrm>
            <a:off x="6345936" y="3346704"/>
            <a:ext cx="5394960" cy="182880"/>
          </a:xfrm>
          <a:prstGeom prst="rect">
            <a:avLst/>
          </a:prstGeom>
          <a:noFill/>
        </p:spPr>
        <p:txBody>
          <a:bodyPr wrap="square" lIns="0" tIns="0" rIns="0" bIns="0" anchor="t">
            <a:spAutoFit/>
          </a:bodyPr>
          <a:lstStyle/>
          <a:p>
            <a:pPr algn="l">
              <a:lnSpc>
                <a:spcPct val="100000"/>
              </a:lnSpc>
            </a:pPr>
            <a:r>
              <a:rPr lang="en-US" sz="800" b="1" i="0" spc="120" dirty="0">
                <a:solidFill>
                  <a:srgbClr val="008173"/>
                </a:solidFill>
                <a:latin typeface="Segoe UI"/>
                <a:cs typeface="Segoe UI"/>
              </a:rPr>
              <a:t>COST AND CAPACITY</a:t>
            </a:r>
            <a:endParaRPr sz="800" b="1" i="0" spc="120" dirty="0">
              <a:solidFill>
                <a:srgbClr val="008173"/>
              </a:solidFill>
              <a:latin typeface="Segoe UI"/>
              <a:cs typeface="Segoe UI"/>
            </a:endParaRPr>
          </a:p>
        </p:txBody>
      </p:sp>
      <p:sp>
        <p:nvSpPr>
          <p:cNvPr id="42" name="TextBox 41"/>
          <p:cNvSpPr txBox="1"/>
          <p:nvPr/>
        </p:nvSpPr>
        <p:spPr>
          <a:xfrm>
            <a:off x="6345936" y="3602736"/>
            <a:ext cx="1308872" cy="27432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Billing rate</a:t>
            </a:r>
          </a:p>
        </p:txBody>
      </p:sp>
      <p:sp>
        <p:nvSpPr>
          <p:cNvPr id="43" name="TextBox 42"/>
          <p:cNvSpPr txBox="1"/>
          <p:nvPr/>
        </p:nvSpPr>
        <p:spPr>
          <a:xfrm>
            <a:off x="7746248" y="3602736"/>
            <a:ext cx="3985503" cy="27432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the higher advanced contextualization rate</a:t>
            </a:r>
          </a:p>
        </p:txBody>
      </p:sp>
      <p:cxnSp>
        <p:nvCxnSpPr>
          <p:cNvPr id="44" name="Connector 43"/>
          <p:cNvCxnSpPr/>
          <p:nvPr/>
        </p:nvCxnSpPr>
        <p:spPr>
          <a:xfrm>
            <a:off x="6345936" y="385876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345936" y="3877056"/>
            <a:ext cx="1308872" cy="27432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Tokens</a:t>
            </a:r>
          </a:p>
        </p:txBody>
      </p:sp>
      <p:sp>
        <p:nvSpPr>
          <p:cNvPr id="46" name="TextBox 45"/>
          <p:cNvSpPr txBox="1"/>
          <p:nvPr/>
        </p:nvSpPr>
        <p:spPr>
          <a:xfrm>
            <a:off x="7746248" y="3877056"/>
            <a:ext cx="3985503" cy="274320"/>
          </a:xfrm>
          <a:prstGeom prst="rect">
            <a:avLst/>
          </a:prstGeom>
          <a:noFill/>
        </p:spPr>
        <p:txBody>
          <a:bodyPr wrap="square" lIns="0" tIns="0" rIns="0" bIns="0" anchor="ctr">
            <a:spAutoFit/>
          </a:bodyPr>
          <a:lstStyle/>
          <a:p>
            <a:pPr algn="l">
              <a:lnSpc>
                <a:spcPct val="105000"/>
              </a:lnSpc>
            </a:pPr>
            <a:r>
              <a:rPr lang="en-US" sz="800" b="0" i="0" dirty="0">
                <a:solidFill>
                  <a:srgbClr val="44495B"/>
                </a:solidFill>
                <a:latin typeface="Segoe UI"/>
                <a:cs typeface="Segoe UI"/>
              </a:rPr>
              <a:t>more than a standard workflow, on the customer’s own deployment</a:t>
            </a:r>
            <a:endParaRPr sz="800" b="0" i="0" dirty="0">
              <a:solidFill>
                <a:srgbClr val="44495B"/>
              </a:solidFill>
              <a:latin typeface="Segoe UI"/>
              <a:cs typeface="Segoe UI"/>
            </a:endParaRPr>
          </a:p>
        </p:txBody>
      </p:sp>
      <p:cxnSp>
        <p:nvCxnSpPr>
          <p:cNvPr id="47" name="Connector 46"/>
          <p:cNvCxnSpPr/>
          <p:nvPr/>
        </p:nvCxnSpPr>
        <p:spPr>
          <a:xfrm>
            <a:off x="6345936" y="413308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345936" y="4151376"/>
            <a:ext cx="1308872" cy="27432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Latency</a:t>
            </a:r>
          </a:p>
        </p:txBody>
      </p:sp>
      <p:sp>
        <p:nvSpPr>
          <p:cNvPr id="49" name="TextBox 48"/>
          <p:cNvSpPr txBox="1"/>
          <p:nvPr/>
        </p:nvSpPr>
        <p:spPr>
          <a:xfrm>
            <a:off x="7746248" y="4151376"/>
            <a:ext cx="3985503" cy="27432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typically longer for the same document</a:t>
            </a:r>
          </a:p>
        </p:txBody>
      </p:sp>
      <p:cxnSp>
        <p:nvCxnSpPr>
          <p:cNvPr id="50" name="Connector 49"/>
          <p:cNvCxnSpPr/>
          <p:nvPr/>
        </p:nvCxnSpPr>
        <p:spPr>
          <a:xfrm>
            <a:off x="6345936" y="440740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345936" y="4425696"/>
            <a:ext cx="1308872" cy="27432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Capacity</a:t>
            </a:r>
          </a:p>
        </p:txBody>
      </p:sp>
      <p:sp>
        <p:nvSpPr>
          <p:cNvPr id="52" name="TextBox 51"/>
          <p:cNvSpPr txBox="1"/>
          <p:nvPr/>
        </p:nvSpPr>
        <p:spPr>
          <a:xfrm>
            <a:off x="7746248" y="4425696"/>
            <a:ext cx="3985503" cy="27432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about 400,000 tokens a minute per job — plan for it</a:t>
            </a:r>
          </a:p>
        </p:txBody>
      </p:sp>
      <p:cxnSp>
        <p:nvCxnSpPr>
          <p:cNvPr id="53" name="Connector 52"/>
          <p:cNvCxnSpPr/>
          <p:nvPr/>
        </p:nvCxnSpPr>
        <p:spPr>
          <a:xfrm>
            <a:off x="6345936" y="46817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457200" y="4736592"/>
            <a:ext cx="11277295" cy="548640"/>
          </a:xfrm>
          <a:prstGeom prst="rect">
            <a:avLst/>
          </a:prstGeom>
          <a:solidFill>
            <a:srgbClr val="EBEFF7"/>
          </a:solidFill>
          <a:ln>
            <a:noFill/>
          </a:ln>
          <a:effectLst/>
        </p:spPr>
        <p:txBody>
          <a:bodyPr wrap="square" rtlCol="0" anchor="ctr"/>
          <a:lstStyle/>
          <a:p>
            <a:endParaRPr/>
          </a:p>
        </p:txBody>
      </p:sp>
      <p:sp>
        <p:nvSpPr>
          <p:cNvPr id="55" name="Rectangle 54"/>
          <p:cNvSpPr/>
          <p:nvPr/>
        </p:nvSpPr>
        <p:spPr>
          <a:xfrm>
            <a:off x="457200" y="4736592"/>
            <a:ext cx="41148" cy="548640"/>
          </a:xfrm>
          <a:prstGeom prst="rect">
            <a:avLst/>
          </a:prstGeom>
          <a:solidFill>
            <a:srgbClr val="00B39F"/>
          </a:solidFill>
          <a:ln>
            <a:noFill/>
          </a:ln>
          <a:effectLst/>
        </p:spPr>
        <p:txBody>
          <a:bodyPr wrap="square" rtlCol="0" anchor="ctr"/>
          <a:lstStyle/>
          <a:p>
            <a:endParaRPr/>
          </a:p>
        </p:txBody>
      </p:sp>
      <p:sp>
        <p:nvSpPr>
          <p:cNvPr id="56" name="TextBox 55"/>
          <p:cNvSpPr txBox="1"/>
          <p:nvPr/>
        </p:nvSpPr>
        <p:spPr>
          <a:xfrm>
            <a:off x="694944" y="4837176"/>
            <a:ext cx="10856671" cy="365759"/>
          </a:xfrm>
          <a:prstGeom prst="rect">
            <a:avLst/>
          </a:prstGeom>
          <a:noFill/>
        </p:spPr>
        <p:txBody>
          <a:bodyPr wrap="square" lIns="0" tIns="0" rIns="0" bIns="0" anchor="t">
            <a:spAutoFit/>
          </a:bodyPr>
          <a:lstStyle/>
          <a:p>
            <a:pPr algn="l">
              <a:lnSpc>
                <a:spcPct val="120000"/>
              </a:lnSpc>
            </a:pPr>
            <a:r>
              <a:rPr lang="en-US" sz="900" b="0" i="0" dirty="0">
                <a:solidFill>
                  <a:srgbClr val="101A3C"/>
                </a:solidFill>
                <a:latin typeface="Segoe UI"/>
                <a:cs typeface="Segoe UI"/>
              </a:rPr>
              <a:t>Enabled with one setting when the analyzer is created: config.workflow set to agentic. Everything else — the schema, the call, the result shape — stays the same.</a:t>
            </a:r>
            <a:endParaRPr sz="900" b="0" i="0" dirty="0">
              <a:solidFill>
                <a:srgbClr val="101A3C"/>
              </a:solidFill>
              <a:latin typeface="Segoe UI"/>
              <a:cs typeface="Segoe UI"/>
            </a:endParaRPr>
          </a:p>
        </p:txBody>
      </p:sp>
      <p:sp>
        <p:nvSpPr>
          <p:cNvPr id="57" name="TextBox 56"/>
          <p:cNvSpPr txBox="1"/>
          <p:nvPr/>
        </p:nvSpPr>
        <p:spPr>
          <a:xfrm>
            <a:off x="457200" y="5376672"/>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WHAT THE PREVIEW DOES NOT DO YET</a:t>
            </a:r>
          </a:p>
        </p:txBody>
      </p:sp>
      <p:sp>
        <p:nvSpPr>
          <p:cNvPr id="58" name="TextBox 57"/>
          <p:cNvSpPr txBox="1"/>
          <p:nvPr/>
        </p:nvSpPr>
        <p:spPr>
          <a:xfrm>
            <a:off x="457200" y="5577840"/>
            <a:ext cx="11277295" cy="146304"/>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Documents only  ·  one input file per request  ·  fields using the extract method are not supported  ·  labelled samples cannot improve it  ·  Microsoft states it is not a replacement for human review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WHAT CHANGED IN 2026</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Improving an analyzer with labelled examples*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The correction workflow is unchanged; what the preview changes is what the built analyzer keeps afterwards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learn.microsoft.com/azure/ai-services/content-understanding/document/analyzer-improvement</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9</a:t>
            </a:r>
          </a:p>
        </p:txBody>
      </p:sp>
      <p:sp>
        <p:nvSpPr>
          <p:cNvPr id="7" name="Rectangle 6"/>
          <p:cNvSpPr/>
          <p:nvPr/>
        </p:nvSpPr>
        <p:spPr>
          <a:xfrm>
            <a:off x="457200" y="1316736"/>
            <a:ext cx="11277295" cy="475488"/>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713232" y="1426464"/>
            <a:ext cx="10765231" cy="274320"/>
          </a:xfrm>
          <a:prstGeom prst="rect">
            <a:avLst/>
          </a:prstGeom>
          <a:noFill/>
        </p:spPr>
        <p:txBody>
          <a:bodyPr wrap="square" lIns="0" tIns="0" rIns="0" bIns="0" anchor="t">
            <a:spAutoFit/>
          </a:bodyPr>
          <a:lstStyle/>
          <a:p>
            <a:pPr algn="l">
              <a:lnSpc>
                <a:spcPct val="120000"/>
              </a:lnSpc>
            </a:pPr>
            <a:r>
              <a:rPr lang="en-US" sz="1000" b="0" i="0" dirty="0">
                <a:solidFill>
                  <a:srgbClr val="FFFFFF"/>
                </a:solidFill>
                <a:latin typeface="Segoe UI"/>
                <a:cs typeface="Segoe UI"/>
              </a:rPr>
              <a:t>The problem it solves: a description in plain language is often enough, but not always. When a new vendor’s layout or an unfamiliar format produces wrong values or low confidence, the analyzer needs examples of what right looks like.</a:t>
            </a:r>
            <a:endParaRPr sz="1000" b="0" i="0" dirty="0">
              <a:solidFill>
                <a:srgbClr val="FFFFFF"/>
              </a:solidFill>
              <a:latin typeface="Segoe UI"/>
              <a:cs typeface="Segoe UI"/>
            </a:endParaRPr>
          </a:p>
        </p:txBody>
      </p:sp>
      <p:sp>
        <p:nvSpPr>
          <p:cNvPr id="9" name="TextBox 8"/>
          <p:cNvSpPr txBox="1"/>
          <p:nvPr/>
        </p:nvSpPr>
        <p:spPr>
          <a:xfrm>
            <a:off x="457200" y="1883664"/>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THE CORRECTION WORKFLOW — THE SAME IN BOTH API VERSIONS</a:t>
            </a:r>
          </a:p>
        </p:txBody>
      </p:sp>
      <p:sp>
        <p:nvSpPr>
          <p:cNvPr id="10" name="Rectangle 9"/>
          <p:cNvSpPr/>
          <p:nvPr/>
        </p:nvSpPr>
        <p:spPr>
          <a:xfrm>
            <a:off x="457200" y="2121408"/>
            <a:ext cx="2441448" cy="694944"/>
          </a:xfrm>
          <a:prstGeom prst="rect">
            <a:avLst/>
          </a:prstGeom>
          <a:solidFill>
            <a:srgbClr val="FFFFFF"/>
          </a:solidFill>
          <a:ln w="9525">
            <a:solidFill>
              <a:srgbClr val="E1E7F4"/>
            </a:solidFill>
          </a:ln>
          <a:effectLst/>
        </p:spPr>
        <p:txBody>
          <a:bodyPr wrap="square" rtlCol="0" anchor="ctr"/>
          <a:lstStyle/>
          <a:p>
            <a:endParaRPr/>
          </a:p>
        </p:txBody>
      </p:sp>
      <p:sp>
        <p:nvSpPr>
          <p:cNvPr id="11" name="Rectangle 10"/>
          <p:cNvSpPr/>
          <p:nvPr/>
        </p:nvSpPr>
        <p:spPr>
          <a:xfrm>
            <a:off x="457200" y="2121408"/>
            <a:ext cx="2441448" cy="41148"/>
          </a:xfrm>
          <a:prstGeom prst="rect">
            <a:avLst/>
          </a:prstGeom>
          <a:solidFill>
            <a:srgbClr val="00B39F"/>
          </a:solidFill>
          <a:ln>
            <a:noFill/>
          </a:ln>
          <a:effectLst/>
        </p:spPr>
        <p:txBody>
          <a:bodyPr wrap="square" rtlCol="0" anchor="ctr"/>
          <a:lstStyle/>
          <a:p>
            <a:endParaRPr/>
          </a:p>
        </p:txBody>
      </p:sp>
      <p:sp>
        <p:nvSpPr>
          <p:cNvPr id="12" name="TextBox 11"/>
          <p:cNvSpPr txBox="1"/>
          <p:nvPr/>
        </p:nvSpPr>
        <p:spPr>
          <a:xfrm>
            <a:off x="621792" y="2240280"/>
            <a:ext cx="2103120" cy="164592"/>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Upload a sample</a:t>
            </a:r>
          </a:p>
        </p:txBody>
      </p:sp>
      <p:sp>
        <p:nvSpPr>
          <p:cNvPr id="13" name="TextBox 12"/>
          <p:cNvSpPr txBox="1"/>
          <p:nvPr/>
        </p:nvSpPr>
        <p:spPr>
          <a:xfrm>
            <a:off x="621792" y="2441448"/>
            <a:ext cx="2103120" cy="310896"/>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a document that the</a:t>
            </a:r>
          </a:p>
          <a:p>
            <a:pPr algn="l">
              <a:lnSpc>
                <a:spcPct val="112000"/>
              </a:lnSpc>
            </a:pPr>
            <a:r>
              <a:rPr sz="750" b="0" i="0" dirty="0">
                <a:solidFill>
                  <a:srgbClr val="44495B"/>
                </a:solidFill>
                <a:latin typeface="Segoe UI"/>
                <a:cs typeface="Segoe UI"/>
              </a:rPr>
              <a:t>analyzer got wrong</a:t>
            </a:r>
          </a:p>
        </p:txBody>
      </p:sp>
      <p:cxnSp>
        <p:nvCxnSpPr>
          <p:cNvPr id="14" name="Connector 13"/>
          <p:cNvCxnSpPr/>
          <p:nvPr/>
        </p:nvCxnSpPr>
        <p:spPr>
          <a:xfrm>
            <a:off x="2898648" y="2468880"/>
            <a:ext cx="502920"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3044952" y="236372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16" name="Rectangle 15"/>
          <p:cNvSpPr/>
          <p:nvPr/>
        </p:nvSpPr>
        <p:spPr>
          <a:xfrm>
            <a:off x="3401568" y="2121408"/>
            <a:ext cx="2441448" cy="694944"/>
          </a:xfrm>
          <a:prstGeom prst="rect">
            <a:avLst/>
          </a:prstGeom>
          <a:solidFill>
            <a:srgbClr val="FFFFFF"/>
          </a:solidFill>
          <a:ln w="9525">
            <a:solidFill>
              <a:srgbClr val="E1E7F4"/>
            </a:solidFill>
          </a:ln>
          <a:effectLst/>
        </p:spPr>
        <p:txBody>
          <a:bodyPr wrap="square" rtlCol="0" anchor="ctr"/>
          <a:lstStyle/>
          <a:p>
            <a:endParaRPr/>
          </a:p>
        </p:txBody>
      </p:sp>
      <p:sp>
        <p:nvSpPr>
          <p:cNvPr id="17" name="Rectangle 16"/>
          <p:cNvSpPr/>
          <p:nvPr/>
        </p:nvSpPr>
        <p:spPr>
          <a:xfrm>
            <a:off x="3401568" y="2121408"/>
            <a:ext cx="2441448" cy="41148"/>
          </a:xfrm>
          <a:prstGeom prst="rect">
            <a:avLst/>
          </a:prstGeom>
          <a:solidFill>
            <a:srgbClr val="00B39F"/>
          </a:solidFill>
          <a:ln>
            <a:noFill/>
          </a:ln>
          <a:effectLst/>
        </p:spPr>
        <p:txBody>
          <a:bodyPr wrap="square" rtlCol="0" anchor="ctr"/>
          <a:lstStyle/>
          <a:p>
            <a:endParaRPr/>
          </a:p>
        </p:txBody>
      </p:sp>
      <p:sp>
        <p:nvSpPr>
          <p:cNvPr id="18" name="TextBox 17"/>
          <p:cNvSpPr txBox="1"/>
          <p:nvPr/>
        </p:nvSpPr>
        <p:spPr>
          <a:xfrm>
            <a:off x="3566160" y="2240280"/>
            <a:ext cx="2103120" cy="164592"/>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Auto label</a:t>
            </a:r>
          </a:p>
        </p:txBody>
      </p:sp>
      <p:sp>
        <p:nvSpPr>
          <p:cNvPr id="19" name="TextBox 18"/>
          <p:cNvSpPr txBox="1"/>
          <p:nvPr/>
        </p:nvSpPr>
        <p:spPr>
          <a:xfrm>
            <a:off x="3566160" y="2441448"/>
            <a:ext cx="2103120" cy="310896"/>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runs the current analyzer</a:t>
            </a:r>
          </a:p>
          <a:p>
            <a:pPr algn="l">
              <a:lnSpc>
                <a:spcPct val="112000"/>
              </a:lnSpc>
            </a:pPr>
            <a:r>
              <a:rPr sz="750" b="0" i="0" dirty="0">
                <a:solidFill>
                  <a:srgbClr val="44495B"/>
                </a:solidFill>
                <a:latin typeface="Segoe UI"/>
                <a:cs typeface="Segoe UI"/>
              </a:rPr>
              <a:t>and pre-fills its answers</a:t>
            </a:r>
          </a:p>
        </p:txBody>
      </p:sp>
      <p:cxnSp>
        <p:nvCxnSpPr>
          <p:cNvPr id="20" name="Connector 19"/>
          <p:cNvCxnSpPr/>
          <p:nvPr/>
        </p:nvCxnSpPr>
        <p:spPr>
          <a:xfrm>
            <a:off x="5843016" y="2468880"/>
            <a:ext cx="502920"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989320" y="236372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22" name="Rectangle 21"/>
          <p:cNvSpPr/>
          <p:nvPr/>
        </p:nvSpPr>
        <p:spPr>
          <a:xfrm>
            <a:off x="6345936" y="2121408"/>
            <a:ext cx="2441448" cy="694944"/>
          </a:xfrm>
          <a:prstGeom prst="rect">
            <a:avLst/>
          </a:prstGeom>
          <a:solidFill>
            <a:srgbClr val="FFFFFF"/>
          </a:solidFill>
          <a:ln w="9525">
            <a:solidFill>
              <a:srgbClr val="E1E7F4"/>
            </a:solidFill>
          </a:ln>
          <a:effectLst/>
        </p:spPr>
        <p:txBody>
          <a:bodyPr wrap="square" rtlCol="0" anchor="ctr"/>
          <a:lstStyle/>
          <a:p>
            <a:endParaRPr/>
          </a:p>
        </p:txBody>
      </p:sp>
      <p:sp>
        <p:nvSpPr>
          <p:cNvPr id="23" name="Rectangle 22"/>
          <p:cNvSpPr/>
          <p:nvPr/>
        </p:nvSpPr>
        <p:spPr>
          <a:xfrm>
            <a:off x="6345936" y="2121408"/>
            <a:ext cx="2441448" cy="41148"/>
          </a:xfrm>
          <a:prstGeom prst="rect">
            <a:avLst/>
          </a:prstGeom>
          <a:solidFill>
            <a:srgbClr val="00B39F"/>
          </a:solidFill>
          <a:ln>
            <a:noFill/>
          </a:ln>
          <a:effectLst/>
        </p:spPr>
        <p:txBody>
          <a:bodyPr wrap="square" rtlCol="0" anchor="ctr"/>
          <a:lstStyle/>
          <a:p>
            <a:endParaRPr/>
          </a:p>
        </p:txBody>
      </p:sp>
      <p:sp>
        <p:nvSpPr>
          <p:cNvPr id="24" name="TextBox 23"/>
          <p:cNvSpPr txBox="1"/>
          <p:nvPr/>
        </p:nvSpPr>
        <p:spPr>
          <a:xfrm>
            <a:off x="6510528" y="2240280"/>
            <a:ext cx="2103120" cy="164592"/>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Correct the values</a:t>
            </a:r>
          </a:p>
        </p:txBody>
      </p:sp>
      <p:sp>
        <p:nvSpPr>
          <p:cNvPr id="25" name="TextBox 24"/>
          <p:cNvSpPr txBox="1"/>
          <p:nvPr/>
        </p:nvSpPr>
        <p:spPr>
          <a:xfrm>
            <a:off x="6510528" y="2441448"/>
            <a:ext cx="2103120" cy="310896"/>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edit what is wrong;</a:t>
            </a:r>
          </a:p>
          <a:p>
            <a:pPr algn="l">
              <a:lnSpc>
                <a:spcPct val="112000"/>
              </a:lnSpc>
            </a:pPr>
            <a:r>
              <a:rPr sz="750" b="0" i="0" dirty="0">
                <a:solidFill>
                  <a:srgbClr val="44495B"/>
                </a:solidFill>
                <a:latin typeface="Segoe UI"/>
                <a:cs typeface="Segoe UI"/>
              </a:rPr>
              <a:t>corrected fields are tagged</a:t>
            </a:r>
          </a:p>
        </p:txBody>
      </p:sp>
      <p:cxnSp>
        <p:nvCxnSpPr>
          <p:cNvPr id="26" name="Connector 25"/>
          <p:cNvCxnSpPr/>
          <p:nvPr/>
        </p:nvCxnSpPr>
        <p:spPr>
          <a:xfrm>
            <a:off x="8787384" y="2468880"/>
            <a:ext cx="502920" cy="0"/>
          </a:xfrm>
          <a:prstGeom prst="line">
            <a:avLst/>
          </a:prstGeom>
          <a:ln w="1524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8933688" y="236372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28" name="Rectangle 27"/>
          <p:cNvSpPr/>
          <p:nvPr/>
        </p:nvSpPr>
        <p:spPr>
          <a:xfrm>
            <a:off x="9290304" y="2121408"/>
            <a:ext cx="2441448" cy="694944"/>
          </a:xfrm>
          <a:prstGeom prst="rect">
            <a:avLst/>
          </a:prstGeom>
          <a:solidFill>
            <a:srgbClr val="FFFFFF"/>
          </a:solidFill>
          <a:ln w="9525">
            <a:solidFill>
              <a:srgbClr val="E1E7F4"/>
            </a:solidFill>
          </a:ln>
          <a:effectLst/>
        </p:spPr>
        <p:txBody>
          <a:bodyPr wrap="square" rtlCol="0" anchor="ctr"/>
          <a:lstStyle/>
          <a:p>
            <a:endParaRPr/>
          </a:p>
        </p:txBody>
      </p:sp>
      <p:sp>
        <p:nvSpPr>
          <p:cNvPr id="29" name="Rectangle 28"/>
          <p:cNvSpPr/>
          <p:nvPr/>
        </p:nvSpPr>
        <p:spPr>
          <a:xfrm>
            <a:off x="9290304" y="2121408"/>
            <a:ext cx="2441448" cy="41148"/>
          </a:xfrm>
          <a:prstGeom prst="rect">
            <a:avLst/>
          </a:prstGeom>
          <a:solidFill>
            <a:srgbClr val="00B39F"/>
          </a:solidFill>
          <a:ln>
            <a:noFill/>
          </a:ln>
          <a:effectLst/>
        </p:spPr>
        <p:txBody>
          <a:bodyPr wrap="square" rtlCol="0" anchor="ctr"/>
          <a:lstStyle/>
          <a:p>
            <a:endParaRPr/>
          </a:p>
        </p:txBody>
      </p:sp>
      <p:sp>
        <p:nvSpPr>
          <p:cNvPr id="30" name="TextBox 29"/>
          <p:cNvSpPr txBox="1"/>
          <p:nvPr/>
        </p:nvSpPr>
        <p:spPr>
          <a:xfrm>
            <a:off x="9454896" y="2240280"/>
            <a:ext cx="2103120" cy="164592"/>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Rebuild</a:t>
            </a:r>
          </a:p>
        </p:txBody>
      </p:sp>
      <p:sp>
        <p:nvSpPr>
          <p:cNvPr id="31" name="TextBox 30"/>
          <p:cNvSpPr txBox="1"/>
          <p:nvPr/>
        </p:nvSpPr>
        <p:spPr>
          <a:xfrm>
            <a:off x="9454896" y="2441448"/>
            <a:ext cx="2103120" cy="310896"/>
          </a:xfrm>
          <a:prstGeom prst="rect">
            <a:avLst/>
          </a:prstGeom>
          <a:noFill/>
        </p:spPr>
        <p:txBody>
          <a:bodyPr wrap="square" lIns="0" tIns="0" rIns="0" bIns="0" anchor="t">
            <a:spAutoFit/>
          </a:bodyPr>
          <a:lstStyle/>
          <a:p>
            <a:pPr algn="l">
              <a:lnSpc>
                <a:spcPct val="112000"/>
              </a:lnSpc>
            </a:pPr>
            <a:r>
              <a:rPr sz="750" b="0" i="0" dirty="0">
                <a:solidFill>
                  <a:srgbClr val="44495B"/>
                </a:solidFill>
                <a:latin typeface="Segoe UI"/>
                <a:cs typeface="Segoe UI"/>
              </a:rPr>
              <a:t>the analyzer is built again,</a:t>
            </a:r>
          </a:p>
          <a:p>
            <a:pPr algn="l">
              <a:lnSpc>
                <a:spcPct val="112000"/>
              </a:lnSpc>
            </a:pPr>
            <a:r>
              <a:rPr sz="750" b="0" i="0" dirty="0">
                <a:solidFill>
                  <a:srgbClr val="44495B"/>
                </a:solidFill>
                <a:latin typeface="Segoe UI"/>
                <a:cs typeface="Segoe UI"/>
              </a:rPr>
              <a:t>now using the samples</a:t>
            </a:r>
          </a:p>
        </p:txBody>
      </p:sp>
      <p:sp>
        <p:nvSpPr>
          <p:cNvPr id="32" name="TextBox 31"/>
          <p:cNvSpPr txBox="1"/>
          <p:nvPr/>
        </p:nvSpPr>
        <p:spPr>
          <a:xfrm>
            <a:off x="457200" y="2907792"/>
            <a:ext cx="11277295" cy="164592"/>
          </a:xfrm>
          <a:prstGeom prst="rect">
            <a:avLst/>
          </a:prstGeom>
          <a:noFill/>
        </p:spPr>
        <p:txBody>
          <a:bodyPr wrap="square" lIns="0" tIns="0" rIns="0" bIns="0" anchor="t">
            <a:spAutoFit/>
          </a:bodyPr>
          <a:lstStyle/>
          <a:p>
            <a:pPr algn="l">
              <a:lnSpc>
                <a:spcPct val="100000"/>
              </a:lnSpc>
            </a:pPr>
            <a:r>
              <a:rPr lang="en-US" sz="750" b="0" i="1" dirty="0">
                <a:solidFill>
                  <a:srgbClr val="44495B"/>
                </a:solidFill>
                <a:latin typeface="Segoe UI"/>
                <a:cs typeface="Segoe UI"/>
              </a:rPr>
              <a:t>How many samples: one is enough when the templates barely vary; add one per format when they do. Evaluate quality before and after, to see whether the samples actually helped.</a:t>
            </a:r>
            <a:endParaRPr sz="750" b="0" i="1" dirty="0">
              <a:solidFill>
                <a:srgbClr val="44495B"/>
              </a:solidFill>
              <a:latin typeface="Segoe UI"/>
              <a:cs typeface="Segoe UI"/>
            </a:endParaRPr>
          </a:p>
        </p:txBody>
      </p:sp>
      <p:sp>
        <p:nvSpPr>
          <p:cNvPr id="33" name="TextBox 32"/>
          <p:cNvSpPr txBox="1"/>
          <p:nvPr/>
        </p:nvSpPr>
        <p:spPr>
          <a:xfrm>
            <a:off x="457200" y="3218688"/>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WHAT THE BUILT ANALYZER CARRIES AFTERWARDS</a:t>
            </a:r>
          </a:p>
        </p:txBody>
      </p:sp>
      <p:sp>
        <p:nvSpPr>
          <p:cNvPr id="34" name="Rectangle 33"/>
          <p:cNvSpPr/>
          <p:nvPr/>
        </p:nvSpPr>
        <p:spPr>
          <a:xfrm>
            <a:off x="457200" y="3456432"/>
            <a:ext cx="11277295" cy="310896"/>
          </a:xfrm>
          <a:prstGeom prst="rect">
            <a:avLst/>
          </a:prstGeom>
          <a:solidFill>
            <a:srgbClr val="101A3C"/>
          </a:solidFill>
          <a:ln>
            <a:noFill/>
          </a:ln>
          <a:effectLst/>
        </p:spPr>
        <p:txBody>
          <a:bodyPr wrap="square" rtlCol="0" anchor="ctr"/>
          <a:lstStyle/>
          <a:p>
            <a:endParaRPr/>
          </a:p>
        </p:txBody>
      </p:sp>
      <p:sp>
        <p:nvSpPr>
          <p:cNvPr id="35" name="TextBox 34"/>
          <p:cNvSpPr txBox="1"/>
          <p:nvPr/>
        </p:nvSpPr>
        <p:spPr>
          <a:xfrm>
            <a:off x="585216" y="3534156"/>
            <a:ext cx="2523670" cy="182880"/>
          </a:xfrm>
          <a:prstGeom prst="rect">
            <a:avLst/>
          </a:prstGeom>
          <a:noFill/>
        </p:spPr>
        <p:txBody>
          <a:bodyPr wrap="none" lIns="0" tIns="0" rIns="0" bIns="0" anchor="t">
            <a:spAutoFit/>
          </a:bodyPr>
          <a:lstStyle/>
          <a:p>
            <a:pPr algn="l">
              <a:lnSpc>
                <a:spcPct val="100000"/>
              </a:lnSpc>
            </a:pPr>
            <a:endParaRPr/>
          </a:p>
        </p:txBody>
      </p:sp>
      <p:sp>
        <p:nvSpPr>
          <p:cNvPr id="36" name="TextBox 35"/>
          <p:cNvSpPr txBox="1"/>
          <p:nvPr/>
        </p:nvSpPr>
        <p:spPr>
          <a:xfrm>
            <a:off x="3291766" y="3534156"/>
            <a:ext cx="3876946" cy="182880"/>
          </a:xfrm>
          <a:prstGeom prst="rect">
            <a:avLst/>
          </a:prstGeom>
          <a:noFill/>
        </p:spPr>
        <p:txBody>
          <a:bodyPr wrap="none" lIns="0" tIns="0" rIns="0" bIns="0" anchor="t">
            <a:spAutoFit/>
          </a:bodyPr>
          <a:lstStyle/>
          <a:p>
            <a:pPr algn="l">
              <a:lnSpc>
                <a:spcPct val="100000"/>
              </a:lnSpc>
            </a:pPr>
            <a:r>
              <a:rPr sz="900" b="1" i="0" dirty="0">
                <a:solidFill>
                  <a:srgbClr val="FFFFFF"/>
                </a:solidFill>
                <a:latin typeface="Segoe UI"/>
                <a:cs typeface="Segoe UI"/>
              </a:rPr>
              <a:t>Generally available training</a:t>
            </a:r>
          </a:p>
        </p:txBody>
      </p:sp>
      <p:sp>
        <p:nvSpPr>
          <p:cNvPr id="37" name="TextBox 36"/>
          <p:cNvSpPr txBox="1"/>
          <p:nvPr/>
        </p:nvSpPr>
        <p:spPr>
          <a:xfrm>
            <a:off x="7351593" y="3534156"/>
            <a:ext cx="4328038" cy="182880"/>
          </a:xfrm>
          <a:prstGeom prst="rect">
            <a:avLst/>
          </a:prstGeom>
          <a:noFill/>
        </p:spPr>
        <p:txBody>
          <a:bodyPr wrap="none" lIns="0" tIns="0" rIns="0" bIns="0" anchor="t">
            <a:spAutoFit/>
          </a:bodyPr>
          <a:lstStyle/>
          <a:p>
            <a:pPr algn="l">
              <a:lnSpc>
                <a:spcPct val="100000"/>
              </a:lnSpc>
            </a:pPr>
            <a:r>
              <a:rPr sz="900" b="1" i="0" dirty="0">
                <a:solidFill>
                  <a:srgbClr val="FFFFFF"/>
                </a:solidFill>
                <a:latin typeface="Segoe UI"/>
                <a:cs typeface="Segoe UI"/>
              </a:rPr>
              <a:t>Preview training — distilled</a:t>
            </a:r>
          </a:p>
        </p:txBody>
      </p:sp>
      <p:sp>
        <p:nvSpPr>
          <p:cNvPr id="38" name="Rectangle 37"/>
          <p:cNvSpPr/>
          <p:nvPr/>
        </p:nvSpPr>
        <p:spPr>
          <a:xfrm>
            <a:off x="457200" y="3767328"/>
            <a:ext cx="11277295" cy="420624"/>
          </a:xfrm>
          <a:prstGeom prst="rect">
            <a:avLst/>
          </a:prstGeom>
          <a:solidFill>
            <a:srgbClr val="F6F8FD"/>
          </a:solidFill>
          <a:ln>
            <a:noFill/>
          </a:ln>
          <a:effectLst/>
        </p:spPr>
        <p:txBody>
          <a:bodyPr wrap="square" rtlCol="0" anchor="ctr"/>
          <a:lstStyle/>
          <a:p>
            <a:endParaRPr/>
          </a:p>
        </p:txBody>
      </p:sp>
      <p:cxnSp>
        <p:nvCxnSpPr>
          <p:cNvPr id="39" name="Connector 38"/>
          <p:cNvCxnSpPr/>
          <p:nvPr/>
        </p:nvCxnSpPr>
        <p:spPr>
          <a:xfrm>
            <a:off x="457200" y="4187952"/>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85216" y="3817620"/>
            <a:ext cx="2487094" cy="33832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What the rebuild does</a:t>
            </a:r>
          </a:p>
        </p:txBody>
      </p:sp>
      <p:sp>
        <p:nvSpPr>
          <p:cNvPr id="41" name="TextBox 40"/>
          <p:cNvSpPr txBox="1"/>
          <p:nvPr/>
        </p:nvSpPr>
        <p:spPr>
          <a:xfrm>
            <a:off x="3291766" y="3817620"/>
            <a:ext cx="3840370"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Builds the analyzer so it uses the labelled samples</a:t>
            </a:r>
          </a:p>
        </p:txBody>
      </p:sp>
      <p:sp>
        <p:nvSpPr>
          <p:cNvPr id="42" name="TextBox 41"/>
          <p:cNvSpPr txBox="1"/>
          <p:nvPr/>
        </p:nvSpPr>
        <p:spPr>
          <a:xfrm>
            <a:off x="7351593" y="3817620"/>
            <a:ext cx="4291462"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Distils the patterns and domain context out of the samples and into the analyzer</a:t>
            </a:r>
          </a:p>
        </p:txBody>
      </p:sp>
      <p:cxnSp>
        <p:nvCxnSpPr>
          <p:cNvPr id="43" name="Connector 42"/>
          <p:cNvCxnSpPr/>
          <p:nvPr/>
        </p:nvCxnSpPr>
        <p:spPr>
          <a:xfrm>
            <a:off x="457200" y="4553712"/>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85216" y="4238244"/>
            <a:ext cx="2487094"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Labelled documents afterwards</a:t>
            </a:r>
          </a:p>
        </p:txBody>
      </p:sp>
      <p:sp>
        <p:nvSpPr>
          <p:cNvPr id="45" name="TextBox 44"/>
          <p:cNvSpPr txBox="1"/>
          <p:nvPr/>
        </p:nvSpPr>
        <p:spPr>
          <a:xfrm>
            <a:off x="3291766" y="4238244"/>
            <a:ext cx="3840370"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Included in and needed by the built analyzer</a:t>
            </a:r>
          </a:p>
        </p:txBody>
      </p:sp>
      <p:sp>
        <p:nvSpPr>
          <p:cNvPr id="46" name="TextBox 45"/>
          <p:cNvSpPr txBox="1"/>
          <p:nvPr/>
        </p:nvSpPr>
        <p:spPr>
          <a:xfrm>
            <a:off x="7351593" y="4238244"/>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Neither included in nor retained by the built analyzer</a:t>
            </a:r>
          </a:p>
        </p:txBody>
      </p:sp>
      <p:sp>
        <p:nvSpPr>
          <p:cNvPr id="47" name="Rectangle 46"/>
          <p:cNvSpPr/>
          <p:nvPr/>
        </p:nvSpPr>
        <p:spPr>
          <a:xfrm>
            <a:off x="457200" y="4553712"/>
            <a:ext cx="11277295" cy="329184"/>
          </a:xfrm>
          <a:prstGeom prst="rect">
            <a:avLst/>
          </a:prstGeom>
          <a:solidFill>
            <a:srgbClr val="F6F8FD"/>
          </a:solidFill>
          <a:ln>
            <a:noFill/>
          </a:ln>
          <a:effectLst/>
        </p:spPr>
        <p:txBody>
          <a:bodyPr wrap="square" rtlCol="0" anchor="ctr"/>
          <a:lstStyle/>
          <a:p>
            <a:endParaRPr/>
          </a:p>
        </p:txBody>
      </p:sp>
      <p:cxnSp>
        <p:nvCxnSpPr>
          <p:cNvPr id="48" name="Connector 47"/>
          <p:cNvCxnSpPr/>
          <p:nvPr/>
        </p:nvCxnSpPr>
        <p:spPr>
          <a:xfrm>
            <a:off x="457200" y="4882896"/>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85216" y="4604004"/>
            <a:ext cx="2487094" cy="24688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At analysis time</a:t>
            </a:r>
          </a:p>
        </p:txBody>
      </p:sp>
      <p:sp>
        <p:nvSpPr>
          <p:cNvPr id="50" name="TextBox 49"/>
          <p:cNvSpPr txBox="1"/>
          <p:nvPr/>
        </p:nvSpPr>
        <p:spPr>
          <a:xfrm>
            <a:off x="3291766" y="4604004"/>
            <a:ext cx="3840370"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The analyzer needs access to the labelled documents</a:t>
            </a:r>
          </a:p>
        </p:txBody>
      </p:sp>
      <p:sp>
        <p:nvSpPr>
          <p:cNvPr id="51" name="TextBox 50"/>
          <p:cNvSpPr txBox="1"/>
          <p:nvPr/>
        </p:nvSpPr>
        <p:spPr>
          <a:xfrm>
            <a:off x="7351593" y="4604004"/>
            <a:ext cx="4291462"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 access to the labelled documents is required</a:t>
            </a:r>
          </a:p>
        </p:txBody>
      </p:sp>
      <p:cxnSp>
        <p:nvCxnSpPr>
          <p:cNvPr id="52" name="Connector 51"/>
          <p:cNvCxnSpPr/>
          <p:nvPr/>
        </p:nvCxnSpPr>
        <p:spPr>
          <a:xfrm>
            <a:off x="457200" y="5212080"/>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85216" y="4933188"/>
            <a:ext cx="2487094" cy="24688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Tokens per analysis</a:t>
            </a:r>
          </a:p>
        </p:txBody>
      </p:sp>
      <p:sp>
        <p:nvSpPr>
          <p:cNvPr id="54" name="TextBox 53"/>
          <p:cNvSpPr txBox="1"/>
          <p:nvPr/>
        </p:nvSpPr>
        <p:spPr>
          <a:xfrm>
            <a:off x="3291766" y="4933188"/>
            <a:ext cx="3840370"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Baseline</a:t>
            </a:r>
          </a:p>
        </p:txBody>
      </p:sp>
      <p:sp>
        <p:nvSpPr>
          <p:cNvPr id="55" name="TextBox 54"/>
          <p:cNvSpPr txBox="1"/>
          <p:nvPr/>
        </p:nvSpPr>
        <p:spPr>
          <a:xfrm>
            <a:off x="7351593" y="4933188"/>
            <a:ext cx="4291462"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Lower — the analyzer carries patterns, not documents</a:t>
            </a:r>
          </a:p>
        </p:txBody>
      </p:sp>
      <p:cxnSp>
        <p:nvCxnSpPr>
          <p:cNvPr id="56" name="Connector 55"/>
          <p:cNvCxnSpPr/>
          <p:nvPr/>
        </p:nvCxnSpPr>
        <p:spPr>
          <a:xfrm>
            <a:off x="3163750" y="3767328"/>
            <a:ext cx="0" cy="1444752"/>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223577" y="3767328"/>
            <a:ext cx="0" cy="1444752"/>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457200" y="5175504"/>
            <a:ext cx="6876288" cy="384048"/>
          </a:xfrm>
          <a:prstGeom prst="rect">
            <a:avLst/>
          </a:prstGeom>
          <a:solidFill>
            <a:srgbClr val="EBEFF7"/>
          </a:solidFill>
          <a:ln>
            <a:noFill/>
          </a:ln>
          <a:effectLst/>
        </p:spPr>
        <p:txBody>
          <a:bodyPr wrap="square" rtlCol="0" anchor="ctr"/>
          <a:lstStyle/>
          <a:p>
            <a:endParaRPr/>
          </a:p>
        </p:txBody>
      </p:sp>
      <p:sp>
        <p:nvSpPr>
          <p:cNvPr id="59" name="Rectangle 58"/>
          <p:cNvSpPr/>
          <p:nvPr/>
        </p:nvSpPr>
        <p:spPr>
          <a:xfrm>
            <a:off x="457200" y="5175504"/>
            <a:ext cx="41148" cy="384048"/>
          </a:xfrm>
          <a:prstGeom prst="rect">
            <a:avLst/>
          </a:prstGeom>
          <a:solidFill>
            <a:srgbClr val="00B39F"/>
          </a:solidFill>
          <a:ln>
            <a:noFill/>
          </a:ln>
          <a:effectLst/>
        </p:spPr>
        <p:txBody>
          <a:bodyPr wrap="square" rtlCol="0" anchor="ctr"/>
          <a:lstStyle/>
          <a:p>
            <a:endParaRPr/>
          </a:p>
        </p:txBody>
      </p:sp>
      <p:sp>
        <p:nvSpPr>
          <p:cNvPr id="60" name="TextBox 59"/>
          <p:cNvSpPr txBox="1"/>
          <p:nvPr/>
        </p:nvSpPr>
        <p:spPr>
          <a:xfrm>
            <a:off x="694944" y="5276088"/>
            <a:ext cx="6455664" cy="201167"/>
          </a:xfrm>
          <a:prstGeom prst="rect">
            <a:avLst/>
          </a:prstGeom>
          <a:noFill/>
        </p:spPr>
        <p:txBody>
          <a:bodyPr wrap="square" lIns="0" tIns="0" rIns="0" bIns="0" anchor="t">
            <a:spAutoFit/>
          </a:bodyPr>
          <a:lstStyle/>
          <a:p>
            <a:pPr algn="l">
              <a:lnSpc>
                <a:spcPct val="120000"/>
              </a:lnSpc>
            </a:pPr>
            <a:r>
              <a:rPr lang="en-US" sz="850" b="0" i="0" dirty="0">
                <a:solidFill>
                  <a:srgbClr val="101A3C"/>
                </a:solidFill>
                <a:latin typeface="Segoe UI"/>
                <a:cs typeface="Segoe UI"/>
              </a:rPr>
              <a:t>Labelled documents stay in the storage account of the Content Understanding Studio project, for design purposes only.</a:t>
            </a:r>
            <a:endParaRPr sz="850" b="0" i="0" dirty="0">
              <a:solidFill>
                <a:srgbClr val="101A3C"/>
              </a:solidFill>
              <a:latin typeface="Segoe UI"/>
              <a:cs typeface="Segoe UI"/>
            </a:endParaRPr>
          </a:p>
        </p:txBody>
      </p:sp>
      <p:sp>
        <p:nvSpPr>
          <p:cNvPr id="61" name="Rectangle 60"/>
          <p:cNvSpPr/>
          <p:nvPr/>
        </p:nvSpPr>
        <p:spPr>
          <a:xfrm>
            <a:off x="7955279" y="5175504"/>
            <a:ext cx="3776472" cy="384048"/>
          </a:xfrm>
          <a:prstGeom prst="rect">
            <a:avLst/>
          </a:prstGeom>
          <a:solidFill>
            <a:srgbClr val="FFFFFF"/>
          </a:solidFill>
          <a:ln w="9525">
            <a:solidFill>
              <a:srgbClr val="E1E7F4"/>
            </a:solidFill>
          </a:ln>
          <a:effectLst/>
        </p:spPr>
        <p:txBody>
          <a:bodyPr wrap="square" rtlCol="0" anchor="ctr"/>
          <a:lstStyle/>
          <a:p>
            <a:endParaRPr/>
          </a:p>
        </p:txBody>
      </p:sp>
      <p:sp>
        <p:nvSpPr>
          <p:cNvPr id="62" name="TextBox 61"/>
          <p:cNvSpPr txBox="1"/>
          <p:nvPr/>
        </p:nvSpPr>
        <p:spPr>
          <a:xfrm>
            <a:off x="8119872" y="5239512"/>
            <a:ext cx="3474720" cy="256032"/>
          </a:xfrm>
          <a:prstGeom prst="rect">
            <a:avLst/>
          </a:prstGeom>
          <a:noFill/>
        </p:spPr>
        <p:txBody>
          <a:bodyPr wrap="square" lIns="0" tIns="0" rIns="0" bIns="0" anchor="t">
            <a:spAutoFit/>
          </a:bodyPr>
          <a:lstStyle/>
          <a:p>
            <a:pPr algn="l">
              <a:lnSpc>
                <a:spcPct val="114000"/>
              </a:lnSpc>
            </a:pPr>
            <a:r>
              <a:rPr sz="750" b="0" i="0" dirty="0">
                <a:solidFill>
                  <a:srgbClr val="44495B"/>
                </a:solidFill>
                <a:latin typeface="Segoe UI"/>
                <a:cs typeface="Segoe UI"/>
              </a:rPr>
              <a:t>Not for: fields that use generate · anything but documents · fixing misread characters</a:t>
            </a:r>
          </a:p>
        </p:txBody>
      </p:sp>
      <p:sp>
        <p:nvSpPr>
          <p:cNvPr id="63" name="TextBox 62"/>
          <p:cNvSpPr txBox="1"/>
          <p:nvPr/>
        </p:nvSpPr>
        <p:spPr>
          <a:xfrm>
            <a:off x="457200" y="5632704"/>
            <a:ext cx="7315200" cy="146304"/>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 preview — no service level agreement. Labelled training exists in both API versions.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 BETWEEN TOOLS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Compared with Azure Document Intelligence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The same portfolio and the same brand, but two services and two APIs — and Microsoft publishes when to use each</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learn.microsoft.com/azure/ai-services/content-understanding/choosing-right-ai-tool</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10</a:t>
            </a:r>
          </a:p>
        </p:txBody>
      </p:sp>
      <p:sp>
        <p:nvSpPr>
          <p:cNvPr id="7" name="Rectangle 6"/>
          <p:cNvSpPr/>
          <p:nvPr/>
        </p:nvSpPr>
        <p:spPr>
          <a:xfrm>
            <a:off x="457200" y="1353312"/>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2298124"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Criterion</a:t>
            </a:r>
          </a:p>
        </p:txBody>
      </p:sp>
      <p:sp>
        <p:nvSpPr>
          <p:cNvPr id="9" name="TextBox 8"/>
          <p:cNvSpPr txBox="1"/>
          <p:nvPr/>
        </p:nvSpPr>
        <p:spPr>
          <a:xfrm>
            <a:off x="3066220" y="1431036"/>
            <a:ext cx="4328038"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Content Understanding</a:t>
            </a:r>
          </a:p>
        </p:txBody>
      </p:sp>
      <p:sp>
        <p:nvSpPr>
          <p:cNvPr id="10" name="TextBox 9"/>
          <p:cNvSpPr txBox="1"/>
          <p:nvPr/>
        </p:nvSpPr>
        <p:spPr>
          <a:xfrm>
            <a:off x="7577139" y="1431036"/>
            <a:ext cx="4102492"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Document Intelligence</a:t>
            </a:r>
          </a:p>
        </p:txBody>
      </p:sp>
      <p:sp>
        <p:nvSpPr>
          <p:cNvPr id="11" name="Rectangle 10"/>
          <p:cNvSpPr/>
          <p:nvPr/>
        </p:nvSpPr>
        <p:spPr>
          <a:xfrm>
            <a:off x="457200" y="1664208"/>
            <a:ext cx="11277295" cy="420624"/>
          </a:xfrm>
          <a:prstGeom prst="rect">
            <a:avLst/>
          </a:prstGeom>
          <a:solidFill>
            <a:srgbClr val="F6F8FD"/>
          </a:solidFill>
          <a:ln>
            <a:noFill/>
          </a:ln>
          <a:effectLst/>
        </p:spPr>
        <p:txBody>
          <a:bodyPr wrap="square" rtlCol="0" anchor="ctr"/>
          <a:lstStyle/>
          <a:p>
            <a:endParaRPr/>
          </a:p>
        </p:txBody>
      </p:sp>
      <p:cxnSp>
        <p:nvCxnSpPr>
          <p:cNvPr id="12" name="Connector 11"/>
          <p:cNvCxnSpPr/>
          <p:nvPr/>
        </p:nvCxnSpPr>
        <p:spPr>
          <a:xfrm>
            <a:off x="457200" y="2084832"/>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5216" y="1714500"/>
            <a:ext cx="2261548" cy="33832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What it is best at</a:t>
            </a:r>
          </a:p>
        </p:txBody>
      </p:sp>
      <p:sp>
        <p:nvSpPr>
          <p:cNvPr id="14" name="TextBox 13"/>
          <p:cNvSpPr txBox="1"/>
          <p:nvPr/>
        </p:nvSpPr>
        <p:spPr>
          <a:xfrm>
            <a:off x="3066220" y="1714500"/>
            <a:ext cx="4291462"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Complex, unstructured and multimodal content, and inferred values</a:t>
            </a:r>
          </a:p>
        </p:txBody>
      </p:sp>
      <p:sp>
        <p:nvSpPr>
          <p:cNvPr id="15" name="TextBox 14"/>
          <p:cNvSpPr txBox="1"/>
          <p:nvPr/>
        </p:nvSpPr>
        <p:spPr>
          <a:xfrm>
            <a:off x="7577139" y="1714500"/>
            <a:ext cx="4065916"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Deterministic, high-accuracy extraction from structured and templated forms</a:t>
            </a:r>
          </a:p>
        </p:txBody>
      </p:sp>
      <p:cxnSp>
        <p:nvCxnSpPr>
          <p:cNvPr id="16" name="Connector 15"/>
          <p:cNvCxnSpPr/>
          <p:nvPr/>
        </p:nvCxnSpPr>
        <p:spPr>
          <a:xfrm>
            <a:off x="457200" y="2450592"/>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85216" y="2135124"/>
            <a:ext cx="2261548"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Content types</a:t>
            </a:r>
          </a:p>
        </p:txBody>
      </p:sp>
      <p:sp>
        <p:nvSpPr>
          <p:cNvPr id="18" name="TextBox 17"/>
          <p:cNvSpPr txBox="1"/>
          <p:nvPr/>
        </p:nvSpPr>
        <p:spPr>
          <a:xfrm>
            <a:off x="3066220" y="2135124"/>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Documents, images, audio and video</a:t>
            </a:r>
          </a:p>
        </p:txBody>
      </p:sp>
      <p:sp>
        <p:nvSpPr>
          <p:cNvPr id="19" name="TextBox 18"/>
          <p:cNvSpPr txBox="1"/>
          <p:nvPr/>
        </p:nvSpPr>
        <p:spPr>
          <a:xfrm>
            <a:off x="7577139" y="2135124"/>
            <a:ext cx="4065916"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Documents, forms and images</a:t>
            </a:r>
          </a:p>
        </p:txBody>
      </p:sp>
      <p:sp>
        <p:nvSpPr>
          <p:cNvPr id="20" name="Rectangle 19"/>
          <p:cNvSpPr/>
          <p:nvPr/>
        </p:nvSpPr>
        <p:spPr>
          <a:xfrm>
            <a:off x="457200" y="2450592"/>
            <a:ext cx="11277295" cy="420624"/>
          </a:xfrm>
          <a:prstGeom prst="rect">
            <a:avLst/>
          </a:prstGeom>
          <a:solidFill>
            <a:srgbClr val="F6F8FD"/>
          </a:solidFill>
          <a:ln>
            <a:noFill/>
          </a:ln>
          <a:effectLst/>
        </p:spPr>
        <p:txBody>
          <a:bodyPr wrap="square" rtlCol="0" anchor="ctr"/>
          <a:lstStyle/>
          <a:p>
            <a:endParaRPr/>
          </a:p>
        </p:txBody>
      </p:sp>
      <p:cxnSp>
        <p:nvCxnSpPr>
          <p:cNvPr id="21" name="Connector 20"/>
          <p:cNvCxnSpPr/>
          <p:nvPr/>
        </p:nvCxnSpPr>
        <p:spPr>
          <a:xfrm>
            <a:off x="457200" y="2871216"/>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5216" y="2500884"/>
            <a:ext cx="2261548" cy="33832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Defining what to extract</a:t>
            </a:r>
          </a:p>
        </p:txBody>
      </p:sp>
      <p:sp>
        <p:nvSpPr>
          <p:cNvPr id="23" name="TextBox 22"/>
          <p:cNvSpPr txBox="1"/>
          <p:nvPr/>
        </p:nvSpPr>
        <p:spPr>
          <a:xfrm>
            <a:off x="3066220" y="2500884"/>
            <a:ext cx="4291462"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Describe fields in plain language; no labelling needed to start</a:t>
            </a:r>
          </a:p>
        </p:txBody>
      </p:sp>
      <p:sp>
        <p:nvSpPr>
          <p:cNvPr id="24" name="TextBox 23"/>
          <p:cNvSpPr txBox="1"/>
          <p:nvPr/>
        </p:nvSpPr>
        <p:spPr>
          <a:xfrm>
            <a:off x="7577139" y="2500884"/>
            <a:ext cx="4065916"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 fixed prebuilt schema, or a custom model trained on labelled samples</a:t>
            </a:r>
          </a:p>
        </p:txBody>
      </p:sp>
      <p:cxnSp>
        <p:nvCxnSpPr>
          <p:cNvPr id="25" name="Connector 24"/>
          <p:cNvCxnSpPr/>
          <p:nvPr/>
        </p:nvCxnSpPr>
        <p:spPr>
          <a:xfrm>
            <a:off x="457200" y="3291840"/>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85216" y="2921508"/>
            <a:ext cx="2261548" cy="33832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Training</a:t>
            </a:r>
          </a:p>
        </p:txBody>
      </p:sp>
      <p:sp>
        <p:nvSpPr>
          <p:cNvPr id="27" name="TextBox 26"/>
          <p:cNvSpPr txBox="1"/>
          <p:nvPr/>
        </p:nvSpPr>
        <p:spPr>
          <a:xfrm>
            <a:off x="3066220" y="2921508"/>
            <a:ext cx="4291462"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None to start; labelled samples optional to improve accuracy</a:t>
            </a:r>
          </a:p>
        </p:txBody>
      </p:sp>
      <p:sp>
        <p:nvSpPr>
          <p:cNvPr id="28" name="TextBox 27"/>
          <p:cNvSpPr txBox="1"/>
          <p:nvPr/>
        </p:nvSpPr>
        <p:spPr>
          <a:xfrm>
            <a:off x="7577139" y="2921508"/>
            <a:ext cx="4065916"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Custom models need at least five labelled samples</a:t>
            </a:r>
          </a:p>
        </p:txBody>
      </p:sp>
      <p:sp>
        <p:nvSpPr>
          <p:cNvPr id="29" name="Rectangle 28"/>
          <p:cNvSpPr/>
          <p:nvPr/>
        </p:nvSpPr>
        <p:spPr>
          <a:xfrm>
            <a:off x="457200" y="3291840"/>
            <a:ext cx="11277295" cy="420624"/>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3712464"/>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85216" y="3342132"/>
            <a:ext cx="2261548" cy="33832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Values not written on the page</a:t>
            </a:r>
          </a:p>
        </p:txBody>
      </p:sp>
      <p:sp>
        <p:nvSpPr>
          <p:cNvPr id="32" name="TextBox 31"/>
          <p:cNvSpPr txBox="1"/>
          <p:nvPr/>
        </p:nvSpPr>
        <p:spPr>
          <a:xfrm>
            <a:off x="3066220" y="3342132"/>
            <a:ext cx="4291462"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Can infer them — for example an end date from a start date and a term</a:t>
            </a:r>
          </a:p>
        </p:txBody>
      </p:sp>
      <p:sp>
        <p:nvSpPr>
          <p:cNvPr id="33" name="TextBox 32"/>
          <p:cNvSpPr txBox="1"/>
          <p:nvPr/>
        </p:nvSpPr>
        <p:spPr>
          <a:xfrm>
            <a:off x="7577139" y="3342132"/>
            <a:ext cx="4065916" cy="33832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 — extraction is deterministic</a:t>
            </a:r>
          </a:p>
        </p:txBody>
      </p:sp>
      <p:cxnSp>
        <p:nvCxnSpPr>
          <p:cNvPr id="34" name="Connector 33"/>
          <p:cNvCxnSpPr/>
          <p:nvPr/>
        </p:nvCxnSpPr>
        <p:spPr>
          <a:xfrm>
            <a:off x="457200" y="4078224"/>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85216" y="3762756"/>
            <a:ext cx="2261548"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Models</a:t>
            </a:r>
          </a:p>
        </p:txBody>
      </p:sp>
      <p:sp>
        <p:nvSpPr>
          <p:cNvPr id="36" name="TextBox 35"/>
          <p:cNvSpPr txBox="1"/>
          <p:nvPr/>
        </p:nvSpPr>
        <p:spPr>
          <a:xfrm>
            <a:off x="3066220" y="3762756"/>
            <a:ext cx="4291462" cy="283464"/>
          </a:xfrm>
          <a:prstGeom prst="rect">
            <a:avLst/>
          </a:prstGeom>
          <a:noFill/>
        </p:spPr>
        <p:txBody>
          <a:bodyPr wrap="square" lIns="0" tIns="0" rIns="0" bIns="0" anchor="ctr">
            <a:spAutoFit/>
          </a:bodyPr>
          <a:lstStyle/>
          <a:p>
            <a:pPr algn="l">
              <a:lnSpc>
                <a:spcPct val="112000"/>
              </a:lnSpc>
            </a:pPr>
            <a:r>
              <a:rPr lang="en-US" sz="850" b="0" i="0" dirty="0">
                <a:solidFill>
                  <a:srgbClr val="44495B"/>
                </a:solidFill>
                <a:latin typeface="Segoe UI"/>
                <a:cs typeface="Segoe UI"/>
              </a:rPr>
              <a:t>Customer-owned Foundry model deployments</a:t>
            </a:r>
            <a:endParaRPr sz="850" b="0" i="0" dirty="0">
              <a:solidFill>
                <a:srgbClr val="44495B"/>
              </a:solidFill>
              <a:latin typeface="Segoe UI"/>
              <a:cs typeface="Segoe UI"/>
            </a:endParaRPr>
          </a:p>
        </p:txBody>
      </p:sp>
      <p:sp>
        <p:nvSpPr>
          <p:cNvPr id="37" name="TextBox 36"/>
          <p:cNvSpPr txBox="1"/>
          <p:nvPr/>
        </p:nvSpPr>
        <p:spPr>
          <a:xfrm>
            <a:off x="7577139" y="3762756"/>
            <a:ext cx="4065916"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Managed by the service</a:t>
            </a:r>
          </a:p>
        </p:txBody>
      </p:sp>
      <p:sp>
        <p:nvSpPr>
          <p:cNvPr id="38" name="Rectangle 37"/>
          <p:cNvSpPr/>
          <p:nvPr/>
        </p:nvSpPr>
        <p:spPr>
          <a:xfrm>
            <a:off x="457200" y="4078224"/>
            <a:ext cx="11277295" cy="365760"/>
          </a:xfrm>
          <a:prstGeom prst="rect">
            <a:avLst/>
          </a:prstGeom>
          <a:solidFill>
            <a:srgbClr val="F6F8FD"/>
          </a:solidFill>
          <a:ln>
            <a:noFill/>
          </a:ln>
          <a:effectLst/>
        </p:spPr>
        <p:txBody>
          <a:bodyPr wrap="square" rtlCol="0" anchor="ctr"/>
          <a:lstStyle/>
          <a:p>
            <a:endParaRPr/>
          </a:p>
        </p:txBody>
      </p:sp>
      <p:cxnSp>
        <p:nvCxnSpPr>
          <p:cNvPr id="39" name="Connector 38"/>
          <p:cNvCxnSpPr/>
          <p:nvPr/>
        </p:nvCxnSpPr>
        <p:spPr>
          <a:xfrm>
            <a:off x="457200" y="4443984"/>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85216" y="4128516"/>
            <a:ext cx="2261548"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Where it can run</a:t>
            </a:r>
          </a:p>
        </p:txBody>
      </p:sp>
      <p:sp>
        <p:nvSpPr>
          <p:cNvPr id="41" name="TextBox 40"/>
          <p:cNvSpPr txBox="1"/>
          <p:nvPr/>
        </p:nvSpPr>
        <p:spPr>
          <a:xfrm>
            <a:off x="3066220" y="4128516"/>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Cloud only</a:t>
            </a:r>
          </a:p>
        </p:txBody>
      </p:sp>
      <p:sp>
        <p:nvSpPr>
          <p:cNvPr id="42" name="TextBox 41"/>
          <p:cNvSpPr txBox="1"/>
          <p:nvPr/>
        </p:nvSpPr>
        <p:spPr>
          <a:xfrm>
            <a:off x="7577139" y="4128516"/>
            <a:ext cx="4065916"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Cloud, and in containers for on-premises or disconnected use</a:t>
            </a:r>
          </a:p>
        </p:txBody>
      </p:sp>
      <p:cxnSp>
        <p:nvCxnSpPr>
          <p:cNvPr id="43" name="Connector 42"/>
          <p:cNvCxnSpPr/>
          <p:nvPr/>
        </p:nvCxnSpPr>
        <p:spPr>
          <a:xfrm>
            <a:off x="2938204" y="1664208"/>
            <a:ext cx="0" cy="2779776"/>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449123" y="1664208"/>
            <a:ext cx="0" cy="2779776"/>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57200" y="4608576"/>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MICROSOFT’S OWN GUIDANCE ON WHICH TO CHOOSE</a:t>
            </a:r>
          </a:p>
        </p:txBody>
      </p:sp>
      <p:sp>
        <p:nvSpPr>
          <p:cNvPr id="46" name="Rectangle 45"/>
          <p:cNvSpPr/>
          <p:nvPr/>
        </p:nvSpPr>
        <p:spPr>
          <a:xfrm>
            <a:off x="457200" y="4864608"/>
            <a:ext cx="5504688" cy="402336"/>
          </a:xfrm>
          <a:prstGeom prst="rect">
            <a:avLst/>
          </a:prstGeom>
          <a:solidFill>
            <a:srgbClr val="F6F8FD"/>
          </a:solidFill>
          <a:ln w="9525">
            <a:solidFill>
              <a:srgbClr val="E1E7F4"/>
            </a:solidFill>
          </a:ln>
          <a:effectLst/>
        </p:spPr>
        <p:txBody>
          <a:bodyPr wrap="square" rtlCol="0" anchor="ctr"/>
          <a:lstStyle/>
          <a:p>
            <a:endParaRPr/>
          </a:p>
        </p:txBody>
      </p:sp>
      <p:sp>
        <p:nvSpPr>
          <p:cNvPr id="47" name="TextBox 46"/>
          <p:cNvSpPr txBox="1"/>
          <p:nvPr/>
        </p:nvSpPr>
        <p:spPr>
          <a:xfrm>
            <a:off x="603504" y="4901184"/>
            <a:ext cx="1737360"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Reading text or layout only</a:t>
            </a:r>
          </a:p>
        </p:txBody>
      </p:sp>
      <p:sp>
        <p:nvSpPr>
          <p:cNvPr id="48" name="TextBox 47"/>
          <p:cNvSpPr txBox="1"/>
          <p:nvPr/>
        </p:nvSpPr>
        <p:spPr>
          <a:xfrm>
            <a:off x="2395728" y="4901184"/>
            <a:ext cx="1572768" cy="329184"/>
          </a:xfrm>
          <a:prstGeom prst="rect">
            <a:avLst/>
          </a:prstGeom>
          <a:noFill/>
        </p:spPr>
        <p:txBody>
          <a:bodyPr wrap="square" lIns="0" tIns="0" rIns="0" bIns="0" anchor="ctr">
            <a:spAutoFit/>
          </a:bodyPr>
          <a:lstStyle/>
          <a:p>
            <a:pPr algn="l">
              <a:lnSpc>
                <a:spcPct val="108000"/>
              </a:lnSpc>
            </a:pPr>
            <a:r>
              <a:rPr sz="850" b="1" i="0" dirty="0">
                <a:solidFill>
                  <a:srgbClr val="008173"/>
                </a:solidFill>
                <a:latin typeface="Segoe UI"/>
                <a:cs typeface="Segoe UI"/>
              </a:rPr>
              <a:t>Content Understanding</a:t>
            </a:r>
          </a:p>
        </p:txBody>
      </p:sp>
      <p:sp>
        <p:nvSpPr>
          <p:cNvPr id="49" name="TextBox 48"/>
          <p:cNvSpPr txBox="1"/>
          <p:nvPr/>
        </p:nvSpPr>
        <p:spPr>
          <a:xfrm>
            <a:off x="4041648" y="4901184"/>
            <a:ext cx="1792224" cy="32918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lower cost and richer layout output</a:t>
            </a:r>
          </a:p>
        </p:txBody>
      </p:sp>
      <p:sp>
        <p:nvSpPr>
          <p:cNvPr id="50" name="Rectangle 49"/>
          <p:cNvSpPr/>
          <p:nvPr/>
        </p:nvSpPr>
        <p:spPr>
          <a:xfrm>
            <a:off x="6163056" y="4864608"/>
            <a:ext cx="5504688" cy="402336"/>
          </a:xfrm>
          <a:prstGeom prst="rect">
            <a:avLst/>
          </a:prstGeom>
          <a:solidFill>
            <a:srgbClr val="FFFFFF"/>
          </a:solidFill>
          <a:ln w="9525">
            <a:solidFill>
              <a:srgbClr val="E1E7F4"/>
            </a:solidFill>
          </a:ln>
          <a:effectLst/>
        </p:spPr>
        <p:txBody>
          <a:bodyPr wrap="square" rtlCol="0" anchor="ctr"/>
          <a:lstStyle/>
          <a:p>
            <a:endParaRPr/>
          </a:p>
        </p:txBody>
      </p:sp>
      <p:sp>
        <p:nvSpPr>
          <p:cNvPr id="51" name="TextBox 50"/>
          <p:cNvSpPr txBox="1"/>
          <p:nvPr/>
        </p:nvSpPr>
        <p:spPr>
          <a:xfrm>
            <a:off x="6309360" y="4901184"/>
            <a:ext cx="1737360"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Standard structured forms</a:t>
            </a:r>
          </a:p>
        </p:txBody>
      </p:sp>
      <p:sp>
        <p:nvSpPr>
          <p:cNvPr id="52" name="TextBox 51"/>
          <p:cNvSpPr txBox="1"/>
          <p:nvPr/>
        </p:nvSpPr>
        <p:spPr>
          <a:xfrm>
            <a:off x="8101583" y="4901184"/>
            <a:ext cx="1572768" cy="329184"/>
          </a:xfrm>
          <a:prstGeom prst="rect">
            <a:avLst/>
          </a:prstGeom>
          <a:noFill/>
        </p:spPr>
        <p:txBody>
          <a:bodyPr wrap="square" lIns="0" tIns="0" rIns="0" bIns="0" anchor="ctr">
            <a:spAutoFit/>
          </a:bodyPr>
          <a:lstStyle/>
          <a:p>
            <a:pPr algn="l">
              <a:lnSpc>
                <a:spcPct val="108000"/>
              </a:lnSpc>
            </a:pPr>
            <a:r>
              <a:rPr sz="850" b="1" i="0" dirty="0">
                <a:solidFill>
                  <a:srgbClr val="008173"/>
                </a:solidFill>
                <a:latin typeface="Segoe UI"/>
                <a:cs typeface="Segoe UI"/>
              </a:rPr>
              <a:t>Document Intelligence</a:t>
            </a:r>
          </a:p>
        </p:txBody>
      </p:sp>
      <p:sp>
        <p:nvSpPr>
          <p:cNvPr id="53" name="TextBox 52"/>
          <p:cNvSpPr txBox="1"/>
          <p:nvPr/>
        </p:nvSpPr>
        <p:spPr>
          <a:xfrm>
            <a:off x="9747504" y="4901184"/>
            <a:ext cx="1792224" cy="32918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invoices, receipts, identity and tax documents</a:t>
            </a:r>
          </a:p>
        </p:txBody>
      </p:sp>
      <p:sp>
        <p:nvSpPr>
          <p:cNvPr id="54" name="Rectangle 53"/>
          <p:cNvSpPr/>
          <p:nvPr/>
        </p:nvSpPr>
        <p:spPr>
          <a:xfrm>
            <a:off x="457200" y="5321808"/>
            <a:ext cx="5504688" cy="402336"/>
          </a:xfrm>
          <a:prstGeom prst="rect">
            <a:avLst/>
          </a:prstGeom>
          <a:solidFill>
            <a:srgbClr val="F6F8FD"/>
          </a:solidFill>
          <a:ln w="9525">
            <a:solidFill>
              <a:srgbClr val="E1E7F4"/>
            </a:solidFill>
          </a:ln>
          <a:effectLst/>
        </p:spPr>
        <p:txBody>
          <a:bodyPr wrap="square" rtlCol="0" anchor="ctr"/>
          <a:lstStyle/>
          <a:p>
            <a:endParaRPr/>
          </a:p>
        </p:txBody>
      </p:sp>
      <p:sp>
        <p:nvSpPr>
          <p:cNvPr id="55" name="TextBox 54"/>
          <p:cNvSpPr txBox="1"/>
          <p:nvPr/>
        </p:nvSpPr>
        <p:spPr>
          <a:xfrm>
            <a:off x="603504" y="5358384"/>
            <a:ext cx="1737360"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Unstructured documents</a:t>
            </a:r>
          </a:p>
        </p:txBody>
      </p:sp>
      <p:sp>
        <p:nvSpPr>
          <p:cNvPr id="56" name="TextBox 55"/>
          <p:cNvSpPr txBox="1"/>
          <p:nvPr/>
        </p:nvSpPr>
        <p:spPr>
          <a:xfrm>
            <a:off x="2395728" y="5358384"/>
            <a:ext cx="1572768" cy="329184"/>
          </a:xfrm>
          <a:prstGeom prst="rect">
            <a:avLst/>
          </a:prstGeom>
          <a:noFill/>
        </p:spPr>
        <p:txBody>
          <a:bodyPr wrap="square" lIns="0" tIns="0" rIns="0" bIns="0" anchor="ctr">
            <a:spAutoFit/>
          </a:bodyPr>
          <a:lstStyle/>
          <a:p>
            <a:pPr algn="l">
              <a:lnSpc>
                <a:spcPct val="108000"/>
              </a:lnSpc>
            </a:pPr>
            <a:r>
              <a:rPr sz="850" b="1" i="0" dirty="0">
                <a:solidFill>
                  <a:srgbClr val="008173"/>
                </a:solidFill>
                <a:latin typeface="Segoe UI"/>
                <a:cs typeface="Segoe UI"/>
              </a:rPr>
              <a:t>Content Understanding</a:t>
            </a:r>
          </a:p>
        </p:txBody>
      </p:sp>
      <p:sp>
        <p:nvSpPr>
          <p:cNvPr id="57" name="TextBox 56"/>
          <p:cNvSpPr txBox="1"/>
          <p:nvPr/>
        </p:nvSpPr>
        <p:spPr>
          <a:xfrm>
            <a:off x="4041648" y="5358384"/>
            <a:ext cx="1792224" cy="32918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contracts, policies, notes — no labelling</a:t>
            </a:r>
          </a:p>
        </p:txBody>
      </p:sp>
      <p:sp>
        <p:nvSpPr>
          <p:cNvPr id="58" name="Rectangle 57"/>
          <p:cNvSpPr/>
          <p:nvPr/>
        </p:nvSpPr>
        <p:spPr>
          <a:xfrm>
            <a:off x="6163056" y="5321808"/>
            <a:ext cx="5504688" cy="402336"/>
          </a:xfrm>
          <a:prstGeom prst="rect">
            <a:avLst/>
          </a:prstGeom>
          <a:solidFill>
            <a:srgbClr val="FFFFFF"/>
          </a:solidFill>
          <a:ln w="9525">
            <a:solidFill>
              <a:srgbClr val="E1E7F4"/>
            </a:solidFill>
          </a:ln>
          <a:effectLst/>
        </p:spPr>
        <p:txBody>
          <a:bodyPr wrap="square" rtlCol="0" anchor="ctr"/>
          <a:lstStyle/>
          <a:p>
            <a:endParaRPr/>
          </a:p>
        </p:txBody>
      </p:sp>
      <p:sp>
        <p:nvSpPr>
          <p:cNvPr id="59" name="TextBox 58"/>
          <p:cNvSpPr txBox="1"/>
          <p:nvPr/>
        </p:nvSpPr>
        <p:spPr>
          <a:xfrm>
            <a:off x="6309360" y="5358384"/>
            <a:ext cx="1737360"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On-premises or disconnected</a:t>
            </a:r>
          </a:p>
        </p:txBody>
      </p:sp>
      <p:sp>
        <p:nvSpPr>
          <p:cNvPr id="60" name="TextBox 59"/>
          <p:cNvSpPr txBox="1"/>
          <p:nvPr/>
        </p:nvSpPr>
        <p:spPr>
          <a:xfrm>
            <a:off x="8101583" y="5358384"/>
            <a:ext cx="1572768" cy="329184"/>
          </a:xfrm>
          <a:prstGeom prst="rect">
            <a:avLst/>
          </a:prstGeom>
          <a:noFill/>
        </p:spPr>
        <p:txBody>
          <a:bodyPr wrap="square" lIns="0" tIns="0" rIns="0" bIns="0" anchor="ctr">
            <a:spAutoFit/>
          </a:bodyPr>
          <a:lstStyle/>
          <a:p>
            <a:pPr algn="l">
              <a:lnSpc>
                <a:spcPct val="108000"/>
              </a:lnSpc>
            </a:pPr>
            <a:r>
              <a:rPr sz="850" b="1" i="0" dirty="0">
                <a:solidFill>
                  <a:srgbClr val="008173"/>
                </a:solidFill>
                <a:latin typeface="Segoe UI"/>
                <a:cs typeface="Segoe UI"/>
              </a:rPr>
              <a:t>Document Intelligence</a:t>
            </a:r>
          </a:p>
        </p:txBody>
      </p:sp>
      <p:sp>
        <p:nvSpPr>
          <p:cNvPr id="61" name="TextBox 60"/>
          <p:cNvSpPr txBox="1"/>
          <p:nvPr/>
        </p:nvSpPr>
        <p:spPr>
          <a:xfrm>
            <a:off x="9747504" y="5358384"/>
            <a:ext cx="1792224" cy="32918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containers are the only option today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 BETWEEN TOOLS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Compared with a standalone OCR model</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Optical character recognition converts a file to text; Content Understanding is a configured pipeline around that step</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learn.microsoft.com/azure/ai-services/content-understanding/concepts/prebuilt-analyzers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11</a:t>
            </a:r>
          </a:p>
        </p:txBody>
      </p:sp>
      <p:sp>
        <p:nvSpPr>
          <p:cNvPr id="7" name="Rectangle 6"/>
          <p:cNvSpPr/>
          <p:nvPr/>
        </p:nvSpPr>
        <p:spPr>
          <a:xfrm>
            <a:off x="457200" y="1353312"/>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2072579"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Criterion</a:t>
            </a:r>
          </a:p>
        </p:txBody>
      </p:sp>
      <p:sp>
        <p:nvSpPr>
          <p:cNvPr id="9" name="TextBox 8"/>
          <p:cNvSpPr txBox="1"/>
          <p:nvPr/>
        </p:nvSpPr>
        <p:spPr>
          <a:xfrm>
            <a:off x="2840675" y="1431036"/>
            <a:ext cx="4328038"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An OCR model — for example Mistral OCR</a:t>
            </a:r>
          </a:p>
        </p:txBody>
      </p:sp>
      <p:sp>
        <p:nvSpPr>
          <p:cNvPr id="10" name="TextBox 9"/>
          <p:cNvSpPr txBox="1"/>
          <p:nvPr/>
        </p:nvSpPr>
        <p:spPr>
          <a:xfrm>
            <a:off x="7351593" y="1431036"/>
            <a:ext cx="4328038" cy="182880"/>
          </a:xfrm>
          <a:prstGeom prst="rect">
            <a:avLst/>
          </a:prstGeom>
          <a:noFill/>
        </p:spPr>
        <p:txBody>
          <a:bodyPr wrap="none" lIns="0" tIns="0" rIns="0" bIns="0" anchor="t">
            <a:spAutoFit/>
          </a:bodyPr>
          <a:lstStyle/>
          <a:p>
            <a:pPr algn="l">
              <a:lnSpc>
                <a:spcPct val="100000"/>
              </a:lnSpc>
            </a:pPr>
            <a:r>
              <a:rPr sz="1000" b="1" i="0" dirty="0">
                <a:solidFill>
                  <a:srgbClr val="FFFFFF"/>
                </a:solidFill>
                <a:latin typeface="Segoe UI"/>
                <a:cs typeface="Segoe UI"/>
              </a:rPr>
              <a:t>Azure Content Understanding</a:t>
            </a:r>
          </a:p>
        </p:txBody>
      </p:sp>
      <p:sp>
        <p:nvSpPr>
          <p:cNvPr id="11" name="Rectangle 10"/>
          <p:cNvSpPr/>
          <p:nvPr/>
        </p:nvSpPr>
        <p:spPr>
          <a:xfrm>
            <a:off x="457200" y="1664208"/>
            <a:ext cx="11277295" cy="365760"/>
          </a:xfrm>
          <a:prstGeom prst="rect">
            <a:avLst/>
          </a:prstGeom>
          <a:solidFill>
            <a:srgbClr val="F6F8FD"/>
          </a:solidFill>
          <a:ln>
            <a:noFill/>
          </a:ln>
          <a:effectLst/>
        </p:spPr>
        <p:txBody>
          <a:bodyPr wrap="square" rtlCol="0" anchor="ctr"/>
          <a:lstStyle/>
          <a:p>
            <a:endParaRPr/>
          </a:p>
        </p:txBody>
      </p:sp>
      <p:cxnSp>
        <p:nvCxnSpPr>
          <p:cNvPr id="12" name="Connector 11"/>
          <p:cNvCxnSpPr/>
          <p:nvPr/>
        </p:nvCxnSpPr>
        <p:spPr>
          <a:xfrm>
            <a:off x="457200" y="202996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5216" y="1714500"/>
            <a:ext cx="2036003" cy="283464"/>
          </a:xfrm>
          <a:prstGeom prst="rect">
            <a:avLst/>
          </a:prstGeom>
          <a:noFill/>
        </p:spPr>
        <p:txBody>
          <a:bodyPr wrap="square" lIns="0" tIns="0" rIns="0" bIns="0" anchor="ctr">
            <a:spAutoFit/>
          </a:bodyPr>
          <a:lstStyle/>
          <a:p>
            <a:pPr algn="l">
              <a:lnSpc>
                <a:spcPct val="112000"/>
              </a:lnSpc>
            </a:pPr>
            <a:r>
              <a:rPr lang="en-US" sz="850" b="1" i="0" dirty="0">
                <a:solidFill>
                  <a:srgbClr val="101A3C"/>
                </a:solidFill>
                <a:latin typeface="Segoe UI"/>
                <a:cs typeface="Segoe UI"/>
              </a:rPr>
              <a:t>What is called</a:t>
            </a:r>
            <a:endParaRPr sz="850" b="1" i="0" dirty="0">
              <a:solidFill>
                <a:srgbClr val="101A3C"/>
              </a:solidFill>
              <a:latin typeface="Segoe UI"/>
              <a:cs typeface="Segoe UI"/>
            </a:endParaRPr>
          </a:p>
        </p:txBody>
      </p:sp>
      <p:sp>
        <p:nvSpPr>
          <p:cNvPr id="14" name="TextBox 13"/>
          <p:cNvSpPr txBox="1"/>
          <p:nvPr/>
        </p:nvSpPr>
        <p:spPr>
          <a:xfrm>
            <a:off x="2840675" y="171450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 model, once per file</a:t>
            </a:r>
          </a:p>
        </p:txBody>
      </p:sp>
      <p:sp>
        <p:nvSpPr>
          <p:cNvPr id="15" name="TextBox 14"/>
          <p:cNvSpPr txBox="1"/>
          <p:nvPr/>
        </p:nvSpPr>
        <p:spPr>
          <a:xfrm>
            <a:off x="7351593" y="1714500"/>
            <a:ext cx="4291462" cy="283464"/>
          </a:xfrm>
          <a:prstGeom prst="rect">
            <a:avLst/>
          </a:prstGeom>
          <a:noFill/>
        </p:spPr>
        <p:txBody>
          <a:bodyPr wrap="square" lIns="0" tIns="0" rIns="0" bIns="0" anchor="ctr">
            <a:spAutoFit/>
          </a:bodyPr>
          <a:lstStyle/>
          <a:p>
            <a:pPr algn="l">
              <a:lnSpc>
                <a:spcPct val="112000"/>
              </a:lnSpc>
            </a:pPr>
            <a:r>
              <a:rPr lang="en-US" sz="850" b="0" i="0" dirty="0">
                <a:solidFill>
                  <a:srgbClr val="44495B"/>
                </a:solidFill>
                <a:latin typeface="Segoe UI"/>
                <a:cs typeface="Segoe UI"/>
              </a:rPr>
              <a:t>A named, pre-created analyzer holding schema, settings and model choice</a:t>
            </a:r>
            <a:endParaRPr sz="850" b="0" i="0" dirty="0">
              <a:solidFill>
                <a:srgbClr val="44495B"/>
              </a:solidFill>
              <a:latin typeface="Segoe UI"/>
              <a:cs typeface="Segoe UI"/>
            </a:endParaRPr>
          </a:p>
        </p:txBody>
      </p:sp>
      <p:cxnSp>
        <p:nvCxnSpPr>
          <p:cNvPr id="16" name="Connector 15"/>
          <p:cNvCxnSpPr/>
          <p:nvPr/>
        </p:nvCxnSpPr>
        <p:spPr>
          <a:xfrm>
            <a:off x="457200" y="239572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85216" y="2080260"/>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What comes back</a:t>
            </a:r>
          </a:p>
        </p:txBody>
      </p:sp>
      <p:sp>
        <p:nvSpPr>
          <p:cNvPr id="18" name="TextBox 17"/>
          <p:cNvSpPr txBox="1"/>
          <p:nvPr/>
        </p:nvSpPr>
        <p:spPr>
          <a:xfrm>
            <a:off x="2840675" y="208026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Text or Markdown, with layout blocks</a:t>
            </a:r>
          </a:p>
        </p:txBody>
      </p:sp>
      <p:sp>
        <p:nvSpPr>
          <p:cNvPr id="19" name="TextBox 18"/>
          <p:cNvSpPr txBox="1"/>
          <p:nvPr/>
        </p:nvSpPr>
        <p:spPr>
          <a:xfrm>
            <a:off x="7351593" y="2080260"/>
            <a:ext cx="4291462" cy="283464"/>
          </a:xfrm>
          <a:prstGeom prst="rect">
            <a:avLst/>
          </a:prstGeom>
          <a:noFill/>
        </p:spPr>
        <p:txBody>
          <a:bodyPr wrap="square" lIns="0" tIns="0" rIns="0" bIns="0" anchor="ctr">
            <a:spAutoFit/>
          </a:bodyPr>
          <a:lstStyle/>
          <a:p>
            <a:pPr algn="l">
              <a:lnSpc>
                <a:spcPct val="112000"/>
              </a:lnSpc>
            </a:pPr>
            <a:r>
              <a:rPr lang="en-US" sz="850" b="0" i="0" dirty="0">
                <a:solidFill>
                  <a:srgbClr val="44495B"/>
                </a:solidFill>
                <a:latin typeface="Segoe UI"/>
                <a:cs typeface="Segoe UI"/>
              </a:rPr>
              <a:t>Markdown, plus typed JSON matching the defined schema</a:t>
            </a:r>
            <a:endParaRPr sz="850" b="0" i="0" dirty="0">
              <a:solidFill>
                <a:srgbClr val="44495B"/>
              </a:solidFill>
              <a:latin typeface="Segoe UI"/>
              <a:cs typeface="Segoe UI"/>
            </a:endParaRPr>
          </a:p>
        </p:txBody>
      </p:sp>
      <p:sp>
        <p:nvSpPr>
          <p:cNvPr id="20" name="Rectangle 19"/>
          <p:cNvSpPr/>
          <p:nvPr/>
        </p:nvSpPr>
        <p:spPr>
          <a:xfrm>
            <a:off x="457200" y="2395728"/>
            <a:ext cx="11277295" cy="365760"/>
          </a:xfrm>
          <a:prstGeom prst="rect">
            <a:avLst/>
          </a:prstGeom>
          <a:solidFill>
            <a:srgbClr val="F6F8FD"/>
          </a:solidFill>
          <a:ln>
            <a:noFill/>
          </a:ln>
          <a:effectLst/>
        </p:spPr>
        <p:txBody>
          <a:bodyPr wrap="square" rtlCol="0" anchor="ctr"/>
          <a:lstStyle/>
          <a:p>
            <a:endParaRPr/>
          </a:p>
        </p:txBody>
      </p:sp>
      <p:cxnSp>
        <p:nvCxnSpPr>
          <p:cNvPr id="21" name="Connector 20"/>
          <p:cNvCxnSpPr/>
          <p:nvPr/>
        </p:nvCxnSpPr>
        <p:spPr>
          <a:xfrm>
            <a:off x="457200" y="276148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5216" y="2446020"/>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Deciding what matters</a:t>
            </a:r>
          </a:p>
        </p:txBody>
      </p:sp>
      <p:sp>
        <p:nvSpPr>
          <p:cNvPr id="23" name="TextBox 22"/>
          <p:cNvSpPr txBox="1"/>
          <p:nvPr/>
        </p:nvSpPr>
        <p:spPr>
          <a:xfrm>
            <a:off x="2840675" y="2446020"/>
            <a:ext cx="4291462" cy="283464"/>
          </a:xfrm>
          <a:prstGeom prst="rect">
            <a:avLst/>
          </a:prstGeom>
          <a:noFill/>
        </p:spPr>
        <p:txBody>
          <a:bodyPr wrap="square" lIns="0" tIns="0" rIns="0" bIns="0" anchor="ctr">
            <a:spAutoFit/>
          </a:bodyPr>
          <a:lstStyle/>
          <a:p>
            <a:pPr algn="l">
              <a:lnSpc>
                <a:spcPct val="112000"/>
              </a:lnSpc>
            </a:pPr>
            <a:r>
              <a:rPr lang="en-US" sz="850" b="0" i="0" dirty="0">
                <a:solidFill>
                  <a:srgbClr val="44495B"/>
                </a:solidFill>
                <a:latin typeface="Segoe UI"/>
                <a:cs typeface="Segoe UI"/>
              </a:rPr>
              <a:t>Application code parses the text to find the values it needs</a:t>
            </a:r>
            <a:endParaRPr sz="850" b="0" i="0" dirty="0">
              <a:solidFill>
                <a:srgbClr val="44495B"/>
              </a:solidFill>
              <a:latin typeface="Segoe UI"/>
              <a:cs typeface="Segoe UI"/>
            </a:endParaRPr>
          </a:p>
        </p:txBody>
      </p:sp>
      <p:sp>
        <p:nvSpPr>
          <p:cNvPr id="24" name="TextBox 23"/>
          <p:cNvSpPr txBox="1"/>
          <p:nvPr/>
        </p:nvSpPr>
        <p:spPr>
          <a:xfrm>
            <a:off x="7351593" y="2446020"/>
            <a:ext cx="4291462" cy="283464"/>
          </a:xfrm>
          <a:prstGeom prst="rect">
            <a:avLst/>
          </a:prstGeom>
          <a:noFill/>
        </p:spPr>
        <p:txBody>
          <a:bodyPr wrap="square" lIns="0" tIns="0" rIns="0" bIns="0" anchor="ctr">
            <a:spAutoFit/>
          </a:bodyPr>
          <a:lstStyle/>
          <a:p>
            <a:pPr algn="l">
              <a:lnSpc>
                <a:spcPct val="112000"/>
              </a:lnSpc>
            </a:pPr>
            <a:r>
              <a:rPr lang="en-US" sz="850" b="0" i="0" dirty="0">
                <a:solidFill>
                  <a:srgbClr val="44495B"/>
                </a:solidFill>
                <a:latin typeface="Segoe UI"/>
                <a:cs typeface="Segoe UI"/>
              </a:rPr>
              <a:t>Fields are declared; the service returns them</a:t>
            </a:r>
            <a:endParaRPr sz="850" b="0" i="0" dirty="0">
              <a:solidFill>
                <a:srgbClr val="44495B"/>
              </a:solidFill>
              <a:latin typeface="Segoe UI"/>
              <a:cs typeface="Segoe UI"/>
            </a:endParaRPr>
          </a:p>
        </p:txBody>
      </p:sp>
      <p:cxnSp>
        <p:nvCxnSpPr>
          <p:cNvPr id="25" name="Connector 24"/>
          <p:cNvCxnSpPr/>
          <p:nvPr/>
        </p:nvCxnSpPr>
        <p:spPr>
          <a:xfrm>
            <a:off x="457200" y="312724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85216" y="2811780"/>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Trust signal</a:t>
            </a:r>
          </a:p>
        </p:txBody>
      </p:sp>
      <p:sp>
        <p:nvSpPr>
          <p:cNvPr id="27" name="TextBox 26"/>
          <p:cNvSpPr txBox="1"/>
          <p:nvPr/>
        </p:nvSpPr>
        <p:spPr>
          <a:xfrm>
            <a:off x="2840675" y="281178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None per value</a:t>
            </a:r>
          </a:p>
        </p:txBody>
      </p:sp>
      <p:sp>
        <p:nvSpPr>
          <p:cNvPr id="28" name="TextBox 27"/>
          <p:cNvSpPr txBox="1"/>
          <p:nvPr/>
        </p:nvSpPr>
        <p:spPr>
          <a:xfrm>
            <a:off x="7351593" y="281178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 confidence score and the source region, per field*</a:t>
            </a:r>
          </a:p>
        </p:txBody>
      </p:sp>
      <p:sp>
        <p:nvSpPr>
          <p:cNvPr id="29" name="Rectangle 28"/>
          <p:cNvSpPr/>
          <p:nvPr/>
        </p:nvSpPr>
        <p:spPr>
          <a:xfrm>
            <a:off x="457200" y="3127248"/>
            <a:ext cx="11277295" cy="365760"/>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349300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85216" y="3177540"/>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Other content types</a:t>
            </a:r>
          </a:p>
        </p:txBody>
      </p:sp>
      <p:sp>
        <p:nvSpPr>
          <p:cNvPr id="32" name="TextBox 31"/>
          <p:cNvSpPr txBox="1"/>
          <p:nvPr/>
        </p:nvSpPr>
        <p:spPr>
          <a:xfrm>
            <a:off x="2840675" y="317754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Documents and images</a:t>
            </a:r>
          </a:p>
        </p:txBody>
      </p:sp>
      <p:sp>
        <p:nvSpPr>
          <p:cNvPr id="33" name="TextBox 32"/>
          <p:cNvSpPr txBox="1"/>
          <p:nvPr/>
        </p:nvSpPr>
        <p:spPr>
          <a:xfrm>
            <a:off x="7351593" y="317754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Documents, images, audio and video through one interface</a:t>
            </a:r>
          </a:p>
        </p:txBody>
      </p:sp>
      <p:cxnSp>
        <p:nvCxnSpPr>
          <p:cNvPr id="34" name="Connector 33"/>
          <p:cNvCxnSpPr/>
          <p:nvPr/>
        </p:nvCxnSpPr>
        <p:spPr>
          <a:xfrm>
            <a:off x="457200" y="385876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85216" y="3543300"/>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Mixed batches</a:t>
            </a:r>
          </a:p>
        </p:txBody>
      </p:sp>
      <p:sp>
        <p:nvSpPr>
          <p:cNvPr id="36" name="TextBox 35"/>
          <p:cNvSpPr txBox="1"/>
          <p:nvPr/>
        </p:nvSpPr>
        <p:spPr>
          <a:xfrm>
            <a:off x="2840675" y="3543300"/>
            <a:ext cx="4291462" cy="283464"/>
          </a:xfrm>
          <a:prstGeom prst="rect">
            <a:avLst/>
          </a:prstGeom>
          <a:noFill/>
        </p:spPr>
        <p:txBody>
          <a:bodyPr wrap="square" lIns="0" tIns="0" rIns="0" bIns="0" anchor="ctr">
            <a:spAutoFit/>
          </a:bodyPr>
          <a:lstStyle/>
          <a:p>
            <a:pPr algn="l">
              <a:lnSpc>
                <a:spcPct val="112000"/>
              </a:lnSpc>
            </a:pPr>
            <a:r>
              <a:rPr lang="en-US" sz="850" b="0" i="0" dirty="0">
                <a:solidFill>
                  <a:srgbClr val="44495B"/>
                </a:solidFill>
                <a:latin typeface="Segoe UI"/>
                <a:cs typeface="Segoe UI"/>
              </a:rPr>
              <a:t>Handled by application code</a:t>
            </a:r>
            <a:endParaRPr sz="850" b="0" i="0" dirty="0">
              <a:solidFill>
                <a:srgbClr val="44495B"/>
              </a:solidFill>
              <a:latin typeface="Segoe UI"/>
              <a:cs typeface="Segoe UI"/>
            </a:endParaRPr>
          </a:p>
        </p:txBody>
      </p:sp>
      <p:sp>
        <p:nvSpPr>
          <p:cNvPr id="37" name="TextBox 36"/>
          <p:cNvSpPr txBox="1"/>
          <p:nvPr/>
        </p:nvSpPr>
        <p:spPr>
          <a:xfrm>
            <a:off x="7351593" y="3543300"/>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Classified, split and routed to different analyzers in one call</a:t>
            </a:r>
          </a:p>
        </p:txBody>
      </p:sp>
      <p:sp>
        <p:nvSpPr>
          <p:cNvPr id="38" name="Rectangle 37"/>
          <p:cNvSpPr/>
          <p:nvPr/>
        </p:nvSpPr>
        <p:spPr>
          <a:xfrm>
            <a:off x="457200" y="3858768"/>
            <a:ext cx="11277295" cy="365760"/>
          </a:xfrm>
          <a:prstGeom prst="rect">
            <a:avLst/>
          </a:prstGeom>
          <a:solidFill>
            <a:srgbClr val="F6F8FD"/>
          </a:solidFill>
          <a:ln>
            <a:noFill/>
          </a:ln>
          <a:effectLst/>
        </p:spPr>
        <p:txBody>
          <a:bodyPr wrap="square" rtlCol="0" anchor="ctr"/>
          <a:lstStyle/>
          <a:p>
            <a:endParaRPr/>
          </a:p>
        </p:txBody>
      </p:sp>
      <p:cxnSp>
        <p:nvCxnSpPr>
          <p:cNvPr id="39" name="Connector 38"/>
          <p:cNvCxnSpPr/>
          <p:nvPr/>
        </p:nvCxnSpPr>
        <p:spPr>
          <a:xfrm>
            <a:off x="457200" y="4224528"/>
            <a:ext cx="11277295"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85216" y="3909059"/>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Reasoning over content</a:t>
            </a:r>
          </a:p>
        </p:txBody>
      </p:sp>
      <p:sp>
        <p:nvSpPr>
          <p:cNvPr id="41" name="TextBox 40"/>
          <p:cNvSpPr txBox="1"/>
          <p:nvPr/>
        </p:nvSpPr>
        <p:spPr>
          <a:xfrm>
            <a:off x="2840675" y="3909059"/>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a:t>
            </a:r>
          </a:p>
        </p:txBody>
      </p:sp>
      <p:sp>
        <p:nvSpPr>
          <p:cNvPr id="42" name="TextBox 41"/>
          <p:cNvSpPr txBox="1"/>
          <p:nvPr/>
        </p:nvSpPr>
        <p:spPr>
          <a:xfrm>
            <a:off x="7351593" y="3909059"/>
            <a:ext cx="4291462"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Agentic mode**, in preview: calculation and validation</a:t>
            </a:r>
          </a:p>
        </p:txBody>
      </p:sp>
      <p:cxnSp>
        <p:nvCxnSpPr>
          <p:cNvPr id="43" name="Connector 42"/>
          <p:cNvCxnSpPr/>
          <p:nvPr/>
        </p:nvCxnSpPr>
        <p:spPr>
          <a:xfrm>
            <a:off x="2712659" y="1664208"/>
            <a:ext cx="0" cy="256032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223577" y="1664208"/>
            <a:ext cx="0" cy="256032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57200" y="4389120"/>
            <a:ext cx="11277295" cy="566928"/>
          </a:xfrm>
          <a:prstGeom prst="rect">
            <a:avLst/>
          </a:prstGeom>
          <a:solidFill>
            <a:srgbClr val="EBEFF7"/>
          </a:solidFill>
          <a:ln>
            <a:noFill/>
          </a:ln>
          <a:effectLst/>
        </p:spPr>
        <p:txBody>
          <a:bodyPr wrap="square" rtlCol="0" anchor="ctr"/>
          <a:lstStyle/>
          <a:p>
            <a:endParaRPr/>
          </a:p>
        </p:txBody>
      </p:sp>
      <p:sp>
        <p:nvSpPr>
          <p:cNvPr id="46" name="Rectangle 45"/>
          <p:cNvSpPr/>
          <p:nvPr/>
        </p:nvSpPr>
        <p:spPr>
          <a:xfrm>
            <a:off x="457200" y="4389120"/>
            <a:ext cx="41148" cy="566928"/>
          </a:xfrm>
          <a:prstGeom prst="rect">
            <a:avLst/>
          </a:prstGeom>
          <a:solidFill>
            <a:srgbClr val="00B39F"/>
          </a:solidFill>
          <a:ln>
            <a:noFill/>
          </a:ln>
          <a:effectLst/>
        </p:spPr>
        <p:txBody>
          <a:bodyPr wrap="square" rtlCol="0" anchor="ctr"/>
          <a:lstStyle/>
          <a:p>
            <a:endParaRPr/>
          </a:p>
        </p:txBody>
      </p:sp>
      <p:sp>
        <p:nvSpPr>
          <p:cNvPr id="47" name="TextBox 46"/>
          <p:cNvSpPr txBox="1"/>
          <p:nvPr/>
        </p:nvSpPr>
        <p:spPr>
          <a:xfrm>
            <a:off x="694944" y="4489704"/>
            <a:ext cx="10856671" cy="384048"/>
          </a:xfrm>
          <a:prstGeom prst="rect">
            <a:avLst/>
          </a:prstGeom>
          <a:noFill/>
        </p:spPr>
        <p:txBody>
          <a:bodyPr wrap="square" lIns="0" tIns="0" rIns="0" bIns="0" anchor="t">
            <a:spAutoFit/>
          </a:bodyPr>
          <a:lstStyle/>
          <a:p>
            <a:pPr algn="l">
              <a:lnSpc>
                <a:spcPct val="120000"/>
              </a:lnSpc>
            </a:pPr>
            <a:r>
              <a:rPr lang="en-US" sz="900" b="0" i="0" dirty="0">
                <a:solidFill>
                  <a:srgbClr val="101A3C"/>
                </a:solidFill>
                <a:latin typeface="Segoe UI"/>
                <a:cs typeface="Segoe UI"/>
              </a:rPr>
              <a:t>These are not alternatives on the same axis. Content Understanding contains an optical character recognition stage — its read and layout analyzers need no language model at all. The real question is whether only text is needed, or text plus a defined schema, a confidence score and routing.</a:t>
            </a:r>
            <a:endParaRPr sz="900" b="0" i="0" dirty="0">
              <a:solidFill>
                <a:srgbClr val="101A3C"/>
              </a:solidFill>
              <a:latin typeface="Segoe UI"/>
              <a:cs typeface="Segoe UI"/>
            </a:endParaRPr>
          </a:p>
        </p:txBody>
      </p:sp>
      <p:sp>
        <p:nvSpPr>
          <p:cNvPr id="48" name="Rectangle 47"/>
          <p:cNvSpPr/>
          <p:nvPr/>
        </p:nvSpPr>
        <p:spPr>
          <a:xfrm>
            <a:off x="457200" y="5102352"/>
            <a:ext cx="5504688" cy="493776"/>
          </a:xfrm>
          <a:prstGeom prst="rect">
            <a:avLst/>
          </a:prstGeom>
          <a:solidFill>
            <a:srgbClr val="F6F8FD"/>
          </a:solidFill>
          <a:ln w="9525">
            <a:solidFill>
              <a:srgbClr val="E1E7F4"/>
            </a:solidFill>
          </a:ln>
          <a:effectLst/>
        </p:spPr>
        <p:txBody>
          <a:bodyPr wrap="square" rtlCol="0" anchor="ctr"/>
          <a:lstStyle/>
          <a:p>
            <a:endParaRPr/>
          </a:p>
        </p:txBody>
      </p:sp>
      <p:sp>
        <p:nvSpPr>
          <p:cNvPr id="49" name="Rectangle 48"/>
          <p:cNvSpPr/>
          <p:nvPr/>
        </p:nvSpPr>
        <p:spPr>
          <a:xfrm>
            <a:off x="457200" y="5102352"/>
            <a:ext cx="41148" cy="493776"/>
          </a:xfrm>
          <a:prstGeom prst="rect">
            <a:avLst/>
          </a:prstGeom>
          <a:solidFill>
            <a:srgbClr val="44495B"/>
          </a:solidFill>
          <a:ln>
            <a:noFill/>
          </a:ln>
          <a:effectLst/>
        </p:spPr>
        <p:txBody>
          <a:bodyPr wrap="square" rtlCol="0" anchor="ctr"/>
          <a:lstStyle/>
          <a:p>
            <a:endParaRPr/>
          </a:p>
        </p:txBody>
      </p:sp>
      <p:sp>
        <p:nvSpPr>
          <p:cNvPr id="50" name="TextBox 49"/>
          <p:cNvSpPr txBox="1"/>
          <p:nvPr/>
        </p:nvSpPr>
        <p:spPr>
          <a:xfrm>
            <a:off x="640080" y="5166360"/>
            <a:ext cx="5120640" cy="182880"/>
          </a:xfrm>
          <a:prstGeom prst="rect">
            <a:avLst/>
          </a:prstGeom>
          <a:noFill/>
        </p:spPr>
        <p:txBody>
          <a:bodyPr wrap="square" lIns="0" tIns="0" rIns="0" bIns="0" anchor="t">
            <a:spAutoFit/>
          </a:bodyPr>
          <a:lstStyle/>
          <a:p>
            <a:pPr algn="l">
              <a:lnSpc>
                <a:spcPct val="100000"/>
              </a:lnSpc>
            </a:pPr>
            <a:r>
              <a:rPr lang="en-US" sz="900" b="1" i="0" dirty="0">
                <a:solidFill>
                  <a:srgbClr val="101A3C"/>
                </a:solidFill>
                <a:latin typeface="Segoe UI"/>
                <a:cs typeface="Segoe UI"/>
              </a:rPr>
              <a:t>Text only</a:t>
            </a:r>
            <a:endParaRPr sz="900" b="1" i="0" dirty="0">
              <a:solidFill>
                <a:srgbClr val="101A3C"/>
              </a:solidFill>
              <a:latin typeface="Segoe UI"/>
              <a:cs typeface="Segoe UI"/>
            </a:endParaRPr>
          </a:p>
        </p:txBody>
      </p:sp>
      <p:sp>
        <p:nvSpPr>
          <p:cNvPr id="51" name="TextBox 50"/>
          <p:cNvSpPr txBox="1"/>
          <p:nvPr/>
        </p:nvSpPr>
        <p:spPr>
          <a:xfrm>
            <a:off x="640080" y="5358384"/>
            <a:ext cx="5120640" cy="201168"/>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A standalone OCR model is simpler and the output is easy to reason about.</a:t>
            </a:r>
          </a:p>
        </p:txBody>
      </p:sp>
      <p:sp>
        <p:nvSpPr>
          <p:cNvPr id="52" name="Rectangle 51"/>
          <p:cNvSpPr/>
          <p:nvPr/>
        </p:nvSpPr>
        <p:spPr>
          <a:xfrm>
            <a:off x="6163056" y="5102352"/>
            <a:ext cx="5504688" cy="493776"/>
          </a:xfrm>
          <a:prstGeom prst="rect">
            <a:avLst/>
          </a:prstGeom>
          <a:solidFill>
            <a:srgbClr val="FFFFFF"/>
          </a:solidFill>
          <a:ln w="9525">
            <a:solidFill>
              <a:srgbClr val="E1E7F4"/>
            </a:solidFill>
          </a:ln>
          <a:effectLst/>
        </p:spPr>
        <p:txBody>
          <a:bodyPr wrap="square" rtlCol="0" anchor="ctr"/>
          <a:lstStyle/>
          <a:p>
            <a:endParaRPr/>
          </a:p>
        </p:txBody>
      </p:sp>
      <p:sp>
        <p:nvSpPr>
          <p:cNvPr id="53" name="Rectangle 52"/>
          <p:cNvSpPr/>
          <p:nvPr/>
        </p:nvSpPr>
        <p:spPr>
          <a:xfrm>
            <a:off x="6163056" y="5102352"/>
            <a:ext cx="41148" cy="493776"/>
          </a:xfrm>
          <a:prstGeom prst="rect">
            <a:avLst/>
          </a:prstGeom>
          <a:solidFill>
            <a:srgbClr val="00B39F"/>
          </a:solidFill>
          <a:ln>
            <a:noFill/>
          </a:ln>
          <a:effectLst/>
        </p:spPr>
        <p:txBody>
          <a:bodyPr wrap="square" rtlCol="0" anchor="ctr"/>
          <a:lstStyle/>
          <a:p>
            <a:endParaRPr/>
          </a:p>
        </p:txBody>
      </p:sp>
      <p:sp>
        <p:nvSpPr>
          <p:cNvPr id="54" name="TextBox 53"/>
          <p:cNvSpPr txBox="1"/>
          <p:nvPr/>
        </p:nvSpPr>
        <p:spPr>
          <a:xfrm>
            <a:off x="6345936" y="5166360"/>
            <a:ext cx="5120640" cy="182880"/>
          </a:xfrm>
          <a:prstGeom prst="rect">
            <a:avLst/>
          </a:prstGeom>
          <a:noFill/>
        </p:spPr>
        <p:txBody>
          <a:bodyPr wrap="square" lIns="0" tIns="0" rIns="0" bIns="0" anchor="t">
            <a:spAutoFit/>
          </a:bodyPr>
          <a:lstStyle/>
          <a:p>
            <a:pPr algn="l">
              <a:lnSpc>
                <a:spcPct val="100000"/>
              </a:lnSpc>
            </a:pPr>
            <a:r>
              <a:rPr lang="en-US" sz="900" b="1" i="0" dirty="0">
                <a:solidFill>
                  <a:srgbClr val="101A3C"/>
                </a:solidFill>
                <a:latin typeface="Segoe UI"/>
                <a:cs typeface="Segoe UI"/>
              </a:rPr>
              <a:t>Named values to act on</a:t>
            </a:r>
            <a:endParaRPr sz="900" b="1" i="0" dirty="0">
              <a:solidFill>
                <a:srgbClr val="101A3C"/>
              </a:solidFill>
              <a:latin typeface="Segoe UI"/>
              <a:cs typeface="Segoe UI"/>
            </a:endParaRPr>
          </a:p>
        </p:txBody>
      </p:sp>
      <p:sp>
        <p:nvSpPr>
          <p:cNvPr id="55" name="TextBox 54"/>
          <p:cNvSpPr txBox="1"/>
          <p:nvPr/>
        </p:nvSpPr>
        <p:spPr>
          <a:xfrm>
            <a:off x="6345936" y="5358384"/>
            <a:ext cx="5120640" cy="201168"/>
          </a:xfrm>
          <a:prstGeom prst="rect">
            <a:avLst/>
          </a:prstGeom>
          <a:noFill/>
        </p:spPr>
        <p:txBody>
          <a:bodyPr wrap="square" lIns="0" tIns="0" rIns="0" bIns="0" anchor="t">
            <a:spAutoFit/>
          </a:bodyPr>
          <a:lstStyle/>
          <a:p>
            <a:pPr algn="l">
              <a:lnSpc>
                <a:spcPct val="100000"/>
              </a:lnSpc>
            </a:pPr>
            <a:r>
              <a:rPr lang="en-US" sz="750" b="0" i="0" dirty="0">
                <a:solidFill>
                  <a:srgbClr val="44495B"/>
                </a:solidFill>
                <a:latin typeface="Segoe UI"/>
                <a:cs typeface="Segoe UI"/>
              </a:rPr>
              <a:t>Content Understanding returns the defined schema with a score to threshold on.</a:t>
            </a:r>
            <a:endParaRPr sz="750" b="0" i="0" dirty="0">
              <a:solidFill>
                <a:srgbClr val="44495B"/>
              </a:solidFill>
              <a:latin typeface="Segoe UI"/>
              <a:cs typeface="Segoe UI"/>
            </a:endParaRPr>
          </a:p>
        </p:txBody>
      </p:sp>
      <p:sp>
        <p:nvSpPr>
          <p:cNvPr id="56" name="TextBox 55"/>
          <p:cNvSpPr txBox="1"/>
          <p:nvPr/>
        </p:nvSpPr>
        <p:spPr>
          <a:xfrm>
            <a:off x="457200" y="5614416"/>
            <a:ext cx="7315200" cy="146304"/>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 documents only.   ** preview — no service level agreement.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05 · RUNNING IT</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Limits, cost and where to go next</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What constrains a design, how the bill is actually assembled, and the pages behind this deck</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learn.microsoft.com/azure/ai-services/content-understanding/pricing-explainer · service-limits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Azure AI Content Understanding · September 2026 · 12</a:t>
            </a:r>
          </a:p>
        </p:txBody>
      </p:sp>
      <p:sp>
        <p:nvSpPr>
          <p:cNvPr id="7" name="TextBox 6"/>
          <p:cNvSpPr txBox="1"/>
          <p:nvPr/>
        </p:nvSpPr>
        <p:spPr>
          <a:xfrm>
            <a:off x="457200" y="1316736"/>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CONSTRAINTS THAT SHAPE A DESIGN</a:t>
            </a:r>
          </a:p>
        </p:txBody>
      </p:sp>
      <p:sp>
        <p:nvSpPr>
          <p:cNvPr id="8" name="TextBox 7"/>
          <p:cNvSpPr txBox="1"/>
          <p:nvPr/>
        </p:nvSpPr>
        <p:spPr>
          <a:xfrm>
            <a:off x="457200" y="1554480"/>
            <a:ext cx="1903415" cy="384048"/>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File size</a:t>
            </a:r>
          </a:p>
        </p:txBody>
      </p:sp>
      <p:sp>
        <p:nvSpPr>
          <p:cNvPr id="9" name="TextBox 8"/>
          <p:cNvSpPr txBox="1"/>
          <p:nvPr/>
        </p:nvSpPr>
        <p:spPr>
          <a:xfrm>
            <a:off x="2452055" y="1554480"/>
            <a:ext cx="3546408" cy="384048"/>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200 MB, up to 300 pages</a:t>
            </a:r>
          </a:p>
        </p:txBody>
      </p:sp>
      <p:cxnSp>
        <p:nvCxnSpPr>
          <p:cNvPr id="10" name="Connector 9"/>
          <p:cNvCxnSpPr/>
          <p:nvPr/>
        </p:nvCxnSpPr>
        <p:spPr>
          <a:xfrm>
            <a:off x="457200" y="1920240"/>
            <a:ext cx="55412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938528"/>
            <a:ext cx="1903415" cy="384048"/>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Field schema</a:t>
            </a:r>
          </a:p>
        </p:txBody>
      </p:sp>
      <p:sp>
        <p:nvSpPr>
          <p:cNvPr id="12" name="TextBox 11"/>
          <p:cNvSpPr txBox="1"/>
          <p:nvPr/>
        </p:nvSpPr>
        <p:spPr>
          <a:xfrm>
            <a:off x="2452055" y="1938528"/>
            <a:ext cx="3546408" cy="384048"/>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up to 1,000 fields per analyzer</a:t>
            </a:r>
          </a:p>
        </p:txBody>
      </p:sp>
      <p:cxnSp>
        <p:nvCxnSpPr>
          <p:cNvPr id="13" name="Connector 12"/>
          <p:cNvCxnSpPr/>
          <p:nvPr/>
        </p:nvCxnSpPr>
        <p:spPr>
          <a:xfrm>
            <a:off x="457200" y="2304288"/>
            <a:ext cx="55412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322576"/>
            <a:ext cx="1903415" cy="384048"/>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Classification</a:t>
            </a:r>
          </a:p>
        </p:txBody>
      </p:sp>
      <p:sp>
        <p:nvSpPr>
          <p:cNvPr id="15" name="TextBox 14"/>
          <p:cNvSpPr txBox="1"/>
          <p:nvPr/>
        </p:nvSpPr>
        <p:spPr>
          <a:xfrm>
            <a:off x="2452055" y="2322576"/>
            <a:ext cx="3546408" cy="384048"/>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up to 200 categories, nested up to 5 levels</a:t>
            </a:r>
          </a:p>
        </p:txBody>
      </p:sp>
      <p:cxnSp>
        <p:nvCxnSpPr>
          <p:cNvPr id="16" name="Connector 15"/>
          <p:cNvCxnSpPr/>
          <p:nvPr/>
        </p:nvCxnSpPr>
        <p:spPr>
          <a:xfrm>
            <a:off x="457200" y="2688336"/>
            <a:ext cx="55412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7200" y="2706624"/>
            <a:ext cx="1903415" cy="384048"/>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Confidence and grounding</a:t>
            </a:r>
          </a:p>
        </p:txBody>
      </p:sp>
      <p:sp>
        <p:nvSpPr>
          <p:cNvPr id="18" name="TextBox 17"/>
          <p:cNvSpPr txBox="1"/>
          <p:nvPr/>
        </p:nvSpPr>
        <p:spPr>
          <a:xfrm>
            <a:off x="2452055" y="2706624"/>
            <a:ext cx="3546408" cy="384048"/>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documents only — not images, audio or video</a:t>
            </a:r>
          </a:p>
        </p:txBody>
      </p:sp>
      <p:cxnSp>
        <p:nvCxnSpPr>
          <p:cNvPr id="19" name="Connector 18"/>
          <p:cNvCxnSpPr/>
          <p:nvPr/>
        </p:nvCxnSpPr>
        <p:spPr>
          <a:xfrm>
            <a:off x="457200" y="3072384"/>
            <a:ext cx="55412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7200" y="3090672"/>
            <a:ext cx="1903415" cy="384048"/>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Throughput</a:t>
            </a:r>
          </a:p>
        </p:txBody>
      </p:sp>
      <p:sp>
        <p:nvSpPr>
          <p:cNvPr id="21" name="TextBox 20"/>
          <p:cNvSpPr txBox="1"/>
          <p:nvPr/>
        </p:nvSpPr>
        <p:spPr>
          <a:xfrm>
            <a:off x="2452055" y="3090672"/>
            <a:ext cx="3546408" cy="384048"/>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1,000 pages or images a minute; 4 hours of audio or video</a:t>
            </a:r>
          </a:p>
        </p:txBody>
      </p:sp>
      <p:cxnSp>
        <p:nvCxnSpPr>
          <p:cNvPr id="22" name="Connector 21"/>
          <p:cNvCxnSpPr/>
          <p:nvPr/>
        </p:nvCxnSpPr>
        <p:spPr>
          <a:xfrm>
            <a:off x="457200" y="3456432"/>
            <a:ext cx="55412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57200" y="3474720"/>
            <a:ext cx="1903415" cy="384048"/>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Regions</a:t>
            </a:r>
          </a:p>
        </p:txBody>
      </p:sp>
      <p:sp>
        <p:nvSpPr>
          <p:cNvPr id="24" name="TextBox 23"/>
          <p:cNvSpPr txBox="1"/>
          <p:nvPr/>
        </p:nvSpPr>
        <p:spPr>
          <a:xfrm>
            <a:off x="2452055" y="3474720"/>
            <a:ext cx="3546408" cy="384048"/>
          </a:xfrm>
          <a:prstGeom prst="rect">
            <a:avLst/>
          </a:prstGeom>
          <a:noFill/>
        </p:spPr>
        <p:txBody>
          <a:bodyPr wrap="square" lIns="0" tIns="0" rIns="0" bIns="0" anchor="ctr">
            <a:spAutoFit/>
          </a:bodyPr>
          <a:lstStyle/>
          <a:p>
            <a:pPr algn="l">
              <a:lnSpc>
                <a:spcPct val="105000"/>
              </a:lnSpc>
            </a:pPr>
            <a:r>
              <a:rPr lang="en-US" sz="850" b="0" i="0" dirty="0">
                <a:solidFill>
                  <a:srgbClr val="44495B"/>
                </a:solidFill>
                <a:latin typeface="Segoe UI"/>
                <a:cs typeface="Segoe UI"/>
              </a:rPr>
              <a:t>12 at the time of writing; confirm before designing</a:t>
            </a:r>
            <a:endParaRPr sz="850" b="0" i="0" dirty="0">
              <a:solidFill>
                <a:srgbClr val="44495B"/>
              </a:solidFill>
              <a:latin typeface="Segoe UI"/>
              <a:cs typeface="Segoe UI"/>
            </a:endParaRPr>
          </a:p>
        </p:txBody>
      </p:sp>
      <p:cxnSp>
        <p:nvCxnSpPr>
          <p:cNvPr id="25" name="Connector 24"/>
          <p:cNvCxnSpPr/>
          <p:nvPr/>
        </p:nvCxnSpPr>
        <p:spPr>
          <a:xfrm>
            <a:off x="457200" y="3840480"/>
            <a:ext cx="554126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7200" y="4041648"/>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THE BILL HAS THREE PARTS, AND ONLY TWO APPEAR ON THIS SERVICE</a:t>
            </a:r>
          </a:p>
        </p:txBody>
      </p:sp>
      <p:sp>
        <p:nvSpPr>
          <p:cNvPr id="27" name="Rectangle 26"/>
          <p:cNvSpPr/>
          <p:nvPr/>
        </p:nvSpPr>
        <p:spPr>
          <a:xfrm>
            <a:off x="457200" y="4279392"/>
            <a:ext cx="5541264" cy="402336"/>
          </a:xfrm>
          <a:prstGeom prst="rect">
            <a:avLst/>
          </a:prstGeom>
          <a:solidFill>
            <a:srgbClr val="F6F8FD"/>
          </a:solidFill>
          <a:ln w="9525">
            <a:solidFill>
              <a:srgbClr val="E1E7F4"/>
            </a:solidFill>
          </a:ln>
          <a:effectLst/>
        </p:spPr>
        <p:txBody>
          <a:bodyPr wrap="square" rtlCol="0" anchor="ctr"/>
          <a:lstStyle/>
          <a:p>
            <a:endParaRPr/>
          </a:p>
        </p:txBody>
      </p:sp>
      <p:sp>
        <p:nvSpPr>
          <p:cNvPr id="28" name="TextBox 27"/>
          <p:cNvSpPr txBox="1"/>
          <p:nvPr/>
        </p:nvSpPr>
        <p:spPr>
          <a:xfrm>
            <a:off x="621792" y="4315968"/>
            <a:ext cx="1572768"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Content extraction</a:t>
            </a:r>
          </a:p>
        </p:txBody>
      </p:sp>
      <p:sp>
        <p:nvSpPr>
          <p:cNvPr id="29" name="TextBox 28"/>
          <p:cNvSpPr txBox="1"/>
          <p:nvPr/>
        </p:nvSpPr>
        <p:spPr>
          <a:xfrm>
            <a:off x="2286000" y="4315968"/>
            <a:ext cx="3566160" cy="329184"/>
          </a:xfrm>
          <a:prstGeom prst="rect">
            <a:avLst/>
          </a:prstGeom>
          <a:noFill/>
        </p:spPr>
        <p:txBody>
          <a:bodyPr wrap="square" lIns="0" tIns="0" rIns="0" bIns="0" anchor="ctr">
            <a:spAutoFit/>
          </a:bodyPr>
          <a:lstStyle/>
          <a:p>
            <a:pPr algn="l">
              <a:lnSpc>
                <a:spcPct val="112000"/>
              </a:lnSpc>
            </a:pPr>
            <a:r>
              <a:rPr lang="en-US" sz="750" b="0" i="0" dirty="0">
                <a:solidFill>
                  <a:srgbClr val="44495B"/>
                </a:solidFill>
                <a:latin typeface="Segoe UI"/>
                <a:cs typeface="Segoe UI"/>
              </a:rPr>
              <a:t>per 1,000 pages — the rate depends on the work actually done, not the analyzer chosen</a:t>
            </a:r>
            <a:endParaRPr sz="750" b="0" i="0" dirty="0">
              <a:solidFill>
                <a:srgbClr val="44495B"/>
              </a:solidFill>
              <a:latin typeface="Segoe UI"/>
              <a:cs typeface="Segoe UI"/>
            </a:endParaRPr>
          </a:p>
        </p:txBody>
      </p:sp>
      <p:sp>
        <p:nvSpPr>
          <p:cNvPr id="30" name="Rectangle 29"/>
          <p:cNvSpPr/>
          <p:nvPr/>
        </p:nvSpPr>
        <p:spPr>
          <a:xfrm>
            <a:off x="457200" y="4736592"/>
            <a:ext cx="5541264" cy="402336"/>
          </a:xfrm>
          <a:prstGeom prst="rect">
            <a:avLst/>
          </a:prstGeom>
          <a:solidFill>
            <a:srgbClr val="FFFFFF"/>
          </a:solidFill>
          <a:ln w="9525">
            <a:solidFill>
              <a:srgbClr val="E1E7F4"/>
            </a:solidFill>
          </a:ln>
          <a:effectLst/>
        </p:spPr>
        <p:txBody>
          <a:bodyPr wrap="square" rtlCol="0" anchor="ctr"/>
          <a:lstStyle/>
          <a:p>
            <a:endParaRPr/>
          </a:p>
        </p:txBody>
      </p:sp>
      <p:sp>
        <p:nvSpPr>
          <p:cNvPr id="31" name="TextBox 30"/>
          <p:cNvSpPr txBox="1"/>
          <p:nvPr/>
        </p:nvSpPr>
        <p:spPr>
          <a:xfrm>
            <a:off x="621792" y="4773168"/>
            <a:ext cx="1572768" cy="329184"/>
          </a:xfrm>
          <a:prstGeom prst="rect">
            <a:avLst/>
          </a:prstGeom>
          <a:noFill/>
        </p:spPr>
        <p:txBody>
          <a:bodyPr wrap="square" lIns="0" tIns="0" rIns="0" bIns="0" anchor="ctr">
            <a:spAutoFit/>
          </a:bodyPr>
          <a:lstStyle/>
          <a:p>
            <a:pPr algn="l">
              <a:lnSpc>
                <a:spcPct val="108000"/>
              </a:lnSpc>
            </a:pPr>
            <a:r>
              <a:rPr sz="850" b="1" i="0" dirty="0">
                <a:solidFill>
                  <a:srgbClr val="101A3C"/>
                </a:solidFill>
                <a:latin typeface="Segoe UI"/>
                <a:cs typeface="Segoe UI"/>
              </a:rPr>
              <a:t>Contextualization</a:t>
            </a:r>
          </a:p>
        </p:txBody>
      </p:sp>
      <p:sp>
        <p:nvSpPr>
          <p:cNvPr id="32" name="TextBox 31"/>
          <p:cNvSpPr txBox="1"/>
          <p:nvPr/>
        </p:nvSpPr>
        <p:spPr>
          <a:xfrm>
            <a:off x="2286000" y="4773168"/>
            <a:ext cx="3566160" cy="329184"/>
          </a:xfrm>
          <a:prstGeom prst="rect">
            <a:avLst/>
          </a:prstGeom>
          <a:noFill/>
        </p:spPr>
        <p:txBody>
          <a:bodyPr wrap="square" lIns="0" tIns="0" rIns="0" bIns="0" anchor="ctr">
            <a:spAutoFit/>
          </a:bodyPr>
          <a:lstStyle/>
          <a:p>
            <a:pPr algn="l">
              <a:lnSpc>
                <a:spcPct val="112000"/>
              </a:lnSpc>
            </a:pPr>
            <a:r>
              <a:rPr sz="750" b="0" i="0" dirty="0">
                <a:solidFill>
                  <a:srgbClr val="44495B"/>
                </a:solidFill>
                <a:latin typeface="Segoe UI"/>
                <a:cs typeface="Segoe UI"/>
              </a:rPr>
              <a:t>per million tokens — a higher rate applies to the preview advanced tier</a:t>
            </a:r>
          </a:p>
        </p:txBody>
      </p:sp>
      <p:sp>
        <p:nvSpPr>
          <p:cNvPr id="33" name="Rectangle 32"/>
          <p:cNvSpPr/>
          <p:nvPr/>
        </p:nvSpPr>
        <p:spPr>
          <a:xfrm>
            <a:off x="457200" y="5193792"/>
            <a:ext cx="5541264" cy="402336"/>
          </a:xfrm>
          <a:prstGeom prst="rect">
            <a:avLst/>
          </a:prstGeom>
          <a:solidFill>
            <a:srgbClr val="F6F8FD"/>
          </a:solidFill>
          <a:ln w="9525">
            <a:solidFill>
              <a:srgbClr val="E1E7F4"/>
            </a:solidFill>
          </a:ln>
          <a:effectLst/>
        </p:spPr>
        <p:txBody>
          <a:bodyPr wrap="square" rtlCol="0" anchor="ctr"/>
          <a:lstStyle/>
          <a:p>
            <a:endParaRPr/>
          </a:p>
        </p:txBody>
      </p:sp>
      <p:sp>
        <p:nvSpPr>
          <p:cNvPr id="34" name="TextBox 33"/>
          <p:cNvSpPr txBox="1"/>
          <p:nvPr/>
        </p:nvSpPr>
        <p:spPr>
          <a:xfrm>
            <a:off x="621792" y="5230368"/>
            <a:ext cx="1572768" cy="329184"/>
          </a:xfrm>
          <a:prstGeom prst="rect">
            <a:avLst/>
          </a:prstGeom>
          <a:noFill/>
        </p:spPr>
        <p:txBody>
          <a:bodyPr wrap="square" lIns="0" tIns="0" rIns="0" bIns="0" anchor="ctr">
            <a:spAutoFit/>
          </a:bodyPr>
          <a:lstStyle/>
          <a:p>
            <a:pPr algn="l">
              <a:lnSpc>
                <a:spcPct val="108000"/>
              </a:lnSpc>
            </a:pPr>
            <a:r>
              <a:rPr lang="en-US" sz="850" b="1" i="0" dirty="0">
                <a:solidFill>
                  <a:srgbClr val="101A3C"/>
                </a:solidFill>
                <a:latin typeface="Segoe UI"/>
                <a:cs typeface="Segoe UI"/>
              </a:rPr>
              <a:t>Customer model deployment</a:t>
            </a:r>
            <a:endParaRPr sz="850" b="1" i="0" dirty="0">
              <a:solidFill>
                <a:srgbClr val="101A3C"/>
              </a:solidFill>
              <a:latin typeface="Segoe UI"/>
              <a:cs typeface="Segoe UI"/>
            </a:endParaRPr>
          </a:p>
        </p:txBody>
      </p:sp>
      <p:sp>
        <p:nvSpPr>
          <p:cNvPr id="35" name="TextBox 34"/>
          <p:cNvSpPr txBox="1"/>
          <p:nvPr/>
        </p:nvSpPr>
        <p:spPr>
          <a:xfrm>
            <a:off x="2286000" y="5230368"/>
            <a:ext cx="3566160" cy="329184"/>
          </a:xfrm>
          <a:prstGeom prst="rect">
            <a:avLst/>
          </a:prstGeom>
          <a:noFill/>
        </p:spPr>
        <p:txBody>
          <a:bodyPr wrap="square" lIns="0" tIns="0" rIns="0" bIns="0" anchor="ctr">
            <a:spAutoFit/>
          </a:bodyPr>
          <a:lstStyle/>
          <a:p>
            <a:pPr algn="l">
              <a:lnSpc>
                <a:spcPct val="112000"/>
              </a:lnSpc>
            </a:pPr>
            <a:r>
              <a:rPr lang="en-US" sz="750" b="0" i="0" dirty="0">
                <a:solidFill>
                  <a:srgbClr val="44495B"/>
                </a:solidFill>
                <a:latin typeface="Segoe UI"/>
                <a:cs typeface="Segoe UI"/>
              </a:rPr>
              <a:t>language and embedding tokens are billed on the customer’s own Foundry deployment, not here</a:t>
            </a:r>
            <a:endParaRPr sz="750" b="0" i="0" dirty="0">
              <a:solidFill>
                <a:srgbClr val="44495B"/>
              </a:solidFill>
              <a:latin typeface="Segoe UI"/>
              <a:cs typeface="Segoe UI"/>
            </a:endParaRPr>
          </a:p>
        </p:txBody>
      </p:sp>
      <p:sp>
        <p:nvSpPr>
          <p:cNvPr id="36" name="TextBox 35"/>
          <p:cNvSpPr txBox="1"/>
          <p:nvPr/>
        </p:nvSpPr>
        <p:spPr>
          <a:xfrm>
            <a:off x="6345936" y="1316736"/>
            <a:ext cx="53949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SOURCES BEHIND THIS DECK</a:t>
            </a:r>
          </a:p>
        </p:txBody>
      </p:sp>
      <p:sp>
        <p:nvSpPr>
          <p:cNvPr id="37" name="TextBox 36"/>
          <p:cNvSpPr txBox="1"/>
          <p:nvPr/>
        </p:nvSpPr>
        <p:spPr>
          <a:xfrm>
            <a:off x="6345936" y="15544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Overview and key components</a:t>
            </a:r>
          </a:p>
        </p:txBody>
      </p:sp>
      <p:sp>
        <p:nvSpPr>
          <p:cNvPr id="38" name="TextBox 37"/>
          <p:cNvSpPr txBox="1"/>
          <p:nvPr/>
        </p:nvSpPr>
        <p:spPr>
          <a:xfrm>
            <a:off x="6345936" y="17190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learn.microsoft.com/azure/ai-services/content-understanding/overview</a:t>
            </a:r>
          </a:p>
        </p:txBody>
      </p:sp>
      <p:cxnSp>
        <p:nvCxnSpPr>
          <p:cNvPr id="39" name="Connector 38"/>
          <p:cNvCxnSpPr/>
          <p:nvPr/>
        </p:nvCxnSpPr>
        <p:spPr>
          <a:xfrm>
            <a:off x="6345936" y="19385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45936" y="20116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Analyzer reference</a:t>
            </a:r>
          </a:p>
        </p:txBody>
      </p:sp>
      <p:sp>
        <p:nvSpPr>
          <p:cNvPr id="41" name="TextBox 40"/>
          <p:cNvSpPr txBox="1"/>
          <p:nvPr/>
        </p:nvSpPr>
        <p:spPr>
          <a:xfrm>
            <a:off x="6345936" y="21762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.../concepts/analyzer-reference</a:t>
            </a:r>
          </a:p>
        </p:txBody>
      </p:sp>
      <p:cxnSp>
        <p:nvCxnSpPr>
          <p:cNvPr id="42" name="Connector 41"/>
          <p:cNvCxnSpPr/>
          <p:nvPr/>
        </p:nvCxnSpPr>
        <p:spPr>
          <a:xfrm>
            <a:off x="6345936" y="23957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345936" y="24688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What is new</a:t>
            </a:r>
          </a:p>
        </p:txBody>
      </p:sp>
      <p:sp>
        <p:nvSpPr>
          <p:cNvPr id="44" name="TextBox 43"/>
          <p:cNvSpPr txBox="1"/>
          <p:nvPr/>
        </p:nvSpPr>
        <p:spPr>
          <a:xfrm>
            <a:off x="6345936" y="26334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.../whats-new</a:t>
            </a:r>
          </a:p>
        </p:txBody>
      </p:sp>
      <p:cxnSp>
        <p:nvCxnSpPr>
          <p:cNvPr id="45" name="Connector 44"/>
          <p:cNvCxnSpPr/>
          <p:nvPr/>
        </p:nvCxnSpPr>
        <p:spPr>
          <a:xfrm>
            <a:off x="6345936" y="28529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345936" y="29260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Agentic mode</a:t>
            </a:r>
          </a:p>
        </p:txBody>
      </p:sp>
      <p:sp>
        <p:nvSpPr>
          <p:cNvPr id="47" name="TextBox 46"/>
          <p:cNvSpPr txBox="1"/>
          <p:nvPr/>
        </p:nvSpPr>
        <p:spPr>
          <a:xfrm>
            <a:off x="6345936" y="30906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.../concepts/agentic-mode</a:t>
            </a:r>
          </a:p>
        </p:txBody>
      </p:sp>
      <p:cxnSp>
        <p:nvCxnSpPr>
          <p:cNvPr id="48" name="Connector 47"/>
          <p:cNvCxnSpPr/>
          <p:nvPr/>
        </p:nvCxnSpPr>
        <p:spPr>
          <a:xfrm>
            <a:off x="6345936" y="33101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345936" y="33832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Choosing between tools</a:t>
            </a:r>
          </a:p>
        </p:txBody>
      </p:sp>
      <p:sp>
        <p:nvSpPr>
          <p:cNvPr id="50" name="TextBox 49"/>
          <p:cNvSpPr txBox="1"/>
          <p:nvPr/>
        </p:nvSpPr>
        <p:spPr>
          <a:xfrm>
            <a:off x="6345936" y="35478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.../choosing-right-ai-tool</a:t>
            </a:r>
          </a:p>
        </p:txBody>
      </p:sp>
      <p:cxnSp>
        <p:nvCxnSpPr>
          <p:cNvPr id="51" name="Connector 50"/>
          <p:cNvCxnSpPr/>
          <p:nvPr/>
        </p:nvCxnSpPr>
        <p:spPr>
          <a:xfrm>
            <a:off x="6345936" y="37673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345936" y="38404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Service limits and regions</a:t>
            </a:r>
          </a:p>
        </p:txBody>
      </p:sp>
      <p:sp>
        <p:nvSpPr>
          <p:cNvPr id="53" name="TextBox 52"/>
          <p:cNvSpPr txBox="1"/>
          <p:nvPr/>
        </p:nvSpPr>
        <p:spPr>
          <a:xfrm>
            <a:off x="6345936" y="40050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.../service-limits · .../language-region-support</a:t>
            </a:r>
          </a:p>
        </p:txBody>
      </p:sp>
      <p:cxnSp>
        <p:nvCxnSpPr>
          <p:cNvPr id="54" name="Connector 53"/>
          <p:cNvCxnSpPr/>
          <p:nvPr/>
        </p:nvCxnSpPr>
        <p:spPr>
          <a:xfrm>
            <a:off x="6345936" y="42245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345936" y="42976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How billing works</a:t>
            </a:r>
          </a:p>
        </p:txBody>
      </p:sp>
      <p:sp>
        <p:nvSpPr>
          <p:cNvPr id="56" name="TextBox 55"/>
          <p:cNvSpPr txBox="1"/>
          <p:nvPr/>
        </p:nvSpPr>
        <p:spPr>
          <a:xfrm>
            <a:off x="6345936" y="44622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.../pricing-explainer</a:t>
            </a:r>
          </a:p>
        </p:txBody>
      </p:sp>
      <p:cxnSp>
        <p:nvCxnSpPr>
          <p:cNvPr id="57" name="Connector 56"/>
          <p:cNvCxnSpPr/>
          <p:nvPr/>
        </p:nvCxnSpPr>
        <p:spPr>
          <a:xfrm>
            <a:off x="6345936" y="46817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45936" y="47548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Reference architecture</a:t>
            </a:r>
          </a:p>
        </p:txBody>
      </p:sp>
      <p:sp>
        <p:nvSpPr>
          <p:cNvPr id="59" name="TextBox 58"/>
          <p:cNvSpPr txBox="1"/>
          <p:nvPr/>
        </p:nvSpPr>
        <p:spPr>
          <a:xfrm>
            <a:off x="6345936" y="49194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learn.microsoft.com/azure/architecture/ai-ml/idea/multi-modal-content-processing</a:t>
            </a:r>
          </a:p>
        </p:txBody>
      </p:sp>
      <p:cxnSp>
        <p:nvCxnSpPr>
          <p:cNvPr id="60" name="Connector 59"/>
          <p:cNvCxnSpPr/>
          <p:nvPr/>
        </p:nvCxnSpPr>
        <p:spPr>
          <a:xfrm>
            <a:off x="6345936" y="51389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345936" y="5212080"/>
            <a:ext cx="5385816" cy="164592"/>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Python samples</a:t>
            </a:r>
          </a:p>
        </p:txBody>
      </p:sp>
      <p:sp>
        <p:nvSpPr>
          <p:cNvPr id="62" name="TextBox 61"/>
          <p:cNvSpPr txBox="1"/>
          <p:nvPr/>
        </p:nvSpPr>
        <p:spPr>
          <a:xfrm>
            <a:off x="6345936" y="5376672"/>
            <a:ext cx="5385816"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github.com/Azure-Samples/azure-ai-content-understanding-python</a:t>
            </a:r>
          </a:p>
        </p:txBody>
      </p:sp>
      <p:cxnSp>
        <p:nvCxnSpPr>
          <p:cNvPr id="63" name="Connector 62"/>
          <p:cNvCxnSpPr/>
          <p:nvPr/>
        </p:nvCxnSpPr>
        <p:spPr>
          <a:xfrm>
            <a:off x="6345936" y="5596128"/>
            <a:ext cx="5385816"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6345936" y="5632704"/>
            <a:ext cx="5385816" cy="0"/>
          </a:xfrm>
          <a:prstGeom prst="rect">
            <a:avLst/>
          </a:prstGeom>
          <a:solidFill>
            <a:srgbClr val="EBEFF7"/>
          </a:solidFill>
          <a:ln>
            <a:noFill/>
          </a:ln>
          <a:effectLst/>
        </p:spPr>
        <p:txBody>
          <a:bodyPr wrap="square" rtlCol="0" anchor="ctr"/>
          <a:lstStyle/>
          <a:p>
            <a:endParaRPr/>
          </a:p>
        </p:txBody>
      </p:sp>
      <p:sp>
        <p:nvSpPr>
          <p:cNvPr id="65" name="TextBox 64"/>
          <p:cNvSpPr txBox="1"/>
          <p:nvPr/>
        </p:nvSpPr>
        <p:spPr>
          <a:xfrm>
            <a:off x="6583680" y="5733288"/>
            <a:ext cx="4965192" cy="0"/>
          </a:xfrm>
          <a:prstGeom prst="rect">
            <a:avLst/>
          </a:prstGeom>
          <a:noFill/>
        </p:spPr>
        <p:txBody>
          <a:bodyPr wrap="square" lIns="0" tIns="0" rIns="0" bIns="0" anchor="t">
            <a:spAutoFit/>
          </a:bodyPr>
          <a:lstStyle/>
          <a:p>
            <a:pPr algn="l">
              <a:lnSpc>
                <a:spcPct val="120000"/>
              </a:lnSpc>
            </a:pP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5822</Words>
  <Application>Microsoft Office PowerPoint</Application>
  <PresentationFormat>Widescreen</PresentationFormat>
  <Paragraphs>496</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Alex Sachelarescu</cp:lastModifiedBy>
  <cp:revision>8</cp:revision>
  <dcterms:created xsi:type="dcterms:W3CDTF">2013-01-27T09:14:16Z</dcterms:created>
  <dcterms:modified xsi:type="dcterms:W3CDTF">2026-10-14T14:12:20Z</dcterms:modified>
  <cp:category/>
</cp:coreProperties>
</file>